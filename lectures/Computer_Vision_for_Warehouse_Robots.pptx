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83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1050159"/>
            <a:ext cx="4143375" cy="28575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050159"/>
            <a:ext cx="4143375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2 - LECTURE 2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478784"/>
            <a:ext cx="414337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for Warehouse Robots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428625" y="2581768"/>
            <a:ext cx="4143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Giving Robots the Gift of Sight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28625" y="3167555"/>
            <a:ext cx="414337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Course:</a:t>
            </a: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Introduction to Robotics for AI and Data Science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3399002"/>
            <a:ext cx="414337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Instructor:</a:t>
            </a: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Dr. Akram Fatayer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657237"/>
            <a:ext cx="18325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linkedin.com/in/akram-fatayer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861895"/>
            <a:ext cx="414337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Institution:</a:t>
            </a: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Al-Zaytoonah University of Jordan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77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Warehouse Robot Challenge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100138"/>
            <a:ext cx="37861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warehouse robot has a mission: locate and retrieve a specific red box among hundreds of items.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034490"/>
            <a:ext cx="3786188" cy="9872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034490"/>
            <a:ext cx="28575" cy="987233"/>
          </a:xfrm>
          <a:prstGeom prst="rect">
            <a:avLst/>
          </a:prstGeom>
          <a:solidFill>
            <a:srgbClr val="2C528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245230"/>
            <a:ext cx="11251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2608" y="2222013"/>
            <a:ext cx="11314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 Approach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750094" y="2477402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around the warehouse, visually scan for red objects, recognize the target box, navigate to it.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3236035"/>
            <a:ext cx="3786188" cy="9872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3236035"/>
            <a:ext cx="28575" cy="987233"/>
          </a:xfrm>
          <a:prstGeom prst="rect">
            <a:avLst/>
          </a:prstGeom>
          <a:solidFill>
            <a:srgbClr val="2C528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446776"/>
            <a:ext cx="16073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0828" y="3423558"/>
            <a:ext cx="924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Robot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750094" y="3678948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move around the warehouse, but cannot see or identify objects. It's essentially blind.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4437580"/>
            <a:ext cx="3786188" cy="671513"/>
          </a:xfrm>
          <a:prstGeom prst="rect">
            <a:avLst/>
          </a:prstGeom>
          <a:solidFill>
            <a:srgbClr val="FED7D7"/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4437580"/>
            <a:ext cx="28575" cy="671513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2"/>
          <p:cNvSpPr/>
          <p:nvPr/>
        </p:nvSpPr>
        <p:spPr>
          <a:xfrm>
            <a:off x="714375" y="4580455"/>
            <a:ext cx="35004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Problem: How do we give the robot the ability to perceive and understand its visual environment?</a:t>
            </a:r>
            <a:endParaRPr lang="en-US" sz="88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497257"/>
            <a:ext cx="3786188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Computer Vision is Critical for Robotics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171575"/>
            <a:ext cx="2476481" cy="11858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385888"/>
            <a:ext cx="219073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$214B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14375" y="1971675"/>
            <a:ext cx="21907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Robotics Market by 2030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3333731" y="1171575"/>
            <a:ext cx="2476509" cy="11858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3476606" y="1385888"/>
            <a:ext cx="219075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80%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3476606" y="1971675"/>
            <a:ext cx="21907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 Robots Need Vision Systems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6095991" y="1171575"/>
            <a:ext cx="2476481" cy="11858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6238866" y="1385888"/>
            <a:ext cx="219073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$50B+</a:t>
            </a:r>
            <a:endParaRPr lang="en-US" sz="2436" dirty="0"/>
          </a:p>
        </p:txBody>
      </p:sp>
      <p:sp>
        <p:nvSpPr>
          <p:cNvPr id="12" name="Text 9"/>
          <p:cNvSpPr/>
          <p:nvPr/>
        </p:nvSpPr>
        <p:spPr>
          <a:xfrm>
            <a:off x="6238866" y="1971675"/>
            <a:ext cx="21907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Warehouse Automation Market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2714625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Real-World Applications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571500" y="3150394"/>
            <a:ext cx="3893344" cy="65435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391830"/>
            <a:ext cx="214313" cy="1714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7281" y="3293269"/>
            <a:ext cx="32146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Warehouse Automation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1107281" y="3521869"/>
            <a:ext cx="32146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Amazon, FedEx: Item picking, sorting, inventory management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4679156" y="3150394"/>
            <a:ext cx="3893344" cy="65435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181" y="3391830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4938" y="3293269"/>
            <a:ext cx="32146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Vehicles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5214938" y="3521869"/>
            <a:ext cx="32146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Tesla, Waymo: Object detection, lane keeping, navigation</a:t>
            </a:r>
            <a:endParaRPr lang="en-US" sz="727" dirty="0"/>
          </a:p>
        </p:txBody>
      </p:sp>
      <p:sp>
        <p:nvSpPr>
          <p:cNvPr id="22" name="Shape 17"/>
          <p:cNvSpPr/>
          <p:nvPr/>
        </p:nvSpPr>
        <p:spPr>
          <a:xfrm>
            <a:off x="571500" y="4019057"/>
            <a:ext cx="3893344" cy="65435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809" y="4260493"/>
            <a:ext cx="192881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07281" y="4161932"/>
            <a:ext cx="32146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Manufacturing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1107281" y="4390532"/>
            <a:ext cx="32146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 inspection, assembly guidance, defect detection</a:t>
            </a:r>
            <a:endParaRPr lang="en-US" sz="727" dirty="0"/>
          </a:p>
        </p:txBody>
      </p:sp>
      <p:sp>
        <p:nvSpPr>
          <p:cNvPr id="26" name="Shape 20"/>
          <p:cNvSpPr/>
          <p:nvPr/>
        </p:nvSpPr>
        <p:spPr>
          <a:xfrm>
            <a:off x="4679156" y="4019057"/>
            <a:ext cx="3893344" cy="65435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9181" y="4260493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4938" y="4161932"/>
            <a:ext cx="32146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Agriculture</a:t>
            </a:r>
            <a:endParaRPr lang="en-US" sz="885" dirty="0"/>
          </a:p>
        </p:txBody>
      </p:sp>
      <p:sp>
        <p:nvSpPr>
          <p:cNvPr id="29" name="Text 22"/>
          <p:cNvSpPr/>
          <p:nvPr/>
        </p:nvSpPr>
        <p:spPr>
          <a:xfrm>
            <a:off x="5214938" y="4390532"/>
            <a:ext cx="32146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Crop monitoring, fruit picking, precision farming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Breaking Down the Vision Problem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 problems become manageable when decomposed into steps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600200"/>
            <a:ext cx="1514475" cy="11458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1221581" y="1778794"/>
            <a:ext cx="214313" cy="21431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4"/>
          <p:cNvSpPr/>
          <p:nvPr/>
        </p:nvSpPr>
        <p:spPr>
          <a:xfrm>
            <a:off x="1221581" y="17787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903015" y="2064544"/>
            <a:ext cx="8514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Capture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78656" y="2307431"/>
            <a:ext cx="13001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raw pixels from camera sensor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2193131" y="1600200"/>
            <a:ext cx="1514475" cy="11458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2843213" y="1778794"/>
            <a:ext cx="214313" cy="21431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9"/>
          <p:cNvSpPr/>
          <p:nvPr/>
        </p:nvSpPr>
        <p:spPr>
          <a:xfrm>
            <a:off x="2843213" y="17787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2445479" y="2064544"/>
            <a:ext cx="10097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Processing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300288" y="2307431"/>
            <a:ext cx="13001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Filter, enhance, transform color spaces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3814763" y="1600200"/>
            <a:ext cx="1514475" cy="11458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464844" y="1778794"/>
            <a:ext cx="214313" cy="21431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4464844" y="17787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090885" y="2064544"/>
            <a:ext cx="962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 Detection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3921919" y="2307431"/>
            <a:ext cx="13001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regions containing objects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5436394" y="1665191"/>
            <a:ext cx="1514475" cy="10158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086475" y="1843785"/>
            <a:ext cx="214313" cy="21431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19"/>
          <p:cNvSpPr/>
          <p:nvPr/>
        </p:nvSpPr>
        <p:spPr>
          <a:xfrm>
            <a:off x="6086475" y="184378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851066" y="2129535"/>
            <a:ext cx="6851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Recognition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602514" y="2372423"/>
            <a:ext cx="118223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Classify what each object is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7058025" y="1665191"/>
            <a:ext cx="1514475" cy="10158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7708106" y="1843785"/>
            <a:ext cx="214313" cy="21431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7" name="Text 24"/>
          <p:cNvSpPr/>
          <p:nvPr/>
        </p:nvSpPr>
        <p:spPr>
          <a:xfrm>
            <a:off x="7708106" y="184378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7381419" y="2129535"/>
            <a:ext cx="867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3D Localization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7174864" y="2372423"/>
            <a:ext cx="128076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Estimate position in 3D space</a:t>
            </a:r>
            <a:endParaRPr lang="en-US" sz="674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359" y="2896065"/>
            <a:ext cx="150019" cy="171450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91" y="2896065"/>
            <a:ext cx="150019" cy="171450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622" y="2896065"/>
            <a:ext cx="150019" cy="17145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71500" y="3288971"/>
            <a:ext cx="8001000" cy="742950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17" y="3499712"/>
            <a:ext cx="96441" cy="128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86895" y="3476495"/>
            <a:ext cx="69380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step uses techniques you already know from AI/DS: data preprocessing, feature extraction, classification,</a:t>
            </a:r>
            <a:endParaRPr lang="en-US" sz="885" dirty="0"/>
          </a:p>
        </p:txBody>
      </p:sp>
      <p:sp>
        <p:nvSpPr>
          <p:cNvPr id="36" name="Text 29"/>
          <p:cNvSpPr/>
          <p:nvPr/>
        </p:nvSpPr>
        <p:spPr>
          <a:xfrm>
            <a:off x="4240932" y="3669376"/>
            <a:ext cx="6621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regression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835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Cameras as Data Sensors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5890"/>
            <a:ext cx="3786188" cy="32146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86313" y="1171575"/>
            <a:ext cx="3786188" cy="93722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2"/>
          <p:cNvSpPr/>
          <p:nvPr/>
        </p:nvSpPr>
        <p:spPr>
          <a:xfrm>
            <a:off x="4929188" y="1314450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Lens System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4929188" y="1600200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Focuses incoming light rays from the 3D world onto a 2D sensor plane. Controls field of view and depth of field.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4786313" y="2287395"/>
            <a:ext cx="3786188" cy="93722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5"/>
          <p:cNvSpPr/>
          <p:nvPr/>
        </p:nvSpPr>
        <p:spPr>
          <a:xfrm>
            <a:off x="4929188" y="2430270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Sensor Array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929188" y="2716020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Grid of photodetectors (pixels) that convert photons into electrical signals. Each pixel measures light intensity.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786313" y="3403216"/>
            <a:ext cx="3786188" cy="93722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8"/>
          <p:cNvSpPr/>
          <p:nvPr/>
        </p:nvSpPr>
        <p:spPr>
          <a:xfrm>
            <a:off x="4929188" y="3546091"/>
            <a:ext cx="3500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Color Filters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4929188" y="3831841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Bayer filter pattern separates light into Red, Green, Blue channels. Three measurements per pixel location.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4786313" y="4519036"/>
            <a:ext cx="3786188" cy="1135856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5" name="Text 11"/>
          <p:cNvSpPr/>
          <p:nvPr/>
        </p:nvSpPr>
        <p:spPr>
          <a:xfrm>
            <a:off x="4929188" y="4661911"/>
            <a:ext cx="3500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Output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736264" y="4951233"/>
            <a:ext cx="188625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52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H × W × 3 array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4929188" y="5211980"/>
            <a:ext cx="3500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pixel stores [R, G, B] values (0-255)
 Example: 640×480 image = 921,600 numbers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3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Camera Parameters and Trade-offs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957263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Choosing the right camera configuration for robotic applications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1435894"/>
            <a:ext cx="8001000" cy="3857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35894"/>
            <a:ext cx="160020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Parameter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171700" y="1435894"/>
            <a:ext cx="240030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572000" y="1435894"/>
            <a:ext cx="200025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572250" y="1435894"/>
            <a:ext cx="200025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571500" y="1821656"/>
            <a:ext cx="8001000" cy="578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821656"/>
            <a:ext cx="16002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Resolution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2171700" y="1821656"/>
            <a:ext cx="24003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Number of pixels (e.g., 640×480, 1920×1080)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572000" y="1821656"/>
            <a:ext cx="200025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detail, better object recognition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6572250" y="1821656"/>
            <a:ext cx="200025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More computation, slower processing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571500" y="2400300"/>
            <a:ext cx="8001000" cy="578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2400300"/>
            <a:ext cx="16002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 Rate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2171700" y="2400300"/>
            <a:ext cx="24003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 per second (e.g., 30 FPS, 60 FPS)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572000" y="2400300"/>
            <a:ext cx="200025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Smoother tracking, faster response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6572250" y="2400300"/>
            <a:ext cx="200025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bandwidth, more processing load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71500" y="2978944"/>
            <a:ext cx="8001000" cy="578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2978944"/>
            <a:ext cx="16002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Field of View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2171700" y="2978944"/>
            <a:ext cx="24003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Angular extent of observable world (narrow vs. wide)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679156" y="3114675"/>
            <a:ext cx="10285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Wide: see more area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679156" y="3275409"/>
            <a:ext cx="10072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Narrow: more detail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679406" y="3114675"/>
            <a:ext cx="80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Wide: distortion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6679406" y="3275409"/>
            <a:ext cx="11822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Narrow: limited context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71500" y="3557588"/>
            <a:ext cx="8001000" cy="578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" y="3557588"/>
            <a:ext cx="16002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Focal Length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2171700" y="3557588"/>
            <a:ext cx="2400300" cy="578644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Distance from lens to sensor (short vs. long)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4679156" y="3693319"/>
            <a:ext cx="10975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Long: zoom capability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4679156" y="3854053"/>
            <a:ext cx="8643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Short: wider view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6679406" y="3693319"/>
            <a:ext cx="8996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Long: narrow FOV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679406" y="3854053"/>
            <a:ext cx="82845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Short: less detail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571500" y="4421981"/>
            <a:ext cx="8001000" cy="74295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5" name="Text 32"/>
          <p:cNvSpPr/>
          <p:nvPr/>
        </p:nvSpPr>
        <p:spPr>
          <a:xfrm>
            <a:off x="750094" y="4600575"/>
            <a:ext cx="7643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warehouse robots: Balance is key — 640×480 at 30 FPS with moderate FOV provides good performance without overwhelming the processor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22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3D World to 2D Image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03738"/>
            <a:ext cx="4169327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98014" y="1171575"/>
            <a:ext cx="3474458" cy="112009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2"/>
          <p:cNvSpPr/>
          <p:nvPr/>
        </p:nvSpPr>
        <p:spPr>
          <a:xfrm>
            <a:off x="5240889" y="1314450"/>
            <a:ext cx="3188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Pinhole Camera Model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240889" y="1600200"/>
            <a:ext cx="318870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 rays from 3D points pass through a single point (optical center) and project onto the image plane. This creates perspective projection.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5098014" y="2470259"/>
            <a:ext cx="3474458" cy="159872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5"/>
          <p:cNvSpPr/>
          <p:nvPr/>
        </p:nvSpPr>
        <p:spPr>
          <a:xfrm>
            <a:off x="5240889" y="2613134"/>
            <a:ext cx="3188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Perspective Projection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240889" y="2898884"/>
            <a:ext cx="318870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Objects farther away appear smaller. Parallel lines converge to vanishing points. This is how humans see the world too.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240889" y="3518911"/>
            <a:ext cx="3188708" cy="40719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8"/>
          <p:cNvSpPr/>
          <p:nvPr/>
        </p:nvSpPr>
        <p:spPr>
          <a:xfrm>
            <a:off x="5240889" y="3518911"/>
            <a:ext cx="3188708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x_image = f × (X_world / Z_world)</a:t>
            </a:r>
            <a:endParaRPr lang="en-US" sz="885" dirty="0"/>
          </a:p>
        </p:txBody>
      </p:sp>
      <p:sp>
        <p:nvSpPr>
          <p:cNvPr id="13" name="Shape 9"/>
          <p:cNvSpPr/>
          <p:nvPr/>
        </p:nvSpPr>
        <p:spPr>
          <a:xfrm>
            <a:off x="5098014" y="4319011"/>
            <a:ext cx="3474458" cy="1374391"/>
          </a:xfrm>
          <a:prstGeom prst="rect">
            <a:avLst/>
          </a:prstGeom>
          <a:solidFill>
            <a:srgbClr val="FED7D7"/>
          </a:solidFill>
          <a:ln/>
        </p:spPr>
      </p:sp>
      <p:sp>
        <p:nvSpPr>
          <p:cNvPr id="14" name="Text 10"/>
          <p:cNvSpPr/>
          <p:nvPr/>
        </p:nvSpPr>
        <p:spPr>
          <a:xfrm>
            <a:off x="5276608" y="4497605"/>
            <a:ext cx="31172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Fundamental Challenge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5276608" y="4783355"/>
            <a:ext cx="311727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Depth information is lost!</a:t>
            </a:r>
            <a:r>
              <a:rPr lang="en-US" sz="834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2D point in the image could correspond to any 3D point along a ray. We need additional information (stereo vision, depth sensors, or learned priors) to recover 3D structure.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57"/>
            <a:ext cx="9144000" cy="60720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 as Data: The AI/DS Perspective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957263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 are just structured numerical arrays — familiar territory for data scientists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457325"/>
            <a:ext cx="3821906" cy="1785938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170" y="2264569"/>
            <a:ext cx="938538" cy="17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3421856"/>
            <a:ext cx="3821906" cy="108585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" name="Text 4"/>
          <p:cNvSpPr/>
          <p:nvPr/>
        </p:nvSpPr>
        <p:spPr>
          <a:xfrm>
            <a:off x="714375" y="3564731"/>
            <a:ext cx="3536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 Representation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1796542" y="3843338"/>
            <a:ext cx="13718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C52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shape: (480, 640, 3)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1796542" y="4029075"/>
            <a:ext cx="13718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C52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uint8 (0-255)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1796542" y="4214813"/>
            <a:ext cx="13718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C52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921,600 values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4750594" y="1457325"/>
            <a:ext cx="3821906" cy="2685883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9"/>
          <p:cNvSpPr/>
          <p:nvPr/>
        </p:nvSpPr>
        <p:spPr>
          <a:xfrm>
            <a:off x="4750594" y="1457325"/>
            <a:ext cx="3821906" cy="268588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Load image as NumPy array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r>
              <a:rPr lang="en-US" sz="727" dirty="0">
                <a:solidFill>
                  <a:srgbClr val="FC81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cv2
</a:t>
            </a:r>
            <a:r>
              <a:rPr lang="en-US" sz="727" dirty="0">
                <a:solidFill>
                  <a:srgbClr val="FC81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numpy </a:t>
            </a:r>
            <a:r>
              <a:rPr lang="en-US" sz="727" dirty="0">
                <a:solidFill>
                  <a:srgbClr val="FC81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np
 img = cv2.imread(</a:t>
            </a:r>
            <a:r>
              <a:rPr lang="en-US" sz="727" dirty="0">
                <a:solidFill>
                  <a:srgbClr val="9AE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'robot_view.jpg'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
 print(img.shape) </a:t>
            </a: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(480, 640, 3)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Access pixel at row 100, col 200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pixel = img[100, 200] </a:t>
            </a: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[R, G, B]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Slice region of interest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roi = img[100:200, 150:250]
</a:t>
            </a:r>
            <a:r>
              <a:rPr lang="en-US" sz="727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Apply operations (just like any array)</a:t>
            </a:r>
            <a:r>
              <a:rPr lang="en-US" sz="72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mean_color = np.mean(img, axis=(0,1))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4750594" y="4286083"/>
            <a:ext cx="3821906" cy="13573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3469" y="4428958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Insights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036344" y="4728995"/>
            <a:ext cx="3393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 are 3D arrays: Height × Width × Channels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5036344" y="4921876"/>
            <a:ext cx="3393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familiar tools: NumPy, PyTorch, Pandas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5036344" y="5114758"/>
            <a:ext cx="3393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operations: slicing, indexing, broadcasting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5036344" y="5307639"/>
            <a:ext cx="3393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= structured data processing</a:t>
            </a:r>
            <a:endParaRPr lang="en-US" sz="78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83" y="1548326"/>
            <a:ext cx="2977467" cy="1603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7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Spaces: RGB vs HSV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885825"/>
            <a:ext cx="3893344" cy="30403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028700"/>
            <a:ext cx="36075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RGB Color Space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14375" y="1393031"/>
            <a:ext cx="36075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Red, Green, Blue</a:t>
            </a: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How cameras capture light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857250" y="1661620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channels: R, G, B (0-255 each)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857250" y="1843785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Mixes color and brightness together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857250" y="2025951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red appears different in shadow vs. sunlight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857250" y="2208116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 to define "red" with simple thresholds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14375" y="2497438"/>
            <a:ext cx="36075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Sensitive to lighting variations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679156" y="885825"/>
            <a:ext cx="3893344" cy="30403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4822031" y="1028700"/>
            <a:ext cx="36075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HSV Color Space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822031" y="1393031"/>
            <a:ext cx="36075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Hue, Saturation, Value</a:t>
            </a: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How humans perceive color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964906" y="1679479"/>
            <a:ext cx="2462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Hue: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5211170" y="1679479"/>
            <a:ext cx="12447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actual color (0-180°)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964906" y="1861645"/>
            <a:ext cx="5983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Saturation: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5563279" y="1861645"/>
            <a:ext cx="11283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intensity (0-255)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4964906" y="2043810"/>
            <a:ext cx="3291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Value: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5294105" y="2043810"/>
            <a:ext cx="9413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Brightness (0-255)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964906" y="2208116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Separates color from lighting conditions</a:t>
            </a:r>
            <a:endParaRPr lang="en-US" sz="78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832" y="2905418"/>
            <a:ext cx="1662289" cy="17145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71500" y="4069063"/>
            <a:ext cx="8001000" cy="922939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0"/>
          <p:cNvSpPr/>
          <p:nvPr/>
        </p:nvSpPr>
        <p:spPr>
          <a:xfrm>
            <a:off x="714375" y="4211938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HSV for Robotics?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714375" y="4483401"/>
            <a:ext cx="77152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Warehouse lighting changes throughout the day. HSV allows us to detect "red objects" regardless of whether they're in bright light or shadow — just threshold the Hue channel!</a:t>
            </a:r>
            <a:endParaRPr lang="en-US" sz="83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69" y="2465777"/>
            <a:ext cx="2496995" cy="1460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04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Color-Based Detection Pipeline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921544"/>
            <a:ext cx="1485900" cy="12858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1200150" y="1064419"/>
            <a:ext cx="228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3"/>
          <p:cNvSpPr/>
          <p:nvPr/>
        </p:nvSpPr>
        <p:spPr>
          <a:xfrm>
            <a:off x="1200150" y="10644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78656" y="1364456"/>
            <a:ext cx="1271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RGB → HSV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78656" y="1785938"/>
            <a:ext cx="1271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 image to HSV color space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2200275" y="921544"/>
            <a:ext cx="1485900" cy="12858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2828925" y="1064419"/>
            <a:ext cx="228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2828925" y="10644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307431" y="1364456"/>
            <a:ext cx="1271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Threshold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2307431" y="1785938"/>
            <a:ext cx="1271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binary mask for target color range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3829050" y="921544"/>
            <a:ext cx="1485900" cy="12858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57700" y="1064419"/>
            <a:ext cx="228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6" name="Text 13"/>
          <p:cNvSpPr/>
          <p:nvPr/>
        </p:nvSpPr>
        <p:spPr>
          <a:xfrm>
            <a:off x="4457700" y="10644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936206" y="1364456"/>
            <a:ext cx="1271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Morphology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936206" y="1785938"/>
            <a:ext cx="1271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noise with erosion and dilation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5457825" y="921544"/>
            <a:ext cx="1485900" cy="12858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086475" y="1064419"/>
            <a:ext cx="228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8"/>
          <p:cNvSpPr/>
          <p:nvPr/>
        </p:nvSpPr>
        <p:spPr>
          <a:xfrm>
            <a:off x="6086475" y="10644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564981" y="1364456"/>
            <a:ext cx="1271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Contours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564981" y="1785938"/>
            <a:ext cx="1271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 connected regions in mask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7086600" y="921544"/>
            <a:ext cx="1485900" cy="12858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7715250" y="1064419"/>
            <a:ext cx="228600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6" name="Text 23"/>
          <p:cNvSpPr/>
          <p:nvPr/>
        </p:nvSpPr>
        <p:spPr>
          <a:xfrm>
            <a:off x="7715250" y="10644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193756" y="1364456"/>
            <a:ext cx="12715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Bounding Box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7193756" y="1785938"/>
            <a:ext cx="1271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Draw rectangles around detected objects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571500" y="2421731"/>
            <a:ext cx="8001000" cy="162285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2421731"/>
            <a:ext cx="8001000" cy="162285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Complete color detection pipeline</a:t>
            </a:r>
            <a:r>
              <a:rPr lang="en-US" sz="674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hsv = cv2.cvtColor(image, cv2.COLOR_BGR2HSV)
 mask = cv2.inRange(hsv, lower_red, upper_red)
 mask = cv2.morphologyEx(mask, cv2.MORPH_OPEN, kernel)
 contours, _ = cv2.findContours(mask, cv2.RETR_EXTERNAL, cv2.CHAIN_APPROX_SIMPLE)
</a:t>
            </a:r>
            <a:r>
              <a:rPr lang="en-US" sz="674" dirty="0">
                <a:solidFill>
                  <a:srgbClr val="90CD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Draw bounding boxes</a:t>
            </a:r>
            <a:r>
              <a:rPr lang="en-US" sz="674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 for contour in contours:
 x, y, w, h = cv2.boundingRect(contour)
 cv2.rectangle(image, (x,y), (x+w,y+h), (0,255,0), 2)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571500" y="4187465"/>
            <a:ext cx="3929063" cy="937227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4323197"/>
            <a:ext cx="114300" cy="1143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92956" y="4301765"/>
            <a:ext cx="7054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Advantages</a:t>
            </a:r>
            <a:endParaRPr lang="en-US" sz="784" dirty="0"/>
          </a:p>
        </p:txBody>
      </p:sp>
      <p:sp>
        <p:nvSpPr>
          <p:cNvPr id="34" name="Text 30"/>
          <p:cNvSpPr/>
          <p:nvPr/>
        </p:nvSpPr>
        <p:spPr>
          <a:xfrm>
            <a:off x="821531" y="4537509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and simple to implement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821531" y="4697518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Works well for distinct colors</a:t>
            </a:r>
            <a:endParaRPr lang="en-US" sz="727" dirty="0"/>
          </a:p>
        </p:txBody>
      </p:sp>
      <p:sp>
        <p:nvSpPr>
          <p:cNvPr id="36" name="Text 32"/>
          <p:cNvSpPr/>
          <p:nvPr/>
        </p:nvSpPr>
        <p:spPr>
          <a:xfrm>
            <a:off x="821531" y="4857527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training data needed</a:t>
            </a:r>
            <a:endParaRPr lang="en-US" sz="727" dirty="0"/>
          </a:p>
        </p:txBody>
      </p:sp>
      <p:sp>
        <p:nvSpPr>
          <p:cNvPr id="37" name="Shape 33"/>
          <p:cNvSpPr/>
          <p:nvPr/>
        </p:nvSpPr>
        <p:spPr>
          <a:xfrm>
            <a:off x="4643438" y="4187465"/>
            <a:ext cx="3929063" cy="937227"/>
          </a:xfrm>
          <a:prstGeom prst="rect">
            <a:avLst/>
          </a:prstGeom>
          <a:solidFill>
            <a:srgbClr val="FED7D7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4323197"/>
            <a:ext cx="114300" cy="1143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864894" y="4301765"/>
            <a:ext cx="6820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Limitations</a:t>
            </a:r>
            <a:endParaRPr lang="en-US" sz="784" dirty="0"/>
          </a:p>
        </p:txBody>
      </p:sp>
      <p:sp>
        <p:nvSpPr>
          <p:cNvPr id="40" name="Text 35"/>
          <p:cNvSpPr/>
          <p:nvPr/>
        </p:nvSpPr>
        <p:spPr>
          <a:xfrm>
            <a:off x="4893469" y="4537509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Sensitive to lighting changes</a:t>
            </a:r>
            <a:endParaRPr lang="en-US" sz="727" dirty="0"/>
          </a:p>
        </p:txBody>
      </p:sp>
      <p:sp>
        <p:nvSpPr>
          <p:cNvPr id="41" name="Text 36"/>
          <p:cNvSpPr/>
          <p:nvPr/>
        </p:nvSpPr>
        <p:spPr>
          <a:xfrm>
            <a:off x="4893469" y="4697518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Cannot recognize object types</a:t>
            </a:r>
            <a:endParaRPr lang="en-US" sz="727" dirty="0"/>
          </a:p>
        </p:txBody>
      </p:sp>
      <p:sp>
        <p:nvSpPr>
          <p:cNvPr id="42" name="Text 37"/>
          <p:cNvSpPr/>
          <p:nvPr/>
        </p:nvSpPr>
        <p:spPr>
          <a:xfrm>
            <a:off x="4893469" y="4857527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Fails with similar colors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57"/>
            <a:ext cx="9144000" cy="62306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CNNs Learn Visual Features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921544"/>
            <a:ext cx="4208311" cy="200025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624" y="1835944"/>
            <a:ext cx="2622063" cy="171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3064669"/>
            <a:ext cx="4208311" cy="109299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3207544"/>
            <a:ext cx="392256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Hierarchical Feature Learning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714375" y="3507581"/>
            <a:ext cx="927041" cy="507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71525" y="3593306"/>
            <a:ext cx="8127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 1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771525" y="3779044"/>
            <a:ext cx="8127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Edges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1712854" y="3507581"/>
            <a:ext cx="927069" cy="507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770004" y="3593306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 2-3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1770004" y="3779044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Textures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2711360" y="3507581"/>
            <a:ext cx="927069" cy="507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2768510" y="3593306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 4-5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2768510" y="3779044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Parts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3709867" y="3507581"/>
            <a:ext cx="927069" cy="507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3767017" y="3593306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 6+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3767017" y="3779044"/>
            <a:ext cx="8127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Objects</a:t>
            </a:r>
            <a:endParaRPr lang="en-US" sz="683" dirty="0"/>
          </a:p>
        </p:txBody>
      </p:sp>
      <p:sp>
        <p:nvSpPr>
          <p:cNvPr id="20" name="Shape 16"/>
          <p:cNvSpPr/>
          <p:nvPr/>
        </p:nvSpPr>
        <p:spPr>
          <a:xfrm>
            <a:off x="5065561" y="921544"/>
            <a:ext cx="3506939" cy="123586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7"/>
          <p:cNvSpPr/>
          <p:nvPr/>
        </p:nvSpPr>
        <p:spPr>
          <a:xfrm>
            <a:off x="5208436" y="1064419"/>
            <a:ext cx="32211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CNNs Work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5208436" y="1328738"/>
            <a:ext cx="3221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CNNs automatically learn relevant features from data instead of requiring hand-crafted feature engineering. Early layers detect simple patterns (edges), deeper layers combine them into complex representations (objects).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5065561" y="2300288"/>
            <a:ext cx="3506939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0"/>
          <p:cNvSpPr/>
          <p:nvPr/>
        </p:nvSpPr>
        <p:spPr>
          <a:xfrm>
            <a:off x="5208436" y="2443163"/>
            <a:ext cx="32211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Convolutional Layers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5208436" y="2707481"/>
            <a:ext cx="32211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 learned filters across the image. Each filter detects a specific pattern. Spatial structure is preserved, unlike fully-connected layers.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5065561" y="3507581"/>
            <a:ext cx="3506939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3"/>
          <p:cNvSpPr/>
          <p:nvPr/>
        </p:nvSpPr>
        <p:spPr>
          <a:xfrm>
            <a:off x="5208436" y="3650456"/>
            <a:ext cx="32211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Pooling Layers</a:t>
            </a:r>
            <a:endParaRPr lang="en-US" sz="885" dirty="0"/>
          </a:p>
        </p:txBody>
      </p:sp>
      <p:sp>
        <p:nvSpPr>
          <p:cNvPr id="28" name="Text 24"/>
          <p:cNvSpPr/>
          <p:nvPr/>
        </p:nvSpPr>
        <p:spPr>
          <a:xfrm>
            <a:off x="5208436" y="3914775"/>
            <a:ext cx="32211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spatial dimensions while keeping important features. Provides translation invariance — object detected regardless of exact position.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5065561" y="4714875"/>
            <a:ext cx="3506939" cy="123006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0" name="Text 26"/>
          <p:cNvSpPr/>
          <p:nvPr/>
        </p:nvSpPr>
        <p:spPr>
          <a:xfrm>
            <a:off x="5208436" y="4857750"/>
            <a:ext cx="32211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to Your ML Knowledge</a:t>
            </a:r>
            <a:endParaRPr lang="en-US" sz="885" dirty="0"/>
          </a:p>
        </p:txBody>
      </p:sp>
      <p:sp>
        <p:nvSpPr>
          <p:cNvPr id="31" name="Text 27"/>
          <p:cNvSpPr/>
          <p:nvPr/>
        </p:nvSpPr>
        <p:spPr>
          <a:xfrm>
            <a:off x="5351311" y="5122069"/>
            <a:ext cx="307831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backpropagation training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5351311" y="5292068"/>
            <a:ext cx="307831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loss functions (cross-entropy)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5351311" y="5462067"/>
            <a:ext cx="307831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optimization (SGD, Adam)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5351311" y="5632066"/>
            <a:ext cx="307831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 different architecture!</a:t>
            </a:r>
            <a:endParaRPr lang="en-US" sz="727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81" y="1030776"/>
            <a:ext cx="3839958" cy="1781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4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4313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 Detection for Robotics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742950"/>
            <a:ext cx="8001000" cy="142875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401" y="1371600"/>
            <a:ext cx="2767199" cy="171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278856"/>
            <a:ext cx="3929063" cy="18501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3"/>
          <p:cNvSpPr/>
          <p:nvPr/>
        </p:nvSpPr>
        <p:spPr>
          <a:xfrm>
            <a:off x="678656" y="238601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Two-Stage Detectors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821531" y="2696766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1325110" y="2696766"/>
            <a:ext cx="10138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R-CNN, Faster R-CNN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821531" y="2846059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 1: Propose regions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821531" y="3006068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 2: Classify each region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821531" y="3166077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accuracy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821531" y="3326085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Slower inference (2-5 FPS)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678656" y="3557532"/>
            <a:ext cx="1828800" cy="464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735806" y="3614682"/>
            <a:ext cx="1714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735806" y="3771844"/>
            <a:ext cx="1714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</a:t>
            </a:r>
            <a:endParaRPr lang="en-US" sz="885" dirty="0"/>
          </a:p>
        </p:txBody>
      </p:sp>
      <p:sp>
        <p:nvSpPr>
          <p:cNvPr id="17" name="Shape 13"/>
          <p:cNvSpPr/>
          <p:nvPr/>
        </p:nvSpPr>
        <p:spPr>
          <a:xfrm>
            <a:off x="2564606" y="3557532"/>
            <a:ext cx="1828800" cy="464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2621756" y="3614682"/>
            <a:ext cx="1714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2621756" y="3771844"/>
            <a:ext cx="1714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Slow</a:t>
            </a:r>
            <a:endParaRPr lang="en-US" sz="885" dirty="0"/>
          </a:p>
        </p:txBody>
      </p:sp>
      <p:sp>
        <p:nvSpPr>
          <p:cNvPr id="20" name="Shape 16"/>
          <p:cNvSpPr/>
          <p:nvPr/>
        </p:nvSpPr>
        <p:spPr>
          <a:xfrm>
            <a:off x="4643438" y="2278856"/>
            <a:ext cx="3929063" cy="18501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7"/>
          <p:cNvSpPr/>
          <p:nvPr/>
        </p:nvSpPr>
        <p:spPr>
          <a:xfrm>
            <a:off x="4750594" y="238601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One-Stage Detectors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4893469" y="2696766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397047" y="2696766"/>
            <a:ext cx="10569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YOLO, SSD, MobileNet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4893469" y="2846059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 pass through network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4893469" y="3006068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 boxes and classes together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4893469" y="3166077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 accuracy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4893469" y="3326085"/>
            <a:ext cx="3571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inference (30+ FPS)</a:t>
            </a:r>
            <a:endParaRPr lang="en-US" sz="727" dirty="0"/>
          </a:p>
        </p:txBody>
      </p:sp>
      <p:sp>
        <p:nvSpPr>
          <p:cNvPr id="28" name="Shape 24"/>
          <p:cNvSpPr/>
          <p:nvPr/>
        </p:nvSpPr>
        <p:spPr>
          <a:xfrm>
            <a:off x="4750594" y="3557532"/>
            <a:ext cx="1828800" cy="464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4807744" y="3614682"/>
            <a:ext cx="1714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</a:t>
            </a:r>
            <a:endParaRPr lang="en-US" sz="621" dirty="0"/>
          </a:p>
        </p:txBody>
      </p:sp>
      <p:sp>
        <p:nvSpPr>
          <p:cNvPr id="30" name="Text 26"/>
          <p:cNvSpPr/>
          <p:nvPr/>
        </p:nvSpPr>
        <p:spPr>
          <a:xfrm>
            <a:off x="4807744" y="3771844"/>
            <a:ext cx="1714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</a:t>
            </a:r>
            <a:endParaRPr lang="en-US" sz="885" dirty="0"/>
          </a:p>
        </p:txBody>
      </p:sp>
      <p:sp>
        <p:nvSpPr>
          <p:cNvPr id="31" name="Shape 27"/>
          <p:cNvSpPr/>
          <p:nvPr/>
        </p:nvSpPr>
        <p:spPr>
          <a:xfrm>
            <a:off x="6636544" y="3557532"/>
            <a:ext cx="1828800" cy="464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6693694" y="3614682"/>
            <a:ext cx="1714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</a:t>
            </a:r>
            <a:endParaRPr lang="en-US" sz="621" dirty="0"/>
          </a:p>
        </p:txBody>
      </p:sp>
      <p:sp>
        <p:nvSpPr>
          <p:cNvPr id="33" name="Text 29"/>
          <p:cNvSpPr/>
          <p:nvPr/>
        </p:nvSpPr>
        <p:spPr>
          <a:xfrm>
            <a:off x="6693694" y="3771844"/>
            <a:ext cx="1714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</a:t>
            </a:r>
            <a:endParaRPr lang="en-US" sz="885" dirty="0"/>
          </a:p>
        </p:txBody>
      </p:sp>
      <p:sp>
        <p:nvSpPr>
          <p:cNvPr id="34" name="Shape 30"/>
          <p:cNvSpPr/>
          <p:nvPr/>
        </p:nvSpPr>
        <p:spPr>
          <a:xfrm>
            <a:off x="571500" y="4271907"/>
            <a:ext cx="8001000" cy="77152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5" name="Text 31"/>
          <p:cNvSpPr/>
          <p:nvPr/>
        </p:nvSpPr>
        <p:spPr>
          <a:xfrm>
            <a:off x="678656" y="4379063"/>
            <a:ext cx="77866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Warehouse Robots: Use One-Stage Detectors</a:t>
            </a:r>
            <a:endParaRPr lang="en-US" sz="885" dirty="0"/>
          </a:p>
        </p:txBody>
      </p:sp>
      <p:sp>
        <p:nvSpPr>
          <p:cNvPr id="36" name="Text 32"/>
          <p:cNvSpPr/>
          <p:nvPr/>
        </p:nvSpPr>
        <p:spPr>
          <a:xfrm>
            <a:off x="678656" y="4614807"/>
            <a:ext cx="77866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performance is critical. We'll use </a:t>
            </a: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MobileNet-SSD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(lightweight, fast) and </a:t>
            </a: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(more accurate) in the lab. Both run at 30+ FPS on modest hardware.</a:t>
            </a:r>
            <a:endParaRPr lang="en-US" sz="78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6" y="757488"/>
            <a:ext cx="5715000" cy="14331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 Learning: From COCO to Warehouse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885825"/>
            <a:ext cx="2524116" cy="167303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528" y="1139428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600200"/>
            <a:ext cx="22383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Pre-training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714375" y="1900238"/>
            <a:ext cx="22383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trained on large dataset (ImageNet: 1M images, COCO: 330K images) learns general visual features</a:t>
            </a:r>
            <a:endParaRPr lang="en-US" sz="727" dirty="0"/>
          </a:p>
        </p:txBody>
      </p:sp>
      <p:sp>
        <p:nvSpPr>
          <p:cNvPr id="8" name="Shape 4"/>
          <p:cNvSpPr/>
          <p:nvPr/>
        </p:nvSpPr>
        <p:spPr>
          <a:xfrm>
            <a:off x="3309928" y="885825"/>
            <a:ext cx="2524116" cy="167303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139428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2803" y="1600200"/>
            <a:ext cx="22383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3452803" y="1900238"/>
            <a:ext cx="22383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pre-trained weights as starting point. Early layers (edges, textures) transfer well across domains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6048356" y="885825"/>
            <a:ext cx="2524144" cy="167303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553" y="1139428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1231" y="1600200"/>
            <a:ext cx="22383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Fine-tuning (Optional)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6191231" y="1900238"/>
            <a:ext cx="22383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on warehouse-specific data to adapt to your domain. Only needed if pre-trained model insufficient</a:t>
            </a:r>
            <a:endParaRPr lang="en-US" sz="72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4461" y="2717806"/>
            <a:ext cx="175022" cy="20002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1500" y="3073208"/>
            <a:ext cx="3911203" cy="1278731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248230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2963" y="3225012"/>
            <a:ext cx="15519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Transfer Learning?</a:t>
            </a:r>
            <a:endParaRPr lang="en-US" sz="885" dirty="0"/>
          </a:p>
        </p:txBody>
      </p:sp>
      <p:sp>
        <p:nvSpPr>
          <p:cNvPr id="20" name="Text 12"/>
          <p:cNvSpPr/>
          <p:nvPr/>
        </p:nvSpPr>
        <p:spPr>
          <a:xfrm>
            <a:off x="857250" y="3480402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need to collect millions of training images</a:t>
            </a:r>
            <a:endParaRPr lang="en-US" sz="780" dirty="0"/>
          </a:p>
        </p:txBody>
      </p:sp>
      <p:sp>
        <p:nvSpPr>
          <p:cNvPr id="21" name="Text 13"/>
          <p:cNvSpPr/>
          <p:nvPr/>
        </p:nvSpPr>
        <p:spPr>
          <a:xfrm>
            <a:off x="857250" y="3662567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training (hours instead of weeks)</a:t>
            </a:r>
            <a:endParaRPr lang="en-US" sz="780" dirty="0"/>
          </a:p>
        </p:txBody>
      </p:sp>
      <p:sp>
        <p:nvSpPr>
          <p:cNvPr id="22" name="Text 14"/>
          <p:cNvSpPr/>
          <p:nvPr/>
        </p:nvSpPr>
        <p:spPr>
          <a:xfrm>
            <a:off x="857250" y="3844733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Better performance with limited data</a:t>
            </a:r>
            <a:endParaRPr lang="en-US" sz="780" dirty="0"/>
          </a:p>
        </p:txBody>
      </p:sp>
      <p:sp>
        <p:nvSpPr>
          <p:cNvPr id="23" name="Text 15"/>
          <p:cNvSpPr/>
          <p:nvPr/>
        </p:nvSpPr>
        <p:spPr>
          <a:xfrm>
            <a:off x="857250" y="4026898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Leverages knowledge from large datasets</a:t>
            </a:r>
            <a:endParaRPr lang="en-US" sz="780" dirty="0"/>
          </a:p>
        </p:txBody>
      </p:sp>
      <p:sp>
        <p:nvSpPr>
          <p:cNvPr id="24" name="Shape 16"/>
          <p:cNvSpPr/>
          <p:nvPr/>
        </p:nvSpPr>
        <p:spPr>
          <a:xfrm>
            <a:off x="4661297" y="3073208"/>
            <a:ext cx="3911203" cy="1278731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4172" y="3248230"/>
            <a:ext cx="160734" cy="1285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64906" y="3225012"/>
            <a:ext cx="7188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Practice</a:t>
            </a:r>
            <a:endParaRPr lang="en-US" sz="885" dirty="0"/>
          </a:p>
        </p:txBody>
      </p:sp>
      <p:sp>
        <p:nvSpPr>
          <p:cNvPr id="27" name="Text 18"/>
          <p:cNvSpPr/>
          <p:nvPr/>
        </p:nvSpPr>
        <p:spPr>
          <a:xfrm>
            <a:off x="4947047" y="3480402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pre-trained MobileNet-SSD or YOLO</a:t>
            </a:r>
            <a:endParaRPr lang="en-US" sz="780" dirty="0"/>
          </a:p>
        </p:txBody>
      </p:sp>
      <p:sp>
        <p:nvSpPr>
          <p:cNvPr id="28" name="Text 19"/>
          <p:cNvSpPr/>
          <p:nvPr/>
        </p:nvSpPr>
        <p:spPr>
          <a:xfrm>
            <a:off x="4947047" y="3662567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directly for common objects (boxes, people)</a:t>
            </a:r>
            <a:endParaRPr lang="en-US" sz="780" dirty="0"/>
          </a:p>
        </p:txBody>
      </p:sp>
      <p:sp>
        <p:nvSpPr>
          <p:cNvPr id="29" name="Text 20"/>
          <p:cNvSpPr/>
          <p:nvPr/>
        </p:nvSpPr>
        <p:spPr>
          <a:xfrm>
            <a:off x="4947047" y="3844733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Fine-tune if detecting custom objects</a:t>
            </a:r>
            <a:endParaRPr lang="en-US" sz="780" dirty="0"/>
          </a:p>
        </p:txBody>
      </p:sp>
      <p:sp>
        <p:nvSpPr>
          <p:cNvPr id="30" name="Text 21"/>
          <p:cNvSpPr/>
          <p:nvPr/>
        </p:nvSpPr>
        <p:spPr>
          <a:xfrm>
            <a:off x="4947047" y="4026898"/>
            <a:ext cx="34825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concept from your ML course!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Deploying CNNs on Robots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850106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Robots have limited compute power, memory, and battery — we need efficient models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1257300"/>
            <a:ext cx="8001000" cy="33218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57300"/>
            <a:ext cx="1600200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2171700" y="1257300"/>
            <a:ext cx="1600200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Size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3771900" y="1257300"/>
            <a:ext cx="1600200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 (FPS)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372100" y="1257300"/>
            <a:ext cx="1600200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 (mAP)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6972300" y="1257300"/>
            <a:ext cx="1600200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Case</a:t>
            </a:r>
            <a:endParaRPr lang="en-US" sz="734" dirty="0"/>
          </a:p>
        </p:txBody>
      </p:sp>
      <p:sp>
        <p:nvSpPr>
          <p:cNvPr id="11" name="Shape 8"/>
          <p:cNvSpPr/>
          <p:nvPr/>
        </p:nvSpPr>
        <p:spPr>
          <a:xfrm>
            <a:off x="571500" y="1589484"/>
            <a:ext cx="8001000" cy="36433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1589484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ResNet-101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171700" y="1589484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170 MB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771900" y="1589484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FPS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372100" y="1589484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76%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972300" y="1589484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Cloud/Server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1953816"/>
            <a:ext cx="8001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1953816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YOLOv5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171700" y="1953816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 MB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771900" y="1953816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45 FPS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372100" y="1953816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65%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972300" y="1953816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Desktop/Laptop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2318147"/>
            <a:ext cx="8001000" cy="36433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2318147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MobileNet-SSD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171700" y="2318147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MB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3771900" y="2318147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FPS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372100" y="2318147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60%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972300" y="2318147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Embedded/Robot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71500" y="2682478"/>
            <a:ext cx="8001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268247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TinyYOLO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171700" y="268247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MB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3771900" y="268247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 FPS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5372100" y="268247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55%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6972300" y="268247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Microcontroller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571500" y="3225403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3"/>
          <p:cNvSpPr/>
          <p:nvPr/>
        </p:nvSpPr>
        <p:spPr>
          <a:xfrm>
            <a:off x="700088" y="3353991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Efficient Architectures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700088" y="3607594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MobileNet, EfficientNet use depthwise separable convolutions to reduce parameters while maintaining accuracy</a:t>
            </a:r>
            <a:endParaRPr lang="en-US" sz="727" dirty="0"/>
          </a:p>
        </p:txBody>
      </p:sp>
      <p:sp>
        <p:nvSpPr>
          <p:cNvPr id="38" name="Shape 35"/>
          <p:cNvSpPr/>
          <p:nvPr/>
        </p:nvSpPr>
        <p:spPr>
          <a:xfrm>
            <a:off x="3286125" y="3225403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6"/>
          <p:cNvSpPr/>
          <p:nvPr/>
        </p:nvSpPr>
        <p:spPr>
          <a:xfrm>
            <a:off x="3414713" y="3353991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Quantization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414713" y="3607594"/>
            <a:ext cx="2314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 32-bit floats to 8-bit integers. 4× smaller, 2-4× faster, minimal accuracy loss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6000750" y="3225403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39"/>
          <p:cNvSpPr/>
          <p:nvPr/>
        </p:nvSpPr>
        <p:spPr>
          <a:xfrm>
            <a:off x="6129338" y="3353991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 AI Accelerators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6129338" y="3607594"/>
            <a:ext cx="2314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Coral TPU, NVIDIA Jetson, Intel Neural Compute Stick provide hardware acceleration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027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 Tracking for Navigation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850106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maintains object identity across frames — more efficient than detecting from scratch each time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1257300"/>
            <a:ext cx="3911203" cy="1721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400175"/>
            <a:ext cx="3625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Only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14375" y="1721644"/>
            <a:ext cx="3625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CNN on every frame independently. No memory of previous frames.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14375" y="2150269"/>
            <a:ext cx="3625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Simple, no state management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714375" y="2407444"/>
            <a:ext cx="3625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Computationally expensive, no temporal consistency, ID switching</a:t>
            </a:r>
            <a:endParaRPr lang="en-US" sz="734" dirty="0"/>
          </a:p>
        </p:txBody>
      </p:sp>
      <p:sp>
        <p:nvSpPr>
          <p:cNvPr id="10" name="Shape 7"/>
          <p:cNvSpPr/>
          <p:nvPr/>
        </p:nvSpPr>
        <p:spPr>
          <a:xfrm>
            <a:off x="4661297" y="1257300"/>
            <a:ext cx="3911203" cy="1721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4804172" y="1400175"/>
            <a:ext cx="3625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+ Tracking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804172" y="1721644"/>
            <a:ext cx="3625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 occasionally, track between detections. Predict object location based on motion.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804172" y="2150269"/>
            <a:ext cx="3625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Faster, stable IDs, motion prediction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4804172" y="2407444"/>
            <a:ext cx="3625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r>
              <a:rPr lang="en-US" sz="780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More complex, can lose track</a:t>
            </a:r>
            <a:endParaRPr lang="en-US" sz="734" dirty="0"/>
          </a:p>
        </p:txBody>
      </p:sp>
      <p:sp>
        <p:nvSpPr>
          <p:cNvPr id="15" name="Shape 12"/>
          <p:cNvSpPr/>
          <p:nvPr/>
        </p:nvSpPr>
        <p:spPr>
          <a:xfrm>
            <a:off x="571500" y="3157538"/>
            <a:ext cx="2571750" cy="108794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700088" y="3286125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Centroid Tracking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00088" y="3539728"/>
            <a:ext cx="23145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 objects by distance between centroids in consecutive frames. Simple but effective.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700088" y="3908301"/>
            <a:ext cx="23145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Use: Slow-moving objects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3286125" y="3157538"/>
            <a:ext cx="2571750" cy="108794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3414713" y="3286125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Kalman Filter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3414713" y="3539728"/>
            <a:ext cx="23145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 next position using motion model. Optimal for linear motion with Gaussian noise.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414713" y="3908301"/>
            <a:ext cx="23145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Use: Predictable trajectories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6000750" y="3157538"/>
            <a:ext cx="2571750" cy="108794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6129338" y="3286125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DeepSORT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129338" y="3539728"/>
            <a:ext cx="23145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Combines appearance features (CNN) with motion (Kalman). Handles occlusions well.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6129338" y="3908301"/>
            <a:ext cx="23145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Use: Complex scenarios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571500" y="4424074"/>
            <a:ext cx="8001000" cy="892969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8" name="Text 25"/>
          <p:cNvSpPr/>
          <p:nvPr/>
        </p:nvSpPr>
        <p:spPr>
          <a:xfrm>
            <a:off x="714375" y="4566949"/>
            <a:ext cx="7715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Warehouse Robot Application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714375" y="4831268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target item as robot approaches. Detect every 10 frames, track in between. Predict item location if temporarily occluded. Maintain stable ID for grasping system.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as Machine Learning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135856"/>
            <a:ext cx="1428750" cy="214313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Generic ML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2107406" y="885825"/>
            <a:ext cx="1535906" cy="7143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2193131" y="1064419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2193131" y="1282303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Tabular, text, time series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3750469" y="885825"/>
            <a:ext cx="1535906" cy="7143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3836194" y="1064419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Preprocessing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3836194" y="1282303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Normalization, encoding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5393531" y="885825"/>
            <a:ext cx="1535906" cy="7143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5479256" y="1064419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5479256" y="1282303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Neural net, tree, SVM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7036594" y="885825"/>
            <a:ext cx="1535906" cy="7143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2"/>
          <p:cNvSpPr/>
          <p:nvPr/>
        </p:nvSpPr>
        <p:spPr>
          <a:xfrm>
            <a:off x="7122319" y="1064419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7122319" y="1282303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Accuracy, F1, AUC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571500" y="2064544"/>
            <a:ext cx="1428750" cy="214313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2107406" y="1814513"/>
            <a:ext cx="1535906" cy="71437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9" name="Text 16"/>
          <p:cNvSpPr/>
          <p:nvPr/>
        </p:nvSpPr>
        <p:spPr>
          <a:xfrm>
            <a:off x="2193131" y="1993106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2193131" y="2210991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 (H×W×3 arrays)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3750469" y="1814513"/>
            <a:ext cx="1535906" cy="71437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2" name="Text 19"/>
          <p:cNvSpPr/>
          <p:nvPr/>
        </p:nvSpPr>
        <p:spPr>
          <a:xfrm>
            <a:off x="3836194" y="1993106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Preprocessing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3836194" y="2210991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Resize, augment, normalize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393531" y="1814513"/>
            <a:ext cx="1535906" cy="71437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2"/>
          <p:cNvSpPr/>
          <p:nvPr/>
        </p:nvSpPr>
        <p:spPr>
          <a:xfrm>
            <a:off x="5479256" y="1993106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5479256" y="2210991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 (ResNet, YOLO)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7036594" y="1814513"/>
            <a:ext cx="1535906" cy="71437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Text 25"/>
          <p:cNvSpPr/>
          <p:nvPr/>
        </p:nvSpPr>
        <p:spPr>
          <a:xfrm>
            <a:off x="7122319" y="1993106"/>
            <a:ext cx="1364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7122319" y="2210991"/>
            <a:ext cx="1364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mAP, IoU, precision</a:t>
            </a:r>
            <a:endParaRPr lang="en-US" sz="674" dirty="0"/>
          </a:p>
        </p:txBody>
      </p:sp>
      <p:sp>
        <p:nvSpPr>
          <p:cNvPr id="30" name="Shape 27"/>
          <p:cNvSpPr/>
          <p:nvPr/>
        </p:nvSpPr>
        <p:spPr>
          <a:xfrm>
            <a:off x="571500" y="2743200"/>
            <a:ext cx="8001000" cy="100866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8"/>
          <p:cNvSpPr/>
          <p:nvPr/>
        </p:nvSpPr>
        <p:spPr>
          <a:xfrm>
            <a:off x="750094" y="2921794"/>
            <a:ext cx="76438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Concepts, Different Data Type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750094" y="3207544"/>
            <a:ext cx="7643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Everything you learned in ML applies to CV: train/val/test splits, overfitting, regularization, transfer learning, hyperparameter tuning. Images are just high-dimensional structured data!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571500" y="3894739"/>
            <a:ext cx="1919883" cy="5607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1"/>
          <p:cNvSpPr/>
          <p:nvPr/>
        </p:nvSpPr>
        <p:spPr>
          <a:xfrm>
            <a:off x="678656" y="4001895"/>
            <a:ext cx="17055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678656" y="4219780"/>
            <a:ext cx="17055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NumPy arrays, PyTorch tensors</a:t>
            </a:r>
            <a:endParaRPr lang="en-US" sz="621" dirty="0"/>
          </a:p>
        </p:txBody>
      </p:sp>
      <p:sp>
        <p:nvSpPr>
          <p:cNvPr id="36" name="Shape 33"/>
          <p:cNvSpPr/>
          <p:nvPr/>
        </p:nvSpPr>
        <p:spPr>
          <a:xfrm>
            <a:off x="2598539" y="3894739"/>
            <a:ext cx="1919883" cy="5607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4"/>
          <p:cNvSpPr/>
          <p:nvPr/>
        </p:nvSpPr>
        <p:spPr>
          <a:xfrm>
            <a:off x="2705695" y="4001895"/>
            <a:ext cx="17055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</a:t>
            </a:r>
            <a:endParaRPr lang="en-US" sz="734" dirty="0"/>
          </a:p>
        </p:txBody>
      </p:sp>
      <p:sp>
        <p:nvSpPr>
          <p:cNvPr id="38" name="Text 35"/>
          <p:cNvSpPr/>
          <p:nvPr/>
        </p:nvSpPr>
        <p:spPr>
          <a:xfrm>
            <a:off x="2705695" y="4219780"/>
            <a:ext cx="17055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optimizers (Adam, SGD)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4625578" y="3894739"/>
            <a:ext cx="1919883" cy="5607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7"/>
          <p:cNvSpPr/>
          <p:nvPr/>
        </p:nvSpPr>
        <p:spPr>
          <a:xfrm>
            <a:off x="4732734" y="4001895"/>
            <a:ext cx="17055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Loss</a:t>
            </a:r>
            <a:endParaRPr lang="en-US" sz="734" dirty="0"/>
          </a:p>
        </p:txBody>
      </p:sp>
      <p:sp>
        <p:nvSpPr>
          <p:cNvPr id="41" name="Text 38"/>
          <p:cNvSpPr/>
          <p:nvPr/>
        </p:nvSpPr>
        <p:spPr>
          <a:xfrm>
            <a:off x="4732734" y="4219780"/>
            <a:ext cx="17055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Cross-entropy, MSE, IoU</a:t>
            </a:r>
            <a:endParaRPr lang="en-US" sz="621" dirty="0"/>
          </a:p>
        </p:txBody>
      </p:sp>
      <p:sp>
        <p:nvSpPr>
          <p:cNvPr id="42" name="Shape 39"/>
          <p:cNvSpPr/>
          <p:nvPr/>
        </p:nvSpPr>
        <p:spPr>
          <a:xfrm>
            <a:off x="6652617" y="3894739"/>
            <a:ext cx="1919883" cy="5607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0"/>
          <p:cNvSpPr/>
          <p:nvPr/>
        </p:nvSpPr>
        <p:spPr>
          <a:xfrm>
            <a:off x="6759773" y="4001895"/>
            <a:ext cx="17055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Frameworks</a:t>
            </a:r>
            <a:endParaRPr lang="en-US" sz="734" dirty="0"/>
          </a:p>
        </p:txBody>
      </p:sp>
      <p:sp>
        <p:nvSpPr>
          <p:cNvPr id="44" name="Text 41"/>
          <p:cNvSpPr/>
          <p:nvPr/>
        </p:nvSpPr>
        <p:spPr>
          <a:xfrm>
            <a:off x="6759773" y="4219780"/>
            <a:ext cx="17055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PyTorch, TensorFlow, Keras</a:t>
            </a:r>
            <a:endParaRPr lang="en-US" sz="6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1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Sim-to-Real Gap in Vision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885825"/>
            <a:ext cx="3911203" cy="15073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028700"/>
            <a:ext cx="3625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Simulation (PyBullet)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57250" y="1350169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Perfect lighting, no shadows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857250" y="1530186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textures, no noise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857250" y="1710203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Ideal camera (no distortion, blur)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857250" y="1890220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colors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857250" y="2070236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occlusions or clutter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661297" y="885825"/>
            <a:ext cx="3911203" cy="15073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4804172" y="1028700"/>
            <a:ext cx="3625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 World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947047" y="1350169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Variable lighting, shadows, reflections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947047" y="1530186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Sensor noise, motion blur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947047" y="1710203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Lens distortion, chromatic aberration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947047" y="1890220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variations (manufacturing, wear)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947047" y="2070236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clutter, occlusions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71500" y="2607441"/>
            <a:ext cx="80010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Bridging the Gap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571500" y="2986060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700088" y="3114647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 Randomization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00088" y="3368250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Vary lighting, textures, colors in simulation. Train on diverse conditions so model generalizes better to real world.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3286125" y="2986060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0"/>
          <p:cNvSpPr/>
          <p:nvPr/>
        </p:nvSpPr>
        <p:spPr>
          <a:xfrm>
            <a:off x="3414713" y="3114647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Realistic Rendering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414713" y="3368250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physics-based rendering with shadows, reflections, noise. Makes simulation closer to reality.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6000750" y="2986060"/>
            <a:ext cx="2571750" cy="9908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6129338" y="3114647"/>
            <a:ext cx="2314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Real-World Fine-tuning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129338" y="3368250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in sim, collect small real dataset, fine-tune. Combines sim efficiency with real-world accuracy.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71500" y="4155458"/>
            <a:ext cx="8001000" cy="892969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9" name="Text 26"/>
          <p:cNvSpPr/>
          <p:nvPr/>
        </p:nvSpPr>
        <p:spPr>
          <a:xfrm>
            <a:off x="714375" y="4298333"/>
            <a:ext cx="7715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Course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714375" y="4562652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Weeks 1-3: Develop algorithms in PyBullet simulation. Week 4+: Test on real hardware (Raspberry Pi camera, Arduino). Experience the sim-to-real challenge firsthand and learn to adapt!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2 Lab: Computer Vision for Warehouse Robot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885825"/>
            <a:ext cx="2547919" cy="1798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1702584" y="1064419"/>
            <a:ext cx="285750" cy="28575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3"/>
          <p:cNvSpPr/>
          <p:nvPr/>
        </p:nvSpPr>
        <p:spPr>
          <a:xfrm>
            <a:off x="1702584" y="1064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14375" y="1457325"/>
            <a:ext cx="226216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Camera Setup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714375" y="1746647"/>
            <a:ext cx="22621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Configure virtual camera in PyBullet. Capture and display RGB images from robot's perspective.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14375" y="2333830"/>
            <a:ext cx="2262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points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298013" y="885825"/>
            <a:ext cx="2547947" cy="1798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429097" y="1064419"/>
            <a:ext cx="285750" cy="28575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9"/>
          <p:cNvSpPr/>
          <p:nvPr/>
        </p:nvSpPr>
        <p:spPr>
          <a:xfrm>
            <a:off x="4429097" y="1064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440888" y="1457325"/>
            <a:ext cx="226219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Detection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3440888" y="1746647"/>
            <a:ext cx="2262197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HSV-based color detection. Detect and localize colored objects in warehouse scene.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440888" y="2333830"/>
            <a:ext cx="22621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points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024553" y="885825"/>
            <a:ext cx="2547919" cy="1798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7155638" y="1064419"/>
            <a:ext cx="285750" cy="28575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7155638" y="1064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6167428" y="1457325"/>
            <a:ext cx="226216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 Detection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6167428" y="1746647"/>
            <a:ext cx="22621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MobileNet-SSD and YOLO for object detection. Compare performance and accuracy.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167428" y="2173821"/>
            <a:ext cx="2262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points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71500" y="2898186"/>
            <a:ext cx="3911203" cy="1293019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73208"/>
            <a:ext cx="96441" cy="128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0816" y="3049991"/>
            <a:ext cx="8261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Deliverables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857250" y="3319667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code files (all parts)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857250" y="3499684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Screenshots showing detection results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857250" y="3679701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report (3-5 pages) answering questions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857250" y="3859718"/>
            <a:ext cx="34825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Comparison analysis (color vs CNN)</a:t>
            </a:r>
            <a:endParaRPr lang="en-US" sz="727" dirty="0"/>
          </a:p>
        </p:txBody>
      </p:sp>
      <p:sp>
        <p:nvSpPr>
          <p:cNvPr id="29" name="Shape 25"/>
          <p:cNvSpPr/>
          <p:nvPr/>
        </p:nvSpPr>
        <p:spPr>
          <a:xfrm>
            <a:off x="4661297" y="2898186"/>
            <a:ext cx="3911203" cy="1293019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3073208"/>
            <a:ext cx="112514" cy="128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16686" y="3049991"/>
            <a:ext cx="12635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Timeline &amp; Support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804172" y="3319667"/>
            <a:ext cx="3625453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Due: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Next class (1 week)
</a:t>
            </a: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 Hours: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TBD for hands-on help
</a:t>
            </a: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Starter Code: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Available on GitHub
</a:t>
            </a:r>
            <a:r>
              <a:rPr lang="en-US" sz="73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Office Hours:</a:t>
            </a: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questions and debugging</a:t>
            </a:r>
            <a:endParaRPr lang="en-US" sz="7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Warehouse Robot Project Progress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885825"/>
            <a:ext cx="1893094" cy="1432322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747" y="1087636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8656" y="1457325"/>
            <a:ext cx="16787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1: Basics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678656" y="1696641"/>
            <a:ext cx="1678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Robot simulation, motion control, sensor reading</a:t>
            </a:r>
            <a:endParaRPr lang="en-US" sz="674" dirty="0"/>
          </a:p>
        </p:txBody>
      </p:sp>
      <p:sp>
        <p:nvSpPr>
          <p:cNvPr id="8" name="Text 4"/>
          <p:cNvSpPr/>
          <p:nvPr/>
        </p:nvSpPr>
        <p:spPr>
          <a:xfrm>
            <a:off x="678656" y="2046684"/>
            <a:ext cx="16787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COMPLETED</a:t>
            </a:r>
            <a:endParaRPr lang="en-US" sz="584" dirty="0"/>
          </a:p>
        </p:txBody>
      </p:sp>
      <p:sp>
        <p:nvSpPr>
          <p:cNvPr id="9" name="Shape 5"/>
          <p:cNvSpPr/>
          <p:nvPr/>
        </p:nvSpPr>
        <p:spPr>
          <a:xfrm>
            <a:off x="2607469" y="885825"/>
            <a:ext cx="1893094" cy="143232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428" y="1087636"/>
            <a:ext cx="257175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14625" y="1457325"/>
            <a:ext cx="16787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2: Vision</a:t>
            </a:r>
            <a:endParaRPr lang="en-US" sz="834" dirty="0"/>
          </a:p>
        </p:txBody>
      </p:sp>
      <p:sp>
        <p:nvSpPr>
          <p:cNvPr id="12" name="Text 7"/>
          <p:cNvSpPr/>
          <p:nvPr/>
        </p:nvSpPr>
        <p:spPr>
          <a:xfrm>
            <a:off x="2714625" y="1696641"/>
            <a:ext cx="1678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Camera setup, object detection, visual perception</a:t>
            </a:r>
            <a:endParaRPr lang="en-US" sz="674" dirty="0"/>
          </a:p>
        </p:txBody>
      </p:sp>
      <p:sp>
        <p:nvSpPr>
          <p:cNvPr id="13" name="Text 8"/>
          <p:cNvSpPr/>
          <p:nvPr/>
        </p:nvSpPr>
        <p:spPr>
          <a:xfrm>
            <a:off x="2714625" y="2046684"/>
            <a:ext cx="16787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9770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▶ CURRENT</a:t>
            </a:r>
            <a:endParaRPr lang="en-US" sz="584" dirty="0"/>
          </a:p>
        </p:txBody>
      </p:sp>
      <p:sp>
        <p:nvSpPr>
          <p:cNvPr id="14" name="Shape 9"/>
          <p:cNvSpPr/>
          <p:nvPr/>
        </p:nvSpPr>
        <p:spPr>
          <a:xfrm>
            <a:off x="4643438" y="885825"/>
            <a:ext cx="1893094" cy="143232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0"/>
          <p:cNvSpPr/>
          <p:nvPr/>
        </p:nvSpPr>
        <p:spPr>
          <a:xfrm>
            <a:off x="4750594" y="1457325"/>
            <a:ext cx="16787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3: LIDAR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4750594" y="1696641"/>
            <a:ext cx="1678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Distance sensing, obstacle detection, mapping</a:t>
            </a:r>
            <a:endParaRPr lang="en-US" sz="674" dirty="0"/>
          </a:p>
        </p:txBody>
      </p:sp>
      <p:sp>
        <p:nvSpPr>
          <p:cNvPr id="17" name="Text 12"/>
          <p:cNvSpPr/>
          <p:nvPr/>
        </p:nvSpPr>
        <p:spPr>
          <a:xfrm>
            <a:off x="4750594" y="2046684"/>
            <a:ext cx="16787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UPCOMING</a:t>
            </a:r>
            <a:endParaRPr lang="en-US" sz="584" dirty="0"/>
          </a:p>
        </p:txBody>
      </p:sp>
      <p:sp>
        <p:nvSpPr>
          <p:cNvPr id="18" name="Shape 13"/>
          <p:cNvSpPr/>
          <p:nvPr/>
        </p:nvSpPr>
        <p:spPr>
          <a:xfrm>
            <a:off x="6679406" y="885825"/>
            <a:ext cx="1893094" cy="1432322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653" y="108763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86563" y="1457325"/>
            <a:ext cx="16787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4: Navigation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6786563" y="1696641"/>
            <a:ext cx="1678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 planning, obstacle avoidance, autonomous movement</a:t>
            </a:r>
            <a:endParaRPr lang="en-US" sz="674" dirty="0"/>
          </a:p>
        </p:txBody>
      </p:sp>
      <p:sp>
        <p:nvSpPr>
          <p:cNvPr id="22" name="Text 16"/>
          <p:cNvSpPr/>
          <p:nvPr/>
        </p:nvSpPr>
        <p:spPr>
          <a:xfrm>
            <a:off x="6786563" y="2046684"/>
            <a:ext cx="16787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UPCOMING</a:t>
            </a:r>
            <a:endParaRPr lang="en-US" sz="584" dirty="0"/>
          </a:p>
        </p:txBody>
      </p:sp>
      <p:sp>
        <p:nvSpPr>
          <p:cNvPr id="23" name="Shape 17"/>
          <p:cNvSpPr/>
          <p:nvPr/>
        </p:nvSpPr>
        <p:spPr>
          <a:xfrm>
            <a:off x="571500" y="2532459"/>
            <a:ext cx="8001000" cy="1044383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435" y="2752130"/>
            <a:ext cx="157163" cy="1571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547597" y="2721769"/>
            <a:ext cx="22059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Added This Week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750094" y="3032522"/>
            <a:ext cx="76438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warehouse robot can now </a:t>
            </a:r>
            <a:r>
              <a:rPr lang="en-US" sz="784" b="1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and recognize objects</a:t>
            </a:r>
            <a:r>
              <a:rPr lang="en-US" sz="834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using its camera! It can detect items by color or use deep learning to identify specific object types. This is the foundation for autonomous item retrieval.</a:t>
            </a:r>
            <a:endParaRPr lang="en-US" sz="834" dirty="0"/>
          </a:p>
        </p:txBody>
      </p:sp>
      <p:sp>
        <p:nvSpPr>
          <p:cNvPr id="27" name="Shape 20"/>
          <p:cNvSpPr/>
          <p:nvPr/>
        </p:nvSpPr>
        <p:spPr>
          <a:xfrm>
            <a:off x="571500" y="3719717"/>
            <a:ext cx="8001000" cy="892969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Text 21"/>
          <p:cNvSpPr/>
          <p:nvPr/>
        </p:nvSpPr>
        <p:spPr>
          <a:xfrm>
            <a:off x="714375" y="3862592"/>
            <a:ext cx="7715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Week: LIDAR and Sensor Fusion</a:t>
            </a:r>
            <a:endParaRPr lang="en-US" sz="885" dirty="0"/>
          </a:p>
        </p:txBody>
      </p:sp>
      <p:sp>
        <p:nvSpPr>
          <p:cNvPr id="29" name="Text 22"/>
          <p:cNvSpPr/>
          <p:nvPr/>
        </p:nvSpPr>
        <p:spPr>
          <a:xfrm>
            <a:off x="714375" y="4126911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add distance sensing to complement vision. Learn how to combine camera and LIDAR data for robust perception in cluttered warehouse environments.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92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4313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Takeaways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778669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50094" y="921544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92154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1307306" y="885825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is critical for autonomous robots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307306" y="1143000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80% of robots need vision systems. Cameras provide rich information about the environment for perception and decision-making.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1507331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750094" y="1650206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1650206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1307306" y="1614488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 complex problems into manageable steps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307306" y="1871663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Vision pipeline: capture → process → detect → recognize → localize. Each step builds on the previous one.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2235994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750094" y="2378869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6" name="Text 13"/>
          <p:cNvSpPr/>
          <p:nvPr/>
        </p:nvSpPr>
        <p:spPr>
          <a:xfrm>
            <a:off x="750094" y="237886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95" dirty="0"/>
          </a:p>
        </p:txBody>
      </p:sp>
      <p:sp>
        <p:nvSpPr>
          <p:cNvPr id="17" name="Text 14"/>
          <p:cNvSpPr/>
          <p:nvPr/>
        </p:nvSpPr>
        <p:spPr>
          <a:xfrm>
            <a:off x="1307306" y="2343150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HSV is better than RGB for robotic applications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307306" y="2600325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HSV separates color from brightness, making detection robust to lighting variations in real-world environments.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71500" y="2964656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750094" y="3107531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8"/>
          <p:cNvSpPr/>
          <p:nvPr/>
        </p:nvSpPr>
        <p:spPr>
          <a:xfrm>
            <a:off x="750094" y="310753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95" dirty="0"/>
          </a:p>
        </p:txBody>
      </p:sp>
      <p:sp>
        <p:nvSpPr>
          <p:cNvPr id="22" name="Text 19"/>
          <p:cNvSpPr/>
          <p:nvPr/>
        </p:nvSpPr>
        <p:spPr>
          <a:xfrm>
            <a:off x="1307306" y="3071813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CNNs learn hierarchical visual features automatically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1307306" y="3328988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layers detect edges, deeper layers combine them into objects. Transfer learning lets us use pre-trained models.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571500" y="3693319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750094" y="3836194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6" name="Text 23"/>
          <p:cNvSpPr/>
          <p:nvPr/>
        </p:nvSpPr>
        <p:spPr>
          <a:xfrm>
            <a:off x="750094" y="38361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295" dirty="0"/>
          </a:p>
        </p:txBody>
      </p:sp>
      <p:sp>
        <p:nvSpPr>
          <p:cNvPr id="27" name="Text 24"/>
          <p:cNvSpPr/>
          <p:nvPr/>
        </p:nvSpPr>
        <p:spPr>
          <a:xfrm>
            <a:off x="1307306" y="3800475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performance requires efficient models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1307306" y="4057650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MobileNet and YOLO provide good accuracy at 30+ FPS. Trade-offs between model size, speed, and accuracy.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571500" y="4421981"/>
            <a:ext cx="8001000" cy="6429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750094" y="4564856"/>
            <a:ext cx="357188" cy="3571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1" name="Text 28"/>
          <p:cNvSpPr/>
          <p:nvPr/>
        </p:nvSpPr>
        <p:spPr>
          <a:xfrm>
            <a:off x="750094" y="4564856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295" dirty="0"/>
          </a:p>
        </p:txBody>
      </p:sp>
      <p:sp>
        <p:nvSpPr>
          <p:cNvPr id="32" name="Text 29"/>
          <p:cNvSpPr/>
          <p:nvPr/>
        </p:nvSpPr>
        <p:spPr>
          <a:xfrm>
            <a:off x="1307306" y="4529138"/>
            <a:ext cx="7158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is just another ML problem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1307306" y="4786313"/>
            <a:ext cx="7158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concepts you know: training, validation, overfitting, transfer learning. Images are structured data arrays!</a:t>
            </a:r>
            <a:endParaRPr lang="en-US" sz="83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9808" y="607219"/>
            <a:ext cx="284435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3731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Questions?</a:t>
            </a:r>
            <a:endParaRPr lang="en-US" sz="373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587" y="1859161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78349" y="1839516"/>
            <a:ext cx="1747273" cy="220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Email: </a:t>
            </a:r>
            <a:r>
              <a:rPr lang="en-US" sz="1159" dirty="0" smtClean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a.fatayer@zuj.edu.jo</a:t>
            </a:r>
            <a:endParaRPr lang="en-US" sz="115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085" y="2337792"/>
            <a:ext cx="225028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578349" y="2318147"/>
            <a:ext cx="2734723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Office Hours: </a:t>
            </a:r>
            <a:r>
              <a:rPr lang="en-US" sz="1159" dirty="0" smtClean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 me to book a meeting</a:t>
            </a:r>
            <a:endParaRPr lang="en-US" sz="1159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799" y="2825353"/>
            <a:ext cx="155600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578349" y="2807494"/>
            <a:ext cx="22397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C52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linkedin.com/in/akram-fatayer</a:t>
            </a:r>
            <a:endParaRPr lang="en-US" sz="1159" dirty="0"/>
          </a:p>
        </p:txBody>
      </p:sp>
      <p:sp>
        <p:nvSpPr>
          <p:cNvPr id="10" name="Text 4"/>
          <p:cNvSpPr/>
          <p:nvPr/>
        </p:nvSpPr>
        <p:spPr>
          <a:xfrm>
            <a:off x="4057008" y="3707606"/>
            <a:ext cx="10299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86" dirty="0">
                <a:solidFill>
                  <a:srgbClr val="4A55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you!</a:t>
            </a:r>
            <a:endParaRPr lang="en-US" sz="1486" dirty="0"/>
          </a:p>
        </p:txBody>
      </p:sp>
      <p:sp>
        <p:nvSpPr>
          <p:cNvPr id="11" name="Text 5"/>
          <p:cNvSpPr/>
          <p:nvPr/>
        </p:nvSpPr>
        <p:spPr>
          <a:xfrm>
            <a:off x="2998198" y="4150519"/>
            <a:ext cx="314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Dr. Akram Fatayer • AI and Data Science Department
 Al-Zaytoonah University of Jordan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2302</Words>
  <Application>Microsoft Office PowerPoint</Application>
  <PresentationFormat>On-screen Show (16:9)</PresentationFormat>
  <Paragraphs>401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xion</cp:lastModifiedBy>
  <cp:revision>3</cp:revision>
  <dcterms:created xsi:type="dcterms:W3CDTF">2025-11-01T19:51:12Z</dcterms:created>
  <dcterms:modified xsi:type="dcterms:W3CDTF">2025-11-01T20:03:07Z</dcterms:modified>
</cp:coreProperties>
</file>