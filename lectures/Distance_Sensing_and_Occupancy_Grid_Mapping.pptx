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74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623808"/>
            <a:ext cx="40005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37E"/>
                </a:solidFill>
              </a:rPr>
              <a:t>Distance Sensing
and Occupancy
Grid Mapping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3412536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37474F"/>
                </a:solidFill>
              </a:rPr>
              <a:t>AI and Robotics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571500" y="3998323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Building environmental maps from LiDAR sensor data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06" y="1497509"/>
            <a:ext cx="3214688" cy="21484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72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Today's Agenda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1000125" y="1300163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BCD4"/>
                </a:solidFill>
              </a:rPr>
              <a:t>01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1428750" y="1300163"/>
            <a:ext cx="6715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Distance Sensing Technologies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1428750" y="1614488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Compare LiDAR, ultrasonic, and infrared sensors for robot perception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000125" y="2057400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BCD4"/>
                </a:solidFill>
              </a:rPr>
              <a:t>02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1428750" y="2057400"/>
            <a:ext cx="6715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LiDAR and Point Clouds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428750" y="2371725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Understand how LiDAR works and represents environmental data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000125" y="2814638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BCD4"/>
                </a:solidFill>
              </a:rPr>
              <a:t>03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1428750" y="2814638"/>
            <a:ext cx="6715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Occupancy Grid Representation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428750" y="3128963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Learn probabilistic grid maps and log-odds representation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1000125" y="3571875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BCD4"/>
                </a:solidFill>
              </a:rPr>
              <a:t>04</a:t>
            </a:r>
            <a:endParaRPr lang="en-US" sz="1808" dirty="0"/>
          </a:p>
        </p:txBody>
      </p:sp>
      <p:sp>
        <p:nvSpPr>
          <p:cNvPr id="14" name="Text 11"/>
          <p:cNvSpPr/>
          <p:nvPr/>
        </p:nvSpPr>
        <p:spPr>
          <a:xfrm>
            <a:off x="1428750" y="3571875"/>
            <a:ext cx="6715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Mapping Algorithm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1428750" y="3886200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Implement inverse sensor model and ray casting for grid updates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1000125" y="4329113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BCD4"/>
                </a:solidFill>
              </a:rPr>
              <a:t>05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1428750" y="4329113"/>
            <a:ext cx="6715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Real-World Applications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428750" y="4643438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Explore applications in warehouses, autonomous vehicles, and beyond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1000125" y="5086350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BCD4"/>
                </a:solidFill>
              </a:rPr>
              <a:t>06</a:t>
            </a:r>
            <a:endParaRPr lang="en-US" sz="1808" dirty="0"/>
          </a:p>
        </p:txBody>
      </p:sp>
      <p:sp>
        <p:nvSpPr>
          <p:cNvPr id="20" name="Text 17"/>
          <p:cNvSpPr/>
          <p:nvPr/>
        </p:nvSpPr>
        <p:spPr>
          <a:xfrm>
            <a:off x="1428750" y="5086350"/>
            <a:ext cx="6715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This Week's Lab Preview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1428750" y="5400675"/>
            <a:ext cx="6715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Build your own occupancy grid mapping system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163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Why Mapping Matters for Autonomous Robots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235869"/>
            <a:ext cx="37719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Week 3:</a:t>
            </a:r>
            <a:r>
              <a:rPr lang="en-US" sz="1050" dirty="0">
                <a:solidFill>
                  <a:srgbClr val="37474F"/>
                </a:solidFill>
              </a:rPr>
              <a:t> We learned how robots answer </a:t>
            </a:r>
            <a:r>
              <a:rPr lang="en-US" sz="1050" i="1" dirty="0">
                <a:solidFill>
                  <a:srgbClr val="37474F"/>
                </a:solidFill>
              </a:rPr>
              <a:t>"Where am I?"</a:t>
            </a:r>
            <a:r>
              <a:rPr lang="en-US" sz="1050" dirty="0">
                <a:solidFill>
                  <a:srgbClr val="37474F"/>
                </a:solidFill>
              </a:rPr>
              <a:t> using Kalman filtering for localization.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864519"/>
            <a:ext cx="37719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Week 4:</a:t>
            </a:r>
            <a:r>
              <a:rPr lang="en-US" sz="1050" dirty="0">
                <a:solidFill>
                  <a:srgbClr val="37474F"/>
                </a:solidFill>
              </a:rPr>
              <a:t> Now we tackle </a:t>
            </a:r>
            <a:r>
              <a:rPr lang="en-US" sz="1050" i="1" dirty="0">
                <a:solidFill>
                  <a:srgbClr val="37474F"/>
                </a:solidFill>
              </a:rPr>
              <a:t>"What's around me?"</a:t>
            </a:r>
            <a:r>
              <a:rPr lang="en-US" sz="1050" dirty="0">
                <a:solidFill>
                  <a:srgbClr val="37474F"/>
                </a:solidFill>
              </a:rPr>
              <a:t> by building maps from sensor data.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71500" y="2528888"/>
            <a:ext cx="3771900" cy="788659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528888"/>
            <a:ext cx="28575" cy="78865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750094" y="2671763"/>
            <a:ext cx="341471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Localization + Mapping = Autonomous Navigation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3496140"/>
            <a:ext cx="377190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87" b="1" dirty="0">
                <a:solidFill>
                  <a:srgbClr val="FF6F00"/>
                </a:solidFill>
              </a:rPr>
              <a:t>Real-World Example:</a:t>
            </a:r>
            <a:r>
              <a:rPr lang="en-US" sz="1050" dirty="0">
                <a:solidFill>
                  <a:srgbClr val="37474F"/>
                </a:solidFill>
              </a:rPr>
              <a:t> A warehouse robot must know obstacle locations to plan safe paths for package delivery.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4367678"/>
            <a:ext cx="37719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87" b="1" dirty="0">
                <a:solidFill>
                  <a:srgbClr val="FF6F00"/>
                </a:solidFill>
              </a:rPr>
              <a:t>The Challenge:</a:t>
            </a:r>
            <a:r>
              <a:rPr lang="en-US" sz="1050" dirty="0">
                <a:solidFill>
                  <a:srgbClr val="37474F"/>
                </a:solidFill>
              </a:rPr>
              <a:t> Build accurate, reliable maps from noisy sensor measurements in real-time.</a:t>
            </a:r>
            <a:endParaRPr lang="en-US" sz="987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5869"/>
            <a:ext cx="3771900" cy="34660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4844802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37474F"/>
                </a:solidFill>
              </a:rPr>
              <a:t>Example occupancy grid map showing obstacles (black), free space (white), and unknown areas (gray)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686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Distance Sensing Technologies: Three Main Types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985838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Robots use different sensors depending on application requirements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485900"/>
            <a:ext cx="1285875" cy="4714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85900"/>
            <a:ext cx="1285875" cy="471488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Characteristic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1857375" y="1485900"/>
            <a:ext cx="2319291" cy="4714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8" name="Text 5"/>
          <p:cNvSpPr/>
          <p:nvPr/>
        </p:nvSpPr>
        <p:spPr>
          <a:xfrm>
            <a:off x="1857375" y="1485900"/>
            <a:ext cx="2319291" cy="471488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Ultrasonic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176666" y="1485900"/>
            <a:ext cx="2140000" cy="4714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7"/>
          <p:cNvSpPr/>
          <p:nvPr/>
        </p:nvSpPr>
        <p:spPr>
          <a:xfrm>
            <a:off x="4176666" y="1485900"/>
            <a:ext cx="2140000" cy="471488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Infrared (IR)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6316666" y="1485900"/>
            <a:ext cx="2255834" cy="4714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Text 9"/>
          <p:cNvSpPr/>
          <p:nvPr/>
        </p:nvSpPr>
        <p:spPr>
          <a:xfrm>
            <a:off x="6316666" y="1485900"/>
            <a:ext cx="2255834" cy="471488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LiDAR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1957388"/>
            <a:ext cx="1285875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Technology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857375" y="1957388"/>
            <a:ext cx="2319291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Sound waves (40 kHz)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176666" y="1957388"/>
            <a:ext cx="2140000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Infrared light reflection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316666" y="1957388"/>
            <a:ext cx="2255834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Laser pulses (TOF)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571500" y="2368153"/>
            <a:ext cx="8001000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2368153"/>
            <a:ext cx="1285875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Range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1857375" y="2368153"/>
            <a:ext cx="2319291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2 cm – 4 m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176666" y="2368153"/>
            <a:ext cx="2140000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10 cm – 80 cm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6316666" y="2368153"/>
            <a:ext cx="2255834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0.1 m – 100+ m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571500" y="2782491"/>
            <a:ext cx="1285875" cy="6107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Accuracy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1857375" y="2782491"/>
            <a:ext cx="2319291" cy="6107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±1-3 cm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176666" y="2782491"/>
            <a:ext cx="2140000" cy="6107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±2-5 cm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6423822" y="2902148"/>
            <a:ext cx="12802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±2-5 cm (long range)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6423822" y="3096816"/>
            <a:ext cx="12790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±1 mm (short range)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571500" y="3393281"/>
            <a:ext cx="8001000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5"/>
          <p:cNvSpPr/>
          <p:nvPr/>
        </p:nvSpPr>
        <p:spPr>
          <a:xfrm>
            <a:off x="571500" y="3393281"/>
            <a:ext cx="1285875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Update Rate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1857375" y="3393281"/>
            <a:ext cx="2319291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≤50 Hz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4176666" y="3393281"/>
            <a:ext cx="2140000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100+ Hz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6316666" y="3393281"/>
            <a:ext cx="2255834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5-40 Hz (360° scan)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571500" y="3807619"/>
            <a:ext cx="1285875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Cost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1857375" y="3807619"/>
            <a:ext cx="2319291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$1-5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4176666" y="3807619"/>
            <a:ext cx="2140000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$2-10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6316666" y="3807619"/>
            <a:ext cx="2255834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$100-$10,000+</a:t>
            </a:r>
            <a:endParaRPr lang="en-US" sz="942" dirty="0"/>
          </a:p>
        </p:txBody>
      </p:sp>
      <p:sp>
        <p:nvSpPr>
          <p:cNvPr id="36" name="Shape 33"/>
          <p:cNvSpPr/>
          <p:nvPr/>
        </p:nvSpPr>
        <p:spPr>
          <a:xfrm>
            <a:off x="571500" y="4221956"/>
            <a:ext cx="8001000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4"/>
          <p:cNvSpPr/>
          <p:nvPr/>
        </p:nvSpPr>
        <p:spPr>
          <a:xfrm>
            <a:off x="571500" y="4221956"/>
            <a:ext cx="1285875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Key Advantage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1857375" y="4221956"/>
            <a:ext cx="2319291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Cheap, simple, robust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4176666" y="4221956"/>
            <a:ext cx="2140000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Fast, compact</a:t>
            </a:r>
            <a:endParaRPr lang="en-US" sz="942" dirty="0"/>
          </a:p>
        </p:txBody>
      </p:sp>
      <p:sp>
        <p:nvSpPr>
          <p:cNvPr id="40" name="Text 37"/>
          <p:cNvSpPr/>
          <p:nvPr/>
        </p:nvSpPr>
        <p:spPr>
          <a:xfrm>
            <a:off x="6316666" y="4221956"/>
            <a:ext cx="2255834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Accurate, 360° coverage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571500" y="4636294"/>
            <a:ext cx="1285875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Key Limitation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1857375" y="4636294"/>
            <a:ext cx="2319291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Slow, wide beam angle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4176666" y="4636294"/>
            <a:ext cx="2140000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Lighting sensitive, short range</a:t>
            </a:r>
            <a:endParaRPr lang="en-US" sz="942" dirty="0"/>
          </a:p>
        </p:txBody>
      </p:sp>
      <p:sp>
        <p:nvSpPr>
          <p:cNvPr id="44" name="Text 41"/>
          <p:cNvSpPr/>
          <p:nvPr/>
        </p:nvSpPr>
        <p:spPr>
          <a:xfrm>
            <a:off x="6316666" y="4636294"/>
            <a:ext cx="2255834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Expensive, complex</a:t>
            </a:r>
            <a:endParaRPr lang="en-US" sz="942" dirty="0"/>
          </a:p>
        </p:txBody>
      </p:sp>
      <p:sp>
        <p:nvSpPr>
          <p:cNvPr id="45" name="Shape 42"/>
          <p:cNvSpPr/>
          <p:nvPr/>
        </p:nvSpPr>
        <p:spPr>
          <a:xfrm>
            <a:off x="571500" y="5050631"/>
            <a:ext cx="8001000" cy="4143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Text 43"/>
          <p:cNvSpPr/>
          <p:nvPr/>
        </p:nvSpPr>
        <p:spPr>
          <a:xfrm>
            <a:off x="571500" y="5050631"/>
            <a:ext cx="1285875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Typical Use</a:t>
            </a:r>
            <a:endParaRPr lang="en-US" sz="885" dirty="0"/>
          </a:p>
        </p:txBody>
      </p:sp>
      <p:sp>
        <p:nvSpPr>
          <p:cNvPr id="47" name="Text 44"/>
          <p:cNvSpPr/>
          <p:nvPr/>
        </p:nvSpPr>
        <p:spPr>
          <a:xfrm>
            <a:off x="1857375" y="5050631"/>
            <a:ext cx="2319291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Parking sensors, low-cost robots</a:t>
            </a:r>
            <a:endParaRPr lang="en-US" sz="942" dirty="0"/>
          </a:p>
        </p:txBody>
      </p:sp>
      <p:sp>
        <p:nvSpPr>
          <p:cNvPr id="48" name="Text 45"/>
          <p:cNvSpPr/>
          <p:nvPr/>
        </p:nvSpPr>
        <p:spPr>
          <a:xfrm>
            <a:off x="4176666" y="5050631"/>
            <a:ext cx="2140000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Line following, proximity</a:t>
            </a:r>
            <a:endParaRPr lang="en-US" sz="942" dirty="0"/>
          </a:p>
        </p:txBody>
      </p:sp>
      <p:sp>
        <p:nvSpPr>
          <p:cNvPr id="49" name="Text 46"/>
          <p:cNvSpPr/>
          <p:nvPr/>
        </p:nvSpPr>
        <p:spPr>
          <a:xfrm>
            <a:off x="6316666" y="5050631"/>
            <a:ext cx="2255834" cy="4143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Mapping, autonomous vehicles</a:t>
            </a:r>
            <a:endParaRPr lang="en-US" sz="885" dirty="0"/>
          </a:p>
        </p:txBody>
      </p:sp>
      <p:sp>
        <p:nvSpPr>
          <p:cNvPr id="50" name="Text 47"/>
          <p:cNvSpPr/>
          <p:nvPr/>
        </p:nvSpPr>
        <p:spPr>
          <a:xfrm>
            <a:off x="571500" y="5647134"/>
            <a:ext cx="8001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i="1" dirty="0">
                <a:solidFill>
                  <a:srgbClr val="1A237E"/>
                </a:solidFill>
              </a:rPr>
              <a:t>Note:</a:t>
            </a:r>
            <a:r>
              <a:rPr lang="en-US" sz="942" i="1" dirty="0">
                <a:solidFill>
                  <a:srgbClr val="37474F"/>
                </a:solidFill>
              </a:rPr>
              <a:t> Robots often use multiple sensor types for sensor fusion (complementary strengths)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399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Ultrasonic Sensors: Low-Cost Distance Measurement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TECHNOLOGY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27158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Sound waves at 40 kHz (above human hearing)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571500" y="1620180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RANGE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83449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2 cm to 4 meters (typical)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571500" y="2183085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ACCURACY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39739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±1-3 cm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571500" y="2745991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UPDATE RATE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96030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Up to 50 Hz (20 ms per measurement)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571500" y="3308896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COST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71500" y="352320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$1-5 per sensor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571500" y="3871801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EXAMPLE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408611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HC-SR04 (Arduino), MaxBotix sensors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4800600" y="1057275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Advantages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4800600" y="1400175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Very low cost and simple to use</a:t>
            </a:r>
            <a:endParaRPr lang="en-US" sz="996" dirty="0"/>
          </a:p>
        </p:txBody>
      </p:sp>
      <p:sp>
        <p:nvSpPr>
          <p:cNvPr id="18" name="Text 15"/>
          <p:cNvSpPr/>
          <p:nvPr/>
        </p:nvSpPr>
        <p:spPr>
          <a:xfrm>
            <a:off x="4800600" y="1675209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Works in various lighting conditions (day/night)</a:t>
            </a:r>
            <a:endParaRPr lang="en-US" sz="996" dirty="0"/>
          </a:p>
        </p:txBody>
      </p:sp>
      <p:sp>
        <p:nvSpPr>
          <p:cNvPr id="19" name="Text 16"/>
          <p:cNvSpPr/>
          <p:nvPr/>
        </p:nvSpPr>
        <p:spPr>
          <a:xfrm>
            <a:off x="4800600" y="1950244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Not affected by object color or transparency</a:t>
            </a:r>
            <a:endParaRPr lang="en-US" sz="996" dirty="0"/>
          </a:p>
        </p:txBody>
      </p:sp>
      <p:sp>
        <p:nvSpPr>
          <p:cNvPr id="20" name="Text 17"/>
          <p:cNvSpPr/>
          <p:nvPr/>
        </p:nvSpPr>
        <p:spPr>
          <a:xfrm>
            <a:off x="4800600" y="2225278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Robust to dust and smoke</a:t>
            </a:r>
            <a:endParaRPr lang="en-US" sz="996" dirty="0"/>
          </a:p>
        </p:txBody>
      </p:sp>
      <p:sp>
        <p:nvSpPr>
          <p:cNvPr id="21" name="Text 18"/>
          <p:cNvSpPr/>
          <p:nvPr/>
        </p:nvSpPr>
        <p:spPr>
          <a:xfrm>
            <a:off x="4800600" y="2586038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Disadvantages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800600" y="2928938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Slow update rate (limited by speed of sound)</a:t>
            </a:r>
            <a:endParaRPr lang="en-US" sz="996" dirty="0"/>
          </a:p>
        </p:txBody>
      </p:sp>
      <p:sp>
        <p:nvSpPr>
          <p:cNvPr id="23" name="Text 20"/>
          <p:cNvSpPr/>
          <p:nvPr/>
        </p:nvSpPr>
        <p:spPr>
          <a:xfrm>
            <a:off x="4800600" y="3203972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Wide beam angle (~15°) reduces precision</a:t>
            </a:r>
            <a:endParaRPr lang="en-US" sz="996" dirty="0"/>
          </a:p>
        </p:txBody>
      </p:sp>
      <p:sp>
        <p:nvSpPr>
          <p:cNvPr id="24" name="Text 21"/>
          <p:cNvSpPr/>
          <p:nvPr/>
        </p:nvSpPr>
        <p:spPr>
          <a:xfrm>
            <a:off x="4800600" y="3479006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Affected by soft materials (curtains, foam)</a:t>
            </a:r>
            <a:endParaRPr lang="en-US" sz="996" dirty="0"/>
          </a:p>
        </p:txBody>
      </p:sp>
      <p:sp>
        <p:nvSpPr>
          <p:cNvPr id="25" name="Text 22"/>
          <p:cNvSpPr/>
          <p:nvPr/>
        </p:nvSpPr>
        <p:spPr>
          <a:xfrm>
            <a:off x="4800600" y="3754041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Temperature dependent (speed of sound varies)</a:t>
            </a:r>
            <a:endParaRPr lang="en-US" sz="996" dirty="0"/>
          </a:p>
        </p:txBody>
      </p:sp>
      <p:sp>
        <p:nvSpPr>
          <p:cNvPr id="26" name="Text 23"/>
          <p:cNvSpPr/>
          <p:nvPr/>
        </p:nvSpPr>
        <p:spPr>
          <a:xfrm>
            <a:off x="4800600" y="4114800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Applications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4800600" y="4457700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Car parking sensors</a:t>
            </a:r>
            <a:endParaRPr lang="en-US" sz="996" dirty="0"/>
          </a:p>
        </p:txBody>
      </p:sp>
      <p:sp>
        <p:nvSpPr>
          <p:cNvPr id="28" name="Text 25"/>
          <p:cNvSpPr/>
          <p:nvPr/>
        </p:nvSpPr>
        <p:spPr>
          <a:xfrm>
            <a:off x="4800600" y="4732734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Low-cost mobile robots</a:t>
            </a:r>
            <a:endParaRPr lang="en-US" sz="996" dirty="0"/>
          </a:p>
        </p:txBody>
      </p:sp>
      <p:sp>
        <p:nvSpPr>
          <p:cNvPr id="29" name="Text 26"/>
          <p:cNvSpPr/>
          <p:nvPr/>
        </p:nvSpPr>
        <p:spPr>
          <a:xfrm>
            <a:off x="4800600" y="5007769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Obstacle detection for Arduino projects</a:t>
            </a:r>
            <a:endParaRPr lang="en-US" sz="996" dirty="0"/>
          </a:p>
        </p:txBody>
      </p:sp>
      <p:sp>
        <p:nvSpPr>
          <p:cNvPr id="30" name="Text 27"/>
          <p:cNvSpPr/>
          <p:nvPr/>
        </p:nvSpPr>
        <p:spPr>
          <a:xfrm>
            <a:off x="4800600" y="1400175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1" name="Text 28"/>
          <p:cNvSpPr/>
          <p:nvPr/>
        </p:nvSpPr>
        <p:spPr>
          <a:xfrm>
            <a:off x="4800600" y="1675209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2" name="Text 29"/>
          <p:cNvSpPr/>
          <p:nvPr/>
        </p:nvSpPr>
        <p:spPr>
          <a:xfrm>
            <a:off x="4800600" y="1950244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3" name="Text 30"/>
          <p:cNvSpPr/>
          <p:nvPr/>
        </p:nvSpPr>
        <p:spPr>
          <a:xfrm>
            <a:off x="4800600" y="2225278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4" name="Text 31"/>
          <p:cNvSpPr/>
          <p:nvPr/>
        </p:nvSpPr>
        <p:spPr>
          <a:xfrm>
            <a:off x="4800600" y="2928938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5" name="Text 32"/>
          <p:cNvSpPr/>
          <p:nvPr/>
        </p:nvSpPr>
        <p:spPr>
          <a:xfrm>
            <a:off x="4800600" y="3203972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6" name="Text 33"/>
          <p:cNvSpPr/>
          <p:nvPr/>
        </p:nvSpPr>
        <p:spPr>
          <a:xfrm>
            <a:off x="4800600" y="3479006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7" name="Text 34"/>
          <p:cNvSpPr/>
          <p:nvPr/>
        </p:nvSpPr>
        <p:spPr>
          <a:xfrm>
            <a:off x="4800600" y="3754041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8" name="Text 35"/>
          <p:cNvSpPr/>
          <p:nvPr/>
        </p:nvSpPr>
        <p:spPr>
          <a:xfrm>
            <a:off x="4800600" y="4457700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9" name="Text 36"/>
          <p:cNvSpPr/>
          <p:nvPr/>
        </p:nvSpPr>
        <p:spPr>
          <a:xfrm>
            <a:off x="4800600" y="4732734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0" name="Text 37"/>
          <p:cNvSpPr/>
          <p:nvPr/>
        </p:nvSpPr>
        <p:spPr>
          <a:xfrm>
            <a:off x="4800600" y="5007769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150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Infrared Sensors: Fast but Limited Range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TECHNOLOGY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27158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Infrared light reflection (IR LED + photodiode)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571500" y="1620180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RANGE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83449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10 cm to 80 cm (typical)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571500" y="2183085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ACCURACY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39739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±2-5 cm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571500" y="2745991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UPDATE RATE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96030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100+ Hz (very fast)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571500" y="3308896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COST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71500" y="352320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$2-10 per sensor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571500" y="3871801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EXAMPLE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408611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Sharp GP2Y0A21YK, Pololu distance sensors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4800600" y="1057275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Advantages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4800600" y="1400175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Very fast update rate (100+ Hz)</a:t>
            </a:r>
            <a:endParaRPr lang="en-US" sz="996" dirty="0"/>
          </a:p>
        </p:txBody>
      </p:sp>
      <p:sp>
        <p:nvSpPr>
          <p:cNvPr id="18" name="Text 15"/>
          <p:cNvSpPr/>
          <p:nvPr/>
        </p:nvSpPr>
        <p:spPr>
          <a:xfrm>
            <a:off x="4800600" y="1675209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Low cost and compact size</a:t>
            </a:r>
            <a:endParaRPr lang="en-US" sz="996" dirty="0"/>
          </a:p>
        </p:txBody>
      </p:sp>
      <p:sp>
        <p:nvSpPr>
          <p:cNvPr id="19" name="Text 16"/>
          <p:cNvSpPr/>
          <p:nvPr/>
        </p:nvSpPr>
        <p:spPr>
          <a:xfrm>
            <a:off x="4800600" y="1950244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Simple analog output (voltage proportional to distance)</a:t>
            </a:r>
            <a:endParaRPr lang="en-US" sz="996" dirty="0"/>
          </a:p>
        </p:txBody>
      </p:sp>
      <p:sp>
        <p:nvSpPr>
          <p:cNvPr id="20" name="Text 17"/>
          <p:cNvSpPr/>
          <p:nvPr/>
        </p:nvSpPr>
        <p:spPr>
          <a:xfrm>
            <a:off x="4800600" y="2225278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Good for close-range detection</a:t>
            </a:r>
            <a:endParaRPr lang="en-US" sz="996" dirty="0"/>
          </a:p>
        </p:txBody>
      </p:sp>
      <p:sp>
        <p:nvSpPr>
          <p:cNvPr id="21" name="Text 18"/>
          <p:cNvSpPr/>
          <p:nvPr/>
        </p:nvSpPr>
        <p:spPr>
          <a:xfrm>
            <a:off x="4800600" y="2586038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Disadvantages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800600" y="2928938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Affected by ambient light (sunlight, IR sources)</a:t>
            </a:r>
            <a:endParaRPr lang="en-US" sz="996" dirty="0"/>
          </a:p>
        </p:txBody>
      </p:sp>
      <p:sp>
        <p:nvSpPr>
          <p:cNvPr id="23" name="Text 20"/>
          <p:cNvSpPr/>
          <p:nvPr/>
        </p:nvSpPr>
        <p:spPr>
          <a:xfrm>
            <a:off x="4800600" y="3203972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Surface color and texture affect readings</a:t>
            </a:r>
            <a:endParaRPr lang="en-US" sz="996" dirty="0"/>
          </a:p>
        </p:txBody>
      </p:sp>
      <p:sp>
        <p:nvSpPr>
          <p:cNvPr id="24" name="Text 21"/>
          <p:cNvSpPr/>
          <p:nvPr/>
        </p:nvSpPr>
        <p:spPr>
          <a:xfrm>
            <a:off x="4800600" y="3479006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Limited range (typically &lt;1 meter)</a:t>
            </a:r>
            <a:endParaRPr lang="en-US" sz="996" dirty="0"/>
          </a:p>
        </p:txBody>
      </p:sp>
      <p:sp>
        <p:nvSpPr>
          <p:cNvPr id="25" name="Text 22"/>
          <p:cNvSpPr/>
          <p:nvPr/>
        </p:nvSpPr>
        <p:spPr>
          <a:xfrm>
            <a:off x="4800600" y="3754041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Nonlinear response curve (requires calibration)</a:t>
            </a:r>
            <a:endParaRPr lang="en-US" sz="996" dirty="0"/>
          </a:p>
        </p:txBody>
      </p:sp>
      <p:sp>
        <p:nvSpPr>
          <p:cNvPr id="26" name="Text 23"/>
          <p:cNvSpPr/>
          <p:nvPr/>
        </p:nvSpPr>
        <p:spPr>
          <a:xfrm>
            <a:off x="4800600" y="4114800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Applications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4800600" y="4457700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Line-following robots</a:t>
            </a:r>
            <a:endParaRPr lang="en-US" sz="996" dirty="0"/>
          </a:p>
        </p:txBody>
      </p:sp>
      <p:sp>
        <p:nvSpPr>
          <p:cNvPr id="28" name="Text 25"/>
          <p:cNvSpPr/>
          <p:nvPr/>
        </p:nvSpPr>
        <p:spPr>
          <a:xfrm>
            <a:off x="4800600" y="4732734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Cliff detection (vacuum cleaners)</a:t>
            </a:r>
            <a:endParaRPr lang="en-US" sz="996" dirty="0"/>
          </a:p>
        </p:txBody>
      </p:sp>
      <p:sp>
        <p:nvSpPr>
          <p:cNvPr id="29" name="Text 26"/>
          <p:cNvSpPr/>
          <p:nvPr/>
        </p:nvSpPr>
        <p:spPr>
          <a:xfrm>
            <a:off x="4800600" y="5007769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Proximity sensing for user interfaces</a:t>
            </a:r>
            <a:endParaRPr lang="en-US" sz="996" dirty="0"/>
          </a:p>
        </p:txBody>
      </p:sp>
      <p:sp>
        <p:nvSpPr>
          <p:cNvPr id="30" name="Text 27"/>
          <p:cNvSpPr/>
          <p:nvPr/>
        </p:nvSpPr>
        <p:spPr>
          <a:xfrm>
            <a:off x="4800600" y="5282803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Short-range obstacle avoidance</a:t>
            </a:r>
            <a:endParaRPr lang="en-US" sz="996" dirty="0"/>
          </a:p>
        </p:txBody>
      </p:sp>
      <p:sp>
        <p:nvSpPr>
          <p:cNvPr id="31" name="Text 28"/>
          <p:cNvSpPr/>
          <p:nvPr/>
        </p:nvSpPr>
        <p:spPr>
          <a:xfrm>
            <a:off x="4800600" y="1400175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2" name="Text 29"/>
          <p:cNvSpPr/>
          <p:nvPr/>
        </p:nvSpPr>
        <p:spPr>
          <a:xfrm>
            <a:off x="4800600" y="1675209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3" name="Text 30"/>
          <p:cNvSpPr/>
          <p:nvPr/>
        </p:nvSpPr>
        <p:spPr>
          <a:xfrm>
            <a:off x="4800600" y="1950244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4" name="Text 31"/>
          <p:cNvSpPr/>
          <p:nvPr/>
        </p:nvSpPr>
        <p:spPr>
          <a:xfrm>
            <a:off x="4800600" y="2225278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5" name="Text 32"/>
          <p:cNvSpPr/>
          <p:nvPr/>
        </p:nvSpPr>
        <p:spPr>
          <a:xfrm>
            <a:off x="4800600" y="2928938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6" name="Text 33"/>
          <p:cNvSpPr/>
          <p:nvPr/>
        </p:nvSpPr>
        <p:spPr>
          <a:xfrm>
            <a:off x="4800600" y="3203972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7" name="Text 34"/>
          <p:cNvSpPr/>
          <p:nvPr/>
        </p:nvSpPr>
        <p:spPr>
          <a:xfrm>
            <a:off x="4800600" y="3479006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8" name="Text 35"/>
          <p:cNvSpPr/>
          <p:nvPr/>
        </p:nvSpPr>
        <p:spPr>
          <a:xfrm>
            <a:off x="4800600" y="3754041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9" name="Text 36"/>
          <p:cNvSpPr/>
          <p:nvPr/>
        </p:nvSpPr>
        <p:spPr>
          <a:xfrm>
            <a:off x="4800600" y="4457700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0" name="Text 37"/>
          <p:cNvSpPr/>
          <p:nvPr/>
        </p:nvSpPr>
        <p:spPr>
          <a:xfrm>
            <a:off x="4800600" y="4732734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1" name="Text 38"/>
          <p:cNvSpPr/>
          <p:nvPr/>
        </p:nvSpPr>
        <p:spPr>
          <a:xfrm>
            <a:off x="4800600" y="5007769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2" name="Text 39"/>
          <p:cNvSpPr/>
          <p:nvPr/>
        </p:nvSpPr>
        <p:spPr>
          <a:xfrm>
            <a:off x="4800600" y="5282803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150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LiDAR: Industry Standard for Robot Mapping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TECHNOLOGY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27158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Laser pulses (infrared or visible light)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571500" y="1620180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RANGE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83449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0.1 m to 100+ meters (model dependent)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571500" y="2183085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ACCURACY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39739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±2-5 cm at long range, ±1 mm at short range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571500" y="2745991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UPDATE RATE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96030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5-40 Hz for full 360° scan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571500" y="3308896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RESOLUTION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71500" y="3523208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360-1080 measurements per scan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571500" y="3871801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COST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4086113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$100 (RPLiDAR) to $10,000+ (Velodyne)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571500" y="4434706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CD4"/>
                </a:solidFill>
              </a:rPr>
              <a:t>EXAMPLES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71500" y="4649019"/>
            <a:ext cx="37719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SICK LMS, Hokuyo URG, RPLiDAR, Velodyne</a:t>
            </a:r>
            <a:endParaRPr lang="en-US" sz="1159" dirty="0"/>
          </a:p>
        </p:txBody>
      </p:sp>
      <p:sp>
        <p:nvSpPr>
          <p:cNvPr id="18" name="Text 15"/>
          <p:cNvSpPr/>
          <p:nvPr/>
        </p:nvSpPr>
        <p:spPr>
          <a:xfrm>
            <a:off x="4800600" y="1057275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Advantages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800600" y="1400175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High accuracy and long range</a:t>
            </a:r>
            <a:endParaRPr lang="en-US" sz="996" dirty="0"/>
          </a:p>
        </p:txBody>
      </p:sp>
      <p:sp>
        <p:nvSpPr>
          <p:cNvPr id="20" name="Text 17"/>
          <p:cNvSpPr/>
          <p:nvPr/>
        </p:nvSpPr>
        <p:spPr>
          <a:xfrm>
            <a:off x="4800600" y="1675209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360° coverage in single scan</a:t>
            </a:r>
            <a:endParaRPr lang="en-US" sz="996" dirty="0"/>
          </a:p>
        </p:txBody>
      </p:sp>
      <p:sp>
        <p:nvSpPr>
          <p:cNvPr id="21" name="Text 18"/>
          <p:cNvSpPr/>
          <p:nvPr/>
        </p:nvSpPr>
        <p:spPr>
          <a:xfrm>
            <a:off x="4800600" y="1950244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Not affected by lighting conditions</a:t>
            </a:r>
            <a:endParaRPr lang="en-US" sz="996" dirty="0"/>
          </a:p>
        </p:txBody>
      </p:sp>
      <p:sp>
        <p:nvSpPr>
          <p:cNvPr id="22" name="Text 19"/>
          <p:cNvSpPr/>
          <p:nvPr/>
        </p:nvSpPr>
        <p:spPr>
          <a:xfrm>
            <a:off x="4800600" y="2225278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Dense point clouds for detailed mapping</a:t>
            </a:r>
            <a:endParaRPr lang="en-US" sz="996" dirty="0"/>
          </a:p>
        </p:txBody>
      </p:sp>
      <p:sp>
        <p:nvSpPr>
          <p:cNvPr id="23" name="Text 20"/>
          <p:cNvSpPr/>
          <p:nvPr/>
        </p:nvSpPr>
        <p:spPr>
          <a:xfrm>
            <a:off x="4800600" y="2586038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Disadvantages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4800600" y="2928938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Expensive (especially high-end models)</a:t>
            </a:r>
            <a:endParaRPr lang="en-US" sz="996" dirty="0"/>
          </a:p>
        </p:txBody>
      </p:sp>
      <p:sp>
        <p:nvSpPr>
          <p:cNvPr id="25" name="Text 22"/>
          <p:cNvSpPr/>
          <p:nvPr/>
        </p:nvSpPr>
        <p:spPr>
          <a:xfrm>
            <a:off x="4800600" y="3203972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Complex data processing required</a:t>
            </a:r>
            <a:endParaRPr lang="en-US" sz="996" dirty="0"/>
          </a:p>
        </p:txBody>
      </p:sp>
      <p:sp>
        <p:nvSpPr>
          <p:cNvPr id="26" name="Text 23"/>
          <p:cNvSpPr/>
          <p:nvPr/>
        </p:nvSpPr>
        <p:spPr>
          <a:xfrm>
            <a:off x="4800600" y="3479006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Struggles with transparent surfaces (glass, water)</a:t>
            </a:r>
            <a:endParaRPr lang="en-US" sz="996" dirty="0"/>
          </a:p>
        </p:txBody>
      </p:sp>
      <p:sp>
        <p:nvSpPr>
          <p:cNvPr id="27" name="Text 24"/>
          <p:cNvSpPr/>
          <p:nvPr/>
        </p:nvSpPr>
        <p:spPr>
          <a:xfrm>
            <a:off x="4800600" y="3754041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Reflective surfaces cause false readings</a:t>
            </a:r>
            <a:endParaRPr lang="en-US" sz="996" dirty="0"/>
          </a:p>
        </p:txBody>
      </p:sp>
      <p:sp>
        <p:nvSpPr>
          <p:cNvPr id="28" name="Text 25"/>
          <p:cNvSpPr/>
          <p:nvPr/>
        </p:nvSpPr>
        <p:spPr>
          <a:xfrm>
            <a:off x="4800600" y="4114800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Applications</a:t>
            </a:r>
            <a:endParaRPr lang="en-US" sz="1193" dirty="0"/>
          </a:p>
        </p:txBody>
      </p:sp>
      <p:sp>
        <p:nvSpPr>
          <p:cNvPr id="29" name="Text 26"/>
          <p:cNvSpPr/>
          <p:nvPr/>
        </p:nvSpPr>
        <p:spPr>
          <a:xfrm>
            <a:off x="4800600" y="4457700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Autonomous vehicles (Tesla, Waymo)</a:t>
            </a:r>
            <a:endParaRPr lang="en-US" sz="996" dirty="0"/>
          </a:p>
        </p:txBody>
      </p:sp>
      <p:sp>
        <p:nvSpPr>
          <p:cNvPr id="30" name="Text 27"/>
          <p:cNvSpPr/>
          <p:nvPr/>
        </p:nvSpPr>
        <p:spPr>
          <a:xfrm>
            <a:off x="4800600" y="4732734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Warehouse robots (Amazon, Fetch)</a:t>
            </a:r>
            <a:endParaRPr lang="en-US" sz="996" dirty="0"/>
          </a:p>
        </p:txBody>
      </p:sp>
      <p:sp>
        <p:nvSpPr>
          <p:cNvPr id="31" name="Text 28"/>
          <p:cNvSpPr/>
          <p:nvPr/>
        </p:nvSpPr>
        <p:spPr>
          <a:xfrm>
            <a:off x="4800600" y="5007769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Drones and UAVs</a:t>
            </a:r>
            <a:endParaRPr lang="en-US" sz="996" dirty="0"/>
          </a:p>
        </p:txBody>
      </p:sp>
      <p:sp>
        <p:nvSpPr>
          <p:cNvPr id="32" name="Text 29"/>
          <p:cNvSpPr/>
          <p:nvPr/>
        </p:nvSpPr>
        <p:spPr>
          <a:xfrm>
            <a:off x="4800600" y="5282803"/>
            <a:ext cx="3771900" cy="203597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37474F"/>
                </a:solidFill>
              </a:rPr>
              <a:t>Surveying and 3D scanning</a:t>
            </a:r>
            <a:endParaRPr lang="en-US" sz="996" dirty="0"/>
          </a:p>
        </p:txBody>
      </p:sp>
      <p:sp>
        <p:nvSpPr>
          <p:cNvPr id="33" name="Text 30"/>
          <p:cNvSpPr/>
          <p:nvPr/>
        </p:nvSpPr>
        <p:spPr>
          <a:xfrm>
            <a:off x="4800600" y="1400175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4" name="Text 31"/>
          <p:cNvSpPr/>
          <p:nvPr/>
        </p:nvSpPr>
        <p:spPr>
          <a:xfrm>
            <a:off x="4800600" y="1675209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5" name="Text 32"/>
          <p:cNvSpPr/>
          <p:nvPr/>
        </p:nvSpPr>
        <p:spPr>
          <a:xfrm>
            <a:off x="4800600" y="1950244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6" name="Text 33"/>
          <p:cNvSpPr/>
          <p:nvPr/>
        </p:nvSpPr>
        <p:spPr>
          <a:xfrm>
            <a:off x="4800600" y="2225278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7" name="Text 34"/>
          <p:cNvSpPr/>
          <p:nvPr/>
        </p:nvSpPr>
        <p:spPr>
          <a:xfrm>
            <a:off x="4800600" y="2928938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8" name="Text 35"/>
          <p:cNvSpPr/>
          <p:nvPr/>
        </p:nvSpPr>
        <p:spPr>
          <a:xfrm>
            <a:off x="4800600" y="3203972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39" name="Text 36"/>
          <p:cNvSpPr/>
          <p:nvPr/>
        </p:nvSpPr>
        <p:spPr>
          <a:xfrm>
            <a:off x="4800600" y="3479006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0" name="Text 37"/>
          <p:cNvSpPr/>
          <p:nvPr/>
        </p:nvSpPr>
        <p:spPr>
          <a:xfrm>
            <a:off x="4800600" y="3754041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1" name="Text 38"/>
          <p:cNvSpPr/>
          <p:nvPr/>
        </p:nvSpPr>
        <p:spPr>
          <a:xfrm>
            <a:off x="4800600" y="4457700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2" name="Text 39"/>
          <p:cNvSpPr/>
          <p:nvPr/>
        </p:nvSpPr>
        <p:spPr>
          <a:xfrm>
            <a:off x="4800600" y="4732734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3" name="Text 40"/>
          <p:cNvSpPr/>
          <p:nvPr/>
        </p:nvSpPr>
        <p:spPr>
          <a:xfrm>
            <a:off x="4800600" y="5007769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  <p:sp>
        <p:nvSpPr>
          <p:cNvPr id="44" name="Text 41"/>
          <p:cNvSpPr/>
          <p:nvPr/>
        </p:nvSpPr>
        <p:spPr>
          <a:xfrm>
            <a:off x="4800600" y="5282803"/>
            <a:ext cx="6446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00BCD4"/>
                </a:solidFill>
              </a:rPr>
              <a:t>•</a:t>
            </a:r>
            <a:endParaRPr lang="en-US" sz="12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150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How LiDAR Measures Distance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1000125" y="1092994"/>
            <a:ext cx="357188" cy="3571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1000125" y="10929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1535906" y="1150144"/>
            <a:ext cx="660796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Emit a laser pulse toward the environment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1000125" y="1664494"/>
            <a:ext cx="357188" cy="3571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1000125" y="16644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2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1535906" y="1721644"/>
            <a:ext cx="660796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Measure time-of-flight (TOF): time for light to travel to object and return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1000125" y="2235994"/>
            <a:ext cx="357188" cy="3571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8"/>
          <p:cNvSpPr/>
          <p:nvPr/>
        </p:nvSpPr>
        <p:spPr>
          <a:xfrm>
            <a:off x="1000125" y="22359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3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1535906" y="2293144"/>
            <a:ext cx="660796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Calculate distance using the speed of light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1000125" y="2843213"/>
            <a:ext cx="7143750" cy="1221581"/>
          </a:xfrm>
          <a:prstGeom prst="rect">
            <a:avLst/>
          </a:prstGeom>
          <a:solidFill>
            <a:srgbClr val="E3F2FD"/>
          </a:solidFill>
          <a:ln w="18288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14438" y="3057525"/>
            <a:ext cx="67151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d = (c × t) / 2</a:t>
            </a:r>
            <a:endParaRPr lang="en-US" sz="2016" dirty="0"/>
          </a:p>
        </p:txBody>
      </p:sp>
      <p:sp>
        <p:nvSpPr>
          <p:cNvPr id="15" name="Text 12"/>
          <p:cNvSpPr/>
          <p:nvPr/>
        </p:nvSpPr>
        <p:spPr>
          <a:xfrm>
            <a:off x="1214438" y="3593306"/>
            <a:ext cx="6715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where </a:t>
            </a:r>
            <a:r>
              <a:rPr lang="en-US" sz="987" b="1" dirty="0">
                <a:solidFill>
                  <a:srgbClr val="37474F"/>
                </a:solidFill>
              </a:rPr>
              <a:t>c</a:t>
            </a:r>
            <a:r>
              <a:rPr lang="en-US" sz="1050" dirty="0">
                <a:solidFill>
                  <a:srgbClr val="37474F"/>
                </a:solidFill>
              </a:rPr>
              <a:t> = speed of light (3 × 10</a:t>
            </a:r>
            <a:r>
              <a:rPr lang="en-US" sz="780" dirty="0">
                <a:solidFill>
                  <a:srgbClr val="37474F"/>
                </a:solidFill>
              </a:rPr>
              <a:t>8</a:t>
            </a:r>
            <a:r>
              <a:rPr lang="en-US" sz="1050" dirty="0">
                <a:solidFill>
                  <a:srgbClr val="37474F"/>
                </a:solidFill>
              </a:rPr>
              <a:t> m/s), </a:t>
            </a:r>
            <a:r>
              <a:rPr lang="en-US" sz="987" b="1" dirty="0">
                <a:solidFill>
                  <a:srgbClr val="37474F"/>
                </a:solidFill>
              </a:rPr>
              <a:t>t</a:t>
            </a:r>
            <a:r>
              <a:rPr lang="en-US" sz="1050" dirty="0">
                <a:solidFill>
                  <a:srgbClr val="37474F"/>
                </a:solidFill>
              </a:rPr>
              <a:t> = time-of-flight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00125" y="4271963"/>
            <a:ext cx="357188" cy="3571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Text 14"/>
          <p:cNvSpPr/>
          <p:nvPr/>
        </p:nvSpPr>
        <p:spPr>
          <a:xfrm>
            <a:off x="1000125" y="427196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4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1535906" y="4329113"/>
            <a:ext cx="660796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Rotate sensor to scan 360° around the robot</a:t>
            </a:r>
            <a:endParaRPr lang="en-US" sz="1269" dirty="0"/>
          </a:p>
        </p:txBody>
      </p:sp>
      <p:sp>
        <p:nvSpPr>
          <p:cNvPr id="19" name="Shape 16"/>
          <p:cNvSpPr/>
          <p:nvPr/>
        </p:nvSpPr>
        <p:spPr>
          <a:xfrm>
            <a:off x="1000125" y="4843463"/>
            <a:ext cx="357188" cy="3571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0" name="Text 17"/>
          <p:cNvSpPr/>
          <p:nvPr/>
        </p:nvSpPr>
        <p:spPr>
          <a:xfrm>
            <a:off x="1000125" y="484346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5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1535906" y="4900613"/>
            <a:ext cx="660796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Result: Array of 360-1080 distance measurements at different angles</a:t>
            </a:r>
            <a:endParaRPr lang="en-US" sz="12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934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Point Cloud Representation of Environment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92994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LiDAR Output:</a:t>
            </a:r>
            <a:r>
              <a:rPr lang="en-US" sz="1159" dirty="0">
                <a:solidFill>
                  <a:srgbClr val="37474F"/>
                </a:solidFill>
              </a:rPr>
              <a:t> Array of (angle, distance) pairs for each measurement in a scan.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805918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Conversion to Cartesian:</a:t>
            </a:r>
            <a:r>
              <a:rPr lang="en-US" sz="1159" dirty="0">
                <a:solidFill>
                  <a:srgbClr val="37474F"/>
                </a:solidFill>
              </a:rPr>
              <a:t> Transform polar coordinates to (x, y) in robot frame: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571500" y="2518842"/>
            <a:ext cx="3771900" cy="8001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518842"/>
            <a:ext cx="3771900" cy="8001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1A237E"/>
                </a:solidFill>
              </a:rPr>
              <a:t>x = d × cos(θ)
 y = d × sin(θ)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71500" y="3497535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Point Cloud:</a:t>
            </a:r>
            <a:r>
              <a:rPr lang="en-US" sz="1159" dirty="0">
                <a:solidFill>
                  <a:srgbClr val="37474F"/>
                </a:solidFill>
              </a:rPr>
              <a:t> Set of (x, y) points representing detected obstacles in the environment.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4210459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Visualization:</a:t>
            </a:r>
            <a:r>
              <a:rPr lang="en-US" sz="1159" dirty="0">
                <a:solidFill>
                  <a:srgbClr val="37474F"/>
                </a:solidFill>
              </a:rPr>
              <a:t> Scatter plot where each point represents a surface the laser hit.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571500" y="4923383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FF6F00"/>
                </a:solidFill>
              </a:rPr>
              <a:t>Challenge:</a:t>
            </a:r>
            <a:r>
              <a:rPr lang="en-US" sz="1159" dirty="0">
                <a:solidFill>
                  <a:srgbClr val="37474F"/>
                </a:solidFill>
              </a:rPr>
              <a:t> How do we use this sparse point data for navigation and obstacle avoidance?</a:t>
            </a:r>
            <a:endParaRPr lang="en-US" sz="109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13279"/>
            <a:ext cx="3771900" cy="19669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4323141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37474F"/>
                </a:solidFill>
              </a:rPr>
              <a:t>3D point cloud from LiDAR showing environmental structure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07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Coordinate Frame Transformations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1000125" y="1092994"/>
            <a:ext cx="3457575" cy="163591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1178719" y="1271588"/>
            <a:ext cx="31003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Robot Frame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1178719" y="1635919"/>
            <a:ext cx="3100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Origin at robot center
 x-axis: forward
 y-axis: left
 LiDAR measurements in this frame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86300" y="1092994"/>
            <a:ext cx="3457575" cy="163591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4864894" y="1271588"/>
            <a:ext cx="31003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World Frame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4864894" y="1635919"/>
            <a:ext cx="3100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Fixed global coordinate system
 Independent of robot motion
 Map is built in this frame
 Persistent across time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00125" y="3121819"/>
            <a:ext cx="7143750" cy="1980214"/>
          </a:xfrm>
          <a:prstGeom prst="rect">
            <a:avLst/>
          </a:prstGeom>
          <a:solidFill>
            <a:srgbClr val="E3F2FD"/>
          </a:solidFill>
          <a:ln w="18288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14438" y="3336131"/>
            <a:ext cx="671512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A237E"/>
                </a:solidFill>
              </a:rPr>
              <a:t>Transformation: Robot → World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1214438" y="3787973"/>
            <a:ext cx="11855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Given robot pose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400021" y="3787973"/>
            <a:ext cx="1310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7474F"/>
                </a:solidFill>
              </a:rPr>
              <a:t>(x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531064" y="3852267"/>
            <a:ext cx="486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34" b="1" dirty="0">
                <a:solidFill>
                  <a:srgbClr val="37474F"/>
                </a:solidFill>
              </a:rPr>
              <a:t>r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2579731" y="3787973"/>
            <a:ext cx="159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7474F"/>
                </a:solidFill>
              </a:rPr>
              <a:t>, y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2738903" y="3852267"/>
            <a:ext cx="486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34" b="1" dirty="0">
                <a:solidFill>
                  <a:srgbClr val="37474F"/>
                </a:solidFill>
              </a:rPr>
              <a:t>r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2787569" y="3787973"/>
            <a:ext cx="1661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7474F"/>
                </a:solidFill>
              </a:rPr>
              <a:t>, θ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2953745" y="3852267"/>
            <a:ext cx="486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34" b="1" dirty="0">
                <a:solidFill>
                  <a:srgbClr val="37474F"/>
                </a:solidFill>
              </a:rPr>
              <a:t>r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3002412" y="3787973"/>
            <a:ext cx="484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7474F"/>
                </a:solidFill>
              </a:rPr>
              <a:t>)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3050856" y="3787973"/>
            <a:ext cx="105699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in world frame: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214438" y="4136231"/>
            <a:ext cx="6715125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59" dirty="0">
                <a:solidFill>
                  <a:srgbClr val="1A237E"/>
                </a:solidFill>
              </a:rPr>
              <a:t>x</a:t>
            </a:r>
            <a:r>
              <a:rPr lang="en-US" sz="861" dirty="0">
                <a:solidFill>
                  <a:srgbClr val="1A237E"/>
                </a:solidFill>
              </a:rPr>
              <a:t>world</a:t>
            </a:r>
            <a:r>
              <a:rPr lang="en-US" sz="1159" dirty="0">
                <a:solidFill>
                  <a:srgbClr val="1A237E"/>
                </a:solidFill>
              </a:rPr>
              <a:t> = x</a:t>
            </a:r>
            <a:r>
              <a:rPr lang="en-US" sz="861" dirty="0">
                <a:solidFill>
                  <a:srgbClr val="1A237E"/>
                </a:solidFill>
              </a:rPr>
              <a:t>r</a:t>
            </a:r>
            <a:r>
              <a:rPr lang="en-US" sz="1159" dirty="0">
                <a:solidFill>
                  <a:srgbClr val="1A237E"/>
                </a:solidFill>
              </a:rPr>
              <a:t> + x</a:t>
            </a:r>
            <a:r>
              <a:rPr lang="en-US" sz="861" dirty="0">
                <a:solidFill>
                  <a:srgbClr val="1A237E"/>
                </a:solidFill>
              </a:rPr>
              <a:t>robot</a:t>
            </a:r>
            <a:r>
              <a:rPr lang="en-US" sz="1159" dirty="0">
                <a:solidFill>
                  <a:srgbClr val="1A237E"/>
                </a:solidFill>
              </a:rPr>
              <a:t> × cos(θ</a:t>
            </a:r>
            <a:r>
              <a:rPr lang="en-US" sz="861" dirty="0">
                <a:solidFill>
                  <a:srgbClr val="1A237E"/>
                </a:solidFill>
              </a:rPr>
              <a:t>r</a:t>
            </a:r>
            <a:r>
              <a:rPr lang="en-US" sz="1159" dirty="0">
                <a:solidFill>
                  <a:srgbClr val="1A237E"/>
                </a:solidFill>
              </a:rPr>
              <a:t>) − y</a:t>
            </a:r>
            <a:r>
              <a:rPr lang="en-US" sz="861" dirty="0">
                <a:solidFill>
                  <a:srgbClr val="1A237E"/>
                </a:solidFill>
              </a:rPr>
              <a:t>robot</a:t>
            </a:r>
            <a:r>
              <a:rPr lang="en-US" sz="1159" dirty="0">
                <a:solidFill>
                  <a:srgbClr val="1A237E"/>
                </a:solidFill>
              </a:rPr>
              <a:t> × sin(θ</a:t>
            </a:r>
            <a:r>
              <a:rPr lang="en-US" sz="861" dirty="0">
                <a:solidFill>
                  <a:srgbClr val="1A237E"/>
                </a:solidFill>
              </a:rPr>
              <a:t>r</a:t>
            </a:r>
            <a:r>
              <a:rPr lang="en-US" sz="1159" dirty="0">
                <a:solidFill>
                  <a:srgbClr val="1A237E"/>
                </a:solidFill>
              </a:rPr>
              <a:t>)</a:t>
            </a:r>
            <a:endParaRPr lang="en-US" sz="1159" dirty="0"/>
          </a:p>
        </p:txBody>
      </p:sp>
      <p:sp>
        <p:nvSpPr>
          <p:cNvPr id="22" name="Text 19"/>
          <p:cNvSpPr/>
          <p:nvPr/>
        </p:nvSpPr>
        <p:spPr>
          <a:xfrm>
            <a:off x="1214438" y="4490545"/>
            <a:ext cx="6715125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59" dirty="0">
                <a:solidFill>
                  <a:srgbClr val="1A237E"/>
                </a:solidFill>
              </a:rPr>
              <a:t>y</a:t>
            </a:r>
            <a:r>
              <a:rPr lang="en-US" sz="861" dirty="0">
                <a:solidFill>
                  <a:srgbClr val="1A237E"/>
                </a:solidFill>
              </a:rPr>
              <a:t>world</a:t>
            </a:r>
            <a:r>
              <a:rPr lang="en-US" sz="1159" dirty="0">
                <a:solidFill>
                  <a:srgbClr val="1A237E"/>
                </a:solidFill>
              </a:rPr>
              <a:t> = y</a:t>
            </a:r>
            <a:r>
              <a:rPr lang="en-US" sz="861" dirty="0">
                <a:solidFill>
                  <a:srgbClr val="1A237E"/>
                </a:solidFill>
              </a:rPr>
              <a:t>r</a:t>
            </a:r>
            <a:r>
              <a:rPr lang="en-US" sz="1159" dirty="0">
                <a:solidFill>
                  <a:srgbClr val="1A237E"/>
                </a:solidFill>
              </a:rPr>
              <a:t> + x</a:t>
            </a:r>
            <a:r>
              <a:rPr lang="en-US" sz="861" dirty="0">
                <a:solidFill>
                  <a:srgbClr val="1A237E"/>
                </a:solidFill>
              </a:rPr>
              <a:t>robot</a:t>
            </a:r>
            <a:r>
              <a:rPr lang="en-US" sz="1159" dirty="0">
                <a:solidFill>
                  <a:srgbClr val="1A237E"/>
                </a:solidFill>
              </a:rPr>
              <a:t> × sin(θ</a:t>
            </a:r>
            <a:r>
              <a:rPr lang="en-US" sz="861" dirty="0">
                <a:solidFill>
                  <a:srgbClr val="1A237E"/>
                </a:solidFill>
              </a:rPr>
              <a:t>r</a:t>
            </a:r>
            <a:r>
              <a:rPr lang="en-US" sz="1159" dirty="0">
                <a:solidFill>
                  <a:srgbClr val="1A237E"/>
                </a:solidFill>
              </a:rPr>
              <a:t>) + y</a:t>
            </a:r>
            <a:r>
              <a:rPr lang="en-US" sz="861" dirty="0">
                <a:solidFill>
                  <a:srgbClr val="1A237E"/>
                </a:solidFill>
              </a:rPr>
              <a:t>robot</a:t>
            </a:r>
            <a:r>
              <a:rPr lang="en-US" sz="1159" dirty="0">
                <a:solidFill>
                  <a:srgbClr val="1A237E"/>
                </a:solidFill>
              </a:rPr>
              <a:t> × cos(θ</a:t>
            </a:r>
            <a:r>
              <a:rPr lang="en-US" sz="861" dirty="0">
                <a:solidFill>
                  <a:srgbClr val="1A237E"/>
                </a:solidFill>
              </a:rPr>
              <a:t>r</a:t>
            </a:r>
            <a:r>
              <a:rPr lang="en-US" sz="1159" dirty="0">
                <a:solidFill>
                  <a:srgbClr val="1A237E"/>
                </a:solidFill>
              </a:rPr>
              <a:t>)</a:t>
            </a:r>
            <a:endParaRPr lang="en-US" sz="1159" dirty="0"/>
          </a:p>
        </p:txBody>
      </p:sp>
      <p:sp>
        <p:nvSpPr>
          <p:cNvPr id="23" name="Text 20"/>
          <p:cNvSpPr/>
          <p:nvPr/>
        </p:nvSpPr>
        <p:spPr>
          <a:xfrm>
            <a:off x="1000125" y="5273483"/>
            <a:ext cx="714375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FF6F00"/>
                </a:solidFill>
              </a:rPr>
              <a:t>Why Needed:</a:t>
            </a:r>
            <a:r>
              <a:rPr lang="en-US" sz="1159" dirty="0">
                <a:solidFill>
                  <a:srgbClr val="37474F"/>
                </a:solidFill>
              </a:rPr>
              <a:t> To build a persistent map, we must transform LiDAR points from the moving robot frame to the fixed world frame at each robot pose.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164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Occupancy Grid Maps: Discretizing the Environment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92994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Core Idea:</a:t>
            </a:r>
            <a:r>
              <a:rPr lang="en-US" sz="1159" dirty="0">
                <a:solidFill>
                  <a:srgbClr val="37474F"/>
                </a:solidFill>
              </a:rPr>
              <a:t> Discretize the continuous environment into a grid of cells (e.g., 10 cm × 10 cm).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805918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Each Cell Stores:</a:t>
            </a:r>
            <a:r>
              <a:rPr lang="en-US" sz="1159" dirty="0">
                <a:solidFill>
                  <a:srgbClr val="37474F"/>
                </a:solidFill>
              </a:rPr>
              <a:t> Probability that the cell is occupied: P(occupied)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554560"/>
            <a:ext cx="37719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Three States: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2918892"/>
            <a:ext cx="3771900" cy="4286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3026048"/>
            <a:ext cx="10715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Occupied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785938" y="3026048"/>
            <a:ext cx="16782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P &gt; 0.7 (obstacle present)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" y="3404667"/>
            <a:ext cx="3771900" cy="4286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3511823"/>
            <a:ext cx="10715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7474F"/>
                </a:solidFill>
              </a:rPr>
              <a:t>Free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1785938" y="3511823"/>
            <a:ext cx="13394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P &lt; 0.3 (no obstacle)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" y="3890442"/>
            <a:ext cx="3771900" cy="4286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3997598"/>
            <a:ext cx="10715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9E9E9E"/>
                </a:solidFill>
              </a:rPr>
              <a:t>Unknown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785938" y="3997598"/>
            <a:ext cx="16887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0.3 ≤ P ≤ 0.7 (uncertain)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4533379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00BCD4"/>
                </a:solidFill>
              </a:rPr>
              <a:t>Advantages:</a:t>
            </a:r>
            <a:r>
              <a:rPr lang="en-US" sz="1159" dirty="0">
                <a:solidFill>
                  <a:srgbClr val="37474F"/>
                </a:solidFill>
              </a:rPr>
              <a:t> Simple, efficient, handles uncertainty naturally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571500" y="5246303"/>
            <a:ext cx="37719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Used By:</a:t>
            </a:r>
            <a:r>
              <a:rPr lang="en-US" sz="1159" dirty="0">
                <a:solidFill>
                  <a:srgbClr val="37474F"/>
                </a:solidFill>
              </a:rPr>
              <a:t> Vacuum cleaners (Roomba), warehouse robots, autonomous vehicles</a:t>
            </a:r>
            <a:endParaRPr lang="en-US" sz="109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25203"/>
            <a:ext cx="3771900" cy="346605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00600" y="5234136"/>
            <a:ext cx="37719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37474F"/>
                </a:solidFill>
              </a:rPr>
              <a:t>Occupancy grid: Black = occupied, White = free, Gray = unknown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017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Grid Data Structure and Parameters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8001000" cy="2868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Implementation:</a:t>
            </a:r>
            <a:r>
              <a:rPr lang="en-US" sz="1159" dirty="0">
                <a:solidFill>
                  <a:srgbClr val="37474F"/>
                </a:solidFill>
              </a:rPr>
              <a:t> 2D array where </a:t>
            </a:r>
            <a:r>
              <a:rPr lang="en-US" sz="1159" dirty="0">
                <a:solidFill>
                  <a:srgbClr val="00BCD4"/>
                </a:solidFill>
              </a:rPr>
              <a:t>grid[x][y]</a:t>
            </a:r>
            <a:r>
              <a:rPr lang="en-US" sz="1159" dirty="0">
                <a:solidFill>
                  <a:srgbClr val="37474F"/>
                </a:solidFill>
              </a:rPr>
              <a:t> stores the probability of cell (x, y) being occupied.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571500" y="1558398"/>
            <a:ext cx="3929063" cy="1614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736992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Resolution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50094" y="2079892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Size of each cell (e.g., 0.1 m = 10 cm)
</a:t>
            </a:r>
            <a:r>
              <a:rPr lang="en-US" sz="987" b="1" dirty="0">
                <a:solidFill>
                  <a:srgbClr val="37474F"/>
                </a:solidFill>
              </a:rPr>
              <a:t>Trade-off:</a:t>
            </a:r>
            <a:r>
              <a:rPr lang="en-US" sz="1050" dirty="0">
                <a:solidFill>
                  <a:srgbClr val="37474F"/>
                </a:solidFill>
              </a:rPr>
              <a:t> Higher resolution = more detail but more memory and computation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43438" y="1558398"/>
            <a:ext cx="3929063" cy="1614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4822031" y="1736992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Size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822031" y="2079892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Width × Height in cells
 Example: 100 × 100 cells = 10m × 10m area
 Depends on environment size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3315760"/>
            <a:ext cx="3929063" cy="1614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750094" y="3494354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Origin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750094" y="3837254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Where is grid[0][0] in world coordinates?
 Typically center or corner of the mapped environment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43438" y="3315760"/>
            <a:ext cx="3929063" cy="1614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4822031" y="3494354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Data Type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822031" y="3837254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Float (4 bytes) for probability
 OR log-odds representation
 Can use int8 for memory efficiency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66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Grid Memory Requirements and Visualization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021556"/>
            <a:ext cx="8001000" cy="1638709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1556"/>
            <a:ext cx="28575" cy="163870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200150"/>
            <a:ext cx="76438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A237E"/>
                </a:solidFill>
              </a:rPr>
              <a:t>Memory Example: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50094" y="1607344"/>
            <a:ext cx="7643813" cy="87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100 × 100 grid × 1 byte per cell = </a:t>
            </a:r>
            <a:r>
              <a:rPr lang="en-US" sz="1193" b="1" dirty="0">
                <a:solidFill>
                  <a:srgbClr val="00BCD4"/>
                </a:solidFill>
              </a:rPr>
              <a:t>10,000 bytes = 10 KB</a:t>
            </a:r>
            <a:r>
              <a:rPr lang="en-US" sz="1269" dirty="0">
                <a:solidFill>
                  <a:srgbClr val="37474F"/>
                </a:solidFill>
              </a:rPr>
              <a:t>
 1000 × 1000 grid × 1 byte per cell = </a:t>
            </a:r>
            <a:r>
              <a:rPr lang="en-US" sz="1193" b="1" dirty="0">
                <a:solidFill>
                  <a:srgbClr val="00BCD4"/>
                </a:solidFill>
              </a:rPr>
              <a:t>1,000,000 bytes = 1 MB</a:t>
            </a:r>
            <a:r>
              <a:rPr lang="en-US" sz="1269" dirty="0">
                <a:solidFill>
                  <a:srgbClr val="37474F"/>
                </a:solidFill>
              </a:rPr>
              <a:t>
 Even large environments remain memory-efficient!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571500" y="2838859"/>
            <a:ext cx="8001000" cy="245745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750094" y="3017453"/>
            <a:ext cx="76438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BCD4"/>
                </a:solidFill>
              </a:rPr>
              <a:t>Visualization as Grayscale Image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1357313" y="3542519"/>
            <a:ext cx="349139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Black (P = 1.0):</a:t>
            </a:r>
            <a:r>
              <a:rPr lang="en-US" sz="1159" dirty="0">
                <a:solidFill>
                  <a:srgbClr val="37474F"/>
                </a:solidFill>
              </a:rPr>
              <a:t> Occupied cell (obstacle present)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1357313" y="4099731"/>
            <a:ext cx="278369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White (P = 0.0):</a:t>
            </a:r>
            <a:r>
              <a:rPr lang="en-US" sz="1159" dirty="0">
                <a:solidFill>
                  <a:srgbClr val="37474F"/>
                </a:solidFill>
              </a:rPr>
              <a:t> Free cell (no obstacle)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1357313" y="4656944"/>
            <a:ext cx="3425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Gray (P = 0.5):</a:t>
            </a:r>
            <a:r>
              <a:rPr lang="en-US" sz="1159" dirty="0">
                <a:solidFill>
                  <a:srgbClr val="37474F"/>
                </a:solidFill>
              </a:rPr>
              <a:t> Unknown cell (not yet explored)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71500" y="5474903"/>
            <a:ext cx="80010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Implementation:</a:t>
            </a:r>
            <a:r>
              <a:rPr lang="en-US" sz="1159" dirty="0">
                <a:solidFill>
                  <a:srgbClr val="37474F"/>
                </a:solidFill>
              </a:rPr>
              <a:t> Convert probability to grayscale value (0-255) and render as image for easy visualization and debugging.</a:t>
            </a:r>
            <a:endParaRPr lang="en-US" sz="10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250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Log-Odds: Efficient Probability Updates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007269"/>
            <a:ext cx="8001000" cy="115299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07269"/>
            <a:ext cx="28575" cy="115299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150144"/>
            <a:ext cx="77152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6F00"/>
                </a:solidFill>
              </a:rPr>
              <a:t>Problem with Probabilities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714375" y="1514475"/>
            <a:ext cx="77152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Updating probabilities requires multiplication, which is slow and prone to numerical underflow when values approach 0 or 1.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571500" y="2303134"/>
            <a:ext cx="8001000" cy="158733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303134"/>
            <a:ext cx="28575" cy="158733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446009"/>
            <a:ext cx="77152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Solution: Log-Odds Representation</a:t>
            </a:r>
            <a:endParaRPr lang="en-US" sz="1295" dirty="0"/>
          </a:p>
        </p:txBody>
      </p:sp>
      <p:sp>
        <p:nvSpPr>
          <p:cNvPr id="11" name="Shape 8"/>
          <p:cNvSpPr/>
          <p:nvPr/>
        </p:nvSpPr>
        <p:spPr>
          <a:xfrm>
            <a:off x="714375" y="2831771"/>
            <a:ext cx="7715250" cy="55721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714375" y="2831771"/>
            <a:ext cx="7715250" cy="557213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486" dirty="0">
                <a:solidFill>
                  <a:srgbClr val="1A237E"/>
                </a:solidFill>
              </a:rPr>
              <a:t>L(x) = log(P(x) / (1 − P(x)))</a:t>
            </a:r>
            <a:endParaRPr lang="en-US" sz="1486" dirty="0"/>
          </a:p>
        </p:txBody>
      </p:sp>
      <p:sp>
        <p:nvSpPr>
          <p:cNvPr id="13" name="Text 10"/>
          <p:cNvSpPr/>
          <p:nvPr/>
        </p:nvSpPr>
        <p:spPr>
          <a:xfrm>
            <a:off x="714375" y="3496140"/>
            <a:ext cx="7715250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Convert probability to log-odds, update using addition, convert back to probability when needed.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571500" y="4090495"/>
            <a:ext cx="80010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A237E"/>
                </a:solidFill>
              </a:rPr>
              <a:t>Advantages: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571500" y="4519120"/>
            <a:ext cx="800100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Addition instead of multiplication:</a:t>
            </a:r>
            <a:r>
              <a:rPr lang="en-US" sz="1159" dirty="0">
                <a:solidFill>
                  <a:srgbClr val="37474F"/>
                </a:solidFill>
              </a:rPr>
              <a:t> L</a:t>
            </a:r>
            <a:r>
              <a:rPr lang="en-US" sz="861" dirty="0">
                <a:solidFill>
                  <a:srgbClr val="37474F"/>
                </a:solidFill>
              </a:rPr>
              <a:t>new</a:t>
            </a:r>
            <a:r>
              <a:rPr lang="en-US" sz="1159" dirty="0">
                <a:solidFill>
                  <a:srgbClr val="37474F"/>
                </a:solidFill>
              </a:rPr>
              <a:t> = L</a:t>
            </a:r>
            <a:r>
              <a:rPr lang="en-US" sz="861" dirty="0">
                <a:solidFill>
                  <a:srgbClr val="37474F"/>
                </a:solidFill>
              </a:rPr>
              <a:t>old</a:t>
            </a:r>
            <a:r>
              <a:rPr lang="en-US" sz="1159" dirty="0">
                <a:solidFill>
                  <a:srgbClr val="37474F"/>
                </a:solidFill>
              </a:rPr>
              <a:t> + L</a:t>
            </a:r>
            <a:r>
              <a:rPr lang="en-US" sz="861" dirty="0">
                <a:solidFill>
                  <a:srgbClr val="37474F"/>
                </a:solidFill>
              </a:rPr>
              <a:t>measurement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571500" y="4856299"/>
            <a:ext cx="800100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Unbounded range:</a:t>
            </a:r>
            <a:r>
              <a:rPr lang="en-US" sz="1159" dirty="0">
                <a:solidFill>
                  <a:srgbClr val="37474F"/>
                </a:solidFill>
              </a:rPr>
              <a:t> (−∞, +∞) instead of [0, 1]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571500" y="5193478"/>
            <a:ext cx="800100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No numerical underflow:</a:t>
            </a:r>
            <a:r>
              <a:rPr lang="en-US" sz="1159" dirty="0">
                <a:solidFill>
                  <a:srgbClr val="37474F"/>
                </a:solidFill>
              </a:rPr>
              <a:t> Stable for many updates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571500" y="5530658"/>
            <a:ext cx="8001000" cy="251454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Easy to convert back:</a:t>
            </a:r>
            <a:r>
              <a:rPr lang="en-US" sz="1159" dirty="0">
                <a:solidFill>
                  <a:srgbClr val="37474F"/>
                </a:solidFill>
              </a:rPr>
              <a:t> P(x) = 1 / (1 + e</a:t>
            </a:r>
            <a:r>
              <a:rPr lang="en-US" sz="861" dirty="0">
                <a:solidFill>
                  <a:srgbClr val="37474F"/>
                </a:solidFill>
              </a:rPr>
              <a:t>−L(x)</a:t>
            </a:r>
            <a:r>
              <a:rPr lang="en-US" sz="1159" dirty="0">
                <a:solidFill>
                  <a:srgbClr val="37474F"/>
                </a:solidFill>
              </a:rPr>
              <a:t>)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571500" y="4519120"/>
            <a:ext cx="144633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00BCD4"/>
                </a:solidFill>
              </a:rPr>
              <a:t>✓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571500" y="4856299"/>
            <a:ext cx="144633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00BCD4"/>
                </a:solidFill>
              </a:rPr>
              <a:t>✓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571500" y="5193478"/>
            <a:ext cx="144633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00BCD4"/>
                </a:solidFill>
              </a:rPr>
              <a:t>✓</a:t>
            </a:r>
            <a:endParaRPr lang="en-US" sz="1397" dirty="0"/>
          </a:p>
        </p:txBody>
      </p:sp>
      <p:sp>
        <p:nvSpPr>
          <p:cNvPr id="22" name="Text 19"/>
          <p:cNvSpPr/>
          <p:nvPr/>
        </p:nvSpPr>
        <p:spPr>
          <a:xfrm>
            <a:off x="571500" y="5530658"/>
            <a:ext cx="144633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00BCD4"/>
                </a:solidFill>
              </a:rPr>
              <a:t>✓</a:t>
            </a:r>
            <a:endParaRPr lang="en-US" sz="139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779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Inverse Sensor Model for LiDAR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985838"/>
            <a:ext cx="8001000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Concept:</a:t>
            </a:r>
            <a:r>
              <a:rPr lang="en-US" sz="1159" dirty="0">
                <a:solidFill>
                  <a:srgbClr val="37474F"/>
                </a:solidFill>
              </a:rPr>
              <a:t> Given a measurement, what is the probability that a cell is occupied? P(occupied | measurement)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380167"/>
            <a:ext cx="8001000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For each LiDAR ray:</a:t>
            </a:r>
            <a:r>
              <a:rPr lang="en-US" sz="1159" dirty="0">
                <a:solidFill>
                  <a:srgbClr val="37474F"/>
                </a:solidFill>
              </a:rPr>
              <a:t> Update all cells along the ray from robot to measured endpoint.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1810215"/>
            <a:ext cx="80010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A237E"/>
                </a:solidFill>
              </a:rPr>
              <a:t>Update Rules:</a:t>
            </a:r>
            <a:endParaRPr lang="en-US" sz="1397" dirty="0"/>
          </a:p>
        </p:txBody>
      </p:sp>
      <p:sp>
        <p:nvSpPr>
          <p:cNvPr id="7" name="Shape 4"/>
          <p:cNvSpPr/>
          <p:nvPr/>
        </p:nvSpPr>
        <p:spPr>
          <a:xfrm>
            <a:off x="571500" y="2238840"/>
            <a:ext cx="8001000" cy="78581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238840"/>
            <a:ext cx="28575" cy="785813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6"/>
          <p:cNvSpPr/>
          <p:nvPr/>
        </p:nvSpPr>
        <p:spPr>
          <a:xfrm>
            <a:off x="728663" y="2367428"/>
            <a:ext cx="7686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1. Endpoint (Obstacle Hit)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28663" y="2681753"/>
            <a:ext cx="76866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Cell where laser hit an obstacle → </a:t>
            </a:r>
            <a:r>
              <a:rPr lang="en-US" sz="987" b="1" dirty="0">
                <a:solidFill>
                  <a:srgbClr val="37474F"/>
                </a:solidFill>
              </a:rPr>
              <a:t>Increase occupancy</a:t>
            </a:r>
            <a:r>
              <a:rPr lang="en-US" sz="1050" dirty="0">
                <a:solidFill>
                  <a:srgbClr val="37474F"/>
                </a:solidFill>
              </a:rPr>
              <a:t> (e.g., P = 0.7 or L = +1.0)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3110378"/>
            <a:ext cx="8001000" cy="10001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110378"/>
            <a:ext cx="28575" cy="100012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28663" y="3238965"/>
            <a:ext cx="7686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2. Before Endpoint (Free Space)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728663" y="3553290"/>
            <a:ext cx="7686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Cells between robot and endpoint → </a:t>
            </a:r>
            <a:r>
              <a:rPr lang="en-US" sz="987" b="1" dirty="0">
                <a:solidFill>
                  <a:srgbClr val="37474F"/>
                </a:solidFill>
              </a:rPr>
              <a:t>Decrease occupancy</a:t>
            </a:r>
            <a:r>
              <a:rPr lang="en-US" sz="1050" dirty="0">
                <a:solidFill>
                  <a:srgbClr val="37474F"/>
                </a:solidFill>
              </a:rPr>
              <a:t> (e.g., P = 0.3 or L = −1.0)
 Laser passed through, so these cells are free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1500" y="4196228"/>
            <a:ext cx="8001000" cy="10001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4196228"/>
            <a:ext cx="28575" cy="100012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Text 14"/>
          <p:cNvSpPr/>
          <p:nvPr/>
        </p:nvSpPr>
        <p:spPr>
          <a:xfrm>
            <a:off x="728663" y="4324815"/>
            <a:ext cx="76866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3. After Endpoint (Unknown)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28663" y="4639140"/>
            <a:ext cx="76866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Cells beyond endpoint → </a:t>
            </a:r>
            <a:r>
              <a:rPr lang="en-US" sz="987" b="1" dirty="0">
                <a:solidFill>
                  <a:srgbClr val="37474F"/>
                </a:solidFill>
              </a:rPr>
              <a:t>No update</a:t>
            </a:r>
            <a:r>
              <a:rPr lang="en-US" sz="1050" dirty="0">
                <a:solidFill>
                  <a:srgbClr val="37474F"/>
                </a:solidFill>
              </a:rPr>
              <a:t>
 Laser didn't reach these cells, so we have no information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5374946"/>
            <a:ext cx="800100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FF6F00"/>
                </a:solidFill>
              </a:rPr>
              <a:t>Key Insight:</a:t>
            </a:r>
            <a:r>
              <a:rPr lang="en-US" sz="1159" dirty="0">
                <a:solidFill>
                  <a:srgbClr val="37474F"/>
                </a:solidFill>
              </a:rPr>
              <a:t> A single measurement provides information about multiple cells (occupied endpoint + free space along ray).</a:t>
            </a:r>
            <a:endParaRPr lang="en-US" sz="10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035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Ray Casting: Finding Cells Along a Ray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21556"/>
            <a:ext cx="8001000" cy="267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Problem:</a:t>
            </a:r>
            <a:r>
              <a:rPr lang="en-US" sz="1159" dirty="0">
                <a:solidFill>
                  <a:srgbClr val="37474F"/>
                </a:solidFill>
              </a:rPr>
              <a:t> Given start (robot) and end (measurement) points, which grid cells does the ray pass through?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571500" y="1588759"/>
            <a:ext cx="3829050" cy="17859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728663" y="1745921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Bresenham's Line Algorithm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28663" y="2074534"/>
            <a:ext cx="35147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Classic algorithm from computer graphics for drawing lines on pixel grids
</a:t>
            </a:r>
            <a:r>
              <a:rPr lang="en-US" sz="987" b="1" dirty="0">
                <a:solidFill>
                  <a:srgbClr val="37474F"/>
                </a:solidFill>
              </a:rPr>
              <a:t>Input:</a:t>
            </a:r>
            <a:r>
              <a:rPr lang="en-US" sz="1050" dirty="0">
                <a:solidFill>
                  <a:srgbClr val="37474F"/>
                </a:solidFill>
              </a:rPr>
              <a:t> Start (x₀, y₀), End (x₁, y₁)
</a:t>
            </a:r>
            <a:r>
              <a:rPr lang="en-US" sz="987" b="1" dirty="0">
                <a:solidFill>
                  <a:srgbClr val="37474F"/>
                </a:solidFill>
              </a:rPr>
              <a:t>Output:</a:t>
            </a:r>
            <a:r>
              <a:rPr lang="en-US" sz="1050" dirty="0">
                <a:solidFill>
                  <a:srgbClr val="37474F"/>
                </a:solidFill>
              </a:rPr>
              <a:t> List of all grid cells along the line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3517571"/>
            <a:ext cx="3829050" cy="17859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728663" y="3674734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Efficiency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28663" y="4003346"/>
            <a:ext cx="35147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Uses only integer arithmetic (addition, subtraction)
 No floating-point operations or trigonometry
 Very fast, suitable for real-time mapping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43450" y="1588759"/>
            <a:ext cx="3829050" cy="2243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900613" y="1745921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Usage in Mapping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900613" y="2074534"/>
            <a:ext cx="351472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1. Ray cast from robot to measurement endpoint
 2. Mark all cells along ray as "free"
 3. Mark endpoint cell as "occupied"
 4. Repeat for all measurements in scan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43450" y="3989059"/>
            <a:ext cx="38290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87" b="1" dirty="0">
                <a:solidFill>
                  <a:srgbClr val="FF6F00"/>
                </a:solidFill>
              </a:rPr>
              <a:t>Implementation:</a:t>
            </a:r>
            <a:r>
              <a:rPr lang="en-US" sz="1050" dirty="0">
                <a:solidFill>
                  <a:srgbClr val="37474F"/>
                </a:solidFill>
              </a:rPr>
              <a:t> Available in most robotics libraries (e.g., Python's scikit-image, ROS nav_msgs)</a:t>
            </a:r>
            <a:endParaRPr lang="en-US" sz="98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5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Occupancy Grid Update Algorithm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1000125" y="1021556"/>
            <a:ext cx="321469" cy="32146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2"/>
          <p:cNvSpPr/>
          <p:nvPr/>
        </p:nvSpPr>
        <p:spPr>
          <a:xfrm>
            <a:off x="1000125" y="1021556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1464469" y="1021556"/>
            <a:ext cx="3960847" cy="3086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Get measurement:</a:t>
            </a:r>
            <a:r>
              <a:rPr lang="en-US" sz="1159" dirty="0">
                <a:solidFill>
                  <a:srgbClr val="37474F"/>
                </a:solidFill>
              </a:rPr>
              <a:t> (angle, distance) from LiDAR scan</a:t>
            </a:r>
            <a:endParaRPr lang="en-US" sz="1090" dirty="0"/>
          </a:p>
        </p:txBody>
      </p:sp>
      <p:sp>
        <p:nvSpPr>
          <p:cNvPr id="7" name="Shape 4"/>
          <p:cNvSpPr/>
          <p:nvPr/>
        </p:nvSpPr>
        <p:spPr>
          <a:xfrm>
            <a:off x="1000125" y="1485900"/>
            <a:ext cx="321469" cy="32146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1000125" y="1485900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464469" y="1485900"/>
            <a:ext cx="4872707" cy="3086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Convert to Cartesian:</a:t>
            </a:r>
            <a:r>
              <a:rPr lang="en-US" sz="1159" dirty="0">
                <a:solidFill>
                  <a:srgbClr val="37474F"/>
                </a:solidFill>
              </a:rPr>
              <a:t> (x, y) = (d × cos(θ), d × sin(θ)) in robot frame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1000125" y="1950244"/>
            <a:ext cx="321469" cy="32146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8"/>
          <p:cNvSpPr/>
          <p:nvPr/>
        </p:nvSpPr>
        <p:spPr>
          <a:xfrm>
            <a:off x="1000125" y="1950244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464469" y="1950244"/>
            <a:ext cx="5226741" cy="3086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Transform to world frame:</a:t>
            </a:r>
            <a:r>
              <a:rPr lang="en-US" sz="1159" dirty="0">
                <a:solidFill>
                  <a:srgbClr val="37474F"/>
                </a:solidFill>
              </a:rPr>
              <a:t> Apply robot pose (x</a:t>
            </a:r>
            <a:r>
              <a:rPr lang="en-US" sz="861" dirty="0">
                <a:solidFill>
                  <a:srgbClr val="37474F"/>
                </a:solidFill>
              </a:rPr>
              <a:t>r</a:t>
            </a:r>
            <a:r>
              <a:rPr lang="en-US" sz="1159" dirty="0">
                <a:solidFill>
                  <a:srgbClr val="37474F"/>
                </a:solidFill>
              </a:rPr>
              <a:t>, y</a:t>
            </a:r>
            <a:r>
              <a:rPr lang="en-US" sz="861" dirty="0">
                <a:solidFill>
                  <a:srgbClr val="37474F"/>
                </a:solidFill>
              </a:rPr>
              <a:t>r</a:t>
            </a:r>
            <a:r>
              <a:rPr lang="en-US" sz="1159" dirty="0">
                <a:solidFill>
                  <a:srgbClr val="37474F"/>
                </a:solidFill>
              </a:rPr>
              <a:t>, θ</a:t>
            </a:r>
            <a:r>
              <a:rPr lang="en-US" sz="861" dirty="0">
                <a:solidFill>
                  <a:srgbClr val="37474F"/>
                </a:solidFill>
              </a:rPr>
              <a:t>r</a:t>
            </a:r>
            <a:r>
              <a:rPr lang="en-US" sz="1159" dirty="0">
                <a:solidFill>
                  <a:srgbClr val="37474F"/>
                </a:solidFill>
              </a:rPr>
              <a:t>) transformation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1000125" y="2414588"/>
            <a:ext cx="321469" cy="32146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1"/>
          <p:cNvSpPr/>
          <p:nvPr/>
        </p:nvSpPr>
        <p:spPr>
          <a:xfrm>
            <a:off x="1000125" y="2414588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4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1464469" y="2414588"/>
            <a:ext cx="5425427" cy="3086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Ray cast:</a:t>
            </a:r>
            <a:r>
              <a:rPr lang="en-US" sz="1159" dirty="0">
                <a:solidFill>
                  <a:srgbClr val="37474F"/>
                </a:solidFill>
              </a:rPr>
              <a:t> Find all grid cells from robot position to measurement endpoint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1000125" y="2878931"/>
            <a:ext cx="321469" cy="32146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Text 14"/>
          <p:cNvSpPr/>
          <p:nvPr/>
        </p:nvSpPr>
        <p:spPr>
          <a:xfrm>
            <a:off x="1000125" y="2878931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5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464469" y="2878931"/>
            <a:ext cx="3009528" cy="81151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Update cells:</a:t>
            </a:r>
            <a:r>
              <a:rPr lang="en-US" sz="1159" dirty="0">
                <a:solidFill>
                  <a:srgbClr val="37474F"/>
                </a:solidFill>
              </a:rPr>
              <a:t> For each cell along ray:
 • Before endpoint: L</a:t>
            </a:r>
            <a:r>
              <a:rPr lang="en-US" sz="861" dirty="0">
                <a:solidFill>
                  <a:srgbClr val="37474F"/>
                </a:solidFill>
              </a:rPr>
              <a:t>cell</a:t>
            </a:r>
            <a:r>
              <a:rPr lang="en-US" sz="1159" dirty="0">
                <a:solidFill>
                  <a:srgbClr val="37474F"/>
                </a:solidFill>
              </a:rPr>
              <a:t> += L</a:t>
            </a:r>
            <a:r>
              <a:rPr lang="en-US" sz="861" dirty="0">
                <a:solidFill>
                  <a:srgbClr val="37474F"/>
                </a:solidFill>
              </a:rPr>
              <a:t>free</a:t>
            </a:r>
            <a:r>
              <a:rPr lang="en-US" sz="1159" dirty="0">
                <a:solidFill>
                  <a:srgbClr val="37474F"/>
                </a:solidFill>
              </a:rPr>
              <a:t> (e.g., −1.0)
 • At endpoint: L</a:t>
            </a:r>
            <a:r>
              <a:rPr lang="en-US" sz="861" dirty="0">
                <a:solidFill>
                  <a:srgbClr val="37474F"/>
                </a:solidFill>
              </a:rPr>
              <a:t>cell</a:t>
            </a:r>
            <a:r>
              <a:rPr lang="en-US" sz="1159" dirty="0">
                <a:solidFill>
                  <a:srgbClr val="37474F"/>
                </a:solidFill>
              </a:rPr>
              <a:t> += L</a:t>
            </a:r>
            <a:r>
              <a:rPr lang="en-US" sz="861" dirty="0">
                <a:solidFill>
                  <a:srgbClr val="37474F"/>
                </a:solidFill>
              </a:rPr>
              <a:t>occupied</a:t>
            </a:r>
            <a:r>
              <a:rPr lang="en-US" sz="1159" dirty="0">
                <a:solidFill>
                  <a:srgbClr val="37474F"/>
                </a:solidFill>
              </a:rPr>
              <a:t> (e.g., +1.0)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1000125" y="3833320"/>
            <a:ext cx="321469" cy="32146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0" name="Text 17"/>
          <p:cNvSpPr/>
          <p:nvPr/>
        </p:nvSpPr>
        <p:spPr>
          <a:xfrm>
            <a:off x="1000125" y="3833320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6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1464469" y="3833320"/>
            <a:ext cx="4871284" cy="3086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Clamp values:</a:t>
            </a:r>
            <a:r>
              <a:rPr lang="en-US" sz="1159" dirty="0">
                <a:solidFill>
                  <a:srgbClr val="37474F"/>
                </a:solidFill>
              </a:rPr>
              <a:t> Limit log-odds to prevent overflow (e.g., [−10, +10])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1000125" y="4297663"/>
            <a:ext cx="321469" cy="321469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3" name="Text 20"/>
          <p:cNvSpPr/>
          <p:nvPr/>
        </p:nvSpPr>
        <p:spPr>
          <a:xfrm>
            <a:off x="1000125" y="4297663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7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1464469" y="4297663"/>
            <a:ext cx="4946879" cy="308604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37474F"/>
                </a:solidFill>
              </a:rPr>
              <a:t>Repeat:</a:t>
            </a:r>
            <a:r>
              <a:rPr lang="en-US" sz="1159" dirty="0">
                <a:solidFill>
                  <a:srgbClr val="37474F"/>
                </a:solidFill>
              </a:rPr>
              <a:t> Process all measurements in scan, then all scans over time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571500" y="4833445"/>
            <a:ext cx="8001000" cy="267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00BCD4"/>
                </a:solidFill>
              </a:rPr>
              <a:t>Result:</a:t>
            </a:r>
            <a:r>
              <a:rPr lang="en-US" sz="1159" dirty="0">
                <a:solidFill>
                  <a:srgbClr val="37474F"/>
                </a:solidFill>
              </a:rPr>
              <a:t> Occupancy grid map showing obstacles, free space, and unknown areas</a:t>
            </a:r>
            <a:endParaRPr lang="en-US" sz="10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021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Mapping with Known Robot Poses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800100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Key Assumption:</a:t>
            </a:r>
            <a:r>
              <a:rPr lang="en-US" sz="1269" dirty="0">
                <a:solidFill>
                  <a:srgbClr val="37474F"/>
                </a:solidFill>
              </a:rPr>
              <a:t> We assume the robot's pose (x, y, θ) is known at each time step from localization (Week 3: Kalman filtering).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2031671"/>
            <a:ext cx="3829050" cy="154444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2210265"/>
            <a:ext cx="34718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Input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750094" y="2596028"/>
            <a:ext cx="3471863" cy="80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• Sequence of robot poses
 • LiDAR scans at each pose
 • Sensor parameters (noise, range)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571500" y="3754710"/>
            <a:ext cx="3829050" cy="181161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750094" y="3933304"/>
            <a:ext cx="34718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Output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750094" y="4319067"/>
            <a:ext cx="3471863" cy="106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• Occupancy grid map
 • Black: obstacles
 • White: free space
 • Gray: unknown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4743450" y="2031671"/>
            <a:ext cx="3829050" cy="288027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922044" y="2210265"/>
            <a:ext cx="34718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Process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922044" y="2596028"/>
            <a:ext cx="3471863" cy="213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1. Initialize empty grid (all unknown)
 2. For each (pose, scan) pair:
 • Transform measurements to world frame
 • Update grid using inverse sensor model
 3. Result: Map showing obstacles and free space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4743450" y="5090536"/>
            <a:ext cx="382905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FF6F00"/>
                </a:solidFill>
              </a:rPr>
              <a:t>Next Week:</a:t>
            </a:r>
            <a:r>
              <a:rPr lang="en-US" sz="1159" dirty="0">
                <a:solidFill>
                  <a:srgbClr val="37474F"/>
                </a:solidFill>
              </a:rPr>
              <a:t> What if poses are unknown? → SLAM (Simultaneous Localization and Mapping)</a:t>
            </a:r>
            <a:endParaRPr lang="en-US" sz="10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70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Example: Progressive Map Building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80010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As the robot collects more scans, the map becomes more confident and detailed: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580192"/>
            <a:ext cx="3829050" cy="179017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758786"/>
            <a:ext cx="34718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Initial (1 scan)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750094" y="2123117"/>
            <a:ext cx="3471863" cy="106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• Mostly unknown (gray)
 • Single ray pattern visible
 • Low confidence in all cells
 • Sparse obstacle detection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571500" y="3513246"/>
            <a:ext cx="3829050" cy="179017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750094" y="3691840"/>
            <a:ext cx="34718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Early (10 scans)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750094" y="4056171"/>
            <a:ext cx="3471863" cy="106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• Obstacle outlines emerging
 • Free space corridors visible
 • Still some uncertainty
 • Repeated observations increase confidence</a:t>
            </a:r>
            <a:endParaRPr lang="en-US" sz="1159" dirty="0"/>
          </a:p>
        </p:txBody>
      </p:sp>
      <p:sp>
        <p:nvSpPr>
          <p:cNvPr id="11" name="Shape 8"/>
          <p:cNvSpPr/>
          <p:nvPr/>
        </p:nvSpPr>
        <p:spPr>
          <a:xfrm>
            <a:off x="4743450" y="1580192"/>
            <a:ext cx="3829050" cy="179017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4922044" y="1758786"/>
            <a:ext cx="34718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Mature (50+ scans)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922044" y="2123117"/>
            <a:ext cx="3471863" cy="106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• Clear obstacle boundaries
 • Well-defined free space
 • High confidence (sharp black/white)
 • Unknown areas only where not explored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4743450" y="3513246"/>
            <a:ext cx="3829050" cy="2057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4922044" y="3691840"/>
            <a:ext cx="34718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00BCD4"/>
                </a:solidFill>
              </a:rPr>
              <a:t>Key Insight</a:t>
            </a:r>
            <a:endParaRPr lang="en-US" sz="1295" dirty="0"/>
          </a:p>
        </p:txBody>
      </p:sp>
      <p:sp>
        <p:nvSpPr>
          <p:cNvPr id="16" name="Text 13"/>
          <p:cNvSpPr/>
          <p:nvPr/>
        </p:nvSpPr>
        <p:spPr>
          <a:xfrm>
            <a:off x="4922044" y="4056171"/>
            <a:ext cx="3471863" cy="133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More data = more confidence</a:t>
            </a:r>
            <a:r>
              <a:rPr lang="en-US" sz="1159" dirty="0">
                <a:solidFill>
                  <a:srgbClr val="37474F"/>
                </a:solidFill>
              </a:rPr>
              <a:t>
 Log-odds accumulate evidence over time, making the map increasingly reliable for navigation</a:t>
            </a:r>
            <a:endParaRPr lang="en-US" sz="109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207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Real-World Applications of Occupancy Grids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057275"/>
            <a:ext cx="3886200" cy="1100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728663" y="1214438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Warehouse Robots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728663" y="1543050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Amazon, Fetch Robotics: Navigate warehouses, avoid obstacles, plan paths for package delivery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86300" y="1057275"/>
            <a:ext cx="3886200" cy="1100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4843463" y="1214438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Vacuum Cleaners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843463" y="1543050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Roomba, Roborock: Build floor plans, ensure complete coverage, avoid stairs and obstacles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" y="2386013"/>
            <a:ext cx="3886200" cy="1100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728663" y="2543175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Autonomous Vehicles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28663" y="2871788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Tesla, Waymo: Local obstacle detection, parking assistance, low-speed maneuvering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86300" y="2386013"/>
            <a:ext cx="3886200" cy="1100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4843463" y="2543175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Drones and UAVs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843463" y="2871788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Indoor navigation, 3D mapping, inspection tasks in GPS-denied environments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1500" y="3714750"/>
            <a:ext cx="3886200" cy="1100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728663" y="3871913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Agriculture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28663" y="4200525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Autonomous tractors and harvesters navigate fields, avoid crops and obstacles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86300" y="3714750"/>
            <a:ext cx="3886200" cy="1100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7"/>
          <p:cNvSpPr/>
          <p:nvPr/>
        </p:nvSpPr>
        <p:spPr>
          <a:xfrm>
            <a:off x="4843463" y="3871913"/>
            <a:ext cx="3571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Search and Rescue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4843463" y="4200525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Robots explore disaster zones, build maps for first responders, locate survivors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1500" y="5029200"/>
            <a:ext cx="8001000" cy="5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00BCD4"/>
                </a:solidFill>
              </a:rPr>
              <a:t>Common Theme:</a:t>
            </a:r>
            <a:r>
              <a:rPr lang="en-US" sz="1159" dirty="0">
                <a:solidFill>
                  <a:srgbClr val="37474F"/>
                </a:solidFill>
              </a:rPr>
              <a:t> Any robot that needs to navigate and avoid obstacles uses some form of occupancy grid mapping</a:t>
            </a:r>
            <a:endParaRPr lang="en-US" sz="10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750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Limitations and Challenges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057275"/>
            <a:ext cx="3829050" cy="128587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57275"/>
            <a:ext cx="28575" cy="1285875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200150"/>
            <a:ext cx="34718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Dynamic Environments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50094" y="1514475"/>
            <a:ext cx="34718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Moving objects (people, vehicles) cause false obstacles. Need temporal filtering or object tracking.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2471738"/>
            <a:ext cx="3829050" cy="105727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471738"/>
            <a:ext cx="28575" cy="1057275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7"/>
          <p:cNvSpPr/>
          <p:nvPr/>
        </p:nvSpPr>
        <p:spPr>
          <a:xfrm>
            <a:off x="750094" y="2614613"/>
            <a:ext cx="34718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Transparent/Reflective Surfaces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50094" y="2928938"/>
            <a:ext cx="3471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Glass, mirrors, water cause false readings. LiDAR beams pass through or reflect incorrectly.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1500" y="3657600"/>
            <a:ext cx="3829050" cy="105727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657600"/>
            <a:ext cx="28575" cy="1057275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1"/>
          <p:cNvSpPr/>
          <p:nvPr/>
        </p:nvSpPr>
        <p:spPr>
          <a:xfrm>
            <a:off x="750094" y="3800475"/>
            <a:ext cx="34718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Computational Cost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750094" y="4114800"/>
            <a:ext cx="3471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Large grids (1000×1000) with high update rates require significant processing power.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43450" y="1057275"/>
            <a:ext cx="3829050" cy="128587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7" name="Shape 14"/>
          <p:cNvSpPr/>
          <p:nvPr/>
        </p:nvSpPr>
        <p:spPr>
          <a:xfrm>
            <a:off x="4743450" y="1057275"/>
            <a:ext cx="28575" cy="1285875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5"/>
          <p:cNvSpPr/>
          <p:nvPr/>
        </p:nvSpPr>
        <p:spPr>
          <a:xfrm>
            <a:off x="4922044" y="1200150"/>
            <a:ext cx="34718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Loop Closure Drift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922044" y="1514475"/>
            <a:ext cx="34718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Pose errors accumulate over time. When robot returns to start, map may not align (requires SLAM).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43450" y="2471738"/>
            <a:ext cx="3829050" cy="105727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1" name="Shape 18"/>
          <p:cNvSpPr/>
          <p:nvPr/>
        </p:nvSpPr>
        <p:spPr>
          <a:xfrm>
            <a:off x="4743450" y="2471738"/>
            <a:ext cx="28575" cy="1057275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19"/>
          <p:cNvSpPr/>
          <p:nvPr/>
        </p:nvSpPr>
        <p:spPr>
          <a:xfrm>
            <a:off x="4922044" y="2614613"/>
            <a:ext cx="34718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2D vs 3D Limitation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4922044" y="2928938"/>
            <a:ext cx="3471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2D grids miss overhangs, low obstacles. 3D voxel grids solve this but require much more memory.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43450" y="3657600"/>
            <a:ext cx="3829050" cy="1285875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5" name="Shape 22"/>
          <p:cNvSpPr/>
          <p:nvPr/>
        </p:nvSpPr>
        <p:spPr>
          <a:xfrm>
            <a:off x="4743450" y="3657600"/>
            <a:ext cx="28575" cy="1285875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6" name="Text 23"/>
          <p:cNvSpPr/>
          <p:nvPr/>
        </p:nvSpPr>
        <p:spPr>
          <a:xfrm>
            <a:off x="4922044" y="3800475"/>
            <a:ext cx="34718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F00"/>
                </a:solidFill>
              </a:rPr>
              <a:t>Resolution Trade-off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4922044" y="4114800"/>
            <a:ext cx="34718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Fine resolution = more detail but more memory/computation. Coarse resolution = less accurate.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8867" y="5275659"/>
            <a:ext cx="79862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Despite limitations, occupancy grids remain the most widely used mapping representation in robotics</a:t>
            </a:r>
            <a:endParaRPr lang="en-US" sz="10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093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Beyond Occupancy Grids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80010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Advanced mapping representations for specific applications: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580192"/>
            <a:ext cx="3829050" cy="1100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728663" y="1737354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3D Voxel Grids &amp; Octrees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28663" y="2065967"/>
            <a:ext cx="3514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3D extension of occupancy grids. Octrees provide hierarchical compression for efficient 3D mapping.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2808917"/>
            <a:ext cx="3829050" cy="11001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728663" y="2966079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Feature-Based Maps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28663" y="3294692"/>
            <a:ext cx="3514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Store landmarks (corners, edges) instead of grids. Used in visual SLAM, more memory-efficient.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4037642"/>
            <a:ext cx="3829050" cy="13287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728663" y="4194804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Semantic Maps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728663" y="4523417"/>
            <a:ext cx="3514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Label objects (chair, table, door) using deep learning. Enables high-level reasoning and task planning.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43450" y="1580192"/>
            <a:ext cx="3829050" cy="13287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4900613" y="1737354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Topological Maps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900613" y="2065967"/>
            <a:ext cx="3514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Graph of locations and connections. Compact representation for large environments, used in navigation.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43450" y="3037517"/>
            <a:ext cx="3829050" cy="13287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4900613" y="3194679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Hybrid Approaches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900613" y="3523292"/>
            <a:ext cx="3514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Combine multiple representations (e.g., local occupancy grid + global topological map) for best of both worlds.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43450" y="4494842"/>
            <a:ext cx="3829050" cy="132873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8"/>
          <p:cNvSpPr/>
          <p:nvPr/>
        </p:nvSpPr>
        <p:spPr>
          <a:xfrm>
            <a:off x="4900613" y="4652004"/>
            <a:ext cx="3514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Neural Implicit Maps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900613" y="4980617"/>
            <a:ext cx="3514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Emerging: Use neural networks to represent maps continuously. Compact, smooth, but computationally expensive.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4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This Week's Lab: Build Your Own Occupancy Grid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1000125" y="1021556"/>
            <a:ext cx="7143750" cy="8001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021556"/>
            <a:ext cx="28575" cy="8001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3"/>
          <p:cNvSpPr/>
          <p:nvPr/>
        </p:nvSpPr>
        <p:spPr>
          <a:xfrm>
            <a:off x="1157288" y="1150144"/>
            <a:ext cx="68294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Activity 1: Visualize LiDAR Data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157288" y="1464469"/>
            <a:ext cx="68294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Load simulated LiDAR scans, convert to Cartesian, visualize as point cloud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000125" y="1928813"/>
            <a:ext cx="7143750" cy="8001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" name="Shape 6"/>
          <p:cNvSpPr/>
          <p:nvPr/>
        </p:nvSpPr>
        <p:spPr>
          <a:xfrm>
            <a:off x="1000125" y="1928813"/>
            <a:ext cx="28575" cy="8001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7"/>
          <p:cNvSpPr/>
          <p:nvPr/>
        </p:nvSpPr>
        <p:spPr>
          <a:xfrm>
            <a:off x="1157288" y="2057400"/>
            <a:ext cx="68294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Activity 2: Basic Occupancy Grid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157288" y="2371725"/>
            <a:ext cx="68294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Implement grid data structure, mark occupied cells, visualize as grayscale image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00125" y="2836069"/>
            <a:ext cx="7143750" cy="8001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0125" y="2836069"/>
            <a:ext cx="28575" cy="8001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1"/>
          <p:cNvSpPr/>
          <p:nvPr/>
        </p:nvSpPr>
        <p:spPr>
          <a:xfrm>
            <a:off x="1157288" y="2964656"/>
            <a:ext cx="68294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BCD4"/>
                </a:solidFill>
              </a:rPr>
              <a:t>Activity 3: Full Mapping with Ray Casting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1157288" y="3278981"/>
            <a:ext cx="68294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Implement Bresenham ray casting, update with log-odds, build complete map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00125" y="3814763"/>
            <a:ext cx="7143750" cy="13430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1157288" y="3971925"/>
            <a:ext cx="32432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Deliverables: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157288" y="4314825"/>
            <a:ext cx="32432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• Python code (3 activities)
 • Visualizations (plots, maps)
 • Analysis answers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43450" y="3971925"/>
            <a:ext cx="32432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Details: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4743450" y="4314825"/>
            <a:ext cx="32432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BCD4"/>
                </a:solidFill>
              </a:rPr>
              <a:t>Time:</a:t>
            </a:r>
            <a:r>
              <a:rPr lang="en-US" sz="1050" dirty="0">
                <a:solidFill>
                  <a:srgbClr val="37474F"/>
                </a:solidFill>
              </a:rPr>
              <a:t> 2-3 hours
</a:t>
            </a:r>
            <a:r>
              <a:rPr lang="en-US" sz="987" b="1" dirty="0">
                <a:solidFill>
                  <a:srgbClr val="00BCD4"/>
                </a:solidFill>
              </a:rPr>
              <a:t>Tools:</a:t>
            </a:r>
            <a:r>
              <a:rPr lang="en-US" sz="1050" dirty="0">
                <a:solidFill>
                  <a:srgbClr val="37474F"/>
                </a:solidFill>
              </a:rPr>
              <a:t> Python, NumPy, Matplotlib
</a:t>
            </a:r>
            <a:r>
              <a:rPr lang="en-US" sz="987" b="1" dirty="0">
                <a:solidFill>
                  <a:srgbClr val="00BCD4"/>
                </a:solidFill>
              </a:rPr>
              <a:t>Data:</a:t>
            </a:r>
            <a:r>
              <a:rPr lang="en-US" sz="1050" dirty="0">
                <a:solidFill>
                  <a:srgbClr val="37474F"/>
                </a:solidFill>
              </a:rPr>
              <a:t> Provided LiDAR scans</a:t>
            </a:r>
            <a:endParaRPr lang="en-US" sz="987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17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A237E"/>
                </a:solidFill>
              </a:rPr>
              <a:t>Key Takeaways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1000125" y="1021556"/>
            <a:ext cx="7143750" cy="582885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LiDAR</a:t>
            </a:r>
            <a:r>
              <a:rPr lang="en-US" sz="1269" dirty="0">
                <a:solidFill>
                  <a:srgbClr val="37474F"/>
                </a:solidFill>
              </a:rPr>
              <a:t> is the industry standard for robot mapping: accurate, 360° coverage, works in all lighting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1000125" y="1711598"/>
            <a:ext cx="7143750" cy="582885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Occupancy grids</a:t>
            </a:r>
            <a:r>
              <a:rPr lang="en-US" sz="1269" dirty="0">
                <a:solidFill>
                  <a:srgbClr val="37474F"/>
                </a:solidFill>
              </a:rPr>
              <a:t> discretize the environment into cells storing probability of occupancy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1000125" y="2401639"/>
            <a:ext cx="7143750" cy="582885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Log-odds representation</a:t>
            </a:r>
            <a:r>
              <a:rPr lang="en-US" sz="1269" dirty="0">
                <a:solidFill>
                  <a:srgbClr val="37474F"/>
                </a:solidFill>
              </a:rPr>
              <a:t> enables efficient updates using addition instead of multiplication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000125" y="3091681"/>
            <a:ext cx="7143750" cy="582885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Inverse sensor model</a:t>
            </a:r>
            <a:r>
              <a:rPr lang="en-US" sz="1269" dirty="0">
                <a:solidFill>
                  <a:srgbClr val="37474F"/>
                </a:solidFill>
              </a:rPr>
              <a:t> updates multiple cells per measurement (occupied endpoint + free space along ray)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000125" y="3781723"/>
            <a:ext cx="7143750" cy="291443"/>
          </a:xfrm>
          <a:prstGeom prst="rect">
            <a:avLst/>
          </a:prstGeom>
          <a:noFill/>
          <a:ln/>
        </p:spPr>
        <p:txBody>
          <a:bodyPr wrap="none" lIns="297688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Ray casting (Bresenham)</a:t>
            </a:r>
            <a:r>
              <a:rPr lang="en-US" sz="1269" dirty="0">
                <a:solidFill>
                  <a:srgbClr val="37474F"/>
                </a:solidFill>
              </a:rPr>
              <a:t> identifies cells along a ray for marking free space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000125" y="4180322"/>
            <a:ext cx="7143750" cy="582885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Known poses assumption:</a:t>
            </a:r>
            <a:r>
              <a:rPr lang="en-US" sz="1269" dirty="0">
                <a:solidFill>
                  <a:srgbClr val="37474F"/>
                </a:solidFill>
              </a:rPr>
              <a:t> This week assumes robot pose is known from localization (Week 3)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1000125" y="4870363"/>
            <a:ext cx="7143750" cy="582885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Limitations:</a:t>
            </a:r>
            <a:r>
              <a:rPr lang="en-US" sz="1269" dirty="0">
                <a:solidFill>
                  <a:srgbClr val="37474F"/>
                </a:solidFill>
              </a:rPr>
              <a:t> Dynamic environments, transparent surfaces, 2D vs 3D, computational cost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1000125" y="1021556"/>
            <a:ext cx="165255" cy="38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602" b="1" dirty="0">
                <a:solidFill>
                  <a:srgbClr val="00BCD4"/>
                </a:solidFill>
              </a:rPr>
              <a:t>✓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1000125" y="1711598"/>
            <a:ext cx="165255" cy="38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602" b="1" dirty="0">
                <a:solidFill>
                  <a:srgbClr val="00BCD4"/>
                </a:solidFill>
              </a:rPr>
              <a:t>✓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1000125" y="2401639"/>
            <a:ext cx="165255" cy="38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602" b="1" dirty="0">
                <a:solidFill>
                  <a:srgbClr val="00BCD4"/>
                </a:solidFill>
              </a:rPr>
              <a:t>✓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1000125" y="3091681"/>
            <a:ext cx="165255" cy="38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602" b="1" dirty="0">
                <a:solidFill>
                  <a:srgbClr val="00BCD4"/>
                </a:solidFill>
              </a:rPr>
              <a:t>✓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1000125" y="3781723"/>
            <a:ext cx="165255" cy="38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602" b="1" dirty="0">
                <a:solidFill>
                  <a:srgbClr val="00BCD4"/>
                </a:solidFill>
              </a:rPr>
              <a:t>✓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1000125" y="4180322"/>
            <a:ext cx="165255" cy="38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602" b="1" dirty="0">
                <a:solidFill>
                  <a:srgbClr val="00BCD4"/>
                </a:solidFill>
              </a:rPr>
              <a:t>✓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1000125" y="4870363"/>
            <a:ext cx="165255" cy="38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602" b="1" dirty="0">
                <a:solidFill>
                  <a:srgbClr val="00BCD4"/>
                </a:solidFill>
              </a:rPr>
              <a:t>✓</a:t>
            </a:r>
            <a:endParaRPr lang="en-US" sz="1602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9808" y="949421"/>
            <a:ext cx="284435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3731" b="1" dirty="0">
                <a:solidFill>
                  <a:srgbClr val="1A237E"/>
                </a:solidFill>
              </a:rPr>
              <a:t>Questions?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1392501" y="2006696"/>
            <a:ext cx="635897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704" dirty="0">
                <a:solidFill>
                  <a:srgbClr val="37474F"/>
                </a:solidFill>
              </a:rPr>
              <a:t>Let's discuss distance sensing and occupancy grid mapping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1714500" y="2775347"/>
            <a:ext cx="5715000" cy="141870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2000250" y="2989659"/>
            <a:ext cx="5143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BCD4"/>
                </a:solidFill>
              </a:rPr>
              <a:t>Next Week: Path Planning and Navigation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2000250" y="3396853"/>
            <a:ext cx="5143500" cy="58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269" dirty="0">
                <a:solidFill>
                  <a:srgbClr val="37474F"/>
                </a:solidFill>
              </a:rPr>
              <a:t>Now that we can localize </a:t>
            </a:r>
            <a:r>
              <a:rPr lang="en-US" sz="1269" dirty="0" smtClean="0">
                <a:solidFill>
                  <a:srgbClr val="37474F"/>
                </a:solidFill>
              </a:rPr>
              <a:t> </a:t>
            </a:r>
            <a:r>
              <a:rPr lang="en-US" sz="1269" dirty="0">
                <a:solidFill>
                  <a:srgbClr val="37474F"/>
                </a:solidFill>
              </a:rPr>
              <a:t>and </a:t>
            </a:r>
            <a:r>
              <a:rPr lang="en-US" sz="1269" dirty="0" smtClean="0">
                <a:solidFill>
                  <a:srgbClr val="37474F"/>
                </a:solidFill>
              </a:rPr>
              <a:t>map, </a:t>
            </a:r>
            <a:r>
              <a:rPr lang="en-US" sz="1269" dirty="0">
                <a:solidFill>
                  <a:srgbClr val="37474F"/>
                </a:solidFill>
              </a:rPr>
              <a:t>how do we plan paths to navigate from A to B?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2555</Words>
  <Application>Microsoft Office PowerPoint</Application>
  <PresentationFormat>On-screen Show (16:9)</PresentationFormat>
  <Paragraphs>426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xion</cp:lastModifiedBy>
  <cp:revision>3</cp:revision>
  <dcterms:created xsi:type="dcterms:W3CDTF">2025-11-15T21:16:14Z</dcterms:created>
  <dcterms:modified xsi:type="dcterms:W3CDTF">2026-04-14T01:22:56Z</dcterms:modified>
</cp:coreProperties>
</file>