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slideLayout" Target="../slideLayouts/slideLayout1.xml"/><Relationship Id="rId1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914400" y="1080157"/>
            <a:ext cx="7315200" cy="208955"/>
          </a:xfrm>
          <a:prstGeom prst="rect">
            <a:avLst/>
          </a:prstGeom>
          <a:noFill/>
          <a:ln/>
        </p:spPr>
        <p:txBody>
          <a:bodyPr wrap="none" lIns="0" tIns="0" rIns="0" bIns="0" rtlCol="0" anchor="t">
            <a:spAutoFit/>
          </a:bodyPr>
          <a:lstStyle/>
          <a:p>
            <a:pPr algn="ctr" indent="0" marL="0">
              <a:lnSpc>
                <a:spcPts val="1600"/>
              </a:lnSpc>
              <a:buNone/>
            </a:pPr>
            <a:r>
              <a:rPr lang="en-US" sz="1193" b="1" spc="2" kern="0" dirty="0">
                <a:solidFill>
                  <a:srgbClr val="00BCD4"/>
                </a:solidFill>
                <a:latin typeface="Montserrat" pitchFamily="34" charset="0"/>
                <a:ea typeface="Montserrat" pitchFamily="34" charset="-122"/>
                <a:cs typeface="Montserrat" pitchFamily="34" charset="-120"/>
              </a:rPr>
              <a:t>INTRODUCTION TO ROBOTICS FOR AI &amp; DATA SCIENCE</a:t>
            </a:r>
            <a:endParaRPr lang="en-US" sz="1193" dirty="0"/>
          </a:p>
        </p:txBody>
      </p:sp>
      <p:sp>
        <p:nvSpPr>
          <p:cNvPr id="4" name="Text 1"/>
          <p:cNvSpPr/>
          <p:nvPr/>
        </p:nvSpPr>
        <p:spPr>
          <a:xfrm>
            <a:off x="914400" y="1431987"/>
            <a:ext cx="7315200" cy="1097235"/>
          </a:xfrm>
          <a:prstGeom prst="rect">
            <a:avLst/>
          </a:prstGeom>
          <a:noFill/>
          <a:ln/>
        </p:spPr>
        <p:txBody>
          <a:bodyPr wrap="square" lIns="0" tIns="0" rIns="0" bIns="0" rtlCol="0" anchor="t">
            <a:spAutoFit/>
          </a:bodyPr>
          <a:lstStyle/>
          <a:p>
            <a:pPr algn="ctr" indent="0" marL="0">
              <a:lnSpc>
                <a:spcPts val="4300"/>
              </a:lnSpc>
              <a:buNone/>
            </a:pPr>
            <a:r>
              <a:rPr lang="en-US" sz="3294" b="1" dirty="0">
                <a:solidFill>
                  <a:srgbClr val="E67E22"/>
                </a:solidFill>
                <a:latin typeface="Montserrat" pitchFamily="34" charset="0"/>
                <a:ea typeface="Montserrat" pitchFamily="34" charset="-122"/>
                <a:cs typeface="Montserrat" pitchFamily="34" charset="-120"/>
              </a:rPr>
              <a:t>Lab 1: Hello, Robot!</a:t>
            </a:r>
            <a:r>
              <a:rPr lang="en-US" sz="3294" b="1" dirty="0">
                <a:solidFill>
                  <a:srgbClr val="FFFFFF"/>
                </a:solidFill>
                <a:latin typeface="Montserrat" pitchFamily="34" charset="0"/>
                <a:ea typeface="Montserrat" pitchFamily="34" charset="-122"/>
                <a:cs typeface="Montserrat" pitchFamily="34" charset="-120"/>
              </a:rPr>
              <a:t>
</a:t>
            </a:r>
            <a:r>
              <a:rPr lang="en-US" sz="3294" b="1" dirty="0">
                <a:solidFill>
                  <a:srgbClr val="E67E22"/>
                </a:solidFill>
                <a:latin typeface="Montserrat" pitchFamily="34" charset="0"/>
                <a:ea typeface="Montserrat" pitchFamily="34" charset="-122"/>
                <a:cs typeface="Montserrat" pitchFamily="34" charset="-120"/>
              </a:rPr>
              <a:t>Your First Step to Autonomy</a:t>
            </a:r>
            <a:endParaRPr lang="en-US" sz="3294" dirty="0"/>
          </a:p>
        </p:txBody>
      </p:sp>
      <p:sp>
        <p:nvSpPr>
          <p:cNvPr id="5" name="Text 2"/>
          <p:cNvSpPr/>
          <p:nvPr/>
        </p:nvSpPr>
        <p:spPr>
          <a:xfrm>
            <a:off x="2236887" y="2743535"/>
            <a:ext cx="4670227" cy="541139"/>
          </a:xfrm>
          <a:prstGeom prst="rect">
            <a:avLst/>
          </a:prstGeom>
          <a:noFill/>
          <a:ln/>
        </p:spPr>
        <p:txBody>
          <a:bodyPr wrap="square" lIns="0" tIns="0" rIns="0" bIns="255143" rtlCol="0" anchor="t">
            <a:spAutoFit/>
          </a:bodyPr>
          <a:lstStyle/>
          <a:p>
            <a:pPr algn="ctr" indent="0" marL="0">
              <a:lnSpc>
                <a:spcPts val="2200"/>
              </a:lnSpc>
              <a:buNone/>
            </a:pPr>
            <a:r>
              <a:rPr lang="en-US" sz="1704" dirty="0">
                <a:solidFill>
                  <a:srgbClr val="E0E0E0"/>
                </a:solidFill>
                <a:latin typeface="Open Sans" pitchFamily="34" charset="0"/>
                <a:ea typeface="Open Sans" pitchFamily="34" charset="-122"/>
                <a:cs typeface="Open Sans" pitchFamily="34" charset="-120"/>
              </a:rPr>
              <a:t>Implementation Guide &amp; Code Walkthrough</a:t>
            </a:r>
            <a:endParaRPr lang="en-US" sz="1704" dirty="0"/>
          </a:p>
        </p:txBody>
      </p:sp>
      <p:pic>
        <p:nvPicPr>
          <p:cNvPr id="6" name="Image 1" descr="preencoded.png">    </p:cNvPr>
          <p:cNvPicPr>
            <a:picLocks noChangeAspect="1"/>
          </p:cNvPicPr>
          <p:nvPr/>
        </p:nvPicPr>
        <p:blipFill>
          <a:blip r:embed="rId2"/>
          <a:stretch>
            <a:fillRect/>
          </a:stretch>
        </p:blipFill>
        <p:spPr>
          <a:xfrm>
            <a:off x="914400" y="3824027"/>
            <a:ext cx="112514" cy="128588"/>
          </a:xfrm>
          <a:prstGeom prst="rect">
            <a:avLst/>
          </a:prstGeom>
        </p:spPr>
      </p:pic>
      <p:sp>
        <p:nvSpPr>
          <p:cNvPr id="7" name="Text 3"/>
          <p:cNvSpPr/>
          <p:nvPr/>
        </p:nvSpPr>
        <p:spPr>
          <a:xfrm>
            <a:off x="1098352" y="3713299"/>
            <a:ext cx="975094" cy="350044"/>
          </a:xfrm>
          <a:prstGeom prst="rect">
            <a:avLst/>
          </a:prstGeom>
          <a:noFill/>
          <a:ln/>
        </p:spPr>
        <p:txBody>
          <a:bodyPr wrap="square" lIns="0" tIns="0" rIns="0" bIns="0" rtlCol="0" anchor="t">
            <a:spAutoFit/>
          </a:bodyPr>
          <a:lstStyle/>
          <a:p>
            <a:pPr algn="ctr" indent="0" marL="0">
              <a:lnSpc>
                <a:spcPts val="1200"/>
              </a:lnSpc>
              <a:buNone/>
            </a:pPr>
            <a:r>
              <a:rPr lang="en-US" sz="942" dirty="0">
                <a:solidFill>
                  <a:srgbClr val="A0A0A0"/>
                </a:solidFill>
                <a:latin typeface="Open Sans" pitchFamily="34" charset="0"/>
                <a:ea typeface="Open Sans" pitchFamily="34" charset="-122"/>
                <a:cs typeface="Open Sans" pitchFamily="34" charset="-120"/>
              </a:rPr>
              <a:t>Dr. Akram Fatayer</a:t>
            </a:r>
            <a:endParaRPr lang="en-US" sz="942" dirty="0"/>
          </a:p>
        </p:txBody>
      </p:sp>
      <p:pic>
        <p:nvPicPr>
          <p:cNvPr id="8" name="Image 2" descr="preencoded.png">    </p:cNvPr>
          <p:cNvPicPr>
            <a:picLocks noChangeAspect="1"/>
          </p:cNvPicPr>
          <p:nvPr/>
        </p:nvPicPr>
        <p:blipFill>
          <a:blip r:embed="rId3"/>
          <a:stretch>
            <a:fillRect/>
          </a:stretch>
        </p:blipFill>
        <p:spPr>
          <a:xfrm>
            <a:off x="2359196" y="3824027"/>
            <a:ext cx="128588" cy="128588"/>
          </a:xfrm>
          <a:prstGeom prst="rect">
            <a:avLst/>
          </a:prstGeom>
        </p:spPr>
      </p:pic>
      <p:sp>
        <p:nvSpPr>
          <p:cNvPr id="9" name="Text 4"/>
          <p:cNvSpPr/>
          <p:nvPr/>
        </p:nvSpPr>
        <p:spPr>
          <a:xfrm>
            <a:off x="2559221" y="3713299"/>
            <a:ext cx="1813982" cy="350044"/>
          </a:xfrm>
          <a:prstGeom prst="rect">
            <a:avLst/>
          </a:prstGeom>
          <a:noFill/>
          <a:ln/>
        </p:spPr>
        <p:txBody>
          <a:bodyPr wrap="square" lIns="0" tIns="0" rIns="0" bIns="0" rtlCol="0" anchor="t">
            <a:spAutoFit/>
          </a:bodyPr>
          <a:lstStyle/>
          <a:p>
            <a:pPr algn="ctr" indent="0" marL="0">
              <a:lnSpc>
                <a:spcPts val="1200"/>
              </a:lnSpc>
              <a:buNone/>
            </a:pPr>
            <a:r>
              <a:rPr lang="en-US" sz="942" dirty="0">
                <a:solidFill>
                  <a:srgbClr val="A0A0A0"/>
                </a:solidFill>
                <a:latin typeface="Open Sans" pitchFamily="34" charset="0"/>
                <a:ea typeface="Open Sans" pitchFamily="34" charset="-122"/>
                <a:cs typeface="Open Sans" pitchFamily="34" charset="-120"/>
              </a:rPr>
              <a:t>Al-Zaytoonah University of Jordan</a:t>
            </a:r>
            <a:endParaRPr lang="en-US" sz="942" dirty="0"/>
          </a:p>
        </p:txBody>
      </p:sp>
      <p:pic>
        <p:nvPicPr>
          <p:cNvPr id="10" name="Image 3" descr="preencoded.png">    </p:cNvPr>
          <p:cNvPicPr>
            <a:picLocks noChangeAspect="1"/>
          </p:cNvPicPr>
          <p:nvPr/>
        </p:nvPicPr>
        <p:blipFill>
          <a:blip r:embed="rId4"/>
          <a:stretch>
            <a:fillRect/>
          </a:stretch>
        </p:blipFill>
        <p:spPr>
          <a:xfrm>
            <a:off x="4658953" y="3824027"/>
            <a:ext cx="128588" cy="128588"/>
          </a:xfrm>
          <a:prstGeom prst="rect">
            <a:avLst/>
          </a:prstGeom>
        </p:spPr>
      </p:pic>
      <p:sp>
        <p:nvSpPr>
          <p:cNvPr id="11" name="Text 5"/>
          <p:cNvSpPr/>
          <p:nvPr/>
        </p:nvSpPr>
        <p:spPr>
          <a:xfrm>
            <a:off x="4858978" y="3800810"/>
            <a:ext cx="1218009" cy="175022"/>
          </a:xfrm>
          <a:prstGeom prst="rect">
            <a:avLst/>
          </a:prstGeom>
          <a:noFill/>
          <a:ln/>
        </p:spPr>
        <p:txBody>
          <a:bodyPr wrap="none" lIns="0" tIns="0" rIns="0" bIns="0" rtlCol="0" anchor="t">
            <a:spAutoFit/>
          </a:bodyPr>
          <a:lstStyle/>
          <a:p>
            <a:pPr algn="ctr" indent="0" marL="0">
              <a:lnSpc>
                <a:spcPts val="1200"/>
              </a:lnSpc>
              <a:buNone/>
            </a:pPr>
            <a:r>
              <a:rPr lang="en-US" sz="942" dirty="0">
                <a:solidFill>
                  <a:srgbClr val="A0A0A0"/>
                </a:solidFill>
                <a:latin typeface="Open Sans" pitchFamily="34" charset="0"/>
                <a:ea typeface="Open Sans" pitchFamily="34" charset="-122"/>
                <a:cs typeface="Open Sans" pitchFamily="34" charset="-120"/>
              </a:rPr>
              <a:t>a.fatayer@zuj.edu.jo</a:t>
            </a:r>
            <a:endParaRPr lang="en-US" sz="942" dirty="0"/>
          </a:p>
        </p:txBody>
      </p:sp>
      <p:pic>
        <p:nvPicPr>
          <p:cNvPr id="12" name="Image 4" descr="preencoded.png">    </p:cNvPr>
          <p:cNvPicPr>
            <a:picLocks noChangeAspect="1"/>
          </p:cNvPicPr>
          <p:nvPr/>
        </p:nvPicPr>
        <p:blipFill>
          <a:blip r:embed="rId5"/>
          <a:stretch>
            <a:fillRect/>
          </a:stretch>
        </p:blipFill>
        <p:spPr>
          <a:xfrm>
            <a:off x="6362737" y="3824027"/>
            <a:ext cx="112514" cy="128588"/>
          </a:xfrm>
          <a:prstGeom prst="rect">
            <a:avLst/>
          </a:prstGeom>
        </p:spPr>
      </p:pic>
      <p:sp>
        <p:nvSpPr>
          <p:cNvPr id="13" name="Text 6"/>
          <p:cNvSpPr/>
          <p:nvPr/>
        </p:nvSpPr>
        <p:spPr>
          <a:xfrm>
            <a:off x="6546689" y="3713299"/>
            <a:ext cx="1682939" cy="350044"/>
          </a:xfrm>
          <a:prstGeom prst="rect">
            <a:avLst/>
          </a:prstGeom>
          <a:noFill/>
          <a:ln/>
        </p:spPr>
        <p:txBody>
          <a:bodyPr wrap="square" lIns="0" tIns="0" rIns="0" bIns="0" rtlCol="0" anchor="t">
            <a:spAutoFit/>
          </a:bodyPr>
          <a:lstStyle/>
          <a:p>
            <a:pPr algn="ctr" indent="0" marL="0">
              <a:lnSpc>
                <a:spcPts val="1200"/>
              </a:lnSpc>
              <a:buNone/>
            </a:pPr>
            <a:r>
              <a:rPr lang="en-US" sz="942" dirty="0">
                <a:solidFill>
                  <a:srgbClr val="A0A0A0"/>
                </a:solidFill>
                <a:latin typeface="Open Sans" pitchFamily="34" charset="0"/>
                <a:ea typeface="Open Sans" pitchFamily="34" charset="-122"/>
                <a:cs typeface="Open Sans" pitchFamily="34" charset="-120"/>
              </a:rPr>
              <a:t>linkedin.com/in/akram-fatayer/</a:t>
            </a:r>
            <a:endParaRPr lang="en-US" sz="942"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288161"/>
          </a:xfrm>
          <a:prstGeom prst="rect">
            <a:avLst/>
          </a:prstGeom>
        </p:spPr>
      </p:pic>
      <p:sp>
        <p:nvSpPr>
          <p:cNvPr id="3" name="Shape 0"/>
          <p:cNvSpPr/>
          <p:nvPr/>
        </p:nvSpPr>
        <p:spPr>
          <a:xfrm>
            <a:off x="0" y="0"/>
            <a:ext cx="9144000" cy="975122"/>
          </a:xfrm>
          <a:prstGeom prst="rect">
            <a:avLst/>
          </a:prstGeom>
          <a:solidFill>
            <a:srgbClr val="000000">
              <a:alpha val="0"/>
            </a:srgbClr>
          </a:solidFill>
          <a:ln/>
        </p:spPr>
      </p:sp>
      <p:sp>
        <p:nvSpPr>
          <p:cNvPr id="4" name="Shape 1"/>
          <p:cNvSpPr/>
          <p:nvPr/>
        </p:nvSpPr>
        <p:spPr>
          <a:xfrm>
            <a:off x="0" y="967978"/>
            <a:ext cx="9144000" cy="7144"/>
          </a:xfrm>
          <a:prstGeom prst="rect">
            <a:avLst/>
          </a:prstGeom>
          <a:solidFill>
            <a:srgbClr val="B3EBF2"/>
          </a:solidFill>
          <a:ln/>
        </p:spPr>
      </p:sp>
      <p:pic>
        <p:nvPicPr>
          <p:cNvPr id="5" name="Image 1" descr="preencoded.png">    </p:cNvPr>
          <p:cNvPicPr>
            <a:picLocks noChangeAspect="1"/>
          </p:cNvPicPr>
          <p:nvPr/>
        </p:nvPicPr>
        <p:blipFill>
          <a:blip r:embed="rId2"/>
          <a:stretch>
            <a:fillRect/>
          </a:stretch>
        </p:blipFill>
        <p:spPr>
          <a:xfrm>
            <a:off x="428625" y="469702"/>
            <a:ext cx="257175" cy="257175"/>
          </a:xfrm>
          <a:prstGeom prst="rect">
            <a:avLst/>
          </a:prstGeom>
        </p:spPr>
      </p:pic>
      <p:sp>
        <p:nvSpPr>
          <p:cNvPr id="6" name="Text 2"/>
          <p:cNvSpPr/>
          <p:nvPr/>
        </p:nvSpPr>
        <p:spPr>
          <a:xfrm>
            <a:off x="828675" y="285750"/>
            <a:ext cx="7886700" cy="625078"/>
          </a:xfrm>
          <a:prstGeom prst="rect">
            <a:avLst/>
          </a:prstGeom>
          <a:noFill/>
          <a:ln/>
        </p:spPr>
        <p:txBody>
          <a:bodyPr wrap="square" lIns="0" tIns="0" rIns="0" bIns="0" rtlCol="0" anchor="t">
            <a:spAutoFit/>
          </a:bodyPr>
          <a:lstStyle/>
          <a:p>
            <a:pPr algn="l" indent="0" marL="0">
              <a:lnSpc>
                <a:spcPts val="2400"/>
              </a:lnSpc>
              <a:buNone/>
            </a:pPr>
            <a:r>
              <a:rPr lang="en-US" sz="1808" b="1" dirty="0">
                <a:solidFill>
                  <a:srgbClr val="FFFFFF"/>
                </a:solidFill>
                <a:latin typeface="Montserrat" pitchFamily="34" charset="0"/>
                <a:ea typeface="Montserrat" pitchFamily="34" charset="-122"/>
                <a:cs typeface="Montserrat" pitchFamily="34" charset="-120"/>
              </a:rPr>
              <a:t>This Lab Builds the Foundation of Your Autonomous System</a:t>
            </a:r>
            <a:endParaRPr lang="en-US" sz="1808" dirty="0"/>
          </a:p>
        </p:txBody>
      </p:sp>
      <p:sp>
        <p:nvSpPr>
          <p:cNvPr id="7" name="Shape 3"/>
          <p:cNvSpPr/>
          <p:nvPr/>
        </p:nvSpPr>
        <p:spPr>
          <a:xfrm>
            <a:off x="428625" y="1110853"/>
            <a:ext cx="4000500" cy="1137642"/>
          </a:xfrm>
          <a:prstGeom prst="rect">
            <a:avLst/>
          </a:prstGeom>
          <a:solidFill>
            <a:srgbClr val="FFFFFF">
              <a:alpha val="5000"/>
            </a:srgbClr>
          </a:solidFill>
          <a:ln/>
        </p:spPr>
      </p:sp>
      <p:sp>
        <p:nvSpPr>
          <p:cNvPr id="8" name="Shape 4"/>
          <p:cNvSpPr/>
          <p:nvPr/>
        </p:nvSpPr>
        <p:spPr>
          <a:xfrm>
            <a:off x="428625" y="1110853"/>
            <a:ext cx="28575" cy="1137642"/>
          </a:xfrm>
          <a:prstGeom prst="rect">
            <a:avLst/>
          </a:prstGeom>
          <a:solidFill>
            <a:srgbClr val="00BCD4"/>
          </a:solidFill>
          <a:ln/>
        </p:spPr>
      </p:sp>
      <p:sp>
        <p:nvSpPr>
          <p:cNvPr id="9" name="Text 5"/>
          <p:cNvSpPr/>
          <p:nvPr/>
        </p:nvSpPr>
        <p:spPr>
          <a:xfrm>
            <a:off x="514350" y="1196578"/>
            <a:ext cx="3829050" cy="208955"/>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00BCD4"/>
                </a:solidFill>
                <a:latin typeface="Montserrat" pitchFamily="34" charset="0"/>
                <a:ea typeface="Montserrat" pitchFamily="34" charset="-122"/>
                <a:cs typeface="Montserrat" pitchFamily="34" charset="-120"/>
              </a:rPr>
              <a:t>The Primitives of Autonomy</a:t>
            </a:r>
            <a:endParaRPr lang="en-US" sz="1193" dirty="0"/>
          </a:p>
        </p:txBody>
      </p:sp>
      <p:sp>
        <p:nvSpPr>
          <p:cNvPr id="10" name="Text 6"/>
          <p:cNvSpPr/>
          <p:nvPr/>
        </p:nvSpPr>
        <p:spPr>
          <a:xfrm>
            <a:off x="514350" y="1476970"/>
            <a:ext cx="3829050" cy="685800"/>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E0E0E0"/>
                </a:solidFill>
                <a:latin typeface="Open Sans" pitchFamily="34" charset="0"/>
                <a:ea typeface="Open Sans" pitchFamily="34" charset="-122"/>
                <a:cs typeface="Open Sans" pitchFamily="34" charset="-120"/>
              </a:rPr>
              <a:t>By the end of today, you will have a robot that can: spawn in a simulation, read its own state, and move in a controlled pattern.</a:t>
            </a:r>
            <a:endParaRPr lang="en-US" sz="1050" dirty="0"/>
          </a:p>
        </p:txBody>
      </p:sp>
      <p:sp>
        <p:nvSpPr>
          <p:cNvPr id="11" name="Shape 7"/>
          <p:cNvSpPr/>
          <p:nvPr/>
        </p:nvSpPr>
        <p:spPr>
          <a:xfrm>
            <a:off x="428625" y="2334220"/>
            <a:ext cx="4000500" cy="1137642"/>
          </a:xfrm>
          <a:prstGeom prst="rect">
            <a:avLst/>
          </a:prstGeom>
          <a:solidFill>
            <a:srgbClr val="FFFFFF">
              <a:alpha val="5000"/>
            </a:srgbClr>
          </a:solidFill>
          <a:ln/>
        </p:spPr>
      </p:sp>
      <p:sp>
        <p:nvSpPr>
          <p:cNvPr id="12" name="Shape 8"/>
          <p:cNvSpPr/>
          <p:nvPr/>
        </p:nvSpPr>
        <p:spPr>
          <a:xfrm>
            <a:off x="428625" y="2334220"/>
            <a:ext cx="28575" cy="1137642"/>
          </a:xfrm>
          <a:prstGeom prst="rect">
            <a:avLst/>
          </a:prstGeom>
          <a:solidFill>
            <a:srgbClr val="E67E22"/>
          </a:solidFill>
          <a:ln/>
        </p:spPr>
      </p:sp>
      <p:sp>
        <p:nvSpPr>
          <p:cNvPr id="13" name="Text 9"/>
          <p:cNvSpPr/>
          <p:nvPr/>
        </p:nvSpPr>
        <p:spPr>
          <a:xfrm>
            <a:off x="514350" y="2419945"/>
            <a:ext cx="3829050" cy="208955"/>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E67E22"/>
                </a:solidFill>
                <a:latin typeface="Montserrat" pitchFamily="34" charset="0"/>
                <a:ea typeface="Montserrat" pitchFamily="34" charset="-122"/>
                <a:cs typeface="Montserrat" pitchFamily="34" charset="-120"/>
              </a:rPr>
              <a:t>Sense &amp; Act</a:t>
            </a:r>
            <a:endParaRPr lang="en-US" sz="1193" dirty="0"/>
          </a:p>
        </p:txBody>
      </p:sp>
      <p:sp>
        <p:nvSpPr>
          <p:cNvPr id="14" name="Text 10"/>
          <p:cNvSpPr/>
          <p:nvPr/>
        </p:nvSpPr>
        <p:spPr>
          <a:xfrm>
            <a:off x="514350" y="2700338"/>
            <a:ext cx="3829050" cy="685800"/>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E0E0E0"/>
                </a:solidFill>
                <a:latin typeface="Open Sans" pitchFamily="34" charset="0"/>
                <a:ea typeface="Open Sans" pitchFamily="34" charset="-122"/>
                <a:cs typeface="Open Sans" pitchFamily="34" charset="-120"/>
              </a:rPr>
              <a:t>This lab establishes the </a:t>
            </a:r>
            <a:r>
              <a:rPr lang="en-US" sz="987" b="1" dirty="0">
                <a:solidFill>
                  <a:srgbClr val="E67E22"/>
                </a:solidFill>
                <a:latin typeface="Open Sans" pitchFamily="34" charset="0"/>
                <a:ea typeface="Open Sans" pitchFamily="34" charset="-122"/>
                <a:cs typeface="Open Sans" pitchFamily="34" charset="-120"/>
              </a:rPr>
              <a:t>"Sense"</a:t>
            </a:r>
            <a:r>
              <a:rPr lang="en-US" sz="1050" dirty="0">
                <a:solidFill>
                  <a:srgbClr val="E0E0E0"/>
                </a:solidFill>
                <a:latin typeface="Open Sans" pitchFamily="34" charset="0"/>
                <a:ea typeface="Open Sans" pitchFamily="34" charset="-122"/>
                <a:cs typeface="Open Sans" pitchFamily="34" charset="-120"/>
              </a:rPr>
              <a:t> and </a:t>
            </a:r>
            <a:r>
              <a:rPr lang="en-US" sz="987" b="1" dirty="0">
                <a:solidFill>
                  <a:srgbClr val="E67E22"/>
                </a:solidFill>
                <a:latin typeface="Open Sans" pitchFamily="34" charset="0"/>
                <a:ea typeface="Open Sans" pitchFamily="34" charset="-122"/>
                <a:cs typeface="Open Sans" pitchFamily="34" charset="-120"/>
              </a:rPr>
              <a:t>"Act"</a:t>
            </a:r>
            <a:r>
              <a:rPr lang="en-US" sz="1050" dirty="0">
                <a:solidFill>
                  <a:srgbClr val="E0E0E0"/>
                </a:solidFill>
                <a:latin typeface="Open Sans" pitchFamily="34" charset="0"/>
                <a:ea typeface="Open Sans" pitchFamily="34" charset="-122"/>
                <a:cs typeface="Open Sans" pitchFamily="34" charset="-120"/>
              </a:rPr>
              <a:t> components </a:t>
            </a:r>
            <a:r>
              <a:rPr lang="en-US" sz="1050" dirty="0">
                <a:solidFill>
                  <a:srgbClr val="E0E0E0"/>
                </a:solidFill>
                <a:latin typeface="Open Sans" pitchFamily="34" charset="0"/>
                <a:ea typeface="Open Sans" pitchFamily="34" charset="-122"/>
                <a:cs typeface="Open Sans" pitchFamily="34" charset="-120"/>
              </a:rPr>
              <a:t>of the Sense-Plan-Act cycle. Everything we do from now </a:t>
            </a:r>
            <a:r>
              <a:rPr lang="en-US" sz="1050" dirty="0">
                <a:solidFill>
                  <a:srgbClr val="E0E0E0"/>
                </a:solidFill>
                <a:latin typeface="Open Sans" pitchFamily="34" charset="0"/>
                <a:ea typeface="Open Sans" pitchFamily="34" charset="-122"/>
                <a:cs typeface="Open Sans" pitchFamily="34" charset="-120"/>
              </a:rPr>
              <a:t>on builds upon this foundation.</a:t>
            </a:r>
            <a:endParaRPr lang="en-US" sz="1050" dirty="0"/>
          </a:p>
        </p:txBody>
      </p:sp>
      <p:sp>
        <p:nvSpPr>
          <p:cNvPr id="15" name="Shape 11"/>
          <p:cNvSpPr/>
          <p:nvPr/>
        </p:nvSpPr>
        <p:spPr>
          <a:xfrm>
            <a:off x="428625" y="3557588"/>
            <a:ext cx="4000500" cy="1137642"/>
          </a:xfrm>
          <a:prstGeom prst="rect">
            <a:avLst/>
          </a:prstGeom>
          <a:solidFill>
            <a:srgbClr val="FFFFFF">
              <a:alpha val="5000"/>
            </a:srgbClr>
          </a:solidFill>
          <a:ln/>
        </p:spPr>
      </p:sp>
      <p:sp>
        <p:nvSpPr>
          <p:cNvPr id="16" name="Shape 12"/>
          <p:cNvSpPr/>
          <p:nvPr/>
        </p:nvSpPr>
        <p:spPr>
          <a:xfrm>
            <a:off x="428625" y="3557588"/>
            <a:ext cx="28575" cy="1137642"/>
          </a:xfrm>
          <a:prstGeom prst="rect">
            <a:avLst/>
          </a:prstGeom>
          <a:solidFill>
            <a:srgbClr val="FFFFFF"/>
          </a:solidFill>
          <a:ln/>
        </p:spPr>
      </p:sp>
      <p:sp>
        <p:nvSpPr>
          <p:cNvPr id="17" name="Text 13"/>
          <p:cNvSpPr/>
          <p:nvPr/>
        </p:nvSpPr>
        <p:spPr>
          <a:xfrm>
            <a:off x="514350" y="3643313"/>
            <a:ext cx="3829050" cy="208955"/>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FFFFF"/>
                </a:solidFill>
                <a:latin typeface="Montserrat" pitchFamily="34" charset="0"/>
                <a:ea typeface="Montserrat" pitchFamily="34" charset="-122"/>
                <a:cs typeface="Montserrat" pitchFamily="34" charset="-120"/>
              </a:rPr>
              <a:t>Real-World Relevance</a:t>
            </a:r>
            <a:endParaRPr lang="en-US" sz="1193" dirty="0"/>
          </a:p>
        </p:txBody>
      </p:sp>
      <p:sp>
        <p:nvSpPr>
          <p:cNvPr id="18" name="Text 14"/>
          <p:cNvSpPr/>
          <p:nvPr/>
        </p:nvSpPr>
        <p:spPr>
          <a:xfrm>
            <a:off x="514350" y="3923705"/>
            <a:ext cx="3829050" cy="685800"/>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E0E0E0"/>
                </a:solidFill>
                <a:latin typeface="Open Sans" pitchFamily="34" charset="0"/>
                <a:ea typeface="Open Sans" pitchFamily="34" charset="-122"/>
                <a:cs typeface="Open Sans" pitchFamily="34" charset="-120"/>
              </a:rPr>
              <a:t>These are the exact same primitive operations used in real autonomous vehicles, drones, and industrial robotic arms.</a:t>
            </a:r>
            <a:endParaRPr lang="en-US" sz="1050" dirty="0"/>
          </a:p>
        </p:txBody>
      </p:sp>
      <p:pic>
        <p:nvPicPr>
          <p:cNvPr id="19" name="Image 2" descr="preencoded.png">    </p:cNvPr>
          <p:cNvPicPr>
            <a:picLocks noChangeAspect="1"/>
          </p:cNvPicPr>
          <p:nvPr/>
        </p:nvPicPr>
        <p:blipFill>
          <a:blip r:embed="rId3"/>
          <a:stretch>
            <a:fillRect/>
          </a:stretch>
        </p:blipFill>
        <p:spPr>
          <a:xfrm>
            <a:off x="4750594" y="2088654"/>
            <a:ext cx="3929063" cy="1714500"/>
          </a:xfrm>
          <a:prstGeom prst="rect">
            <a:avLst/>
          </a:prstGeom>
        </p:spPr>
      </p:pic>
      <p:sp>
        <p:nvSpPr>
          <p:cNvPr id="20" name="Shape 15"/>
          <p:cNvSpPr/>
          <p:nvPr/>
        </p:nvSpPr>
        <p:spPr>
          <a:xfrm>
            <a:off x="0" y="4923830"/>
            <a:ext cx="9144000" cy="357188"/>
          </a:xfrm>
          <a:prstGeom prst="rect">
            <a:avLst/>
          </a:prstGeom>
          <a:solidFill>
            <a:srgbClr val="000000">
              <a:alpha val="0"/>
            </a:srgbClr>
          </a:solidFill>
          <a:ln/>
        </p:spPr>
      </p:sp>
      <p:sp>
        <p:nvSpPr>
          <p:cNvPr id="21" name="Shape 16"/>
          <p:cNvSpPr/>
          <p:nvPr/>
        </p:nvSpPr>
        <p:spPr>
          <a:xfrm>
            <a:off x="0" y="4923830"/>
            <a:ext cx="9144000" cy="7144"/>
          </a:xfrm>
          <a:prstGeom prst="rect">
            <a:avLst/>
          </a:prstGeom>
          <a:solidFill>
            <a:srgbClr val="FFFFFF"/>
          </a:solidFill>
          <a:ln/>
        </p:spPr>
      </p:sp>
      <p:sp>
        <p:nvSpPr>
          <p:cNvPr id="22" name="Text 17"/>
          <p:cNvSpPr/>
          <p:nvPr/>
        </p:nvSpPr>
        <p:spPr>
          <a:xfrm>
            <a:off x="428625" y="5030986"/>
            <a:ext cx="905470"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888888"/>
                </a:solidFill>
                <a:latin typeface="Open Sans" pitchFamily="34" charset="0"/>
                <a:ea typeface="Open Sans" pitchFamily="34" charset="-122"/>
                <a:cs typeface="Open Sans" pitchFamily="34" charset="-120"/>
              </a:rPr>
              <a:t>Lab 1: Hello, Robot!</a:t>
            </a:r>
            <a:endParaRPr lang="en-US" sz="727" dirty="0"/>
          </a:p>
        </p:txBody>
      </p:sp>
      <p:sp>
        <p:nvSpPr>
          <p:cNvPr id="23" name="Text 18"/>
          <p:cNvSpPr/>
          <p:nvPr/>
        </p:nvSpPr>
        <p:spPr>
          <a:xfrm>
            <a:off x="7824192" y="5030986"/>
            <a:ext cx="891183"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888888"/>
                </a:solidFill>
                <a:latin typeface="Open Sans" pitchFamily="34" charset="0"/>
                <a:ea typeface="Open Sans" pitchFamily="34" charset="-122"/>
                <a:cs typeface="Open Sans" pitchFamily="34" charset="-120"/>
              </a:rPr>
              <a:t>Block 1: Perception</a:t>
            </a:r>
            <a:endParaRPr lang="en-US" sz="72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229002"/>
          </a:xfrm>
          <a:prstGeom prst="rect">
            <a:avLst/>
          </a:prstGeom>
        </p:spPr>
      </p:pic>
      <p:sp>
        <p:nvSpPr>
          <p:cNvPr id="3" name="Shape 0"/>
          <p:cNvSpPr/>
          <p:nvPr/>
        </p:nvSpPr>
        <p:spPr>
          <a:xfrm>
            <a:off x="0" y="0"/>
            <a:ext cx="9144000" cy="1060847"/>
          </a:xfrm>
          <a:prstGeom prst="rect">
            <a:avLst/>
          </a:prstGeom>
          <a:solidFill>
            <a:srgbClr val="000000">
              <a:alpha val="0"/>
            </a:srgbClr>
          </a:solidFill>
          <a:ln/>
        </p:spPr>
      </p:sp>
      <p:sp>
        <p:nvSpPr>
          <p:cNvPr id="4" name="Shape 1"/>
          <p:cNvSpPr/>
          <p:nvPr/>
        </p:nvSpPr>
        <p:spPr>
          <a:xfrm>
            <a:off x="0" y="1053703"/>
            <a:ext cx="9144000" cy="7144"/>
          </a:xfrm>
          <a:prstGeom prst="rect">
            <a:avLst/>
          </a:prstGeom>
          <a:solidFill>
            <a:srgbClr val="B3EBF2"/>
          </a:solidFill>
          <a:ln/>
        </p:spPr>
      </p:sp>
      <p:pic>
        <p:nvPicPr>
          <p:cNvPr id="5" name="Image 1" descr="preencoded.png">    </p:cNvPr>
          <p:cNvPicPr>
            <a:picLocks noChangeAspect="1"/>
          </p:cNvPicPr>
          <p:nvPr/>
        </p:nvPicPr>
        <p:blipFill>
          <a:blip r:embed="rId2"/>
          <a:stretch>
            <a:fillRect/>
          </a:stretch>
        </p:blipFill>
        <p:spPr>
          <a:xfrm>
            <a:off x="428625" y="469702"/>
            <a:ext cx="321469" cy="257175"/>
          </a:xfrm>
          <a:prstGeom prst="rect">
            <a:avLst/>
          </a:prstGeom>
        </p:spPr>
      </p:pic>
      <p:sp>
        <p:nvSpPr>
          <p:cNvPr id="6" name="Text 2"/>
          <p:cNvSpPr/>
          <p:nvPr/>
        </p:nvSpPr>
        <p:spPr>
          <a:xfrm>
            <a:off x="892969" y="285750"/>
            <a:ext cx="7822406" cy="625078"/>
          </a:xfrm>
          <a:prstGeom prst="rect">
            <a:avLst/>
          </a:prstGeom>
          <a:noFill/>
          <a:ln/>
        </p:spPr>
        <p:txBody>
          <a:bodyPr wrap="square" lIns="0" tIns="0" rIns="0" bIns="0" rtlCol="0" anchor="t">
            <a:spAutoFit/>
          </a:bodyPr>
          <a:lstStyle/>
          <a:p>
            <a:pPr algn="l" indent="0" marL="0">
              <a:lnSpc>
                <a:spcPts val="2400"/>
              </a:lnSpc>
              <a:buNone/>
            </a:pPr>
            <a:r>
              <a:rPr lang="en-US" sz="1808" b="1" dirty="0">
                <a:solidFill>
                  <a:srgbClr val="FFFFFF"/>
                </a:solidFill>
                <a:latin typeface="Montserrat" pitchFamily="34" charset="0"/>
                <a:ea typeface="Montserrat" pitchFamily="34" charset="-122"/>
                <a:cs typeface="Montserrat" pitchFamily="34" charset="-120"/>
              </a:rPr>
              <a:t>Each Student Creates a Unique, Isolated Conda Environment</a:t>
            </a:r>
            <a:endParaRPr lang="en-US" sz="1808" dirty="0"/>
          </a:p>
        </p:txBody>
      </p:sp>
      <p:pic>
        <p:nvPicPr>
          <p:cNvPr id="7" name="Image 2" descr="preencoded.png">    </p:cNvPr>
          <p:cNvPicPr>
            <a:picLocks noChangeAspect="1"/>
          </p:cNvPicPr>
          <p:nvPr/>
        </p:nvPicPr>
        <p:blipFill>
          <a:blip r:embed="rId3"/>
          <a:stretch>
            <a:fillRect/>
          </a:stretch>
        </p:blipFill>
        <p:spPr>
          <a:xfrm>
            <a:off x="428625" y="1284982"/>
            <a:ext cx="157163" cy="157163"/>
          </a:xfrm>
          <a:prstGeom prst="rect">
            <a:avLst/>
          </a:prstGeom>
        </p:spPr>
      </p:pic>
      <p:sp>
        <p:nvSpPr>
          <p:cNvPr id="8" name="Text 3"/>
          <p:cNvSpPr/>
          <p:nvPr/>
        </p:nvSpPr>
        <p:spPr>
          <a:xfrm>
            <a:off x="657225" y="1268016"/>
            <a:ext cx="2316361"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E67E22"/>
                </a:solidFill>
                <a:latin typeface="Montserrat" pitchFamily="34" charset="0"/>
                <a:ea typeface="Montserrat" pitchFamily="34" charset="-122"/>
                <a:cs typeface="Montserrat" pitchFamily="34" charset="-120"/>
              </a:rPr>
              <a:t>Why Unique Environments?</a:t>
            </a:r>
            <a:endParaRPr lang="en-US" sz="1090" dirty="0"/>
          </a:p>
        </p:txBody>
      </p:sp>
      <p:sp>
        <p:nvSpPr>
          <p:cNvPr id="9" name="Text 4"/>
          <p:cNvSpPr/>
          <p:nvPr/>
        </p:nvSpPr>
        <p:spPr>
          <a:xfrm>
            <a:off x="428625" y="1530548"/>
            <a:ext cx="3636811" cy="822871"/>
          </a:xfrm>
          <a:prstGeom prst="rect">
            <a:avLst/>
          </a:prstGeom>
          <a:noFill/>
          <a:ln/>
        </p:spPr>
        <p:txBody>
          <a:bodyPr wrap="square" lIns="289179" tIns="0" rIns="0" bIns="0" rtlCol="0" anchor="t">
            <a:spAutoFit/>
          </a:bodyPr>
          <a:lstStyle/>
          <a:p>
            <a:pPr algn="l" indent="0" marL="0">
              <a:lnSpc>
                <a:spcPts val="1600"/>
              </a:lnSpc>
              <a:buNone/>
            </a:pPr>
            <a:r>
              <a:rPr lang="en-US" sz="942" dirty="0">
                <a:solidFill>
                  <a:srgbClr val="E0E0E0"/>
                </a:solidFill>
                <a:latin typeface="Open Sans" pitchFamily="34" charset="0"/>
                <a:ea typeface="Open Sans" pitchFamily="34" charset="-122"/>
                <a:cs typeface="Open Sans" pitchFamily="34" charset="-120"/>
              </a:rPr>
              <a:t>Shared lab computers mean shared conflicts. Creating your own environment ensures your code runs exactly the same way every time, unaffected by other students' changes.</a:t>
            </a:r>
            <a:endParaRPr lang="en-US" sz="942" dirty="0"/>
          </a:p>
        </p:txBody>
      </p:sp>
      <p:pic>
        <p:nvPicPr>
          <p:cNvPr id="10" name="Image 3" descr="preencoded.png">    </p:cNvPr>
          <p:cNvPicPr>
            <a:picLocks noChangeAspect="1"/>
          </p:cNvPicPr>
          <p:nvPr/>
        </p:nvPicPr>
        <p:blipFill>
          <a:blip r:embed="rId4"/>
          <a:stretch>
            <a:fillRect/>
          </a:stretch>
        </p:blipFill>
        <p:spPr>
          <a:xfrm>
            <a:off x="428625" y="2548979"/>
            <a:ext cx="196453" cy="157163"/>
          </a:xfrm>
          <a:prstGeom prst="rect">
            <a:avLst/>
          </a:prstGeom>
        </p:spPr>
      </p:pic>
      <p:sp>
        <p:nvSpPr>
          <p:cNvPr id="11" name="Text 5"/>
          <p:cNvSpPr/>
          <p:nvPr/>
        </p:nvSpPr>
        <p:spPr>
          <a:xfrm>
            <a:off x="696516" y="2532013"/>
            <a:ext cx="1525191"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E67E22"/>
                </a:solidFill>
                <a:latin typeface="Montserrat" pitchFamily="34" charset="0"/>
                <a:ea typeface="Montserrat" pitchFamily="34" charset="-122"/>
                <a:cs typeface="Montserrat" pitchFamily="34" charset="-120"/>
              </a:rPr>
              <a:t>Why conda-forge?</a:t>
            </a:r>
            <a:endParaRPr lang="en-US" sz="1090" dirty="0"/>
          </a:p>
        </p:txBody>
      </p:sp>
      <p:sp>
        <p:nvSpPr>
          <p:cNvPr id="12" name="Text 6"/>
          <p:cNvSpPr/>
          <p:nvPr/>
        </p:nvSpPr>
        <p:spPr>
          <a:xfrm>
            <a:off x="428625" y="2794546"/>
            <a:ext cx="3636811" cy="822871"/>
          </a:xfrm>
          <a:prstGeom prst="rect">
            <a:avLst/>
          </a:prstGeom>
          <a:noFill/>
          <a:ln/>
        </p:spPr>
        <p:txBody>
          <a:bodyPr wrap="square" lIns="289179" tIns="0" rIns="0" bIns="0" rtlCol="0" anchor="t">
            <a:spAutoFit/>
          </a:bodyPr>
          <a:lstStyle/>
          <a:p>
            <a:pPr algn="l" indent="0" marL="0">
              <a:lnSpc>
                <a:spcPts val="1600"/>
              </a:lnSpc>
              <a:buNone/>
            </a:pPr>
            <a:r>
              <a:rPr lang="en-US" sz="942" dirty="0">
                <a:solidFill>
                  <a:srgbClr val="E0E0E0"/>
                </a:solidFill>
                <a:latin typeface="Open Sans" pitchFamily="34" charset="0"/>
                <a:ea typeface="Open Sans" pitchFamily="34" charset="-122"/>
                <a:cs typeface="Open Sans" pitchFamily="34" charset="-120"/>
              </a:rPr>
              <a:t>Conda manages both Python and non-Python </a:t>
            </a:r>
            <a:r>
              <a:rPr lang="en-US" sz="942" dirty="0">
                <a:solidFill>
                  <a:srgbClr val="E0E0E0"/>
                </a:solidFill>
                <a:latin typeface="Open Sans" pitchFamily="34" charset="0"/>
                <a:ea typeface="Open Sans" pitchFamily="34" charset="-122"/>
                <a:cs typeface="Open Sans" pitchFamily="34" charset="-120"/>
              </a:rPr>
              <a:t>dependencies together. The </a:t>
            </a:r>
            <a:r>
              <a:rPr lang="en-US" sz="885" b="1" dirty="0">
                <a:solidFill>
                  <a:srgbClr val="E0E0E0"/>
                </a:solidFill>
                <a:latin typeface="Open Sans" pitchFamily="34" charset="0"/>
                <a:ea typeface="Open Sans" pitchFamily="34" charset="-122"/>
                <a:cs typeface="Open Sans" pitchFamily="34" charset="-120"/>
              </a:rPr>
              <a:t>conda-forge</a:t>
            </a:r>
            <a:r>
              <a:rPr lang="en-US" sz="942" dirty="0">
                <a:solidFill>
                  <a:srgbClr val="E0E0E0"/>
                </a:solidFill>
                <a:latin typeface="Open Sans" pitchFamily="34" charset="0"/>
                <a:ea typeface="Open Sans" pitchFamily="34" charset="-122"/>
                <a:cs typeface="Open Sans" pitchFamily="34" charset="-120"/>
              </a:rPr>
              <a:t> channel </a:t>
            </a:r>
            <a:r>
              <a:rPr lang="en-US" sz="942" dirty="0">
                <a:solidFill>
                  <a:srgbClr val="E0E0E0"/>
                </a:solidFill>
                <a:latin typeface="Open Sans" pitchFamily="34" charset="0"/>
                <a:ea typeface="Open Sans" pitchFamily="34" charset="-122"/>
                <a:cs typeface="Open Sans" pitchFamily="34" charset="-120"/>
              </a:rPr>
              <a:t>provides the most reliable, up-to-date scientific packages </a:t>
            </a:r>
            <a:r>
              <a:rPr lang="en-US" sz="942" dirty="0">
                <a:solidFill>
                  <a:srgbClr val="E0E0E0"/>
                </a:solidFill>
                <a:latin typeface="Open Sans" pitchFamily="34" charset="0"/>
                <a:ea typeface="Open Sans" pitchFamily="34" charset="-122"/>
                <a:cs typeface="Open Sans" pitchFamily="34" charset="-120"/>
              </a:rPr>
              <a:t>(like PyBullet).</a:t>
            </a:r>
            <a:endParaRPr lang="en-US" sz="942" dirty="0"/>
          </a:p>
        </p:txBody>
      </p:sp>
      <p:pic>
        <p:nvPicPr>
          <p:cNvPr id="13" name="Image 4" descr="preencoded.png">    </p:cNvPr>
          <p:cNvPicPr>
            <a:picLocks noChangeAspect="1"/>
          </p:cNvPicPr>
          <p:nvPr/>
        </p:nvPicPr>
        <p:blipFill>
          <a:blip r:embed="rId5"/>
          <a:stretch>
            <a:fillRect/>
          </a:stretch>
        </p:blipFill>
        <p:spPr>
          <a:xfrm>
            <a:off x="428625" y="3812977"/>
            <a:ext cx="117872" cy="157163"/>
          </a:xfrm>
          <a:prstGeom prst="rect">
            <a:avLst/>
          </a:prstGeom>
        </p:spPr>
      </p:pic>
      <p:sp>
        <p:nvSpPr>
          <p:cNvPr id="14" name="Text 7"/>
          <p:cNvSpPr/>
          <p:nvPr/>
        </p:nvSpPr>
        <p:spPr>
          <a:xfrm>
            <a:off x="617934" y="3796010"/>
            <a:ext cx="1353741"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E67E22"/>
                </a:solidFill>
                <a:latin typeface="Montserrat" pitchFamily="34" charset="0"/>
                <a:ea typeface="Montserrat" pitchFamily="34" charset="-122"/>
                <a:cs typeface="Montserrat" pitchFamily="34" charset="-120"/>
              </a:rPr>
              <a:t>The Golden Rule</a:t>
            </a:r>
            <a:endParaRPr lang="en-US" sz="1090" dirty="0"/>
          </a:p>
        </p:txBody>
      </p:sp>
      <p:sp>
        <p:nvSpPr>
          <p:cNvPr id="15" name="Text 8"/>
          <p:cNvSpPr/>
          <p:nvPr/>
        </p:nvSpPr>
        <p:spPr>
          <a:xfrm>
            <a:off x="671513" y="4072830"/>
            <a:ext cx="641152" cy="175022"/>
          </a:xfrm>
          <a:prstGeom prst="rect">
            <a:avLst/>
          </a:prstGeom>
          <a:noFill/>
          <a:ln/>
        </p:spPr>
        <p:txBody>
          <a:bodyPr wrap="none" lIns="0" tIns="0" rIns="0" bIns="0" rtlCol="0" anchor="t">
            <a:spAutoFit/>
          </a:bodyPr>
          <a:lstStyle/>
          <a:p>
            <a:pPr algn="l" indent="0" marL="0">
              <a:lnSpc>
                <a:spcPts val="1600"/>
              </a:lnSpc>
              <a:buNone/>
            </a:pPr>
            <a:r>
              <a:rPr lang="en-US" sz="942" dirty="0">
                <a:solidFill>
                  <a:srgbClr val="E0E0E0"/>
                </a:solidFill>
                <a:latin typeface="Open Sans" pitchFamily="34" charset="0"/>
                <a:ea typeface="Open Sans" pitchFamily="34" charset="-122"/>
                <a:cs typeface="Open Sans" pitchFamily="34" charset="-120"/>
              </a:rPr>
              <a:t>Always try</a:t>
            </a:r>
            <a:endParaRPr lang="en-US" sz="942" dirty="0"/>
          </a:p>
        </p:txBody>
      </p:sp>
      <p:sp>
        <p:nvSpPr>
          <p:cNvPr id="16" name="Text 9"/>
          <p:cNvSpPr/>
          <p:nvPr/>
        </p:nvSpPr>
        <p:spPr>
          <a:xfrm>
            <a:off x="1312664" y="4074616"/>
            <a:ext cx="1002999" cy="175022"/>
          </a:xfrm>
          <a:prstGeom prst="rect">
            <a:avLst/>
          </a:prstGeom>
          <a:noFill/>
          <a:ln/>
        </p:spPr>
        <p:txBody>
          <a:bodyPr wrap="none" lIns="0" tIns="0" rIns="0" bIns="0" rtlCol="0" anchor="t">
            <a:spAutoFit/>
          </a:bodyPr>
          <a:lstStyle/>
          <a:p>
            <a:pPr algn="l" indent="0" marL="0">
              <a:lnSpc>
                <a:spcPts val="1600"/>
              </a:lnSpc>
              <a:buNone/>
            </a:pPr>
            <a:r>
              <a:rPr lang="en-US" sz="942" dirty="0">
                <a:solidFill>
                  <a:srgbClr val="E0E0E0"/>
                </a:solidFill>
                <a:latin typeface="monospace" pitchFamily="34" charset="0"/>
                <a:ea typeface="monospace" pitchFamily="34" charset="-122"/>
                <a:cs typeface="monospace" pitchFamily="34" charset="-120"/>
              </a:rPr>
              <a:t>conda install</a:t>
            </a:r>
            <a:endParaRPr lang="en-US" sz="942" dirty="0"/>
          </a:p>
        </p:txBody>
      </p:sp>
      <p:sp>
        <p:nvSpPr>
          <p:cNvPr id="17" name="Text 10"/>
          <p:cNvSpPr/>
          <p:nvPr/>
        </p:nvSpPr>
        <p:spPr>
          <a:xfrm>
            <a:off x="2315663" y="4072830"/>
            <a:ext cx="889397" cy="175022"/>
          </a:xfrm>
          <a:prstGeom prst="rect">
            <a:avLst/>
          </a:prstGeom>
          <a:noFill/>
          <a:ln/>
        </p:spPr>
        <p:txBody>
          <a:bodyPr wrap="none" lIns="0" tIns="0" rIns="0" bIns="0" rtlCol="0" anchor="t">
            <a:spAutoFit/>
          </a:bodyPr>
          <a:lstStyle/>
          <a:p>
            <a:pPr algn="l" indent="0" marL="0">
              <a:lnSpc>
                <a:spcPts val="1600"/>
              </a:lnSpc>
              <a:buNone/>
            </a:pPr>
            <a:r>
              <a:rPr lang="en-US" sz="942" dirty="0">
                <a:solidFill>
                  <a:srgbClr val="E0E0E0"/>
                </a:solidFill>
                <a:latin typeface="Open Sans" pitchFamily="34" charset="0"/>
                <a:ea typeface="Open Sans" pitchFamily="34" charset="-122"/>
                <a:cs typeface="Open Sans" pitchFamily="34" charset="-120"/>
              </a:rPr>
              <a:t>first. Only use</a:t>
            </a:r>
            <a:endParaRPr lang="en-US" sz="942" dirty="0"/>
          </a:p>
        </p:txBody>
      </p:sp>
      <p:sp>
        <p:nvSpPr>
          <p:cNvPr id="18" name="Text 11"/>
          <p:cNvSpPr/>
          <p:nvPr/>
        </p:nvSpPr>
        <p:spPr>
          <a:xfrm>
            <a:off x="3205060" y="4074616"/>
            <a:ext cx="848683" cy="175022"/>
          </a:xfrm>
          <a:prstGeom prst="rect">
            <a:avLst/>
          </a:prstGeom>
          <a:noFill/>
          <a:ln/>
        </p:spPr>
        <p:txBody>
          <a:bodyPr wrap="none" lIns="0" tIns="0" rIns="0" bIns="0" rtlCol="0" anchor="t">
            <a:spAutoFit/>
          </a:bodyPr>
          <a:lstStyle/>
          <a:p>
            <a:pPr algn="l" indent="0" marL="0">
              <a:lnSpc>
                <a:spcPts val="1600"/>
              </a:lnSpc>
              <a:buNone/>
            </a:pPr>
            <a:r>
              <a:rPr lang="en-US" sz="942" dirty="0">
                <a:solidFill>
                  <a:srgbClr val="E0E0E0"/>
                </a:solidFill>
                <a:latin typeface="monospace" pitchFamily="34" charset="0"/>
                <a:ea typeface="monospace" pitchFamily="34" charset="-122"/>
                <a:cs typeface="monospace" pitchFamily="34" charset="-120"/>
              </a:rPr>
              <a:t>pip install</a:t>
            </a:r>
            <a:endParaRPr lang="en-US" sz="942" dirty="0"/>
          </a:p>
        </p:txBody>
      </p:sp>
      <p:sp>
        <p:nvSpPr>
          <p:cNvPr id="19" name="Text 12"/>
          <p:cNvSpPr/>
          <p:nvPr/>
        </p:nvSpPr>
        <p:spPr>
          <a:xfrm>
            <a:off x="671513" y="4280334"/>
            <a:ext cx="3032522" cy="175022"/>
          </a:xfrm>
          <a:prstGeom prst="rect">
            <a:avLst/>
          </a:prstGeom>
          <a:noFill/>
          <a:ln/>
        </p:spPr>
        <p:txBody>
          <a:bodyPr wrap="none" lIns="0" tIns="0" rIns="0" bIns="0" rtlCol="0" anchor="t">
            <a:spAutoFit/>
          </a:bodyPr>
          <a:lstStyle/>
          <a:p>
            <a:pPr algn="l" indent="0" marL="0">
              <a:lnSpc>
                <a:spcPts val="1600"/>
              </a:lnSpc>
              <a:buNone/>
            </a:pPr>
            <a:r>
              <a:rPr lang="en-US" sz="942" dirty="0">
                <a:solidFill>
                  <a:srgbClr val="E0E0E0"/>
                </a:solidFill>
                <a:latin typeface="Open Sans" pitchFamily="34" charset="0"/>
                <a:ea typeface="Open Sans" pitchFamily="34" charset="-122"/>
                <a:cs typeface="Open Sans" pitchFamily="34" charset="-120"/>
              </a:rPr>
              <a:t>as a fallback if a package is not available on Conda.</a:t>
            </a:r>
            <a:endParaRPr lang="en-US" sz="942" dirty="0"/>
          </a:p>
        </p:txBody>
      </p:sp>
      <p:sp>
        <p:nvSpPr>
          <p:cNvPr id="20" name="Shape 13"/>
          <p:cNvSpPr/>
          <p:nvPr/>
        </p:nvSpPr>
        <p:spPr>
          <a:xfrm>
            <a:off x="4351186" y="1814624"/>
            <a:ext cx="4364189" cy="2289097"/>
          </a:xfrm>
          <a:prstGeom prst="rect">
            <a:avLst/>
          </a:prstGeom>
          <a:solidFill>
            <a:srgbClr val="1E1E1E"/>
          </a:solidFill>
          <a:ln w="9144">
            <a:solidFill>
              <a:srgbClr val="333333"/>
            </a:solidFill>
            <a:prstDash val="solid"/>
          </a:ln>
        </p:spPr>
      </p:sp>
      <p:sp>
        <p:nvSpPr>
          <p:cNvPr id="21" name="Shape 14"/>
          <p:cNvSpPr/>
          <p:nvPr/>
        </p:nvSpPr>
        <p:spPr>
          <a:xfrm>
            <a:off x="4351186" y="1821768"/>
            <a:ext cx="4364189" cy="280392"/>
          </a:xfrm>
          <a:prstGeom prst="rect">
            <a:avLst/>
          </a:prstGeom>
          <a:solidFill>
            <a:srgbClr val="2D2D2D"/>
          </a:solidFill>
          <a:ln/>
        </p:spPr>
      </p:sp>
      <p:sp>
        <p:nvSpPr>
          <p:cNvPr id="22" name="Shape 15"/>
          <p:cNvSpPr/>
          <p:nvPr/>
        </p:nvSpPr>
        <p:spPr>
          <a:xfrm>
            <a:off x="4351186" y="2095016"/>
            <a:ext cx="4364189" cy="7144"/>
          </a:xfrm>
          <a:prstGeom prst="rect">
            <a:avLst/>
          </a:prstGeom>
          <a:solidFill>
            <a:srgbClr val="111111"/>
          </a:solidFill>
          <a:ln/>
        </p:spPr>
      </p:sp>
      <p:sp>
        <p:nvSpPr>
          <p:cNvPr id="23" name="Text 16"/>
          <p:cNvSpPr/>
          <p:nvPr/>
        </p:nvSpPr>
        <p:spPr>
          <a:xfrm>
            <a:off x="4829817" y="1896777"/>
            <a:ext cx="3778402" cy="130373"/>
          </a:xfrm>
          <a:prstGeom prst="rect">
            <a:avLst/>
          </a:prstGeom>
          <a:noFill/>
          <a:ln/>
        </p:spPr>
        <p:txBody>
          <a:bodyPr wrap="none" lIns="0" tIns="0" rIns="0" bIns="0" rtlCol="0" anchor="t">
            <a:spAutoFit/>
          </a:bodyPr>
          <a:lstStyle/>
          <a:p>
            <a:pPr algn="ctr" indent="0" marL="0">
              <a:lnSpc>
                <a:spcPts val="900"/>
              </a:lnSpc>
              <a:buNone/>
            </a:pPr>
            <a:r>
              <a:rPr lang="en-US" sz="727" dirty="0">
                <a:solidFill>
                  <a:srgbClr val="888888"/>
                </a:solidFill>
                <a:latin typeface="Fira Code" pitchFamily="34" charset="0"/>
                <a:ea typeface="Fira Code" pitchFamily="34" charset="-122"/>
                <a:cs typeface="Fira Code" pitchFamily="34" charset="-120"/>
              </a:rPr>
              <a:t>bash - conda setup</a:t>
            </a:r>
            <a:endParaRPr lang="en-US" sz="727" dirty="0"/>
          </a:p>
        </p:txBody>
      </p:sp>
      <p:sp>
        <p:nvSpPr>
          <p:cNvPr id="24" name="Text 17"/>
          <p:cNvSpPr/>
          <p:nvPr/>
        </p:nvSpPr>
        <p:spPr>
          <a:xfrm>
            <a:off x="4494061" y="2241463"/>
            <a:ext cx="4078439" cy="182863"/>
          </a:xfrm>
          <a:prstGeom prst="rect">
            <a:avLst/>
          </a:prstGeom>
          <a:noFill/>
          <a:ln/>
        </p:spPr>
        <p:txBody>
          <a:bodyPr wrap="none" lIns="0" tIns="0" rIns="0" bIns="0" rtlCol="0" anchor="t">
            <a:spAutoFit/>
          </a:bodyPr>
          <a:lstStyle/>
          <a:p>
            <a:pPr algn="l" indent="0" marL="0">
              <a:lnSpc>
                <a:spcPts val="1400"/>
              </a:lnSpc>
              <a:buNone/>
            </a:pPr>
            <a:r>
              <a:rPr lang="en-US" sz="834" dirty="0">
                <a:solidFill>
                  <a:srgbClr val="6A9955"/>
                </a:solidFill>
                <a:latin typeface="Fira Code" pitchFamily="34" charset="0"/>
                <a:ea typeface="Fira Code" pitchFamily="34" charset="-122"/>
                <a:cs typeface="Fira Code" pitchFamily="34" charset="-120"/>
              </a:rPr>
              <a:t># 1. Create your unique environment (Do this ONCE)</a:t>
            </a:r>
            <a:endParaRPr lang="en-US" sz="834" dirty="0"/>
          </a:p>
        </p:txBody>
      </p:sp>
      <p:sp>
        <p:nvSpPr>
          <p:cNvPr id="25" name="Text 18"/>
          <p:cNvSpPr/>
          <p:nvPr/>
        </p:nvSpPr>
        <p:spPr>
          <a:xfrm>
            <a:off x="4494061" y="2424326"/>
            <a:ext cx="4078439" cy="182863"/>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569CD6"/>
                </a:solidFill>
                <a:latin typeface="Fira Code" pitchFamily="34" charset="0"/>
                <a:ea typeface="Fira Code" pitchFamily="34" charset="-122"/>
                <a:cs typeface="Fira Code" pitchFamily="34" charset="-120"/>
              </a:rPr>
              <a:t>$</a:t>
            </a:r>
            <a:r>
              <a:rPr lang="en-US" sz="834" dirty="0">
                <a:solidFill>
                  <a:srgbClr val="D4D4D4"/>
                </a:solidFill>
                <a:latin typeface="Fira Code" pitchFamily="34" charset="0"/>
                <a:ea typeface="Fira Code" pitchFamily="34" charset="-122"/>
                <a:cs typeface="Fira Code" pitchFamily="34" charset="-120"/>
              </a:rPr>
              <a:t> </a:t>
            </a:r>
            <a:r>
              <a:rPr lang="en-US" sz="834" dirty="0">
                <a:solidFill>
                  <a:srgbClr val="CE9178"/>
                </a:solidFill>
                <a:latin typeface="Fira Code" pitchFamily="34" charset="0"/>
                <a:ea typeface="Fira Code" pitchFamily="34" charset="-122"/>
                <a:cs typeface="Fira Code" pitchFamily="34" charset="-120"/>
              </a:rPr>
              <a:t>conda create</a:t>
            </a:r>
            <a:r>
              <a:rPr lang="en-US" sz="834" dirty="0">
                <a:solidFill>
                  <a:srgbClr val="D4D4D4"/>
                </a:solidFill>
                <a:latin typeface="Fira Code" pitchFamily="34" charset="0"/>
                <a:ea typeface="Fira Code" pitchFamily="34" charset="-122"/>
                <a:cs typeface="Fira Code" pitchFamily="34" charset="-120"/>
              </a:rPr>
              <a:t> </a:t>
            </a:r>
            <a:r>
              <a:rPr lang="en-US" sz="834" dirty="0">
                <a:solidFill>
                  <a:srgbClr val="9CDCFE"/>
                </a:solidFill>
                <a:latin typeface="Fira Code" pitchFamily="34" charset="0"/>
                <a:ea typeface="Fira Code" pitchFamily="34" charset="-122"/>
                <a:cs typeface="Fira Code" pitchFamily="34" charset="-120"/>
              </a:rPr>
              <a:t>-n robotics_Ahmad python=3.11 -y</a:t>
            </a:r>
            <a:endParaRPr lang="en-US" sz="784" dirty="0"/>
          </a:p>
        </p:txBody>
      </p:sp>
      <p:sp>
        <p:nvSpPr>
          <p:cNvPr id="26" name="Text 19"/>
          <p:cNvSpPr/>
          <p:nvPr/>
        </p:nvSpPr>
        <p:spPr>
          <a:xfrm>
            <a:off x="4494061" y="2750065"/>
            <a:ext cx="4078439" cy="182863"/>
          </a:xfrm>
          <a:prstGeom prst="rect">
            <a:avLst/>
          </a:prstGeom>
          <a:noFill/>
          <a:ln/>
        </p:spPr>
        <p:txBody>
          <a:bodyPr wrap="none" lIns="0" tIns="0" rIns="0" bIns="0" rtlCol="0" anchor="t">
            <a:spAutoFit/>
          </a:bodyPr>
          <a:lstStyle/>
          <a:p>
            <a:pPr algn="l" indent="0" marL="0">
              <a:lnSpc>
                <a:spcPts val="1400"/>
              </a:lnSpc>
              <a:buNone/>
            </a:pPr>
            <a:r>
              <a:rPr lang="en-US" sz="834" dirty="0">
                <a:solidFill>
                  <a:srgbClr val="6A9955"/>
                </a:solidFill>
                <a:latin typeface="Fira Code" pitchFamily="34" charset="0"/>
                <a:ea typeface="Fira Code" pitchFamily="34" charset="-122"/>
                <a:cs typeface="Fira Code" pitchFamily="34" charset="-120"/>
              </a:rPr>
              <a:t># 2. Activate it (Do this EVERY TIME you open a terminal)</a:t>
            </a:r>
            <a:endParaRPr lang="en-US" sz="834" dirty="0"/>
          </a:p>
        </p:txBody>
      </p:sp>
      <p:sp>
        <p:nvSpPr>
          <p:cNvPr id="27" name="Text 20"/>
          <p:cNvSpPr/>
          <p:nvPr/>
        </p:nvSpPr>
        <p:spPr>
          <a:xfrm>
            <a:off x="4494061" y="2932928"/>
            <a:ext cx="4078439" cy="182863"/>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569CD6"/>
                </a:solidFill>
                <a:latin typeface="Fira Code" pitchFamily="34" charset="0"/>
                <a:ea typeface="Fira Code" pitchFamily="34" charset="-122"/>
                <a:cs typeface="Fira Code" pitchFamily="34" charset="-120"/>
              </a:rPr>
              <a:t>$</a:t>
            </a:r>
            <a:r>
              <a:rPr lang="en-US" sz="834" dirty="0">
                <a:solidFill>
                  <a:srgbClr val="D4D4D4"/>
                </a:solidFill>
                <a:latin typeface="Fira Code" pitchFamily="34" charset="0"/>
                <a:ea typeface="Fira Code" pitchFamily="34" charset="-122"/>
                <a:cs typeface="Fira Code" pitchFamily="34" charset="-120"/>
              </a:rPr>
              <a:t> </a:t>
            </a:r>
            <a:r>
              <a:rPr lang="en-US" sz="834" dirty="0">
                <a:solidFill>
                  <a:srgbClr val="CE9178"/>
                </a:solidFill>
                <a:latin typeface="Fira Code" pitchFamily="34" charset="0"/>
                <a:ea typeface="Fira Code" pitchFamily="34" charset="-122"/>
                <a:cs typeface="Fira Code" pitchFamily="34" charset="-120"/>
              </a:rPr>
              <a:t>conda activate</a:t>
            </a:r>
            <a:r>
              <a:rPr lang="en-US" sz="834" dirty="0">
                <a:solidFill>
                  <a:srgbClr val="D4D4D4"/>
                </a:solidFill>
                <a:latin typeface="Fira Code" pitchFamily="34" charset="0"/>
                <a:ea typeface="Fira Code" pitchFamily="34" charset="-122"/>
                <a:cs typeface="Fira Code" pitchFamily="34" charset="-120"/>
              </a:rPr>
              <a:t> </a:t>
            </a:r>
            <a:r>
              <a:rPr lang="en-US" sz="834" dirty="0">
                <a:solidFill>
                  <a:srgbClr val="9CDCFE"/>
                </a:solidFill>
                <a:latin typeface="Fira Code" pitchFamily="34" charset="0"/>
                <a:ea typeface="Fira Code" pitchFamily="34" charset="-122"/>
                <a:cs typeface="Fira Code" pitchFamily="34" charset="-120"/>
              </a:rPr>
              <a:t>robotics_Ahmad</a:t>
            </a:r>
            <a:endParaRPr lang="en-US" sz="784" dirty="0"/>
          </a:p>
        </p:txBody>
      </p:sp>
      <p:sp>
        <p:nvSpPr>
          <p:cNvPr id="28" name="Text 21"/>
          <p:cNvSpPr/>
          <p:nvPr/>
        </p:nvSpPr>
        <p:spPr>
          <a:xfrm>
            <a:off x="4494061" y="3258666"/>
            <a:ext cx="4078439" cy="182863"/>
          </a:xfrm>
          <a:prstGeom prst="rect">
            <a:avLst/>
          </a:prstGeom>
          <a:noFill/>
          <a:ln/>
        </p:spPr>
        <p:txBody>
          <a:bodyPr wrap="none" lIns="0" tIns="0" rIns="0" bIns="0" rtlCol="0" anchor="t">
            <a:spAutoFit/>
          </a:bodyPr>
          <a:lstStyle/>
          <a:p>
            <a:pPr algn="l" indent="0" marL="0">
              <a:lnSpc>
                <a:spcPts val="1400"/>
              </a:lnSpc>
              <a:buNone/>
            </a:pPr>
            <a:r>
              <a:rPr lang="en-US" sz="834" dirty="0">
                <a:solidFill>
                  <a:srgbClr val="6A9955"/>
                </a:solidFill>
                <a:latin typeface="Fira Code" pitchFamily="34" charset="0"/>
                <a:ea typeface="Fira Code" pitchFamily="34" charset="-122"/>
                <a:cs typeface="Fira Code" pitchFamily="34" charset="-120"/>
              </a:rPr>
              <a:t># 3. Install required packages from conda-forge</a:t>
            </a:r>
            <a:endParaRPr lang="en-US" sz="834" dirty="0"/>
          </a:p>
        </p:txBody>
      </p:sp>
      <p:sp>
        <p:nvSpPr>
          <p:cNvPr id="29" name="Text 22"/>
          <p:cNvSpPr/>
          <p:nvPr/>
        </p:nvSpPr>
        <p:spPr>
          <a:xfrm>
            <a:off x="4494061" y="3441529"/>
            <a:ext cx="4078439" cy="365727"/>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569CD6"/>
                </a:solidFill>
                <a:latin typeface="Fira Code" pitchFamily="34" charset="0"/>
                <a:ea typeface="Fira Code" pitchFamily="34" charset="-122"/>
                <a:cs typeface="Fira Code" pitchFamily="34" charset="-120"/>
              </a:rPr>
              <a:t>(robotics_Ahmad) $</a:t>
            </a:r>
            <a:r>
              <a:rPr lang="en-US" sz="834" dirty="0">
                <a:solidFill>
                  <a:srgbClr val="D4D4D4"/>
                </a:solidFill>
                <a:latin typeface="Fira Code" pitchFamily="34" charset="0"/>
                <a:ea typeface="Fira Code" pitchFamily="34" charset="-122"/>
                <a:cs typeface="Fira Code" pitchFamily="34" charset="-120"/>
              </a:rPr>
              <a:t> </a:t>
            </a:r>
            <a:r>
              <a:rPr lang="en-US" sz="834" dirty="0">
                <a:solidFill>
                  <a:srgbClr val="CE9178"/>
                </a:solidFill>
                <a:latin typeface="Fira Code" pitchFamily="34" charset="0"/>
                <a:ea typeface="Fira Code" pitchFamily="34" charset="-122"/>
                <a:cs typeface="Fira Code" pitchFamily="34" charset="-120"/>
              </a:rPr>
              <a:t>conda install</a:t>
            </a:r>
            <a:r>
              <a:rPr lang="en-US" sz="834" dirty="0">
                <a:solidFill>
                  <a:srgbClr val="D4D4D4"/>
                </a:solidFill>
                <a:latin typeface="Fira Code" pitchFamily="34" charset="0"/>
                <a:ea typeface="Fira Code" pitchFamily="34" charset="-122"/>
                <a:cs typeface="Fira Code" pitchFamily="34" charset="-120"/>
              </a:rPr>
              <a:t> </a:t>
            </a:r>
            <a:r>
              <a:rPr lang="en-US" sz="834" dirty="0">
                <a:solidFill>
                  <a:srgbClr val="9CDCFE"/>
                </a:solidFill>
                <a:latin typeface="Fira Code" pitchFamily="34" charset="0"/>
                <a:ea typeface="Fira Code" pitchFamily="34" charset="-122"/>
                <a:cs typeface="Fira Code" pitchFamily="34" charset="-120"/>
              </a:rPr>
              <a:t>-c conda-forge pybullet </a:t>
            </a:r>
            <a:r>
              <a:rPr lang="en-US" sz="834" dirty="0">
                <a:solidFill>
                  <a:srgbClr val="9CDCFE"/>
                </a:solidFill>
                <a:latin typeface="Fira Code" pitchFamily="34" charset="0"/>
                <a:ea typeface="Fira Code" pitchFamily="34" charset="-122"/>
                <a:cs typeface="Fira Code" pitchFamily="34" charset="-120"/>
              </a:rPr>
              <a:t>numpy matplotlib opencv -y</a:t>
            </a:r>
            <a:endParaRPr lang="en-US" sz="784" dirty="0"/>
          </a:p>
        </p:txBody>
      </p:sp>
      <p:sp>
        <p:nvSpPr>
          <p:cNvPr id="30" name="Shape 23"/>
          <p:cNvSpPr/>
          <p:nvPr/>
        </p:nvSpPr>
        <p:spPr>
          <a:xfrm>
            <a:off x="0" y="4864671"/>
            <a:ext cx="9144000" cy="357188"/>
          </a:xfrm>
          <a:prstGeom prst="rect">
            <a:avLst/>
          </a:prstGeom>
          <a:solidFill>
            <a:srgbClr val="000000">
              <a:alpha val="0"/>
            </a:srgbClr>
          </a:solidFill>
          <a:ln/>
        </p:spPr>
      </p:sp>
      <p:sp>
        <p:nvSpPr>
          <p:cNvPr id="31" name="Shape 24"/>
          <p:cNvSpPr/>
          <p:nvPr/>
        </p:nvSpPr>
        <p:spPr>
          <a:xfrm>
            <a:off x="0" y="4864671"/>
            <a:ext cx="9144000" cy="7144"/>
          </a:xfrm>
          <a:prstGeom prst="rect">
            <a:avLst/>
          </a:prstGeom>
          <a:solidFill>
            <a:srgbClr val="FFFFFF"/>
          </a:solidFill>
          <a:ln/>
        </p:spPr>
      </p:sp>
      <p:sp>
        <p:nvSpPr>
          <p:cNvPr id="32" name="Text 25"/>
          <p:cNvSpPr/>
          <p:nvPr/>
        </p:nvSpPr>
        <p:spPr>
          <a:xfrm>
            <a:off x="428625" y="4971827"/>
            <a:ext cx="905470"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888888"/>
                </a:solidFill>
                <a:latin typeface="Open Sans" pitchFamily="34" charset="0"/>
                <a:ea typeface="Open Sans" pitchFamily="34" charset="-122"/>
                <a:cs typeface="Open Sans" pitchFamily="34" charset="-120"/>
              </a:rPr>
              <a:t>Lab 1: Hello, Robot!</a:t>
            </a:r>
            <a:endParaRPr lang="en-US" sz="727" dirty="0"/>
          </a:p>
        </p:txBody>
      </p:sp>
      <p:sp>
        <p:nvSpPr>
          <p:cNvPr id="33" name="Text 26"/>
          <p:cNvSpPr/>
          <p:nvPr/>
        </p:nvSpPr>
        <p:spPr>
          <a:xfrm>
            <a:off x="7824192" y="4971827"/>
            <a:ext cx="891183"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888888"/>
                </a:solidFill>
                <a:latin typeface="Open Sans" pitchFamily="34" charset="0"/>
                <a:ea typeface="Open Sans" pitchFamily="34" charset="-122"/>
                <a:cs typeface="Open Sans" pitchFamily="34" charset="-120"/>
              </a:rPr>
              <a:t>Block 1: Perception</a:t>
            </a:r>
            <a:endParaRPr lang="en-US" sz="72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748308"/>
          </a:xfrm>
          <a:prstGeom prst="rect">
            <a:avLst/>
          </a:prstGeom>
          <a:solidFill>
            <a:srgbClr val="000000">
              <a:alpha val="0"/>
            </a:srgbClr>
          </a:solidFill>
          <a:ln/>
        </p:spPr>
      </p:sp>
      <p:sp>
        <p:nvSpPr>
          <p:cNvPr id="4" name="Shape 1"/>
          <p:cNvSpPr/>
          <p:nvPr/>
        </p:nvSpPr>
        <p:spPr>
          <a:xfrm>
            <a:off x="0" y="741164"/>
            <a:ext cx="9144000" cy="7144"/>
          </a:xfrm>
          <a:prstGeom prst="rect">
            <a:avLst/>
          </a:prstGeom>
          <a:solidFill>
            <a:srgbClr val="B3EBF2"/>
          </a:solidFill>
          <a:ln/>
        </p:spPr>
      </p:sp>
      <p:pic>
        <p:nvPicPr>
          <p:cNvPr id="5" name="Image 1" descr="preencoded.png">    </p:cNvPr>
          <p:cNvPicPr>
            <a:picLocks noChangeAspect="1"/>
          </p:cNvPicPr>
          <p:nvPr/>
        </p:nvPicPr>
        <p:blipFill>
          <a:blip r:embed="rId2"/>
          <a:stretch>
            <a:fillRect/>
          </a:stretch>
        </p:blipFill>
        <p:spPr>
          <a:xfrm>
            <a:off x="428625" y="313432"/>
            <a:ext cx="289322" cy="257175"/>
          </a:xfrm>
          <a:prstGeom prst="rect">
            <a:avLst/>
          </a:prstGeom>
        </p:spPr>
      </p:pic>
      <p:sp>
        <p:nvSpPr>
          <p:cNvPr id="6" name="Text 2"/>
          <p:cNvSpPr/>
          <p:nvPr/>
        </p:nvSpPr>
        <p:spPr>
          <a:xfrm>
            <a:off x="860822" y="285750"/>
            <a:ext cx="6858000" cy="312539"/>
          </a:xfrm>
          <a:prstGeom prst="rect">
            <a:avLst/>
          </a:prstGeom>
          <a:noFill/>
          <a:ln/>
        </p:spPr>
        <p:txBody>
          <a:bodyPr wrap="none" lIns="0" tIns="0" rIns="0" bIns="0" rtlCol="0" anchor="t">
            <a:spAutoFit/>
          </a:bodyPr>
          <a:lstStyle/>
          <a:p>
            <a:pPr algn="l" indent="0" marL="0">
              <a:lnSpc>
                <a:spcPts val="2400"/>
              </a:lnSpc>
              <a:buNone/>
            </a:pPr>
            <a:r>
              <a:rPr lang="en-US" sz="1808" b="1" dirty="0">
                <a:solidFill>
                  <a:srgbClr val="FFFFFF"/>
                </a:solidFill>
                <a:latin typeface="Montserrat" pitchFamily="34" charset="0"/>
                <a:ea typeface="Montserrat" pitchFamily="34" charset="-122"/>
                <a:cs typeface="Montserrat" pitchFamily="34" charset="-120"/>
              </a:rPr>
              <a:t>Four Scripts, Four Skills, One Complete Foundation</a:t>
            </a:r>
            <a:endParaRPr lang="en-US" sz="1808" dirty="0"/>
          </a:p>
        </p:txBody>
      </p:sp>
      <p:pic>
        <p:nvPicPr>
          <p:cNvPr id="7" name="Image 2" descr="preencoded.png">    </p:cNvPr>
          <p:cNvPicPr>
            <a:picLocks noChangeAspect="1"/>
          </p:cNvPicPr>
          <p:nvPr/>
        </p:nvPicPr>
        <p:blipFill>
          <a:blip r:embed="rId3"/>
          <a:stretch>
            <a:fillRect/>
          </a:stretch>
        </p:blipFill>
        <p:spPr>
          <a:xfrm>
            <a:off x="642938" y="884039"/>
            <a:ext cx="7858125" cy="1928813"/>
          </a:xfrm>
          <a:prstGeom prst="rect">
            <a:avLst/>
          </a:prstGeom>
        </p:spPr>
      </p:pic>
      <p:sp>
        <p:nvSpPr>
          <p:cNvPr id="8" name="Shape 3"/>
          <p:cNvSpPr/>
          <p:nvPr/>
        </p:nvSpPr>
        <p:spPr>
          <a:xfrm>
            <a:off x="428625" y="2955727"/>
            <a:ext cx="4000500" cy="1372939"/>
          </a:xfrm>
          <a:prstGeom prst="rect">
            <a:avLst/>
          </a:prstGeom>
          <a:solidFill>
            <a:srgbClr val="FFFFFF">
              <a:alpha val="5000"/>
            </a:srgbClr>
          </a:solidFill>
          <a:ln/>
        </p:spPr>
      </p:sp>
      <p:sp>
        <p:nvSpPr>
          <p:cNvPr id="9" name="Shape 4"/>
          <p:cNvSpPr/>
          <p:nvPr/>
        </p:nvSpPr>
        <p:spPr>
          <a:xfrm>
            <a:off x="428625" y="2955727"/>
            <a:ext cx="28575" cy="1372939"/>
          </a:xfrm>
          <a:prstGeom prst="rect">
            <a:avLst/>
          </a:prstGeom>
          <a:solidFill>
            <a:srgbClr val="00BCD4"/>
          </a:solidFill>
          <a:ln/>
        </p:spPr>
      </p:sp>
      <p:pic>
        <p:nvPicPr>
          <p:cNvPr id="10" name="Image 3" descr="preencoded.png">    </p:cNvPr>
          <p:cNvPicPr>
            <a:picLocks noChangeAspect="1"/>
          </p:cNvPicPr>
          <p:nvPr/>
        </p:nvPicPr>
        <p:blipFill>
          <a:blip r:embed="rId4"/>
          <a:stretch>
            <a:fillRect/>
          </a:stretch>
        </p:blipFill>
        <p:spPr>
          <a:xfrm>
            <a:off x="571500" y="3115568"/>
            <a:ext cx="157163" cy="157163"/>
          </a:xfrm>
          <a:prstGeom prst="rect">
            <a:avLst/>
          </a:prstGeom>
        </p:spPr>
      </p:pic>
      <p:sp>
        <p:nvSpPr>
          <p:cNvPr id="11" name="Text 5"/>
          <p:cNvSpPr/>
          <p:nvPr/>
        </p:nvSpPr>
        <p:spPr>
          <a:xfrm>
            <a:off x="800100" y="3098602"/>
            <a:ext cx="1968103"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0BCD4"/>
                </a:solidFill>
                <a:latin typeface="Montserrat" pitchFamily="34" charset="0"/>
                <a:ea typeface="Montserrat" pitchFamily="34" charset="-122"/>
                <a:cs typeface="Montserrat" pitchFamily="34" charset="-120"/>
              </a:rPr>
              <a:t>Incremental Integration</a:t>
            </a:r>
            <a:endParaRPr lang="en-US" sz="1090" dirty="0"/>
          </a:p>
        </p:txBody>
      </p:sp>
      <p:sp>
        <p:nvSpPr>
          <p:cNvPr id="12" name="Text 6"/>
          <p:cNvSpPr/>
          <p:nvPr/>
        </p:nvSpPr>
        <p:spPr>
          <a:xfrm>
            <a:off x="571500" y="3361134"/>
            <a:ext cx="3700463" cy="822871"/>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E0E0E0"/>
                </a:solidFill>
                <a:latin typeface="Open Sans" pitchFamily="34" charset="0"/>
                <a:ea typeface="Open Sans" pitchFamily="34" charset="-122"/>
                <a:cs typeface="Open Sans" pitchFamily="34" charset="-120"/>
              </a:rPr>
              <a:t>Each script builds directly on the previous one. You start by creating the world, then sensing it, acting within it, and finally analyzing your performance. This is the core methodology of the course.</a:t>
            </a:r>
            <a:endParaRPr lang="en-US" sz="942" dirty="0"/>
          </a:p>
        </p:txBody>
      </p:sp>
      <p:sp>
        <p:nvSpPr>
          <p:cNvPr id="13" name="Shape 7"/>
          <p:cNvSpPr/>
          <p:nvPr/>
        </p:nvSpPr>
        <p:spPr>
          <a:xfrm>
            <a:off x="4700588" y="2955727"/>
            <a:ext cx="4014788" cy="1372939"/>
          </a:xfrm>
          <a:prstGeom prst="rect">
            <a:avLst/>
          </a:prstGeom>
          <a:solidFill>
            <a:srgbClr val="FFFFFF">
              <a:alpha val="5000"/>
            </a:srgbClr>
          </a:solidFill>
          <a:ln/>
        </p:spPr>
      </p:sp>
      <p:sp>
        <p:nvSpPr>
          <p:cNvPr id="14" name="Shape 8"/>
          <p:cNvSpPr/>
          <p:nvPr/>
        </p:nvSpPr>
        <p:spPr>
          <a:xfrm>
            <a:off x="4700588" y="2955727"/>
            <a:ext cx="28575" cy="1372939"/>
          </a:xfrm>
          <a:prstGeom prst="rect">
            <a:avLst/>
          </a:prstGeom>
          <a:solidFill>
            <a:srgbClr val="E67E22"/>
          </a:solidFill>
          <a:ln/>
        </p:spPr>
      </p:sp>
      <p:pic>
        <p:nvPicPr>
          <p:cNvPr id="15" name="Image 4" descr="preencoded.png">    </p:cNvPr>
          <p:cNvPicPr>
            <a:picLocks noChangeAspect="1"/>
          </p:cNvPicPr>
          <p:nvPr/>
        </p:nvPicPr>
        <p:blipFill>
          <a:blip r:embed="rId5"/>
          <a:stretch>
            <a:fillRect/>
          </a:stretch>
        </p:blipFill>
        <p:spPr>
          <a:xfrm>
            <a:off x="4857750" y="3115568"/>
            <a:ext cx="157163" cy="157163"/>
          </a:xfrm>
          <a:prstGeom prst="rect">
            <a:avLst/>
          </a:prstGeom>
        </p:spPr>
      </p:pic>
      <p:sp>
        <p:nvSpPr>
          <p:cNvPr id="16" name="Text 9"/>
          <p:cNvSpPr/>
          <p:nvPr/>
        </p:nvSpPr>
        <p:spPr>
          <a:xfrm>
            <a:off x="5086350" y="3098602"/>
            <a:ext cx="1996678"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E67E22"/>
                </a:solidFill>
                <a:latin typeface="Montserrat" pitchFamily="34" charset="0"/>
                <a:ea typeface="Montserrat" pitchFamily="34" charset="-122"/>
                <a:cs typeface="Montserrat" pitchFamily="34" charset="-120"/>
              </a:rPr>
              <a:t>Automated Self-Grading</a:t>
            </a:r>
            <a:endParaRPr lang="en-US" sz="1090" dirty="0"/>
          </a:p>
        </p:txBody>
      </p:sp>
      <p:sp>
        <p:nvSpPr>
          <p:cNvPr id="17" name="Text 10"/>
          <p:cNvSpPr/>
          <p:nvPr/>
        </p:nvSpPr>
        <p:spPr>
          <a:xfrm>
            <a:off x="4857750" y="3375422"/>
            <a:ext cx="328613" cy="175022"/>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E0E0E0"/>
                </a:solidFill>
                <a:latin typeface="Open Sans" pitchFamily="34" charset="0"/>
                <a:ea typeface="Open Sans" pitchFamily="34" charset="-122"/>
                <a:cs typeface="Open Sans" pitchFamily="34" charset="-120"/>
              </a:rPr>
              <a:t>Plus:</a:t>
            </a:r>
            <a:endParaRPr lang="en-US" sz="885" dirty="0"/>
          </a:p>
        </p:txBody>
      </p:sp>
      <p:sp>
        <p:nvSpPr>
          <p:cNvPr id="18" name="Text 11"/>
          <p:cNvSpPr/>
          <p:nvPr/>
        </p:nvSpPr>
        <p:spPr>
          <a:xfrm>
            <a:off x="5186363" y="3377208"/>
            <a:ext cx="1157315" cy="175022"/>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E0E0E0"/>
                </a:solidFill>
                <a:latin typeface="monospace" pitchFamily="34" charset="0"/>
                <a:ea typeface="monospace" pitchFamily="34" charset="-122"/>
                <a:cs typeface="monospace" pitchFamily="34" charset="-120"/>
              </a:rPr>
              <a:t>check_my_lab.py</a:t>
            </a:r>
            <a:endParaRPr lang="en-US" sz="885" dirty="0"/>
          </a:p>
        </p:txBody>
      </p:sp>
      <p:sp>
        <p:nvSpPr>
          <p:cNvPr id="19" name="Text 12"/>
          <p:cNvSpPr/>
          <p:nvPr/>
        </p:nvSpPr>
        <p:spPr>
          <a:xfrm>
            <a:off x="4857750" y="3582925"/>
            <a:ext cx="3557588" cy="175022"/>
          </a:xfrm>
          <a:prstGeom prst="rect">
            <a:avLst/>
          </a:prstGeom>
          <a:noFill/>
          <a:ln/>
        </p:spPr>
        <p:txBody>
          <a:bodyPr wrap="none" lIns="0" tIns="0" rIns="0" bIns="0" rtlCol="0" anchor="t">
            <a:spAutoFit/>
          </a:bodyPr>
          <a:lstStyle/>
          <a:p>
            <a:pPr algn="l" indent="0" marL="0">
              <a:lnSpc>
                <a:spcPts val="1600"/>
              </a:lnSpc>
              <a:buNone/>
            </a:pPr>
            <a:r>
              <a:rPr lang="en-US" sz="942" dirty="0">
                <a:solidFill>
                  <a:srgbClr val="E0E0E0"/>
                </a:solidFill>
                <a:latin typeface="Open Sans" pitchFamily="34" charset="0"/>
                <a:ea typeface="Open Sans" pitchFamily="34" charset="-122"/>
                <a:cs typeface="Open Sans" pitchFamily="34" charset="-120"/>
              </a:rPr>
              <a:t>Before submission, run this script to get instant feedback. It</a:t>
            </a:r>
            <a:endParaRPr lang="en-US" sz="942" dirty="0"/>
          </a:p>
        </p:txBody>
      </p:sp>
      <p:sp>
        <p:nvSpPr>
          <p:cNvPr id="20" name="Text 13"/>
          <p:cNvSpPr/>
          <p:nvPr/>
        </p:nvSpPr>
        <p:spPr>
          <a:xfrm>
            <a:off x="4857750" y="3788643"/>
            <a:ext cx="3184327" cy="175022"/>
          </a:xfrm>
          <a:prstGeom prst="rect">
            <a:avLst/>
          </a:prstGeom>
          <a:noFill/>
          <a:ln/>
        </p:spPr>
        <p:txBody>
          <a:bodyPr wrap="none" lIns="0" tIns="0" rIns="0" bIns="0" rtlCol="0" anchor="t">
            <a:spAutoFit/>
          </a:bodyPr>
          <a:lstStyle/>
          <a:p>
            <a:pPr algn="l" indent="0" marL="0">
              <a:lnSpc>
                <a:spcPts val="1600"/>
              </a:lnSpc>
              <a:buNone/>
            </a:pPr>
            <a:r>
              <a:rPr lang="en-US" sz="942" dirty="0">
                <a:solidFill>
                  <a:srgbClr val="E0E0E0"/>
                </a:solidFill>
                <a:latin typeface="Open Sans" pitchFamily="34" charset="0"/>
                <a:ea typeface="Open Sans" pitchFamily="34" charset="-122"/>
                <a:cs typeface="Open Sans" pitchFamily="34" charset="-120"/>
              </a:rPr>
              <a:t>verifies your robot's trajectory, reinforcing test-driven</a:t>
            </a:r>
            <a:endParaRPr lang="en-US" sz="942" dirty="0"/>
          </a:p>
        </p:txBody>
      </p:sp>
      <p:sp>
        <p:nvSpPr>
          <p:cNvPr id="21" name="Text 14"/>
          <p:cNvSpPr/>
          <p:nvPr/>
        </p:nvSpPr>
        <p:spPr>
          <a:xfrm>
            <a:off x="4857750" y="3994361"/>
            <a:ext cx="1434108" cy="175022"/>
          </a:xfrm>
          <a:prstGeom prst="rect">
            <a:avLst/>
          </a:prstGeom>
          <a:noFill/>
          <a:ln/>
        </p:spPr>
        <p:txBody>
          <a:bodyPr wrap="none" lIns="0" tIns="0" rIns="0" bIns="0" rtlCol="0" anchor="t">
            <a:spAutoFit/>
          </a:bodyPr>
          <a:lstStyle/>
          <a:p>
            <a:pPr algn="l" indent="0" marL="0">
              <a:lnSpc>
                <a:spcPts val="1600"/>
              </a:lnSpc>
              <a:buNone/>
            </a:pPr>
            <a:r>
              <a:rPr lang="en-US" sz="942" dirty="0">
                <a:solidFill>
                  <a:srgbClr val="E0E0E0"/>
                </a:solidFill>
                <a:latin typeface="Open Sans" pitchFamily="34" charset="0"/>
                <a:ea typeface="Open Sans" pitchFamily="34" charset="-122"/>
                <a:cs typeface="Open Sans" pitchFamily="34" charset="-120"/>
              </a:rPr>
              <a:t>development principles.</a:t>
            </a:r>
            <a:endParaRPr lang="en-US" sz="942" dirty="0"/>
          </a:p>
        </p:txBody>
      </p:sp>
      <p:sp>
        <p:nvSpPr>
          <p:cNvPr id="22" name="Shape 15"/>
          <p:cNvSpPr/>
          <p:nvPr/>
        </p:nvSpPr>
        <p:spPr>
          <a:xfrm>
            <a:off x="0" y="4786313"/>
            <a:ext cx="9144000" cy="357188"/>
          </a:xfrm>
          <a:prstGeom prst="rect">
            <a:avLst/>
          </a:prstGeom>
          <a:solidFill>
            <a:srgbClr val="000000">
              <a:alpha val="0"/>
            </a:srgbClr>
          </a:solidFill>
          <a:ln/>
        </p:spPr>
      </p:sp>
      <p:sp>
        <p:nvSpPr>
          <p:cNvPr id="23" name="Shape 16"/>
          <p:cNvSpPr/>
          <p:nvPr/>
        </p:nvSpPr>
        <p:spPr>
          <a:xfrm>
            <a:off x="0" y="4786313"/>
            <a:ext cx="9144000" cy="7144"/>
          </a:xfrm>
          <a:prstGeom prst="rect">
            <a:avLst/>
          </a:prstGeom>
          <a:solidFill>
            <a:srgbClr val="FFFFFF"/>
          </a:solidFill>
          <a:ln/>
        </p:spPr>
      </p:sp>
      <p:sp>
        <p:nvSpPr>
          <p:cNvPr id="24" name="Text 17"/>
          <p:cNvSpPr/>
          <p:nvPr/>
        </p:nvSpPr>
        <p:spPr>
          <a:xfrm>
            <a:off x="428625" y="4900613"/>
            <a:ext cx="905470"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888888"/>
                </a:solidFill>
                <a:latin typeface="Open Sans" pitchFamily="34" charset="0"/>
                <a:ea typeface="Open Sans" pitchFamily="34" charset="-122"/>
                <a:cs typeface="Open Sans" pitchFamily="34" charset="-120"/>
              </a:rPr>
              <a:t>Lab 1: Hello, Robot!</a:t>
            </a:r>
            <a:endParaRPr lang="en-US" sz="727" dirty="0"/>
          </a:p>
        </p:txBody>
      </p:sp>
      <p:sp>
        <p:nvSpPr>
          <p:cNvPr id="25" name="Text 18"/>
          <p:cNvSpPr/>
          <p:nvPr/>
        </p:nvSpPr>
        <p:spPr>
          <a:xfrm>
            <a:off x="7824192" y="4900613"/>
            <a:ext cx="891183"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888888"/>
                </a:solidFill>
                <a:latin typeface="Open Sans" pitchFamily="34" charset="0"/>
                <a:ea typeface="Open Sans" pitchFamily="34" charset="-122"/>
                <a:cs typeface="Open Sans" pitchFamily="34" charset="-120"/>
              </a:rPr>
              <a:t>Block 1: Perception</a:t>
            </a:r>
            <a:endParaRPr lang="en-US" sz="72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662583"/>
          </a:xfrm>
          <a:prstGeom prst="rect">
            <a:avLst/>
          </a:prstGeom>
          <a:solidFill>
            <a:srgbClr val="000000">
              <a:alpha val="0"/>
            </a:srgbClr>
          </a:solidFill>
          <a:ln/>
        </p:spPr>
      </p:sp>
      <p:sp>
        <p:nvSpPr>
          <p:cNvPr id="4" name="Shape 1"/>
          <p:cNvSpPr/>
          <p:nvPr/>
        </p:nvSpPr>
        <p:spPr>
          <a:xfrm>
            <a:off x="0" y="655439"/>
            <a:ext cx="9144000" cy="7144"/>
          </a:xfrm>
          <a:prstGeom prst="rect">
            <a:avLst/>
          </a:prstGeom>
          <a:solidFill>
            <a:srgbClr val="B3EBF2"/>
          </a:solidFill>
          <a:ln/>
        </p:spPr>
      </p:sp>
      <p:pic>
        <p:nvPicPr>
          <p:cNvPr id="5" name="Image 1" descr="preencoded.png">    </p:cNvPr>
          <p:cNvPicPr>
            <a:picLocks noChangeAspect="1"/>
          </p:cNvPicPr>
          <p:nvPr/>
        </p:nvPicPr>
        <p:blipFill>
          <a:blip r:embed="rId2"/>
          <a:stretch>
            <a:fillRect/>
          </a:stretch>
        </p:blipFill>
        <p:spPr>
          <a:xfrm>
            <a:off x="428625" y="313432"/>
            <a:ext cx="321469" cy="257175"/>
          </a:xfrm>
          <a:prstGeom prst="rect">
            <a:avLst/>
          </a:prstGeom>
        </p:spPr>
      </p:pic>
      <p:sp>
        <p:nvSpPr>
          <p:cNvPr id="6" name="Text 2"/>
          <p:cNvSpPr/>
          <p:nvPr/>
        </p:nvSpPr>
        <p:spPr>
          <a:xfrm>
            <a:off x="892969" y="285750"/>
            <a:ext cx="7540228" cy="312539"/>
          </a:xfrm>
          <a:prstGeom prst="rect">
            <a:avLst/>
          </a:prstGeom>
          <a:noFill/>
          <a:ln/>
        </p:spPr>
        <p:txBody>
          <a:bodyPr wrap="none" lIns="0" tIns="0" rIns="0" bIns="0" rtlCol="0" anchor="t">
            <a:spAutoFit/>
          </a:bodyPr>
          <a:lstStyle/>
          <a:p>
            <a:pPr algn="l" indent="0" marL="0">
              <a:lnSpc>
                <a:spcPts val="2400"/>
              </a:lnSpc>
              <a:buNone/>
            </a:pPr>
            <a:r>
              <a:rPr lang="en-US" sz="1808" b="1" dirty="0">
                <a:solidFill>
                  <a:srgbClr val="FFFFFF"/>
                </a:solidFill>
                <a:latin typeface="Montserrat" pitchFamily="34" charset="0"/>
                <a:ea typeface="Montserrat" pitchFamily="34" charset="-122"/>
                <a:cs typeface="Montserrat" pitchFamily="34" charset="-120"/>
              </a:rPr>
              <a:t>spawn_robot.py: Five Steps to Create a Simulated World</a:t>
            </a:r>
            <a:endParaRPr lang="en-US" sz="1808" dirty="0"/>
          </a:p>
        </p:txBody>
      </p:sp>
      <p:sp>
        <p:nvSpPr>
          <p:cNvPr id="7" name="Shape 3"/>
          <p:cNvSpPr/>
          <p:nvPr/>
        </p:nvSpPr>
        <p:spPr>
          <a:xfrm>
            <a:off x="285750" y="769739"/>
            <a:ext cx="4582381" cy="476120"/>
          </a:xfrm>
          <a:prstGeom prst="rect">
            <a:avLst/>
          </a:prstGeom>
          <a:solidFill>
            <a:srgbClr val="FFFFFF">
              <a:alpha val="3000"/>
            </a:srgbClr>
          </a:solidFill>
          <a:ln/>
        </p:spPr>
      </p:sp>
      <p:sp>
        <p:nvSpPr>
          <p:cNvPr id="8" name="Shape 4"/>
          <p:cNvSpPr/>
          <p:nvPr/>
        </p:nvSpPr>
        <p:spPr>
          <a:xfrm>
            <a:off x="285750" y="769739"/>
            <a:ext cx="21431" cy="476120"/>
          </a:xfrm>
          <a:prstGeom prst="rect">
            <a:avLst/>
          </a:prstGeom>
          <a:solidFill>
            <a:srgbClr val="00BCD4"/>
          </a:solidFill>
          <a:ln/>
        </p:spPr>
      </p:sp>
      <p:sp>
        <p:nvSpPr>
          <p:cNvPr id="9" name="Shape 5"/>
          <p:cNvSpPr/>
          <p:nvPr/>
        </p:nvSpPr>
        <p:spPr>
          <a:xfrm>
            <a:off x="342900" y="826889"/>
            <a:ext cx="257175" cy="257175"/>
          </a:xfrm>
          <a:prstGeom prst="ellipse">
            <a:avLst/>
          </a:prstGeom>
          <a:solidFill>
            <a:srgbClr val="00BCD4"/>
          </a:solidFill>
          <a:ln/>
        </p:spPr>
      </p:sp>
      <p:sp>
        <p:nvSpPr>
          <p:cNvPr id="10" name="Text 6"/>
          <p:cNvSpPr/>
          <p:nvPr/>
        </p:nvSpPr>
        <p:spPr>
          <a:xfrm>
            <a:off x="342900" y="826889"/>
            <a:ext cx="257175" cy="257175"/>
          </a:xfrm>
          <a:prstGeom prst="rect">
            <a:avLst/>
          </a:prstGeom>
          <a:noFill/>
          <a:ln/>
        </p:spPr>
        <p:txBody>
          <a:bodyPr wrap="none" lIns="0" tIns="0" rIns="0" bIns="0" rtlCol="0" anchor="ctr">
            <a:spAutoFit/>
          </a:bodyPr>
          <a:lstStyle/>
          <a:p>
            <a:pPr algn="ctr" indent="0" marL="0">
              <a:lnSpc>
                <a:spcPts val="1600"/>
              </a:lnSpc>
              <a:buNone/>
            </a:pPr>
            <a:r>
              <a:rPr lang="en-US" sz="1193" b="1" dirty="0">
                <a:solidFill>
                  <a:srgbClr val="0D1B2A"/>
                </a:solidFill>
                <a:latin typeface="Montserrat" pitchFamily="34" charset="0"/>
                <a:ea typeface="Montserrat" pitchFamily="34" charset="-122"/>
                <a:cs typeface="Montserrat" pitchFamily="34" charset="-120"/>
              </a:rPr>
              <a:t>1</a:t>
            </a:r>
            <a:endParaRPr lang="en-US" sz="1193" dirty="0"/>
          </a:p>
        </p:txBody>
      </p:sp>
      <p:sp>
        <p:nvSpPr>
          <p:cNvPr id="11" name="Text 7"/>
          <p:cNvSpPr/>
          <p:nvPr/>
        </p:nvSpPr>
        <p:spPr>
          <a:xfrm>
            <a:off x="685800" y="826889"/>
            <a:ext cx="4125181"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E67E22"/>
                </a:solidFill>
                <a:latin typeface="Montserrat" pitchFamily="34" charset="0"/>
                <a:ea typeface="Montserrat" pitchFamily="34" charset="-122"/>
                <a:cs typeface="Montserrat" pitchFamily="34" charset="-120"/>
              </a:rPr>
              <a:t>Connect to Physics Engine</a:t>
            </a:r>
            <a:endParaRPr lang="en-US" sz="987" dirty="0"/>
          </a:p>
        </p:txBody>
      </p:sp>
      <p:sp>
        <p:nvSpPr>
          <p:cNvPr id="12" name="Text 8"/>
          <p:cNvSpPr/>
          <p:nvPr/>
        </p:nvSpPr>
        <p:spPr>
          <a:xfrm>
            <a:off x="685800" y="1030486"/>
            <a:ext cx="233958" cy="155377"/>
          </a:xfrm>
          <a:prstGeom prst="rect">
            <a:avLst/>
          </a:prstGeom>
          <a:noFill/>
          <a:ln/>
        </p:spPr>
        <p:txBody>
          <a:bodyPr wrap="none" lIns="0" tIns="0" rIns="0" bIns="0" rtlCol="0" anchor="t">
            <a:spAutoFit/>
          </a:bodyPr>
          <a:lstStyle/>
          <a:p>
            <a:pPr algn="l" indent="0" marL="0">
              <a:lnSpc>
                <a:spcPts val="1300"/>
              </a:lnSpc>
              <a:buNone/>
            </a:pPr>
            <a:r>
              <a:rPr lang="en-US" sz="834" dirty="0">
                <a:solidFill>
                  <a:srgbClr val="E0E0E0"/>
                </a:solidFill>
                <a:latin typeface="Open Sans" pitchFamily="34" charset="0"/>
                <a:ea typeface="Open Sans" pitchFamily="34" charset="-122"/>
                <a:cs typeface="Open Sans" pitchFamily="34" charset="-120"/>
              </a:rPr>
              <a:t>Use</a:t>
            </a:r>
            <a:endParaRPr lang="en-US" sz="834" dirty="0"/>
          </a:p>
        </p:txBody>
      </p:sp>
      <p:sp>
        <p:nvSpPr>
          <p:cNvPr id="13" name="Text 9"/>
          <p:cNvSpPr/>
          <p:nvPr/>
        </p:nvSpPr>
        <p:spPr>
          <a:xfrm>
            <a:off x="919758" y="1030486"/>
            <a:ext cx="342900" cy="155377"/>
          </a:xfrm>
          <a:prstGeom prst="rect">
            <a:avLst/>
          </a:prstGeom>
          <a:noFill/>
          <a:ln/>
        </p:spPr>
        <p:txBody>
          <a:bodyPr wrap="none" lIns="0" tIns="0" rIns="0" bIns="0" rtlCol="0" anchor="t">
            <a:spAutoFit/>
          </a:bodyPr>
          <a:lstStyle/>
          <a:p>
            <a:pPr algn="l" indent="0" marL="0">
              <a:lnSpc>
                <a:spcPts val="1300"/>
              </a:lnSpc>
              <a:buNone/>
            </a:pPr>
            <a:r>
              <a:rPr lang="en-US" sz="834" dirty="0">
                <a:solidFill>
                  <a:srgbClr val="E0E0E0"/>
                </a:solidFill>
                <a:latin typeface="monospace" pitchFamily="34" charset="0"/>
                <a:ea typeface="monospace" pitchFamily="34" charset="-122"/>
                <a:cs typeface="monospace" pitchFamily="34" charset="-120"/>
              </a:rPr>
              <a:t>p.GUI</a:t>
            </a:r>
            <a:endParaRPr lang="en-US" sz="834" dirty="0"/>
          </a:p>
        </p:txBody>
      </p:sp>
      <p:sp>
        <p:nvSpPr>
          <p:cNvPr id="14" name="Text 10"/>
          <p:cNvSpPr/>
          <p:nvPr/>
        </p:nvSpPr>
        <p:spPr>
          <a:xfrm>
            <a:off x="1262658" y="1030486"/>
            <a:ext cx="726877" cy="155377"/>
          </a:xfrm>
          <a:prstGeom prst="rect">
            <a:avLst/>
          </a:prstGeom>
          <a:noFill/>
          <a:ln/>
        </p:spPr>
        <p:txBody>
          <a:bodyPr wrap="none" lIns="0" tIns="0" rIns="0" bIns="0" rtlCol="0" anchor="t">
            <a:spAutoFit/>
          </a:bodyPr>
          <a:lstStyle/>
          <a:p>
            <a:pPr algn="l" indent="0" marL="0">
              <a:lnSpc>
                <a:spcPts val="1300"/>
              </a:lnSpc>
              <a:buNone/>
            </a:pPr>
            <a:r>
              <a:rPr lang="en-US" sz="834" dirty="0">
                <a:solidFill>
                  <a:srgbClr val="E0E0E0"/>
                </a:solidFill>
                <a:latin typeface="Open Sans" pitchFamily="34" charset="0"/>
                <a:ea typeface="Open Sans" pitchFamily="34" charset="-122"/>
                <a:cs typeface="Open Sans" pitchFamily="34" charset="-120"/>
              </a:rPr>
              <a:t>for visual, or</a:t>
            </a:r>
            <a:endParaRPr lang="en-US" sz="834" dirty="0"/>
          </a:p>
        </p:txBody>
      </p:sp>
      <p:sp>
        <p:nvSpPr>
          <p:cNvPr id="15" name="Text 11"/>
          <p:cNvSpPr/>
          <p:nvPr/>
        </p:nvSpPr>
        <p:spPr>
          <a:xfrm>
            <a:off x="1989534" y="1030486"/>
            <a:ext cx="548646" cy="155377"/>
          </a:xfrm>
          <a:prstGeom prst="rect">
            <a:avLst/>
          </a:prstGeom>
          <a:noFill/>
          <a:ln/>
        </p:spPr>
        <p:txBody>
          <a:bodyPr wrap="none" lIns="0" tIns="0" rIns="0" bIns="0" rtlCol="0" anchor="t">
            <a:spAutoFit/>
          </a:bodyPr>
          <a:lstStyle/>
          <a:p>
            <a:pPr algn="l" indent="0" marL="0">
              <a:lnSpc>
                <a:spcPts val="1300"/>
              </a:lnSpc>
              <a:buNone/>
            </a:pPr>
            <a:r>
              <a:rPr lang="en-US" sz="834" dirty="0">
                <a:solidFill>
                  <a:srgbClr val="E0E0E0"/>
                </a:solidFill>
                <a:latin typeface="monospace" pitchFamily="34" charset="0"/>
                <a:ea typeface="monospace" pitchFamily="34" charset="-122"/>
                <a:cs typeface="monospace" pitchFamily="34" charset="-120"/>
              </a:rPr>
              <a:t>p.DIRECT</a:t>
            </a:r>
            <a:endParaRPr lang="en-US" sz="834" dirty="0"/>
          </a:p>
        </p:txBody>
      </p:sp>
      <p:sp>
        <p:nvSpPr>
          <p:cNvPr id="16" name="Text 12"/>
          <p:cNvSpPr/>
          <p:nvPr/>
        </p:nvSpPr>
        <p:spPr>
          <a:xfrm>
            <a:off x="2538180" y="1030486"/>
            <a:ext cx="717947" cy="155377"/>
          </a:xfrm>
          <a:prstGeom prst="rect">
            <a:avLst/>
          </a:prstGeom>
          <a:noFill/>
          <a:ln/>
        </p:spPr>
        <p:txBody>
          <a:bodyPr wrap="none" lIns="0" tIns="0" rIns="0" bIns="0" rtlCol="0" anchor="t">
            <a:spAutoFit/>
          </a:bodyPr>
          <a:lstStyle/>
          <a:p>
            <a:pPr algn="l" indent="0" marL="0">
              <a:lnSpc>
                <a:spcPts val="1300"/>
              </a:lnSpc>
              <a:buNone/>
            </a:pPr>
            <a:r>
              <a:rPr lang="en-US" sz="834" dirty="0">
                <a:solidFill>
                  <a:srgbClr val="E0E0E0"/>
                </a:solidFill>
                <a:latin typeface="Open Sans" pitchFamily="34" charset="0"/>
                <a:ea typeface="Open Sans" pitchFamily="34" charset="-122"/>
                <a:cs typeface="Open Sans" pitchFamily="34" charset="-120"/>
              </a:rPr>
              <a:t>for headless.</a:t>
            </a:r>
            <a:endParaRPr lang="en-US" sz="834" dirty="0"/>
          </a:p>
        </p:txBody>
      </p:sp>
      <p:sp>
        <p:nvSpPr>
          <p:cNvPr id="17" name="Shape 13"/>
          <p:cNvSpPr/>
          <p:nvPr/>
        </p:nvSpPr>
        <p:spPr>
          <a:xfrm>
            <a:off x="285750" y="1288721"/>
            <a:ext cx="4582381" cy="476120"/>
          </a:xfrm>
          <a:prstGeom prst="rect">
            <a:avLst/>
          </a:prstGeom>
          <a:solidFill>
            <a:srgbClr val="FFFFFF">
              <a:alpha val="3000"/>
            </a:srgbClr>
          </a:solidFill>
          <a:ln/>
        </p:spPr>
      </p:sp>
      <p:sp>
        <p:nvSpPr>
          <p:cNvPr id="18" name="Shape 14"/>
          <p:cNvSpPr/>
          <p:nvPr/>
        </p:nvSpPr>
        <p:spPr>
          <a:xfrm>
            <a:off x="285750" y="1288721"/>
            <a:ext cx="21431" cy="476120"/>
          </a:xfrm>
          <a:prstGeom prst="rect">
            <a:avLst/>
          </a:prstGeom>
          <a:solidFill>
            <a:srgbClr val="00BCD4"/>
          </a:solidFill>
          <a:ln/>
        </p:spPr>
      </p:sp>
      <p:sp>
        <p:nvSpPr>
          <p:cNvPr id="19" name="Shape 15"/>
          <p:cNvSpPr/>
          <p:nvPr/>
        </p:nvSpPr>
        <p:spPr>
          <a:xfrm>
            <a:off x="342900" y="1345871"/>
            <a:ext cx="257175" cy="257175"/>
          </a:xfrm>
          <a:prstGeom prst="ellipse">
            <a:avLst/>
          </a:prstGeom>
          <a:solidFill>
            <a:srgbClr val="00BCD4"/>
          </a:solidFill>
          <a:ln/>
        </p:spPr>
      </p:sp>
      <p:sp>
        <p:nvSpPr>
          <p:cNvPr id="20" name="Text 16"/>
          <p:cNvSpPr/>
          <p:nvPr/>
        </p:nvSpPr>
        <p:spPr>
          <a:xfrm>
            <a:off x="342900" y="1345871"/>
            <a:ext cx="257175" cy="257175"/>
          </a:xfrm>
          <a:prstGeom prst="rect">
            <a:avLst/>
          </a:prstGeom>
          <a:noFill/>
          <a:ln/>
        </p:spPr>
        <p:txBody>
          <a:bodyPr wrap="none" lIns="0" tIns="0" rIns="0" bIns="0" rtlCol="0" anchor="ctr">
            <a:spAutoFit/>
          </a:bodyPr>
          <a:lstStyle/>
          <a:p>
            <a:pPr algn="ctr" indent="0" marL="0">
              <a:lnSpc>
                <a:spcPts val="1600"/>
              </a:lnSpc>
              <a:buNone/>
            </a:pPr>
            <a:r>
              <a:rPr lang="en-US" sz="1193" b="1" dirty="0">
                <a:solidFill>
                  <a:srgbClr val="0D1B2A"/>
                </a:solidFill>
                <a:latin typeface="Montserrat" pitchFamily="34" charset="0"/>
                <a:ea typeface="Montserrat" pitchFamily="34" charset="-122"/>
                <a:cs typeface="Montserrat" pitchFamily="34" charset="-120"/>
              </a:rPr>
              <a:t>2</a:t>
            </a:r>
            <a:endParaRPr lang="en-US" sz="1193" dirty="0"/>
          </a:p>
        </p:txBody>
      </p:sp>
      <p:sp>
        <p:nvSpPr>
          <p:cNvPr id="21" name="Text 17"/>
          <p:cNvSpPr/>
          <p:nvPr/>
        </p:nvSpPr>
        <p:spPr>
          <a:xfrm>
            <a:off x="685800" y="1345871"/>
            <a:ext cx="4125181"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E67E22"/>
                </a:solidFill>
                <a:latin typeface="Montserrat" pitchFamily="34" charset="0"/>
                <a:ea typeface="Montserrat" pitchFamily="34" charset="-122"/>
                <a:cs typeface="Montserrat" pitchFamily="34" charset="-120"/>
              </a:rPr>
              <a:t>Set Search Path</a:t>
            </a:r>
            <a:endParaRPr lang="en-US" sz="987" dirty="0"/>
          </a:p>
        </p:txBody>
      </p:sp>
      <p:sp>
        <p:nvSpPr>
          <p:cNvPr id="22" name="Text 18"/>
          <p:cNvSpPr/>
          <p:nvPr/>
        </p:nvSpPr>
        <p:spPr>
          <a:xfrm>
            <a:off x="685800" y="1549468"/>
            <a:ext cx="1419820" cy="155377"/>
          </a:xfrm>
          <a:prstGeom prst="rect">
            <a:avLst/>
          </a:prstGeom>
          <a:noFill/>
          <a:ln/>
        </p:spPr>
        <p:txBody>
          <a:bodyPr wrap="none" lIns="0" tIns="0" rIns="0" bIns="0" rtlCol="0" anchor="t">
            <a:spAutoFit/>
          </a:bodyPr>
          <a:lstStyle/>
          <a:p>
            <a:pPr algn="l" indent="0" marL="0">
              <a:lnSpc>
                <a:spcPts val="1300"/>
              </a:lnSpc>
              <a:buNone/>
            </a:pPr>
            <a:r>
              <a:rPr lang="en-US" sz="834" dirty="0">
                <a:solidFill>
                  <a:srgbClr val="E0E0E0"/>
                </a:solidFill>
                <a:latin typeface="Open Sans" pitchFamily="34" charset="0"/>
                <a:ea typeface="Open Sans" pitchFamily="34" charset="-122"/>
                <a:cs typeface="Open Sans" pitchFamily="34" charset="-120"/>
              </a:rPr>
              <a:t>Tell PyBullet where to find</a:t>
            </a:r>
            <a:endParaRPr lang="en-US" sz="834" dirty="0"/>
          </a:p>
        </p:txBody>
      </p:sp>
      <p:sp>
        <p:nvSpPr>
          <p:cNvPr id="23" name="Text 19"/>
          <p:cNvSpPr/>
          <p:nvPr/>
        </p:nvSpPr>
        <p:spPr>
          <a:xfrm>
            <a:off x="2105620" y="1549468"/>
            <a:ext cx="685800" cy="155377"/>
          </a:xfrm>
          <a:prstGeom prst="rect">
            <a:avLst/>
          </a:prstGeom>
          <a:noFill/>
          <a:ln/>
        </p:spPr>
        <p:txBody>
          <a:bodyPr wrap="none" lIns="0" tIns="0" rIns="0" bIns="0" rtlCol="0" anchor="t">
            <a:spAutoFit/>
          </a:bodyPr>
          <a:lstStyle/>
          <a:p>
            <a:pPr algn="l" indent="0" marL="0">
              <a:lnSpc>
                <a:spcPts val="1300"/>
              </a:lnSpc>
              <a:buNone/>
            </a:pPr>
            <a:r>
              <a:rPr lang="en-US" sz="834" dirty="0">
                <a:solidFill>
                  <a:srgbClr val="E0E0E0"/>
                </a:solidFill>
                <a:latin typeface="monospace" pitchFamily="34" charset="0"/>
                <a:ea typeface="monospace" pitchFamily="34" charset="-122"/>
                <a:cs typeface="monospace" pitchFamily="34" charset="-120"/>
              </a:rPr>
              <a:t>plane.urdf</a:t>
            </a:r>
            <a:endParaRPr lang="en-US" sz="834" dirty="0"/>
          </a:p>
        </p:txBody>
      </p:sp>
      <p:sp>
        <p:nvSpPr>
          <p:cNvPr id="24" name="Text 20"/>
          <p:cNvSpPr/>
          <p:nvPr/>
        </p:nvSpPr>
        <p:spPr>
          <a:xfrm>
            <a:off x="2791420" y="1549468"/>
            <a:ext cx="264319" cy="155377"/>
          </a:xfrm>
          <a:prstGeom prst="rect">
            <a:avLst/>
          </a:prstGeom>
          <a:noFill/>
          <a:ln/>
        </p:spPr>
        <p:txBody>
          <a:bodyPr wrap="none" lIns="0" tIns="0" rIns="0" bIns="0" rtlCol="0" anchor="t">
            <a:spAutoFit/>
          </a:bodyPr>
          <a:lstStyle/>
          <a:p>
            <a:pPr algn="l" indent="0" marL="0">
              <a:lnSpc>
                <a:spcPts val="1300"/>
              </a:lnSpc>
              <a:buNone/>
            </a:pPr>
            <a:r>
              <a:rPr lang="en-US" sz="834" dirty="0">
                <a:solidFill>
                  <a:srgbClr val="E0E0E0"/>
                </a:solidFill>
                <a:latin typeface="Open Sans" pitchFamily="34" charset="0"/>
                <a:ea typeface="Open Sans" pitchFamily="34" charset="-122"/>
                <a:cs typeface="Open Sans" pitchFamily="34" charset="-120"/>
              </a:rPr>
              <a:t>and</a:t>
            </a:r>
            <a:endParaRPr lang="en-US" sz="834" dirty="0"/>
          </a:p>
        </p:txBody>
      </p:sp>
      <p:sp>
        <p:nvSpPr>
          <p:cNvPr id="25" name="Text 21"/>
          <p:cNvSpPr/>
          <p:nvPr/>
        </p:nvSpPr>
        <p:spPr>
          <a:xfrm>
            <a:off x="3055739" y="1549468"/>
            <a:ext cx="617237" cy="155377"/>
          </a:xfrm>
          <a:prstGeom prst="rect">
            <a:avLst/>
          </a:prstGeom>
          <a:noFill/>
          <a:ln/>
        </p:spPr>
        <p:txBody>
          <a:bodyPr wrap="none" lIns="0" tIns="0" rIns="0" bIns="0" rtlCol="0" anchor="t">
            <a:spAutoFit/>
          </a:bodyPr>
          <a:lstStyle/>
          <a:p>
            <a:pPr algn="l" indent="0" marL="0">
              <a:lnSpc>
                <a:spcPts val="1300"/>
              </a:lnSpc>
              <a:buNone/>
            </a:pPr>
            <a:r>
              <a:rPr lang="en-US" sz="834" dirty="0">
                <a:solidFill>
                  <a:srgbClr val="E0E0E0"/>
                </a:solidFill>
                <a:latin typeface="monospace" pitchFamily="34" charset="0"/>
                <a:ea typeface="monospace" pitchFamily="34" charset="-122"/>
                <a:cs typeface="monospace" pitchFamily="34" charset="-120"/>
              </a:rPr>
              <a:t>r2d2.urdf</a:t>
            </a:r>
            <a:endParaRPr lang="en-US" sz="834" dirty="0"/>
          </a:p>
        </p:txBody>
      </p:sp>
      <p:sp>
        <p:nvSpPr>
          <p:cNvPr id="26" name="Text 22"/>
          <p:cNvSpPr/>
          <p:nvPr/>
        </p:nvSpPr>
        <p:spPr>
          <a:xfrm>
            <a:off x="3672976" y="1549468"/>
            <a:ext cx="30361" cy="155377"/>
          </a:xfrm>
          <a:prstGeom prst="rect">
            <a:avLst/>
          </a:prstGeom>
          <a:noFill/>
          <a:ln/>
        </p:spPr>
        <p:txBody>
          <a:bodyPr wrap="none" lIns="0" tIns="0" rIns="0" bIns="0" rtlCol="0" anchor="t">
            <a:spAutoFit/>
          </a:bodyPr>
          <a:lstStyle/>
          <a:p>
            <a:pPr algn="l" indent="0" marL="0">
              <a:lnSpc>
                <a:spcPts val="1300"/>
              </a:lnSpc>
              <a:buNone/>
            </a:pPr>
            <a:r>
              <a:rPr lang="en-US" sz="834" dirty="0">
                <a:solidFill>
                  <a:srgbClr val="E0E0E0"/>
                </a:solidFill>
                <a:latin typeface="Open Sans" pitchFamily="34" charset="0"/>
                <a:ea typeface="Open Sans" pitchFamily="34" charset="-122"/>
                <a:cs typeface="Open Sans" pitchFamily="34" charset="-120"/>
              </a:rPr>
              <a:t>.</a:t>
            </a:r>
            <a:endParaRPr lang="en-US" sz="834" dirty="0"/>
          </a:p>
        </p:txBody>
      </p:sp>
      <p:sp>
        <p:nvSpPr>
          <p:cNvPr id="27" name="Shape 23"/>
          <p:cNvSpPr/>
          <p:nvPr/>
        </p:nvSpPr>
        <p:spPr>
          <a:xfrm>
            <a:off x="285750" y="1807704"/>
            <a:ext cx="4582381" cy="476120"/>
          </a:xfrm>
          <a:prstGeom prst="rect">
            <a:avLst/>
          </a:prstGeom>
          <a:solidFill>
            <a:srgbClr val="FFFFFF">
              <a:alpha val="3000"/>
            </a:srgbClr>
          </a:solidFill>
          <a:ln/>
        </p:spPr>
      </p:sp>
      <p:sp>
        <p:nvSpPr>
          <p:cNvPr id="28" name="Shape 24"/>
          <p:cNvSpPr/>
          <p:nvPr/>
        </p:nvSpPr>
        <p:spPr>
          <a:xfrm>
            <a:off x="285750" y="1807704"/>
            <a:ext cx="21431" cy="476120"/>
          </a:xfrm>
          <a:prstGeom prst="rect">
            <a:avLst/>
          </a:prstGeom>
          <a:solidFill>
            <a:srgbClr val="00BCD4"/>
          </a:solidFill>
          <a:ln/>
        </p:spPr>
      </p:sp>
      <p:sp>
        <p:nvSpPr>
          <p:cNvPr id="29" name="Shape 25"/>
          <p:cNvSpPr/>
          <p:nvPr/>
        </p:nvSpPr>
        <p:spPr>
          <a:xfrm>
            <a:off x="342900" y="1864854"/>
            <a:ext cx="257175" cy="257175"/>
          </a:xfrm>
          <a:prstGeom prst="ellipse">
            <a:avLst/>
          </a:prstGeom>
          <a:solidFill>
            <a:srgbClr val="00BCD4"/>
          </a:solidFill>
          <a:ln/>
        </p:spPr>
      </p:sp>
      <p:sp>
        <p:nvSpPr>
          <p:cNvPr id="30" name="Text 26"/>
          <p:cNvSpPr/>
          <p:nvPr/>
        </p:nvSpPr>
        <p:spPr>
          <a:xfrm>
            <a:off x="342900" y="1864854"/>
            <a:ext cx="257175" cy="257175"/>
          </a:xfrm>
          <a:prstGeom prst="rect">
            <a:avLst/>
          </a:prstGeom>
          <a:noFill/>
          <a:ln/>
        </p:spPr>
        <p:txBody>
          <a:bodyPr wrap="none" lIns="0" tIns="0" rIns="0" bIns="0" rtlCol="0" anchor="ctr">
            <a:spAutoFit/>
          </a:bodyPr>
          <a:lstStyle/>
          <a:p>
            <a:pPr algn="ctr" indent="0" marL="0">
              <a:lnSpc>
                <a:spcPts val="1600"/>
              </a:lnSpc>
              <a:buNone/>
            </a:pPr>
            <a:r>
              <a:rPr lang="en-US" sz="1193" b="1" dirty="0">
                <a:solidFill>
                  <a:srgbClr val="0D1B2A"/>
                </a:solidFill>
                <a:latin typeface="Montserrat" pitchFamily="34" charset="0"/>
                <a:ea typeface="Montserrat" pitchFamily="34" charset="-122"/>
                <a:cs typeface="Montserrat" pitchFamily="34" charset="-120"/>
              </a:rPr>
              <a:t>3</a:t>
            </a:r>
            <a:endParaRPr lang="en-US" sz="1193" dirty="0"/>
          </a:p>
        </p:txBody>
      </p:sp>
      <p:sp>
        <p:nvSpPr>
          <p:cNvPr id="31" name="Text 27"/>
          <p:cNvSpPr/>
          <p:nvPr/>
        </p:nvSpPr>
        <p:spPr>
          <a:xfrm>
            <a:off x="685800" y="1864854"/>
            <a:ext cx="4125181"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E67E22"/>
                </a:solidFill>
                <a:latin typeface="Montserrat" pitchFamily="34" charset="0"/>
                <a:ea typeface="Montserrat" pitchFamily="34" charset="-122"/>
                <a:cs typeface="Montserrat" pitchFamily="34" charset="-120"/>
              </a:rPr>
              <a:t>Set Gravity</a:t>
            </a:r>
            <a:endParaRPr lang="en-US" sz="987" dirty="0"/>
          </a:p>
        </p:txBody>
      </p:sp>
      <p:sp>
        <p:nvSpPr>
          <p:cNvPr id="32" name="Text 28"/>
          <p:cNvSpPr/>
          <p:nvPr/>
        </p:nvSpPr>
        <p:spPr>
          <a:xfrm>
            <a:off x="685800" y="2066665"/>
            <a:ext cx="4125181" cy="160009"/>
          </a:xfrm>
          <a:prstGeom prst="rect">
            <a:avLst/>
          </a:prstGeom>
          <a:noFill/>
          <a:ln/>
        </p:spPr>
        <p:txBody>
          <a:bodyPr wrap="none" lIns="0" tIns="0" rIns="0" bIns="0" rtlCol="0" anchor="t">
            <a:spAutoFit/>
          </a:bodyPr>
          <a:lstStyle/>
          <a:p>
            <a:pPr algn="l" indent="0" marL="0">
              <a:lnSpc>
                <a:spcPts val="1300"/>
              </a:lnSpc>
              <a:buNone/>
            </a:pPr>
            <a:r>
              <a:rPr lang="en-US" sz="834" dirty="0">
                <a:solidFill>
                  <a:srgbClr val="E0E0E0"/>
                </a:solidFill>
                <a:latin typeface="Open Sans" pitchFamily="34" charset="0"/>
                <a:ea typeface="Open Sans" pitchFamily="34" charset="-122"/>
                <a:cs typeface="Open Sans" pitchFamily="34" charset="-120"/>
              </a:rPr>
              <a:t>Establish gravity (Z = -9.8 m/s²).</a:t>
            </a:r>
            <a:endParaRPr lang="en-US" sz="834" dirty="0"/>
          </a:p>
        </p:txBody>
      </p:sp>
      <p:sp>
        <p:nvSpPr>
          <p:cNvPr id="33" name="Shape 29"/>
          <p:cNvSpPr/>
          <p:nvPr/>
        </p:nvSpPr>
        <p:spPr>
          <a:xfrm>
            <a:off x="285750" y="2326686"/>
            <a:ext cx="4582381" cy="476120"/>
          </a:xfrm>
          <a:prstGeom prst="rect">
            <a:avLst/>
          </a:prstGeom>
          <a:solidFill>
            <a:srgbClr val="FFFFFF">
              <a:alpha val="3000"/>
            </a:srgbClr>
          </a:solidFill>
          <a:ln/>
        </p:spPr>
      </p:sp>
      <p:sp>
        <p:nvSpPr>
          <p:cNvPr id="34" name="Shape 30"/>
          <p:cNvSpPr/>
          <p:nvPr/>
        </p:nvSpPr>
        <p:spPr>
          <a:xfrm>
            <a:off x="285750" y="2326686"/>
            <a:ext cx="21431" cy="476120"/>
          </a:xfrm>
          <a:prstGeom prst="rect">
            <a:avLst/>
          </a:prstGeom>
          <a:solidFill>
            <a:srgbClr val="00BCD4"/>
          </a:solidFill>
          <a:ln/>
        </p:spPr>
      </p:sp>
      <p:sp>
        <p:nvSpPr>
          <p:cNvPr id="35" name="Shape 31"/>
          <p:cNvSpPr/>
          <p:nvPr/>
        </p:nvSpPr>
        <p:spPr>
          <a:xfrm>
            <a:off x="342900" y="2383836"/>
            <a:ext cx="257175" cy="257175"/>
          </a:xfrm>
          <a:prstGeom prst="ellipse">
            <a:avLst/>
          </a:prstGeom>
          <a:solidFill>
            <a:srgbClr val="00BCD4"/>
          </a:solidFill>
          <a:ln/>
        </p:spPr>
      </p:sp>
      <p:sp>
        <p:nvSpPr>
          <p:cNvPr id="36" name="Text 32"/>
          <p:cNvSpPr/>
          <p:nvPr/>
        </p:nvSpPr>
        <p:spPr>
          <a:xfrm>
            <a:off x="342900" y="2383836"/>
            <a:ext cx="257175" cy="257175"/>
          </a:xfrm>
          <a:prstGeom prst="rect">
            <a:avLst/>
          </a:prstGeom>
          <a:noFill/>
          <a:ln/>
        </p:spPr>
        <p:txBody>
          <a:bodyPr wrap="none" lIns="0" tIns="0" rIns="0" bIns="0" rtlCol="0" anchor="ctr">
            <a:spAutoFit/>
          </a:bodyPr>
          <a:lstStyle/>
          <a:p>
            <a:pPr algn="ctr" indent="0" marL="0">
              <a:lnSpc>
                <a:spcPts val="1600"/>
              </a:lnSpc>
              <a:buNone/>
            </a:pPr>
            <a:r>
              <a:rPr lang="en-US" sz="1193" b="1" dirty="0">
                <a:solidFill>
                  <a:srgbClr val="0D1B2A"/>
                </a:solidFill>
                <a:latin typeface="Montserrat" pitchFamily="34" charset="0"/>
                <a:ea typeface="Montserrat" pitchFamily="34" charset="-122"/>
                <a:cs typeface="Montserrat" pitchFamily="34" charset="-120"/>
              </a:rPr>
              <a:t>4</a:t>
            </a:r>
            <a:endParaRPr lang="en-US" sz="1193" dirty="0"/>
          </a:p>
        </p:txBody>
      </p:sp>
      <p:sp>
        <p:nvSpPr>
          <p:cNvPr id="37" name="Text 33"/>
          <p:cNvSpPr/>
          <p:nvPr/>
        </p:nvSpPr>
        <p:spPr>
          <a:xfrm>
            <a:off x="685800" y="2383836"/>
            <a:ext cx="4125181"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E67E22"/>
                </a:solidFill>
                <a:latin typeface="Montserrat" pitchFamily="34" charset="0"/>
                <a:ea typeface="Montserrat" pitchFamily="34" charset="-122"/>
                <a:cs typeface="Montserrat" pitchFamily="34" charset="-120"/>
              </a:rPr>
              <a:t>Load URDF Models</a:t>
            </a:r>
            <a:endParaRPr lang="en-US" sz="987" dirty="0"/>
          </a:p>
        </p:txBody>
      </p:sp>
      <p:sp>
        <p:nvSpPr>
          <p:cNvPr id="38" name="Text 34"/>
          <p:cNvSpPr/>
          <p:nvPr/>
        </p:nvSpPr>
        <p:spPr>
          <a:xfrm>
            <a:off x="685800" y="2585647"/>
            <a:ext cx="4125181" cy="160009"/>
          </a:xfrm>
          <a:prstGeom prst="rect">
            <a:avLst/>
          </a:prstGeom>
          <a:noFill/>
          <a:ln/>
        </p:spPr>
        <p:txBody>
          <a:bodyPr wrap="none" lIns="0" tIns="0" rIns="0" bIns="0" rtlCol="0" anchor="t">
            <a:spAutoFit/>
          </a:bodyPr>
          <a:lstStyle/>
          <a:p>
            <a:pPr algn="l" indent="0" marL="0">
              <a:lnSpc>
                <a:spcPts val="1300"/>
              </a:lnSpc>
              <a:buNone/>
            </a:pPr>
            <a:r>
              <a:rPr lang="en-US" sz="834" dirty="0">
                <a:solidFill>
                  <a:srgbClr val="E0E0E0"/>
                </a:solidFill>
                <a:latin typeface="Open Sans" pitchFamily="34" charset="0"/>
                <a:ea typeface="Open Sans" pitchFamily="34" charset="-122"/>
                <a:cs typeface="Open Sans" pitchFamily="34" charset="-120"/>
              </a:rPr>
              <a:t>Load robot &amp; plane URDFs to the world.</a:t>
            </a:r>
            <a:endParaRPr lang="en-US" sz="834" dirty="0"/>
          </a:p>
        </p:txBody>
      </p:sp>
      <p:sp>
        <p:nvSpPr>
          <p:cNvPr id="39" name="Shape 35"/>
          <p:cNvSpPr/>
          <p:nvPr/>
        </p:nvSpPr>
        <p:spPr>
          <a:xfrm>
            <a:off x="285750" y="2845668"/>
            <a:ext cx="4582381" cy="476120"/>
          </a:xfrm>
          <a:prstGeom prst="rect">
            <a:avLst/>
          </a:prstGeom>
          <a:solidFill>
            <a:srgbClr val="FFFFFF">
              <a:alpha val="3000"/>
            </a:srgbClr>
          </a:solidFill>
          <a:ln/>
        </p:spPr>
      </p:sp>
      <p:sp>
        <p:nvSpPr>
          <p:cNvPr id="40" name="Shape 36"/>
          <p:cNvSpPr/>
          <p:nvPr/>
        </p:nvSpPr>
        <p:spPr>
          <a:xfrm>
            <a:off x="285750" y="2845668"/>
            <a:ext cx="21431" cy="476120"/>
          </a:xfrm>
          <a:prstGeom prst="rect">
            <a:avLst/>
          </a:prstGeom>
          <a:solidFill>
            <a:srgbClr val="00BCD4"/>
          </a:solidFill>
          <a:ln/>
        </p:spPr>
      </p:sp>
      <p:sp>
        <p:nvSpPr>
          <p:cNvPr id="41" name="Shape 37"/>
          <p:cNvSpPr/>
          <p:nvPr/>
        </p:nvSpPr>
        <p:spPr>
          <a:xfrm>
            <a:off x="342900" y="2902818"/>
            <a:ext cx="257175" cy="257175"/>
          </a:xfrm>
          <a:prstGeom prst="ellipse">
            <a:avLst/>
          </a:prstGeom>
          <a:solidFill>
            <a:srgbClr val="00BCD4"/>
          </a:solidFill>
          <a:ln/>
        </p:spPr>
      </p:sp>
      <p:sp>
        <p:nvSpPr>
          <p:cNvPr id="42" name="Text 38"/>
          <p:cNvSpPr/>
          <p:nvPr/>
        </p:nvSpPr>
        <p:spPr>
          <a:xfrm>
            <a:off x="342900" y="2902818"/>
            <a:ext cx="257175" cy="257175"/>
          </a:xfrm>
          <a:prstGeom prst="rect">
            <a:avLst/>
          </a:prstGeom>
          <a:noFill/>
          <a:ln/>
        </p:spPr>
        <p:txBody>
          <a:bodyPr wrap="none" lIns="0" tIns="0" rIns="0" bIns="0" rtlCol="0" anchor="ctr">
            <a:spAutoFit/>
          </a:bodyPr>
          <a:lstStyle/>
          <a:p>
            <a:pPr algn="ctr" indent="0" marL="0">
              <a:lnSpc>
                <a:spcPts val="1600"/>
              </a:lnSpc>
              <a:buNone/>
            </a:pPr>
            <a:r>
              <a:rPr lang="en-US" sz="1193" b="1" dirty="0">
                <a:solidFill>
                  <a:srgbClr val="0D1B2A"/>
                </a:solidFill>
                <a:latin typeface="Montserrat" pitchFamily="34" charset="0"/>
                <a:ea typeface="Montserrat" pitchFamily="34" charset="-122"/>
                <a:cs typeface="Montserrat" pitchFamily="34" charset="-120"/>
              </a:rPr>
              <a:t>5</a:t>
            </a:r>
            <a:endParaRPr lang="en-US" sz="1193" dirty="0"/>
          </a:p>
        </p:txBody>
      </p:sp>
      <p:sp>
        <p:nvSpPr>
          <p:cNvPr id="43" name="Text 39"/>
          <p:cNvSpPr/>
          <p:nvPr/>
        </p:nvSpPr>
        <p:spPr>
          <a:xfrm>
            <a:off x="685800" y="2902818"/>
            <a:ext cx="4125181"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E67E22"/>
                </a:solidFill>
                <a:latin typeface="Montserrat" pitchFamily="34" charset="0"/>
                <a:ea typeface="Montserrat" pitchFamily="34" charset="-122"/>
                <a:cs typeface="Montserrat" pitchFamily="34" charset="-120"/>
              </a:rPr>
              <a:t>Run Simulation Loop</a:t>
            </a:r>
            <a:endParaRPr lang="en-US" sz="987" dirty="0"/>
          </a:p>
        </p:txBody>
      </p:sp>
      <p:sp>
        <p:nvSpPr>
          <p:cNvPr id="44" name="Text 40"/>
          <p:cNvSpPr/>
          <p:nvPr/>
        </p:nvSpPr>
        <p:spPr>
          <a:xfrm>
            <a:off x="685800" y="3104629"/>
            <a:ext cx="4125181" cy="160009"/>
          </a:xfrm>
          <a:prstGeom prst="rect">
            <a:avLst/>
          </a:prstGeom>
          <a:noFill/>
          <a:ln/>
        </p:spPr>
        <p:txBody>
          <a:bodyPr wrap="none" lIns="0" tIns="0" rIns="0" bIns="0" rtlCol="0" anchor="t">
            <a:spAutoFit/>
          </a:bodyPr>
          <a:lstStyle/>
          <a:p>
            <a:pPr algn="l" indent="0" marL="0">
              <a:lnSpc>
                <a:spcPts val="1300"/>
              </a:lnSpc>
              <a:buNone/>
            </a:pPr>
            <a:r>
              <a:rPr lang="en-US" sz="834" dirty="0">
                <a:solidFill>
                  <a:srgbClr val="E0E0E0"/>
                </a:solidFill>
                <a:latin typeface="Open Sans" pitchFamily="34" charset="0"/>
                <a:ea typeface="Open Sans" pitchFamily="34" charset="-122"/>
                <a:cs typeface="Open Sans" pitchFamily="34" charset="-120"/>
              </a:rPr>
              <a:t>Advance the physics one step at a time.</a:t>
            </a:r>
            <a:endParaRPr lang="en-US" sz="834" dirty="0"/>
          </a:p>
        </p:txBody>
      </p:sp>
      <p:sp>
        <p:nvSpPr>
          <p:cNvPr id="45" name="Shape 41"/>
          <p:cNvSpPr/>
          <p:nvPr/>
        </p:nvSpPr>
        <p:spPr>
          <a:xfrm>
            <a:off x="285750" y="3436088"/>
            <a:ext cx="4582381" cy="312539"/>
          </a:xfrm>
          <a:prstGeom prst="rect">
            <a:avLst/>
          </a:prstGeom>
          <a:solidFill>
            <a:srgbClr val="E67E22">
              <a:alpha val="10000"/>
            </a:srgbClr>
          </a:solidFill>
          <a:ln w="9144">
            <a:solidFill>
              <a:srgbClr val="E67E22">
                <a:alpha val="30000"/>
              </a:srgbClr>
            </a:solidFill>
            <a:prstDash val="solid"/>
          </a:ln>
        </p:spPr>
      </p:sp>
      <p:pic>
        <p:nvPicPr>
          <p:cNvPr id="46" name="Image 2" descr="preencoded.png">    </p:cNvPr>
          <p:cNvPicPr>
            <a:picLocks noChangeAspect="1"/>
          </p:cNvPicPr>
          <p:nvPr/>
        </p:nvPicPr>
        <p:blipFill>
          <a:blip r:embed="rId3"/>
          <a:stretch>
            <a:fillRect/>
          </a:stretch>
        </p:blipFill>
        <p:spPr>
          <a:xfrm>
            <a:off x="357188" y="3513776"/>
            <a:ext cx="142875" cy="142875"/>
          </a:xfrm>
          <a:prstGeom prst="rect">
            <a:avLst/>
          </a:prstGeom>
        </p:spPr>
      </p:pic>
      <p:sp>
        <p:nvSpPr>
          <p:cNvPr id="47" name="Text 42"/>
          <p:cNvSpPr/>
          <p:nvPr/>
        </p:nvSpPr>
        <p:spPr>
          <a:xfrm>
            <a:off x="571500" y="3507525"/>
            <a:ext cx="962620"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E0E0E0"/>
                </a:solidFill>
                <a:latin typeface="Open Sans" pitchFamily="34" charset="0"/>
                <a:ea typeface="Open Sans" pitchFamily="34" charset="-122"/>
                <a:cs typeface="Open Sans" pitchFamily="34" charset="-120"/>
              </a:rPr>
              <a:t>Expected Output:</a:t>
            </a:r>
            <a:endParaRPr lang="en-US" sz="784" dirty="0"/>
          </a:p>
        </p:txBody>
      </p:sp>
      <p:sp>
        <p:nvSpPr>
          <p:cNvPr id="48" name="Text 43"/>
          <p:cNvSpPr/>
          <p:nvPr/>
        </p:nvSpPr>
        <p:spPr>
          <a:xfrm>
            <a:off x="1605558" y="3507525"/>
            <a:ext cx="1714500"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E0E0E0"/>
                </a:solidFill>
                <a:latin typeface="Open Sans" pitchFamily="34" charset="0"/>
                <a:ea typeface="Open Sans" pitchFamily="34" charset="-122"/>
                <a:cs typeface="Open Sans" pitchFamily="34" charset="-120"/>
              </a:rPr>
              <a:t>A GUI showing R2D2 on a plane.</a:t>
            </a:r>
            <a:endParaRPr lang="en-US" sz="834" dirty="0"/>
          </a:p>
        </p:txBody>
      </p:sp>
      <p:sp>
        <p:nvSpPr>
          <p:cNvPr id="49" name="Shape 44"/>
          <p:cNvSpPr/>
          <p:nvPr/>
        </p:nvSpPr>
        <p:spPr>
          <a:xfrm>
            <a:off x="5039581" y="1053703"/>
            <a:ext cx="3818669" cy="3462933"/>
          </a:xfrm>
          <a:prstGeom prst="rect">
            <a:avLst/>
          </a:prstGeom>
          <a:solidFill>
            <a:srgbClr val="1E1E1E"/>
          </a:solidFill>
          <a:ln w="9144">
            <a:solidFill>
              <a:srgbClr val="333333"/>
            </a:solidFill>
            <a:prstDash val="solid"/>
          </a:ln>
        </p:spPr>
      </p:sp>
      <p:sp>
        <p:nvSpPr>
          <p:cNvPr id="50" name="Shape 45"/>
          <p:cNvSpPr/>
          <p:nvPr/>
        </p:nvSpPr>
        <p:spPr>
          <a:xfrm>
            <a:off x="5039581" y="1060847"/>
            <a:ext cx="3818669" cy="251817"/>
          </a:xfrm>
          <a:prstGeom prst="rect">
            <a:avLst/>
          </a:prstGeom>
          <a:solidFill>
            <a:srgbClr val="2D2D2D"/>
          </a:solidFill>
          <a:ln/>
        </p:spPr>
      </p:sp>
      <p:sp>
        <p:nvSpPr>
          <p:cNvPr id="51" name="Shape 46"/>
          <p:cNvSpPr/>
          <p:nvPr/>
        </p:nvSpPr>
        <p:spPr>
          <a:xfrm>
            <a:off x="5039581" y="1305520"/>
            <a:ext cx="3818669" cy="7144"/>
          </a:xfrm>
          <a:prstGeom prst="rect">
            <a:avLst/>
          </a:prstGeom>
          <a:solidFill>
            <a:srgbClr val="111111"/>
          </a:solidFill>
          <a:ln/>
        </p:spPr>
      </p:sp>
      <p:sp>
        <p:nvSpPr>
          <p:cNvPr id="52" name="Text 47"/>
          <p:cNvSpPr/>
          <p:nvPr/>
        </p:nvSpPr>
        <p:spPr>
          <a:xfrm>
            <a:off x="5496781" y="1121569"/>
            <a:ext cx="3275744" cy="130373"/>
          </a:xfrm>
          <a:prstGeom prst="rect">
            <a:avLst/>
          </a:prstGeom>
          <a:noFill/>
          <a:ln/>
        </p:spPr>
        <p:txBody>
          <a:bodyPr wrap="none" lIns="0" tIns="0" rIns="0" bIns="0" rtlCol="0" anchor="t">
            <a:spAutoFit/>
          </a:bodyPr>
          <a:lstStyle/>
          <a:p>
            <a:pPr algn="ctr" indent="0" marL="0">
              <a:lnSpc>
                <a:spcPts val="900"/>
              </a:lnSpc>
              <a:buNone/>
            </a:pPr>
            <a:r>
              <a:rPr lang="en-US" sz="727" dirty="0">
                <a:solidFill>
                  <a:srgbClr val="888888"/>
                </a:solidFill>
                <a:latin typeface="Fira Code" pitchFamily="34" charset="0"/>
                <a:ea typeface="Fira Code" pitchFamily="34" charset="-122"/>
                <a:cs typeface="Fira Code" pitchFamily="34" charset="-120"/>
              </a:rPr>
              <a:t>spawn_robot.py</a:t>
            </a:r>
            <a:endParaRPr lang="en-US" sz="727" dirty="0"/>
          </a:p>
        </p:txBody>
      </p:sp>
      <p:sp>
        <p:nvSpPr>
          <p:cNvPr id="53" name="Text 48"/>
          <p:cNvSpPr/>
          <p:nvPr/>
        </p:nvSpPr>
        <p:spPr>
          <a:xfrm>
            <a:off x="5111018" y="1387673"/>
            <a:ext cx="385763" cy="146447"/>
          </a:xfrm>
          <a:prstGeom prst="rect">
            <a:avLst/>
          </a:prstGeom>
          <a:noFill/>
          <a:ln/>
        </p:spPr>
        <p:txBody>
          <a:bodyPr wrap="none" lIns="0" tIns="0" rIns="0" bIns="0" rtlCol="0" anchor="t">
            <a:spAutoFit/>
          </a:bodyPr>
          <a:lstStyle/>
          <a:p>
            <a:pPr algn="l" indent="0" marL="0">
              <a:lnSpc>
                <a:spcPts val="1300"/>
              </a:lnSpc>
              <a:buNone/>
            </a:pPr>
            <a:r>
              <a:rPr lang="en-US" sz="780" dirty="0">
                <a:solidFill>
                  <a:srgbClr val="569CD6"/>
                </a:solidFill>
                <a:latin typeface="monospace" pitchFamily="34" charset="0"/>
                <a:ea typeface="monospace" pitchFamily="34" charset="-122"/>
                <a:cs typeface="monospace" pitchFamily="34" charset="-120"/>
              </a:rPr>
              <a:t>import</a:t>
            </a:r>
            <a:endParaRPr lang="en-US" sz="780" dirty="0"/>
          </a:p>
        </p:txBody>
      </p:sp>
      <p:sp>
        <p:nvSpPr>
          <p:cNvPr id="54" name="Text 49"/>
          <p:cNvSpPr/>
          <p:nvPr/>
        </p:nvSpPr>
        <p:spPr>
          <a:xfrm>
            <a:off x="5496781" y="1387673"/>
            <a:ext cx="642938" cy="146447"/>
          </a:xfrm>
          <a:prstGeom prst="rect">
            <a:avLst/>
          </a:prstGeom>
          <a:noFill/>
          <a:ln/>
        </p:spPr>
        <p:txBody>
          <a:bodyPr wrap="none" lIns="0" tIns="0" rIns="0" bIns="0" rtlCol="0" anchor="t">
            <a:spAutoFit/>
          </a:bodyPr>
          <a:lstStyle/>
          <a:p>
            <a:pPr algn="l" indent="0" marL="0">
              <a:lnSpc>
                <a:spcPts val="1300"/>
              </a:lnSpc>
              <a:buNone/>
            </a:pPr>
            <a:r>
              <a:rPr lang="en-US" sz="780" dirty="0">
                <a:solidFill>
                  <a:srgbClr val="D4D4D4"/>
                </a:solidFill>
                <a:latin typeface="monospace" pitchFamily="34" charset="0"/>
                <a:ea typeface="monospace" pitchFamily="34" charset="-122"/>
                <a:cs typeface="monospace" pitchFamily="34" charset="-120"/>
              </a:rPr>
              <a:t>pybullet</a:t>
            </a:r>
            <a:endParaRPr lang="en-US" sz="780" dirty="0"/>
          </a:p>
        </p:txBody>
      </p:sp>
      <p:sp>
        <p:nvSpPr>
          <p:cNvPr id="55" name="Text 50"/>
          <p:cNvSpPr/>
          <p:nvPr/>
        </p:nvSpPr>
        <p:spPr>
          <a:xfrm>
            <a:off x="6139718" y="1387673"/>
            <a:ext cx="128588" cy="146447"/>
          </a:xfrm>
          <a:prstGeom prst="rect">
            <a:avLst/>
          </a:prstGeom>
          <a:noFill/>
          <a:ln/>
        </p:spPr>
        <p:txBody>
          <a:bodyPr wrap="none" lIns="0" tIns="0" rIns="0" bIns="0" rtlCol="0" anchor="t">
            <a:spAutoFit/>
          </a:bodyPr>
          <a:lstStyle/>
          <a:p>
            <a:pPr algn="l" indent="0" marL="0">
              <a:lnSpc>
                <a:spcPts val="1300"/>
              </a:lnSpc>
              <a:buNone/>
            </a:pPr>
            <a:r>
              <a:rPr lang="en-US" sz="780" dirty="0">
                <a:solidFill>
                  <a:srgbClr val="569CD6"/>
                </a:solidFill>
                <a:latin typeface="monospace" pitchFamily="34" charset="0"/>
                <a:ea typeface="monospace" pitchFamily="34" charset="-122"/>
                <a:cs typeface="monospace" pitchFamily="34" charset="-120"/>
              </a:rPr>
              <a:t>as</a:t>
            </a:r>
            <a:endParaRPr lang="en-US" sz="780" dirty="0"/>
          </a:p>
        </p:txBody>
      </p:sp>
      <p:sp>
        <p:nvSpPr>
          <p:cNvPr id="56" name="Text 51"/>
          <p:cNvSpPr/>
          <p:nvPr/>
        </p:nvSpPr>
        <p:spPr>
          <a:xfrm>
            <a:off x="6268306" y="1387673"/>
            <a:ext cx="128588" cy="146447"/>
          </a:xfrm>
          <a:prstGeom prst="rect">
            <a:avLst/>
          </a:prstGeom>
          <a:noFill/>
          <a:ln/>
        </p:spPr>
        <p:txBody>
          <a:bodyPr wrap="none" lIns="0" tIns="0" rIns="0" bIns="0" rtlCol="0" anchor="t">
            <a:spAutoFit/>
          </a:bodyPr>
          <a:lstStyle/>
          <a:p>
            <a:pPr algn="l" indent="0" marL="0">
              <a:lnSpc>
                <a:spcPts val="1300"/>
              </a:lnSpc>
              <a:buNone/>
            </a:pPr>
            <a:r>
              <a:rPr lang="en-US" sz="780" dirty="0">
                <a:solidFill>
                  <a:srgbClr val="D4D4D4"/>
                </a:solidFill>
                <a:latin typeface="monospace" pitchFamily="34" charset="0"/>
                <a:ea typeface="monospace" pitchFamily="34" charset="-122"/>
                <a:cs typeface="monospace" pitchFamily="34" charset="-120"/>
              </a:rPr>
              <a:t>p</a:t>
            </a:r>
            <a:endParaRPr lang="en-US" sz="780" dirty="0"/>
          </a:p>
        </p:txBody>
      </p:sp>
      <p:sp>
        <p:nvSpPr>
          <p:cNvPr id="57" name="Text 52"/>
          <p:cNvSpPr/>
          <p:nvPr/>
        </p:nvSpPr>
        <p:spPr>
          <a:xfrm>
            <a:off x="5111018" y="1548408"/>
            <a:ext cx="385763" cy="146447"/>
          </a:xfrm>
          <a:prstGeom prst="rect">
            <a:avLst/>
          </a:prstGeom>
          <a:noFill/>
          <a:ln/>
        </p:spPr>
        <p:txBody>
          <a:bodyPr wrap="none" lIns="0" tIns="0" rIns="0" bIns="0" rtlCol="0" anchor="t">
            <a:spAutoFit/>
          </a:bodyPr>
          <a:lstStyle/>
          <a:p>
            <a:pPr algn="l" indent="0" marL="0">
              <a:lnSpc>
                <a:spcPts val="1300"/>
              </a:lnSpc>
              <a:buNone/>
            </a:pPr>
            <a:r>
              <a:rPr lang="en-US" sz="780" dirty="0">
                <a:solidFill>
                  <a:srgbClr val="569CD6"/>
                </a:solidFill>
                <a:latin typeface="monospace" pitchFamily="34" charset="0"/>
                <a:ea typeface="monospace" pitchFamily="34" charset="-122"/>
                <a:cs typeface="monospace" pitchFamily="34" charset="-120"/>
              </a:rPr>
              <a:t>import</a:t>
            </a:r>
            <a:endParaRPr lang="en-US" sz="780" dirty="0"/>
          </a:p>
        </p:txBody>
      </p:sp>
      <p:sp>
        <p:nvSpPr>
          <p:cNvPr id="58" name="Text 53"/>
          <p:cNvSpPr/>
          <p:nvPr/>
        </p:nvSpPr>
        <p:spPr>
          <a:xfrm>
            <a:off x="5111018" y="1548408"/>
            <a:ext cx="1285875" cy="628650"/>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D4D4D4"/>
                </a:solidFill>
                <a:latin typeface="monospace" pitchFamily="34" charset="0"/>
                <a:ea typeface="monospace" pitchFamily="34" charset="-122"/>
                <a:cs typeface="monospace" pitchFamily="34" charset="-120"/>
              </a:rPr>
              <a:t>pybullet_data</a:t>
            </a:r>
            <a:endParaRPr lang="en-US" sz="780" dirty="0"/>
          </a:p>
          <a:p>
            <a:pPr algn="l" indent="0" marL="0">
              <a:lnSpc>
                <a:spcPts val="1300"/>
              </a:lnSpc>
              <a:buNone/>
            </a:pPr>
            <a:endParaRPr lang="en-US" sz="780" dirty="0"/>
          </a:p>
          <a:p>
            <a:pPr algn="l" indent="0" marL="0">
              <a:lnSpc>
                <a:spcPts val="1300"/>
              </a:lnSpc>
              <a:buNone/>
            </a:pPr>
            <a:r>
              <a:rPr lang="en-US" sz="780" dirty="0">
                <a:solidFill>
                  <a:srgbClr val="D4D4D4"/>
                </a:solidFill>
                <a:latin typeface="monospace" pitchFamily="34" charset="0"/>
                <a:ea typeface="monospace" pitchFamily="34" charset="-122"/>
                <a:cs typeface="monospace" pitchFamily="34" charset="-120"/>
              </a:rPr>
              <a:t># 1. Connect</a:t>
            </a:r>
            <a:endParaRPr lang="en-US" sz="780" dirty="0"/>
          </a:p>
          <a:p>
            <a:pPr algn="l" indent="0" marL="0">
              <a:lnSpc>
                <a:spcPts val="1300"/>
              </a:lnSpc>
              <a:buNone/>
            </a:pPr>
            <a:r>
              <a:rPr lang="en-US" sz="780" dirty="0">
                <a:solidFill>
                  <a:srgbClr val="D4D4D4"/>
                </a:solidFill>
                <a:latin typeface="monospace" pitchFamily="34" charset="0"/>
                <a:ea typeface="monospace" pitchFamily="34" charset="-122"/>
                <a:cs typeface="monospace" pitchFamily="34" charset="-120"/>
              </a:rPr>
              <a:t>p.</a:t>
            </a:r>
            <a:endParaRPr lang="en-US" sz="780" dirty="0"/>
          </a:p>
        </p:txBody>
      </p:sp>
      <p:sp>
        <p:nvSpPr>
          <p:cNvPr id="59" name="Text 54"/>
          <p:cNvSpPr/>
          <p:nvPr/>
        </p:nvSpPr>
        <p:spPr>
          <a:xfrm>
            <a:off x="5239606" y="2030611"/>
            <a:ext cx="450056" cy="146447"/>
          </a:xfrm>
          <a:prstGeom prst="rect">
            <a:avLst/>
          </a:prstGeom>
          <a:noFill/>
          <a:ln/>
        </p:spPr>
        <p:txBody>
          <a:bodyPr wrap="none" lIns="0" tIns="0" rIns="0" bIns="0" rtlCol="0" anchor="t">
            <a:spAutoFit/>
          </a:bodyPr>
          <a:lstStyle/>
          <a:p>
            <a:pPr algn="l" indent="0" marL="0">
              <a:lnSpc>
                <a:spcPts val="1300"/>
              </a:lnSpc>
              <a:buNone/>
            </a:pPr>
            <a:r>
              <a:rPr lang="en-US" sz="780" dirty="0">
                <a:solidFill>
                  <a:srgbClr val="DCDCAA"/>
                </a:solidFill>
                <a:latin typeface="monospace" pitchFamily="34" charset="0"/>
                <a:ea typeface="monospace" pitchFamily="34" charset="-122"/>
                <a:cs typeface="monospace" pitchFamily="34" charset="-120"/>
              </a:rPr>
              <a:t>connect</a:t>
            </a:r>
            <a:endParaRPr lang="en-US" sz="780" dirty="0"/>
          </a:p>
        </p:txBody>
      </p:sp>
      <p:sp>
        <p:nvSpPr>
          <p:cNvPr id="60" name="Text 55"/>
          <p:cNvSpPr/>
          <p:nvPr/>
        </p:nvSpPr>
        <p:spPr>
          <a:xfrm>
            <a:off x="5111018" y="2030611"/>
            <a:ext cx="1028700" cy="628650"/>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D4D4D4"/>
                </a:solidFill>
                <a:latin typeface="monospace" pitchFamily="34" charset="0"/>
                <a:ea typeface="monospace" pitchFamily="34" charset="-122"/>
                <a:cs typeface="monospace" pitchFamily="34" charset="-120"/>
              </a:rPr>
              <a:t>(p.GUI)</a:t>
            </a:r>
            <a:endParaRPr lang="en-US" sz="780" dirty="0"/>
          </a:p>
          <a:p>
            <a:pPr algn="l" indent="0" marL="0">
              <a:lnSpc>
                <a:spcPts val="1300"/>
              </a:lnSpc>
              <a:buNone/>
            </a:pPr>
            <a:endParaRPr lang="en-US" sz="780" dirty="0"/>
          </a:p>
          <a:p>
            <a:pPr algn="l" indent="0" marL="0">
              <a:lnSpc>
                <a:spcPts val="1300"/>
              </a:lnSpc>
              <a:buNone/>
            </a:pPr>
            <a:r>
              <a:rPr lang="en-US" sz="780" dirty="0">
                <a:solidFill>
                  <a:srgbClr val="D4D4D4"/>
                </a:solidFill>
                <a:latin typeface="monospace" pitchFamily="34" charset="0"/>
                <a:ea typeface="monospace" pitchFamily="34" charset="-122"/>
                <a:cs typeface="monospace" pitchFamily="34" charset="-120"/>
              </a:rPr>
              <a:t># 2. Search path</a:t>
            </a:r>
            <a:endParaRPr lang="en-US" sz="780" dirty="0"/>
          </a:p>
          <a:p>
            <a:pPr algn="l" indent="0" marL="0">
              <a:lnSpc>
                <a:spcPts val="1300"/>
              </a:lnSpc>
              <a:buNone/>
            </a:pPr>
            <a:r>
              <a:rPr lang="en-US" sz="780" dirty="0">
                <a:solidFill>
                  <a:srgbClr val="D4D4D4"/>
                </a:solidFill>
                <a:latin typeface="monospace" pitchFamily="34" charset="0"/>
                <a:ea typeface="monospace" pitchFamily="34" charset="-122"/>
                <a:cs typeface="monospace" pitchFamily="34" charset="-120"/>
              </a:rPr>
              <a:t>p.</a:t>
            </a:r>
            <a:endParaRPr lang="en-US" sz="780" dirty="0"/>
          </a:p>
        </p:txBody>
      </p:sp>
      <p:sp>
        <p:nvSpPr>
          <p:cNvPr id="61" name="Text 56"/>
          <p:cNvSpPr/>
          <p:nvPr/>
        </p:nvSpPr>
        <p:spPr>
          <a:xfrm>
            <a:off x="5239606" y="2512814"/>
            <a:ext cx="1478756" cy="146447"/>
          </a:xfrm>
          <a:prstGeom prst="rect">
            <a:avLst/>
          </a:prstGeom>
          <a:noFill/>
          <a:ln/>
        </p:spPr>
        <p:txBody>
          <a:bodyPr wrap="none" lIns="0" tIns="0" rIns="0" bIns="0" rtlCol="0" anchor="t">
            <a:spAutoFit/>
          </a:bodyPr>
          <a:lstStyle/>
          <a:p>
            <a:pPr algn="l" indent="0" marL="0">
              <a:lnSpc>
                <a:spcPts val="1300"/>
              </a:lnSpc>
              <a:buNone/>
            </a:pPr>
            <a:r>
              <a:rPr lang="en-US" sz="780" dirty="0">
                <a:solidFill>
                  <a:srgbClr val="DCDCAA"/>
                </a:solidFill>
                <a:latin typeface="monospace" pitchFamily="34" charset="0"/>
                <a:ea typeface="monospace" pitchFamily="34" charset="-122"/>
                <a:cs typeface="monospace" pitchFamily="34" charset="-120"/>
              </a:rPr>
              <a:t>setAdditionalSearchPath</a:t>
            </a:r>
            <a:endParaRPr lang="en-US" sz="780" dirty="0"/>
          </a:p>
        </p:txBody>
      </p:sp>
      <p:sp>
        <p:nvSpPr>
          <p:cNvPr id="62" name="Text 57"/>
          <p:cNvSpPr/>
          <p:nvPr/>
        </p:nvSpPr>
        <p:spPr>
          <a:xfrm>
            <a:off x="6718362" y="2512814"/>
            <a:ext cx="964406" cy="146447"/>
          </a:xfrm>
          <a:prstGeom prst="rect">
            <a:avLst/>
          </a:prstGeom>
          <a:noFill/>
          <a:ln/>
        </p:spPr>
        <p:txBody>
          <a:bodyPr wrap="none" lIns="0" tIns="0" rIns="0" bIns="0" rtlCol="0" anchor="t">
            <a:spAutoFit/>
          </a:bodyPr>
          <a:lstStyle/>
          <a:p>
            <a:pPr algn="l" indent="0" marL="0">
              <a:lnSpc>
                <a:spcPts val="1300"/>
              </a:lnSpc>
              <a:buNone/>
            </a:pPr>
            <a:r>
              <a:rPr lang="en-US" sz="780" dirty="0">
                <a:solidFill>
                  <a:srgbClr val="D4D4D4"/>
                </a:solidFill>
                <a:latin typeface="monospace" pitchFamily="34" charset="0"/>
                <a:ea typeface="monospace" pitchFamily="34" charset="-122"/>
                <a:cs typeface="monospace" pitchFamily="34" charset="-120"/>
              </a:rPr>
              <a:t>(pybullet_data.</a:t>
            </a:r>
            <a:endParaRPr lang="en-US" sz="780" dirty="0"/>
          </a:p>
        </p:txBody>
      </p:sp>
      <p:sp>
        <p:nvSpPr>
          <p:cNvPr id="63" name="Text 58"/>
          <p:cNvSpPr/>
          <p:nvPr/>
        </p:nvSpPr>
        <p:spPr>
          <a:xfrm>
            <a:off x="7682768" y="2512814"/>
            <a:ext cx="707231" cy="146447"/>
          </a:xfrm>
          <a:prstGeom prst="rect">
            <a:avLst/>
          </a:prstGeom>
          <a:noFill/>
          <a:ln/>
        </p:spPr>
        <p:txBody>
          <a:bodyPr wrap="none" lIns="0" tIns="0" rIns="0" bIns="0" rtlCol="0" anchor="t">
            <a:spAutoFit/>
          </a:bodyPr>
          <a:lstStyle/>
          <a:p>
            <a:pPr algn="l" indent="0" marL="0">
              <a:lnSpc>
                <a:spcPts val="1300"/>
              </a:lnSpc>
              <a:buNone/>
            </a:pPr>
            <a:r>
              <a:rPr lang="en-US" sz="780" dirty="0">
                <a:solidFill>
                  <a:srgbClr val="DCDCAA"/>
                </a:solidFill>
                <a:latin typeface="monospace" pitchFamily="34" charset="0"/>
                <a:ea typeface="monospace" pitchFamily="34" charset="-122"/>
                <a:cs typeface="monospace" pitchFamily="34" charset="-120"/>
              </a:rPr>
              <a:t>getDataPath</a:t>
            </a:r>
            <a:endParaRPr lang="en-US" sz="780" dirty="0"/>
          </a:p>
        </p:txBody>
      </p:sp>
      <p:sp>
        <p:nvSpPr>
          <p:cNvPr id="64" name="Text 59"/>
          <p:cNvSpPr/>
          <p:nvPr/>
        </p:nvSpPr>
        <p:spPr>
          <a:xfrm>
            <a:off x="5111018" y="2512814"/>
            <a:ext cx="3471863" cy="628650"/>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D4D4D4"/>
                </a:solidFill>
                <a:latin typeface="monospace" pitchFamily="34" charset="0"/>
                <a:ea typeface="monospace" pitchFamily="34" charset="-122"/>
                <a:cs typeface="monospace" pitchFamily="34" charset="-120"/>
              </a:rPr>
              <a:t>())</a:t>
            </a:r>
            <a:endParaRPr lang="en-US" sz="780" dirty="0"/>
          </a:p>
          <a:p>
            <a:pPr algn="l" indent="0" marL="0">
              <a:lnSpc>
                <a:spcPts val="1300"/>
              </a:lnSpc>
              <a:buNone/>
            </a:pPr>
            <a:endParaRPr lang="en-US" sz="780" dirty="0"/>
          </a:p>
          <a:p>
            <a:pPr algn="l" indent="0" marL="0">
              <a:lnSpc>
                <a:spcPts val="1300"/>
              </a:lnSpc>
              <a:buNone/>
            </a:pPr>
            <a:r>
              <a:rPr lang="en-US" sz="780" dirty="0">
                <a:solidFill>
                  <a:srgbClr val="D4D4D4"/>
                </a:solidFill>
                <a:latin typeface="monospace" pitchFamily="34" charset="0"/>
                <a:ea typeface="monospace" pitchFamily="34" charset="-122"/>
                <a:cs typeface="monospace" pitchFamily="34" charset="-120"/>
              </a:rPr>
              <a:t># 3. Gravity</a:t>
            </a:r>
            <a:endParaRPr lang="en-US" sz="780" dirty="0"/>
          </a:p>
          <a:p>
            <a:pPr algn="l" indent="0" marL="0">
              <a:lnSpc>
                <a:spcPts val="1300"/>
              </a:lnSpc>
              <a:buNone/>
            </a:pPr>
            <a:r>
              <a:rPr lang="en-US" sz="780" dirty="0">
                <a:solidFill>
                  <a:srgbClr val="D4D4D4"/>
                </a:solidFill>
                <a:latin typeface="monospace" pitchFamily="34" charset="0"/>
                <a:ea typeface="monospace" pitchFamily="34" charset="-122"/>
                <a:cs typeface="monospace" pitchFamily="34" charset="-120"/>
              </a:rPr>
              <a:t>p.</a:t>
            </a:r>
            <a:endParaRPr lang="en-US" sz="780" dirty="0"/>
          </a:p>
        </p:txBody>
      </p:sp>
      <p:sp>
        <p:nvSpPr>
          <p:cNvPr id="65" name="Text 60"/>
          <p:cNvSpPr/>
          <p:nvPr/>
        </p:nvSpPr>
        <p:spPr>
          <a:xfrm>
            <a:off x="5239606" y="2995017"/>
            <a:ext cx="642938" cy="146447"/>
          </a:xfrm>
          <a:prstGeom prst="rect">
            <a:avLst/>
          </a:prstGeom>
          <a:noFill/>
          <a:ln/>
        </p:spPr>
        <p:txBody>
          <a:bodyPr wrap="none" lIns="0" tIns="0" rIns="0" bIns="0" rtlCol="0" anchor="t">
            <a:spAutoFit/>
          </a:bodyPr>
          <a:lstStyle/>
          <a:p>
            <a:pPr algn="l" indent="0" marL="0">
              <a:lnSpc>
                <a:spcPts val="1300"/>
              </a:lnSpc>
              <a:buNone/>
            </a:pPr>
            <a:r>
              <a:rPr lang="en-US" sz="780" dirty="0">
                <a:solidFill>
                  <a:srgbClr val="DCDCAA"/>
                </a:solidFill>
                <a:latin typeface="monospace" pitchFamily="34" charset="0"/>
                <a:ea typeface="monospace" pitchFamily="34" charset="-122"/>
                <a:cs typeface="monospace" pitchFamily="34" charset="-120"/>
              </a:rPr>
              <a:t>setGravity</a:t>
            </a:r>
            <a:endParaRPr lang="en-US" sz="780" dirty="0"/>
          </a:p>
        </p:txBody>
      </p:sp>
      <p:sp>
        <p:nvSpPr>
          <p:cNvPr id="66" name="Text 61"/>
          <p:cNvSpPr/>
          <p:nvPr/>
        </p:nvSpPr>
        <p:spPr>
          <a:xfrm>
            <a:off x="5111018" y="2995017"/>
            <a:ext cx="1414463" cy="628650"/>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D4D4D4"/>
                </a:solidFill>
                <a:latin typeface="monospace" pitchFamily="34" charset="0"/>
                <a:ea typeface="monospace" pitchFamily="34" charset="-122"/>
                <a:cs typeface="monospace" pitchFamily="34" charset="-120"/>
              </a:rPr>
              <a:t>(0,0,-9.8)</a:t>
            </a:r>
            <a:endParaRPr lang="en-US" sz="780" dirty="0"/>
          </a:p>
          <a:p>
            <a:pPr algn="l" indent="0" marL="0">
              <a:lnSpc>
                <a:spcPts val="1300"/>
              </a:lnSpc>
              <a:buNone/>
            </a:pPr>
            <a:endParaRPr lang="en-US" sz="780" dirty="0"/>
          </a:p>
          <a:p>
            <a:pPr algn="l" indent="0" marL="0">
              <a:lnSpc>
                <a:spcPts val="1300"/>
              </a:lnSpc>
              <a:buNone/>
            </a:pPr>
            <a:r>
              <a:rPr lang="en-US" sz="780" dirty="0">
                <a:solidFill>
                  <a:srgbClr val="D4D4D4"/>
                </a:solidFill>
                <a:latin typeface="monospace" pitchFamily="34" charset="0"/>
                <a:ea typeface="monospace" pitchFamily="34" charset="-122"/>
                <a:cs typeface="monospace" pitchFamily="34" charset="-120"/>
              </a:rPr>
              <a:t># 4. Load URDFs</a:t>
            </a:r>
            <a:endParaRPr lang="en-US" sz="780" dirty="0"/>
          </a:p>
          <a:p>
            <a:pPr algn="l" indent="0" marL="0">
              <a:lnSpc>
                <a:spcPts val="1300"/>
              </a:lnSpc>
              <a:buNone/>
            </a:pPr>
            <a:r>
              <a:rPr lang="en-US" sz="780" dirty="0">
                <a:solidFill>
                  <a:srgbClr val="D4D4D4"/>
                </a:solidFill>
                <a:latin typeface="monospace" pitchFamily="34" charset="0"/>
                <a:ea typeface="monospace" pitchFamily="34" charset="-122"/>
                <a:cs typeface="monospace" pitchFamily="34" charset="-120"/>
              </a:rPr>
              <a:t>p.</a:t>
            </a:r>
            <a:endParaRPr lang="en-US" sz="780" dirty="0"/>
          </a:p>
        </p:txBody>
      </p:sp>
      <p:sp>
        <p:nvSpPr>
          <p:cNvPr id="67" name="Text 62"/>
          <p:cNvSpPr/>
          <p:nvPr/>
        </p:nvSpPr>
        <p:spPr>
          <a:xfrm>
            <a:off x="5239606" y="3477220"/>
            <a:ext cx="514350" cy="146447"/>
          </a:xfrm>
          <a:prstGeom prst="rect">
            <a:avLst/>
          </a:prstGeom>
          <a:noFill/>
          <a:ln/>
        </p:spPr>
        <p:txBody>
          <a:bodyPr wrap="none" lIns="0" tIns="0" rIns="0" bIns="0" rtlCol="0" anchor="t">
            <a:spAutoFit/>
          </a:bodyPr>
          <a:lstStyle/>
          <a:p>
            <a:pPr algn="l" indent="0" marL="0">
              <a:lnSpc>
                <a:spcPts val="1300"/>
              </a:lnSpc>
              <a:buNone/>
            </a:pPr>
            <a:r>
              <a:rPr lang="en-US" sz="780" dirty="0">
                <a:solidFill>
                  <a:srgbClr val="DCDCAA"/>
                </a:solidFill>
                <a:latin typeface="monospace" pitchFamily="34" charset="0"/>
                <a:ea typeface="monospace" pitchFamily="34" charset="-122"/>
                <a:cs typeface="monospace" pitchFamily="34" charset="-120"/>
              </a:rPr>
              <a:t>loadURDF</a:t>
            </a:r>
            <a:endParaRPr lang="en-US" sz="780" dirty="0"/>
          </a:p>
        </p:txBody>
      </p:sp>
      <p:sp>
        <p:nvSpPr>
          <p:cNvPr id="68" name="Text 63"/>
          <p:cNvSpPr/>
          <p:nvPr/>
        </p:nvSpPr>
        <p:spPr>
          <a:xfrm>
            <a:off x="5111018" y="3477220"/>
            <a:ext cx="1543050" cy="307181"/>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D4D4D4"/>
                </a:solidFill>
                <a:latin typeface="monospace" pitchFamily="34" charset="0"/>
                <a:ea typeface="monospace" pitchFamily="34" charset="-122"/>
                <a:cs typeface="monospace" pitchFamily="34" charset="-120"/>
              </a:rPr>
              <a:t>("plane.urdf")</a:t>
            </a:r>
            <a:endParaRPr lang="en-US" sz="780" dirty="0"/>
          </a:p>
          <a:p>
            <a:pPr algn="l" indent="0" marL="0">
              <a:lnSpc>
                <a:spcPts val="1300"/>
              </a:lnSpc>
              <a:buNone/>
            </a:pPr>
            <a:r>
              <a:rPr lang="en-US" sz="780" dirty="0">
                <a:solidFill>
                  <a:srgbClr val="D4D4D4"/>
                </a:solidFill>
                <a:latin typeface="monospace" pitchFamily="34" charset="0"/>
                <a:ea typeface="monospace" pitchFamily="34" charset="-122"/>
                <a:cs typeface="monospace" pitchFamily="34" charset="-120"/>
              </a:rPr>
              <a:t>p.</a:t>
            </a:r>
            <a:endParaRPr lang="en-US" sz="780" dirty="0"/>
          </a:p>
        </p:txBody>
      </p:sp>
      <p:sp>
        <p:nvSpPr>
          <p:cNvPr id="69" name="Text 64"/>
          <p:cNvSpPr/>
          <p:nvPr/>
        </p:nvSpPr>
        <p:spPr>
          <a:xfrm>
            <a:off x="5239606" y="3637955"/>
            <a:ext cx="514350" cy="146447"/>
          </a:xfrm>
          <a:prstGeom prst="rect">
            <a:avLst/>
          </a:prstGeom>
          <a:noFill/>
          <a:ln/>
        </p:spPr>
        <p:txBody>
          <a:bodyPr wrap="none" lIns="0" tIns="0" rIns="0" bIns="0" rtlCol="0" anchor="t">
            <a:spAutoFit/>
          </a:bodyPr>
          <a:lstStyle/>
          <a:p>
            <a:pPr algn="l" indent="0" marL="0">
              <a:lnSpc>
                <a:spcPts val="1300"/>
              </a:lnSpc>
              <a:buNone/>
            </a:pPr>
            <a:r>
              <a:rPr lang="en-US" sz="780" dirty="0">
                <a:solidFill>
                  <a:srgbClr val="DCDCAA"/>
                </a:solidFill>
                <a:latin typeface="monospace" pitchFamily="34" charset="0"/>
                <a:ea typeface="monospace" pitchFamily="34" charset="-122"/>
                <a:cs typeface="monospace" pitchFamily="34" charset="-120"/>
              </a:rPr>
              <a:t>loadURDF</a:t>
            </a:r>
            <a:endParaRPr lang="en-US" sz="780" dirty="0"/>
          </a:p>
        </p:txBody>
      </p:sp>
      <p:sp>
        <p:nvSpPr>
          <p:cNvPr id="70" name="Text 65"/>
          <p:cNvSpPr/>
          <p:nvPr/>
        </p:nvSpPr>
        <p:spPr>
          <a:xfrm>
            <a:off x="5111018" y="3637955"/>
            <a:ext cx="2185988" cy="789384"/>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D4D4D4"/>
                </a:solidFill>
                <a:latin typeface="monospace" pitchFamily="34" charset="0"/>
                <a:ea typeface="monospace" pitchFamily="34" charset="-122"/>
                <a:cs typeface="monospace" pitchFamily="34" charset="-120"/>
              </a:rPr>
              <a:t>("r2d2.urdf", [0,0,0.1])</a:t>
            </a:r>
            <a:endParaRPr lang="en-US" sz="780" dirty="0"/>
          </a:p>
          <a:p>
            <a:pPr algn="l" indent="0" marL="0">
              <a:lnSpc>
                <a:spcPts val="1300"/>
              </a:lnSpc>
              <a:buNone/>
            </a:pPr>
            <a:endParaRPr lang="en-US" sz="780" dirty="0"/>
          </a:p>
          <a:p>
            <a:pPr algn="l" indent="0" marL="0">
              <a:lnSpc>
                <a:spcPts val="1300"/>
              </a:lnSpc>
              <a:buNone/>
            </a:pPr>
            <a:r>
              <a:rPr lang="en-US" sz="780" dirty="0">
                <a:solidFill>
                  <a:srgbClr val="D4D4D4"/>
                </a:solidFill>
                <a:latin typeface="monospace" pitchFamily="34" charset="0"/>
                <a:ea typeface="monospace" pitchFamily="34" charset="-122"/>
                <a:cs typeface="monospace" pitchFamily="34" charset="-120"/>
              </a:rPr>
              <a:t># 5. Run loop</a:t>
            </a:r>
            <a:endParaRPr lang="en-US" sz="780" dirty="0"/>
          </a:p>
          <a:p>
            <a:pPr algn="l" indent="0" marL="0">
              <a:lnSpc>
                <a:spcPts val="1300"/>
              </a:lnSpc>
              <a:buNone/>
            </a:pPr>
            <a:r>
              <a:rPr lang="en-US" sz="780" dirty="0">
                <a:solidFill>
                  <a:srgbClr val="D4D4D4"/>
                </a:solidFill>
                <a:latin typeface="monospace" pitchFamily="34" charset="0"/>
                <a:ea typeface="monospace" pitchFamily="34" charset="-122"/>
                <a:cs typeface="monospace" pitchFamily="34" charset="-120"/>
              </a:rPr>
              <a:t>for _ in range(1200):</a:t>
            </a:r>
            <a:endParaRPr lang="en-US" sz="780" dirty="0"/>
          </a:p>
          <a:p>
            <a:pPr algn="l" indent="0" marL="0">
              <a:lnSpc>
                <a:spcPts val="1300"/>
              </a:lnSpc>
              <a:buNone/>
            </a:pPr>
            <a:r>
              <a:rPr lang="en-US" sz="780" dirty="0">
                <a:solidFill>
                  <a:srgbClr val="D4D4D4"/>
                </a:solidFill>
                <a:latin typeface="monospace" pitchFamily="34" charset="0"/>
                <a:ea typeface="monospace" pitchFamily="34" charset="-122"/>
                <a:cs typeface="monospace" pitchFamily="34" charset="-120"/>
              </a:rPr>
              <a:t>    p.</a:t>
            </a:r>
            <a:endParaRPr lang="en-US" sz="780" dirty="0"/>
          </a:p>
        </p:txBody>
      </p:sp>
      <p:sp>
        <p:nvSpPr>
          <p:cNvPr id="71" name="Text 66"/>
          <p:cNvSpPr/>
          <p:nvPr/>
        </p:nvSpPr>
        <p:spPr>
          <a:xfrm>
            <a:off x="5496781" y="4280892"/>
            <a:ext cx="900113" cy="146447"/>
          </a:xfrm>
          <a:prstGeom prst="rect">
            <a:avLst/>
          </a:prstGeom>
          <a:noFill/>
          <a:ln/>
        </p:spPr>
        <p:txBody>
          <a:bodyPr wrap="none" lIns="0" tIns="0" rIns="0" bIns="0" rtlCol="0" anchor="t">
            <a:spAutoFit/>
          </a:bodyPr>
          <a:lstStyle/>
          <a:p>
            <a:pPr algn="l" indent="0" marL="0">
              <a:lnSpc>
                <a:spcPts val="1300"/>
              </a:lnSpc>
              <a:buNone/>
            </a:pPr>
            <a:r>
              <a:rPr lang="en-US" sz="780" dirty="0">
                <a:solidFill>
                  <a:srgbClr val="DCDCAA"/>
                </a:solidFill>
                <a:latin typeface="monospace" pitchFamily="34" charset="0"/>
                <a:ea typeface="monospace" pitchFamily="34" charset="-122"/>
                <a:cs typeface="monospace" pitchFamily="34" charset="-120"/>
              </a:rPr>
              <a:t>stepSimulation</a:t>
            </a:r>
            <a:endParaRPr lang="en-US" sz="780" dirty="0"/>
          </a:p>
        </p:txBody>
      </p:sp>
      <p:sp>
        <p:nvSpPr>
          <p:cNvPr id="72" name="Text 67"/>
          <p:cNvSpPr/>
          <p:nvPr/>
        </p:nvSpPr>
        <p:spPr>
          <a:xfrm>
            <a:off x="6396893" y="4280892"/>
            <a:ext cx="128588" cy="146447"/>
          </a:xfrm>
          <a:prstGeom prst="rect">
            <a:avLst/>
          </a:prstGeom>
          <a:noFill/>
          <a:ln/>
        </p:spPr>
        <p:txBody>
          <a:bodyPr wrap="none" lIns="0" tIns="0" rIns="0" bIns="0" rtlCol="0" anchor="t">
            <a:spAutoFit/>
          </a:bodyPr>
          <a:lstStyle/>
          <a:p>
            <a:pPr algn="l" indent="0" marL="0">
              <a:lnSpc>
                <a:spcPts val="1300"/>
              </a:lnSpc>
              <a:buNone/>
            </a:pPr>
            <a:r>
              <a:rPr lang="en-US" sz="780" dirty="0">
                <a:solidFill>
                  <a:srgbClr val="D4D4D4"/>
                </a:solidFill>
                <a:latin typeface="monospace" pitchFamily="34" charset="0"/>
                <a:ea typeface="monospace" pitchFamily="34" charset="-122"/>
                <a:cs typeface="monospace" pitchFamily="34" charset="-120"/>
              </a:rPr>
              <a:t>()</a:t>
            </a:r>
            <a:endParaRPr lang="en-US" sz="780" dirty="0"/>
          </a:p>
        </p:txBody>
      </p:sp>
      <p:sp>
        <p:nvSpPr>
          <p:cNvPr id="73" name="Shape 68"/>
          <p:cNvSpPr/>
          <p:nvPr/>
        </p:nvSpPr>
        <p:spPr>
          <a:xfrm>
            <a:off x="0" y="4914900"/>
            <a:ext cx="9144000" cy="228600"/>
          </a:xfrm>
          <a:prstGeom prst="rect">
            <a:avLst/>
          </a:prstGeom>
          <a:solidFill>
            <a:srgbClr val="000000">
              <a:alpha val="0"/>
            </a:srgbClr>
          </a:solidFill>
          <a:ln/>
        </p:spPr>
      </p:sp>
      <p:sp>
        <p:nvSpPr>
          <p:cNvPr id="74" name="Shape 69"/>
          <p:cNvSpPr/>
          <p:nvPr/>
        </p:nvSpPr>
        <p:spPr>
          <a:xfrm>
            <a:off x="0" y="4914900"/>
            <a:ext cx="9144000" cy="7144"/>
          </a:xfrm>
          <a:prstGeom prst="rect">
            <a:avLst/>
          </a:prstGeom>
          <a:solidFill>
            <a:srgbClr val="FFFFFF"/>
          </a:solidFill>
          <a:ln/>
        </p:spPr>
      </p:sp>
      <p:sp>
        <p:nvSpPr>
          <p:cNvPr id="75" name="Text 70"/>
          <p:cNvSpPr/>
          <p:nvPr/>
        </p:nvSpPr>
        <p:spPr>
          <a:xfrm>
            <a:off x="428625" y="4964906"/>
            <a:ext cx="905470"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888888"/>
                </a:solidFill>
                <a:latin typeface="Open Sans" pitchFamily="34" charset="0"/>
                <a:ea typeface="Open Sans" pitchFamily="34" charset="-122"/>
                <a:cs typeface="Open Sans" pitchFamily="34" charset="-120"/>
              </a:rPr>
              <a:t>Lab 1: Hello, Robot!</a:t>
            </a:r>
            <a:endParaRPr lang="en-US" sz="727" dirty="0"/>
          </a:p>
        </p:txBody>
      </p:sp>
      <p:sp>
        <p:nvSpPr>
          <p:cNvPr id="76" name="Text 71"/>
          <p:cNvSpPr/>
          <p:nvPr/>
        </p:nvSpPr>
        <p:spPr>
          <a:xfrm>
            <a:off x="7824192" y="4964906"/>
            <a:ext cx="891183"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888888"/>
                </a:solidFill>
                <a:latin typeface="Open Sans" pitchFamily="34" charset="0"/>
                <a:ea typeface="Open Sans" pitchFamily="34" charset="-122"/>
                <a:cs typeface="Open Sans" pitchFamily="34" charset="-120"/>
              </a:rPr>
              <a:t>Block 1: Perception</a:t>
            </a:r>
            <a:endParaRPr lang="en-US" sz="727"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735806"/>
          </a:xfrm>
          <a:prstGeom prst="rect">
            <a:avLst/>
          </a:prstGeom>
          <a:solidFill>
            <a:srgbClr val="000000">
              <a:alpha val="0"/>
            </a:srgbClr>
          </a:solidFill>
          <a:ln/>
        </p:spPr>
      </p:sp>
      <p:sp>
        <p:nvSpPr>
          <p:cNvPr id="4" name="Shape 1"/>
          <p:cNvSpPr/>
          <p:nvPr/>
        </p:nvSpPr>
        <p:spPr>
          <a:xfrm>
            <a:off x="0" y="728663"/>
            <a:ext cx="9144000" cy="7144"/>
          </a:xfrm>
          <a:prstGeom prst="rect">
            <a:avLst/>
          </a:prstGeom>
          <a:solidFill>
            <a:srgbClr val="B3EBF2"/>
          </a:solidFill>
          <a:ln/>
        </p:spPr>
      </p:sp>
      <p:pic>
        <p:nvPicPr>
          <p:cNvPr id="5" name="Image 1" descr="preencoded.png">    </p:cNvPr>
          <p:cNvPicPr>
            <a:picLocks noChangeAspect="1"/>
          </p:cNvPicPr>
          <p:nvPr/>
        </p:nvPicPr>
        <p:blipFill>
          <a:blip r:embed="rId2"/>
          <a:stretch>
            <a:fillRect/>
          </a:stretch>
        </p:blipFill>
        <p:spPr>
          <a:xfrm>
            <a:off x="428625" y="307181"/>
            <a:ext cx="257175" cy="257175"/>
          </a:xfrm>
          <a:prstGeom prst="rect">
            <a:avLst/>
          </a:prstGeom>
        </p:spPr>
      </p:pic>
      <p:sp>
        <p:nvSpPr>
          <p:cNvPr id="6" name="Shape 2"/>
          <p:cNvSpPr/>
          <p:nvPr/>
        </p:nvSpPr>
        <p:spPr>
          <a:xfrm>
            <a:off x="828675" y="271463"/>
            <a:ext cx="2177058" cy="328613"/>
          </a:xfrm>
          <a:prstGeom prst="rect">
            <a:avLst/>
          </a:prstGeom>
          <a:solidFill>
            <a:srgbClr val="E67E22">
              <a:alpha val="10000"/>
            </a:srgbClr>
          </a:solidFill>
          <a:ln/>
        </p:spPr>
      </p:sp>
      <p:sp>
        <p:nvSpPr>
          <p:cNvPr id="7" name="Text 3"/>
          <p:cNvSpPr/>
          <p:nvPr/>
        </p:nvSpPr>
        <p:spPr>
          <a:xfrm>
            <a:off x="828675" y="271463"/>
            <a:ext cx="2177058" cy="328613"/>
          </a:xfrm>
          <a:prstGeom prst="rect">
            <a:avLst/>
          </a:prstGeom>
          <a:noFill/>
          <a:ln/>
        </p:spPr>
        <p:txBody>
          <a:bodyPr wrap="none" lIns="68072" tIns="17018" rIns="68072" bIns="17018" rtlCol="0" anchor="t">
            <a:spAutoFit/>
          </a:bodyPr>
          <a:lstStyle/>
          <a:p>
            <a:pPr algn="l" indent="0" marL="0">
              <a:lnSpc>
                <a:spcPts val="2200"/>
              </a:lnSpc>
              <a:buNone/>
            </a:pPr>
            <a:r>
              <a:rPr lang="en-US" sz="1602" b="1" dirty="0">
                <a:solidFill>
                  <a:srgbClr val="E67E22"/>
                </a:solidFill>
                <a:latin typeface="Fira Code" pitchFamily="34" charset="0"/>
                <a:ea typeface="Fira Code" pitchFamily="34" charset="-122"/>
                <a:cs typeface="Fira Code" pitchFamily="34" charset="-120"/>
              </a:rPr>
              <a:t>read_sensors.py</a:t>
            </a:r>
            <a:endParaRPr lang="en-US" sz="1602" dirty="0"/>
          </a:p>
        </p:txBody>
      </p:sp>
      <p:sp>
        <p:nvSpPr>
          <p:cNvPr id="8" name="Text 4"/>
          <p:cNvSpPr/>
          <p:nvPr/>
        </p:nvSpPr>
        <p:spPr>
          <a:xfrm>
            <a:off x="3005733" y="291108"/>
            <a:ext cx="5375672" cy="278606"/>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FFFFFF"/>
                </a:solidFill>
                <a:latin typeface="Montserrat" pitchFamily="34" charset="0"/>
                <a:ea typeface="Montserrat" pitchFamily="34" charset="-122"/>
                <a:cs typeface="Montserrat" pitchFamily="34" charset="-120"/>
              </a:rPr>
              <a:t>: Teaching Your Robot to "Feel" Its Own State</a:t>
            </a:r>
            <a:endParaRPr lang="en-US" sz="1602" dirty="0"/>
          </a:p>
        </p:txBody>
      </p:sp>
      <p:sp>
        <p:nvSpPr>
          <p:cNvPr id="9" name="Shape 5"/>
          <p:cNvSpPr/>
          <p:nvPr/>
        </p:nvSpPr>
        <p:spPr>
          <a:xfrm>
            <a:off x="428625" y="857250"/>
            <a:ext cx="3636811" cy="1065423"/>
          </a:xfrm>
          <a:prstGeom prst="rect">
            <a:avLst/>
          </a:prstGeom>
          <a:solidFill>
            <a:srgbClr val="FFFFFF">
              <a:alpha val="5000"/>
            </a:srgbClr>
          </a:solidFill>
          <a:ln/>
        </p:spPr>
      </p:sp>
      <p:sp>
        <p:nvSpPr>
          <p:cNvPr id="10" name="Shape 6"/>
          <p:cNvSpPr/>
          <p:nvPr/>
        </p:nvSpPr>
        <p:spPr>
          <a:xfrm>
            <a:off x="428625" y="857250"/>
            <a:ext cx="28575" cy="1065423"/>
          </a:xfrm>
          <a:prstGeom prst="rect">
            <a:avLst/>
          </a:prstGeom>
          <a:solidFill>
            <a:srgbClr val="00BCD4"/>
          </a:solidFill>
          <a:ln/>
        </p:spPr>
      </p:sp>
      <p:pic>
        <p:nvPicPr>
          <p:cNvPr id="11" name="Image 2" descr="preencoded.png">    </p:cNvPr>
          <p:cNvPicPr>
            <a:picLocks noChangeAspect="1"/>
          </p:cNvPicPr>
          <p:nvPr/>
        </p:nvPicPr>
        <p:blipFill>
          <a:blip r:embed="rId3"/>
          <a:stretch>
            <a:fillRect/>
          </a:stretch>
        </p:blipFill>
        <p:spPr>
          <a:xfrm>
            <a:off x="528638" y="974229"/>
            <a:ext cx="157163" cy="157163"/>
          </a:xfrm>
          <a:prstGeom prst="rect">
            <a:avLst/>
          </a:prstGeom>
        </p:spPr>
      </p:pic>
      <p:sp>
        <p:nvSpPr>
          <p:cNvPr id="12" name="Text 7"/>
          <p:cNvSpPr/>
          <p:nvPr/>
        </p:nvSpPr>
        <p:spPr>
          <a:xfrm>
            <a:off x="757238" y="957263"/>
            <a:ext cx="1919883"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0BCD4"/>
                </a:solidFill>
                <a:latin typeface="Montserrat" pitchFamily="34" charset="0"/>
                <a:ea typeface="Montserrat" pitchFamily="34" charset="-122"/>
                <a:cs typeface="Montserrat" pitchFamily="34" charset="-120"/>
              </a:rPr>
              <a:t>Proprioceptive Sensing</a:t>
            </a:r>
            <a:endParaRPr lang="en-US" sz="1090" dirty="0"/>
          </a:p>
        </p:txBody>
      </p:sp>
      <p:sp>
        <p:nvSpPr>
          <p:cNvPr id="13" name="Text 8"/>
          <p:cNvSpPr/>
          <p:nvPr/>
        </p:nvSpPr>
        <p:spPr>
          <a:xfrm>
            <a:off x="528638" y="1205508"/>
            <a:ext cx="3436786" cy="617153"/>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E0E0E0"/>
                </a:solidFill>
                <a:latin typeface="Open Sans" pitchFamily="34" charset="0"/>
                <a:ea typeface="Open Sans" pitchFamily="34" charset="-122"/>
                <a:cs typeface="Open Sans" pitchFamily="34" charset="-120"/>
              </a:rPr>
              <a:t>Sensing the robot's own </a:t>
            </a:r>
            <a:r>
              <a:rPr lang="en-US" sz="885" b="1" dirty="0">
                <a:solidFill>
                  <a:srgbClr val="E0E0E0"/>
                </a:solidFill>
                <a:latin typeface="Open Sans" pitchFamily="34" charset="0"/>
                <a:ea typeface="Open Sans" pitchFamily="34" charset="-122"/>
                <a:cs typeface="Open Sans" pitchFamily="34" charset="-120"/>
              </a:rPr>
              <a:t>internal state</a:t>
            </a:r>
            <a:r>
              <a:rPr lang="en-US" sz="942" dirty="0">
                <a:solidFill>
                  <a:srgbClr val="E0E0E0"/>
                </a:solidFill>
                <a:latin typeface="Open Sans" pitchFamily="34" charset="0"/>
                <a:ea typeface="Open Sans" pitchFamily="34" charset="-122"/>
                <a:cs typeface="Open Sans" pitchFamily="34" charset="-120"/>
              </a:rPr>
              <a:t> (position, </a:t>
            </a:r>
            <a:r>
              <a:rPr lang="en-US" sz="942" dirty="0">
                <a:solidFill>
                  <a:srgbClr val="E0E0E0"/>
                </a:solidFill>
                <a:latin typeface="Open Sans" pitchFamily="34" charset="0"/>
                <a:ea typeface="Open Sans" pitchFamily="34" charset="-122"/>
                <a:cs typeface="Open Sans" pitchFamily="34" charset="-120"/>
              </a:rPr>
              <a:t>orientation, speed). This is how the robot knows where </a:t>
            </a:r>
            <a:r>
              <a:rPr lang="en-US" sz="942" dirty="0">
                <a:solidFill>
                  <a:srgbClr val="E0E0E0"/>
                </a:solidFill>
                <a:latin typeface="Open Sans" pitchFamily="34" charset="0"/>
                <a:ea typeface="Open Sans" pitchFamily="34" charset="-122"/>
                <a:cs typeface="Open Sans" pitchFamily="34" charset="-120"/>
              </a:rPr>
              <a:t>its body is in space.</a:t>
            </a:r>
            <a:endParaRPr lang="en-US" sz="942" dirty="0"/>
          </a:p>
        </p:txBody>
      </p:sp>
      <p:sp>
        <p:nvSpPr>
          <p:cNvPr id="14" name="Shape 9"/>
          <p:cNvSpPr/>
          <p:nvPr/>
        </p:nvSpPr>
        <p:spPr>
          <a:xfrm>
            <a:off x="428625" y="1994111"/>
            <a:ext cx="3636811" cy="1065423"/>
          </a:xfrm>
          <a:prstGeom prst="rect">
            <a:avLst/>
          </a:prstGeom>
          <a:solidFill>
            <a:srgbClr val="FFFFFF">
              <a:alpha val="5000"/>
            </a:srgbClr>
          </a:solidFill>
          <a:ln/>
        </p:spPr>
      </p:sp>
      <p:sp>
        <p:nvSpPr>
          <p:cNvPr id="15" name="Shape 10"/>
          <p:cNvSpPr/>
          <p:nvPr/>
        </p:nvSpPr>
        <p:spPr>
          <a:xfrm>
            <a:off x="428625" y="1994111"/>
            <a:ext cx="28575" cy="1065423"/>
          </a:xfrm>
          <a:prstGeom prst="rect">
            <a:avLst/>
          </a:prstGeom>
          <a:solidFill>
            <a:srgbClr val="555555"/>
          </a:solidFill>
          <a:ln/>
        </p:spPr>
      </p:sp>
      <p:pic>
        <p:nvPicPr>
          <p:cNvPr id="16" name="Image 3" descr="preencoded.png">    </p:cNvPr>
          <p:cNvPicPr>
            <a:picLocks noChangeAspect="1"/>
          </p:cNvPicPr>
          <p:nvPr/>
        </p:nvPicPr>
        <p:blipFill>
          <a:blip r:embed="rId4"/>
          <a:stretch>
            <a:fillRect/>
          </a:stretch>
        </p:blipFill>
        <p:spPr>
          <a:xfrm>
            <a:off x="528638" y="2111090"/>
            <a:ext cx="176808" cy="157163"/>
          </a:xfrm>
          <a:prstGeom prst="rect">
            <a:avLst/>
          </a:prstGeom>
        </p:spPr>
      </p:pic>
      <p:sp>
        <p:nvSpPr>
          <p:cNvPr id="17" name="Text 11"/>
          <p:cNvSpPr/>
          <p:nvPr/>
        </p:nvSpPr>
        <p:spPr>
          <a:xfrm>
            <a:off x="776883" y="2094123"/>
            <a:ext cx="1843088"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A0A0A0"/>
                </a:solidFill>
                <a:latin typeface="Montserrat" pitchFamily="34" charset="0"/>
                <a:ea typeface="Montserrat" pitchFamily="34" charset="-122"/>
                <a:cs typeface="Montserrat" pitchFamily="34" charset="-120"/>
              </a:rPr>
              <a:t>Exteroceptive Sensing</a:t>
            </a:r>
            <a:endParaRPr lang="en-US" sz="1090" dirty="0"/>
          </a:p>
        </p:txBody>
      </p:sp>
      <p:sp>
        <p:nvSpPr>
          <p:cNvPr id="18" name="Text 12"/>
          <p:cNvSpPr/>
          <p:nvPr/>
        </p:nvSpPr>
        <p:spPr>
          <a:xfrm>
            <a:off x="528638" y="2342369"/>
            <a:ext cx="3436786" cy="617153"/>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888888"/>
                </a:solidFill>
                <a:latin typeface="Open Sans" pitchFamily="34" charset="0"/>
                <a:ea typeface="Open Sans" pitchFamily="34" charset="-122"/>
                <a:cs typeface="Open Sans" pitchFamily="34" charset="-120"/>
              </a:rPr>
              <a:t>Sensing the </a:t>
            </a:r>
            <a:r>
              <a:rPr lang="en-US" sz="885" b="1" dirty="0">
                <a:solidFill>
                  <a:srgbClr val="888888"/>
                </a:solidFill>
                <a:latin typeface="Open Sans" pitchFamily="34" charset="0"/>
                <a:ea typeface="Open Sans" pitchFamily="34" charset="-122"/>
                <a:cs typeface="Open Sans" pitchFamily="34" charset="-120"/>
              </a:rPr>
              <a:t>external world</a:t>
            </a:r>
            <a:r>
              <a:rPr lang="en-US" sz="942" dirty="0">
                <a:solidFill>
                  <a:srgbClr val="888888"/>
                </a:solidFill>
                <a:latin typeface="Open Sans" pitchFamily="34" charset="0"/>
                <a:ea typeface="Open Sans" pitchFamily="34" charset="-122"/>
                <a:cs typeface="Open Sans" pitchFamily="34" charset="-120"/>
              </a:rPr>
              <a:t> (cameras, lidar, ultrasonic). </a:t>
            </a:r>
            <a:r>
              <a:rPr lang="en-US" sz="942" dirty="0">
                <a:solidFill>
                  <a:srgbClr val="888888"/>
                </a:solidFill>
                <a:latin typeface="Open Sans" pitchFamily="34" charset="0"/>
                <a:ea typeface="Open Sans" pitchFamily="34" charset="-122"/>
                <a:cs typeface="Open Sans" pitchFamily="34" charset="-120"/>
              </a:rPr>
              <a:t>We will cover this in future labs when we add "eyes" to </a:t>
            </a:r>
            <a:r>
              <a:rPr lang="en-US" sz="942" dirty="0">
                <a:solidFill>
                  <a:srgbClr val="888888"/>
                </a:solidFill>
                <a:latin typeface="Open Sans" pitchFamily="34" charset="0"/>
                <a:ea typeface="Open Sans" pitchFamily="34" charset="-122"/>
                <a:cs typeface="Open Sans" pitchFamily="34" charset="-120"/>
              </a:rPr>
              <a:t>the robot.</a:t>
            </a:r>
            <a:endParaRPr lang="en-US" sz="942" dirty="0"/>
          </a:p>
        </p:txBody>
      </p:sp>
      <p:sp>
        <p:nvSpPr>
          <p:cNvPr id="19" name="Shape 13"/>
          <p:cNvSpPr/>
          <p:nvPr/>
        </p:nvSpPr>
        <p:spPr>
          <a:xfrm>
            <a:off x="428625" y="3130972"/>
            <a:ext cx="3636811" cy="1065423"/>
          </a:xfrm>
          <a:prstGeom prst="rect">
            <a:avLst/>
          </a:prstGeom>
          <a:solidFill>
            <a:srgbClr val="E67E22">
              <a:alpha val="5000"/>
            </a:srgbClr>
          </a:solidFill>
          <a:ln/>
        </p:spPr>
      </p:sp>
      <p:sp>
        <p:nvSpPr>
          <p:cNvPr id="20" name="Shape 14"/>
          <p:cNvSpPr/>
          <p:nvPr/>
        </p:nvSpPr>
        <p:spPr>
          <a:xfrm>
            <a:off x="428625" y="3130972"/>
            <a:ext cx="28575" cy="1065423"/>
          </a:xfrm>
          <a:prstGeom prst="rect">
            <a:avLst/>
          </a:prstGeom>
          <a:solidFill>
            <a:srgbClr val="E67E22"/>
          </a:solidFill>
          <a:ln/>
        </p:spPr>
      </p:sp>
      <p:pic>
        <p:nvPicPr>
          <p:cNvPr id="21" name="Image 4" descr="preencoded.png">    </p:cNvPr>
          <p:cNvPicPr>
            <a:picLocks noChangeAspect="1"/>
          </p:cNvPicPr>
          <p:nvPr/>
        </p:nvPicPr>
        <p:blipFill>
          <a:blip r:embed="rId5"/>
          <a:stretch>
            <a:fillRect/>
          </a:stretch>
        </p:blipFill>
        <p:spPr>
          <a:xfrm>
            <a:off x="528638" y="3247951"/>
            <a:ext cx="157163" cy="157163"/>
          </a:xfrm>
          <a:prstGeom prst="rect">
            <a:avLst/>
          </a:prstGeom>
        </p:spPr>
      </p:pic>
      <p:sp>
        <p:nvSpPr>
          <p:cNvPr id="22" name="Text 15"/>
          <p:cNvSpPr/>
          <p:nvPr/>
        </p:nvSpPr>
        <p:spPr>
          <a:xfrm>
            <a:off x="757238" y="3230984"/>
            <a:ext cx="1353741"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E67E22"/>
                </a:solidFill>
                <a:latin typeface="Montserrat" pitchFamily="34" charset="0"/>
                <a:ea typeface="Montserrat" pitchFamily="34" charset="-122"/>
                <a:cs typeface="Montserrat" pitchFamily="34" charset="-120"/>
              </a:rPr>
              <a:t>The Golden Rule</a:t>
            </a:r>
            <a:endParaRPr lang="en-US" sz="1090" dirty="0"/>
          </a:p>
        </p:txBody>
      </p:sp>
      <p:sp>
        <p:nvSpPr>
          <p:cNvPr id="23" name="Text 16"/>
          <p:cNvSpPr/>
          <p:nvPr/>
        </p:nvSpPr>
        <p:spPr>
          <a:xfrm>
            <a:off x="528638" y="3479229"/>
            <a:ext cx="3436786" cy="617153"/>
          </a:xfrm>
          <a:prstGeom prst="rect">
            <a:avLst/>
          </a:prstGeom>
          <a:noFill/>
          <a:ln/>
        </p:spPr>
        <p:txBody>
          <a:bodyPr wrap="square" lIns="0" tIns="0" rIns="0" bIns="0" rtlCol="0" anchor="t">
            <a:spAutoFit/>
          </a:bodyPr>
          <a:lstStyle/>
          <a:p>
            <a:pPr algn="l" indent="0" marL="0">
              <a:lnSpc>
                <a:spcPts val="1600"/>
              </a:lnSpc>
              <a:buNone/>
            </a:pPr>
            <a:r>
              <a:rPr lang="en-US" sz="885" b="1" dirty="0">
                <a:solidFill>
                  <a:srgbClr val="E67E22"/>
                </a:solidFill>
                <a:latin typeface="Open Sans" pitchFamily="34" charset="0"/>
                <a:ea typeface="Open Sans" pitchFamily="34" charset="-122"/>
                <a:cs typeface="Open Sans" pitchFamily="34" charset="-120"/>
              </a:rPr>
              <a:t>You cannot control what you cannot measure.</a:t>
            </a:r>
            <a:r>
              <a:rPr lang="en-US" sz="942" dirty="0">
                <a:solidFill>
                  <a:srgbClr val="E0E0E0"/>
                </a:solidFill>
                <a:latin typeface="Open Sans" pitchFamily="34" charset="0"/>
                <a:ea typeface="Open Sans" pitchFamily="34" charset="-122"/>
                <a:cs typeface="Open Sans" pitchFamily="34" charset="-120"/>
              </a:rPr>
              <a:t> Before </a:t>
            </a:r>
            <a:r>
              <a:rPr lang="en-US" sz="942" dirty="0">
                <a:solidFill>
                  <a:srgbClr val="E0E0E0"/>
                </a:solidFill>
                <a:latin typeface="Open Sans" pitchFamily="34" charset="0"/>
                <a:ea typeface="Open Sans" pitchFamily="34" charset="-122"/>
                <a:cs typeface="Open Sans" pitchFamily="34" charset="-120"/>
              </a:rPr>
              <a:t>we can make the robot move accurately, we must be </a:t>
            </a:r>
            <a:r>
              <a:rPr lang="en-US" sz="942" dirty="0">
                <a:solidFill>
                  <a:srgbClr val="E0E0E0"/>
                </a:solidFill>
                <a:latin typeface="Open Sans" pitchFamily="34" charset="0"/>
                <a:ea typeface="Open Sans" pitchFamily="34" charset="-122"/>
                <a:cs typeface="Open Sans" pitchFamily="34" charset="-120"/>
              </a:rPr>
              <a:t>able to read its current state.</a:t>
            </a:r>
            <a:endParaRPr lang="en-US" sz="942" dirty="0"/>
          </a:p>
        </p:txBody>
      </p:sp>
      <p:sp>
        <p:nvSpPr>
          <p:cNvPr id="24" name="Shape 17"/>
          <p:cNvSpPr/>
          <p:nvPr/>
        </p:nvSpPr>
        <p:spPr>
          <a:xfrm>
            <a:off x="4351186" y="857250"/>
            <a:ext cx="4364189" cy="538628"/>
          </a:xfrm>
          <a:prstGeom prst="rect">
            <a:avLst/>
          </a:prstGeom>
          <a:solidFill>
            <a:srgbClr val="000000">
              <a:alpha val="40000"/>
            </a:srgbClr>
          </a:solidFill>
          <a:ln w="9144">
            <a:solidFill>
              <a:srgbClr val="FFFFFF">
                <a:alpha val="10000"/>
              </a:srgbClr>
            </a:solidFill>
            <a:prstDash val="solid"/>
          </a:ln>
        </p:spPr>
      </p:sp>
      <p:sp>
        <p:nvSpPr>
          <p:cNvPr id="25" name="Text 18"/>
          <p:cNvSpPr/>
          <p:nvPr/>
        </p:nvSpPr>
        <p:spPr>
          <a:xfrm>
            <a:off x="4436911" y="942975"/>
            <a:ext cx="4192739" cy="150019"/>
          </a:xfrm>
          <a:prstGeom prst="rect">
            <a:avLst/>
          </a:prstGeom>
          <a:noFill/>
          <a:ln/>
        </p:spPr>
        <p:txBody>
          <a:bodyPr wrap="none" lIns="0" tIns="0" rIns="0" bIns="0" rtlCol="0" anchor="t">
            <a:spAutoFit/>
          </a:bodyPr>
          <a:lstStyle/>
          <a:p>
            <a:pPr algn="l" indent="0" marL="0">
              <a:lnSpc>
                <a:spcPts val="1100"/>
              </a:lnSpc>
              <a:buNone/>
            </a:pPr>
            <a:r>
              <a:rPr lang="en-US" sz="834" dirty="0">
                <a:solidFill>
                  <a:srgbClr val="9CDCFE"/>
                </a:solidFill>
                <a:latin typeface="Fira Code" pitchFamily="34" charset="0"/>
                <a:ea typeface="Fira Code" pitchFamily="34" charset="-122"/>
                <a:cs typeface="Fira Code" pitchFamily="34" charset="-120"/>
              </a:rPr>
              <a:t>pos, orn = p.</a:t>
            </a:r>
            <a:r>
              <a:rPr lang="en-US" sz="834" dirty="0">
                <a:solidFill>
                  <a:srgbClr val="DCDCAA"/>
                </a:solidFill>
                <a:latin typeface="Fira Code" pitchFamily="34" charset="0"/>
                <a:ea typeface="Fira Code" pitchFamily="34" charset="-122"/>
                <a:cs typeface="Fira Code" pitchFamily="34" charset="-120"/>
              </a:rPr>
              <a:t>getBasePositionAndOrientation</a:t>
            </a:r>
            <a:r>
              <a:rPr lang="en-US" sz="834" dirty="0">
                <a:solidFill>
                  <a:srgbClr val="9CDCFE"/>
                </a:solidFill>
                <a:latin typeface="Fira Code" pitchFamily="34" charset="0"/>
                <a:ea typeface="Fira Code" pitchFamily="34" charset="-122"/>
                <a:cs typeface="Fira Code" pitchFamily="34" charset="-120"/>
              </a:rPr>
              <a:t>(robotId)</a:t>
            </a:r>
            <a:endParaRPr lang="en-US" sz="834" dirty="0"/>
          </a:p>
        </p:txBody>
      </p:sp>
      <p:sp>
        <p:nvSpPr>
          <p:cNvPr id="26" name="Text 19"/>
          <p:cNvSpPr/>
          <p:nvPr/>
        </p:nvSpPr>
        <p:spPr>
          <a:xfrm>
            <a:off x="4436911" y="1135856"/>
            <a:ext cx="4192739" cy="160009"/>
          </a:xfrm>
          <a:prstGeom prst="rect">
            <a:avLst/>
          </a:prstGeom>
          <a:noFill/>
          <a:ln/>
        </p:spPr>
        <p:txBody>
          <a:bodyPr wrap="none" lIns="0" tIns="0" rIns="0" bIns="0" rtlCol="0" anchor="t">
            <a:spAutoFit/>
          </a:bodyPr>
          <a:lstStyle/>
          <a:p>
            <a:pPr algn="l" indent="0" marL="0">
              <a:lnSpc>
                <a:spcPts val="1300"/>
              </a:lnSpc>
              <a:buNone/>
            </a:pPr>
            <a:r>
              <a:rPr lang="en-US" sz="834" dirty="0">
                <a:solidFill>
                  <a:srgbClr val="A0A0A0"/>
                </a:solidFill>
                <a:latin typeface="Open Sans" pitchFamily="34" charset="0"/>
                <a:ea typeface="Open Sans" pitchFamily="34" charset="-122"/>
                <a:cs typeface="Open Sans" pitchFamily="34" charset="-120"/>
              </a:rPr>
              <a:t>Returns the (x, y, z) position and the orientation as a quaternion (x, y, z, w).</a:t>
            </a:r>
            <a:endParaRPr lang="en-US" sz="834" dirty="0"/>
          </a:p>
        </p:txBody>
      </p:sp>
      <p:sp>
        <p:nvSpPr>
          <p:cNvPr id="27" name="Shape 20"/>
          <p:cNvSpPr/>
          <p:nvPr/>
        </p:nvSpPr>
        <p:spPr>
          <a:xfrm>
            <a:off x="4351186" y="1467315"/>
            <a:ext cx="4364189" cy="538628"/>
          </a:xfrm>
          <a:prstGeom prst="rect">
            <a:avLst/>
          </a:prstGeom>
          <a:solidFill>
            <a:srgbClr val="000000">
              <a:alpha val="40000"/>
            </a:srgbClr>
          </a:solidFill>
          <a:ln w="9144">
            <a:solidFill>
              <a:srgbClr val="FFFFFF">
                <a:alpha val="10000"/>
              </a:srgbClr>
            </a:solidFill>
            <a:prstDash val="solid"/>
          </a:ln>
        </p:spPr>
      </p:sp>
      <p:sp>
        <p:nvSpPr>
          <p:cNvPr id="28" name="Text 21"/>
          <p:cNvSpPr/>
          <p:nvPr/>
        </p:nvSpPr>
        <p:spPr>
          <a:xfrm>
            <a:off x="4436911" y="1553040"/>
            <a:ext cx="4192739" cy="150019"/>
          </a:xfrm>
          <a:prstGeom prst="rect">
            <a:avLst/>
          </a:prstGeom>
          <a:noFill/>
          <a:ln/>
        </p:spPr>
        <p:txBody>
          <a:bodyPr wrap="none" lIns="0" tIns="0" rIns="0" bIns="0" rtlCol="0" anchor="t">
            <a:spAutoFit/>
          </a:bodyPr>
          <a:lstStyle/>
          <a:p>
            <a:pPr algn="l" indent="0" marL="0">
              <a:lnSpc>
                <a:spcPts val="1100"/>
              </a:lnSpc>
              <a:buNone/>
            </a:pPr>
            <a:r>
              <a:rPr lang="en-US" sz="834" dirty="0">
                <a:solidFill>
                  <a:srgbClr val="9CDCFE"/>
                </a:solidFill>
                <a:latin typeface="Fira Code" pitchFamily="34" charset="0"/>
                <a:ea typeface="Fira Code" pitchFamily="34" charset="-122"/>
                <a:cs typeface="Fira Code" pitchFamily="34" charset="-120"/>
              </a:rPr>
              <a:t>lin_vel, ang_vel = p.</a:t>
            </a:r>
            <a:r>
              <a:rPr lang="en-US" sz="834" dirty="0">
                <a:solidFill>
                  <a:srgbClr val="DCDCAA"/>
                </a:solidFill>
                <a:latin typeface="Fira Code" pitchFamily="34" charset="0"/>
                <a:ea typeface="Fira Code" pitchFamily="34" charset="-122"/>
                <a:cs typeface="Fira Code" pitchFamily="34" charset="-120"/>
              </a:rPr>
              <a:t>getBaseVelocity</a:t>
            </a:r>
            <a:r>
              <a:rPr lang="en-US" sz="834" dirty="0">
                <a:solidFill>
                  <a:srgbClr val="9CDCFE"/>
                </a:solidFill>
                <a:latin typeface="Fira Code" pitchFamily="34" charset="0"/>
                <a:ea typeface="Fira Code" pitchFamily="34" charset="-122"/>
                <a:cs typeface="Fira Code" pitchFamily="34" charset="-120"/>
              </a:rPr>
              <a:t>(robotId)</a:t>
            </a:r>
            <a:endParaRPr lang="en-US" sz="834" dirty="0"/>
          </a:p>
        </p:txBody>
      </p:sp>
      <p:sp>
        <p:nvSpPr>
          <p:cNvPr id="29" name="Text 22"/>
          <p:cNvSpPr/>
          <p:nvPr/>
        </p:nvSpPr>
        <p:spPr>
          <a:xfrm>
            <a:off x="4436911" y="1745921"/>
            <a:ext cx="4192739" cy="160009"/>
          </a:xfrm>
          <a:prstGeom prst="rect">
            <a:avLst/>
          </a:prstGeom>
          <a:noFill/>
          <a:ln/>
        </p:spPr>
        <p:txBody>
          <a:bodyPr wrap="none" lIns="0" tIns="0" rIns="0" bIns="0" rtlCol="0" anchor="t">
            <a:spAutoFit/>
          </a:bodyPr>
          <a:lstStyle/>
          <a:p>
            <a:pPr algn="l" indent="0" marL="0">
              <a:lnSpc>
                <a:spcPts val="1300"/>
              </a:lnSpc>
              <a:buNone/>
            </a:pPr>
            <a:r>
              <a:rPr lang="en-US" sz="834" dirty="0">
                <a:solidFill>
                  <a:srgbClr val="A0A0A0"/>
                </a:solidFill>
                <a:latin typeface="Open Sans" pitchFamily="34" charset="0"/>
                <a:ea typeface="Open Sans" pitchFamily="34" charset="-122"/>
                <a:cs typeface="Open Sans" pitchFamily="34" charset="-120"/>
              </a:rPr>
              <a:t>Returns linear velocity (vx, vy, vz) and angular velocity (wx, wy, wz).</a:t>
            </a:r>
            <a:endParaRPr lang="en-US" sz="834" dirty="0"/>
          </a:p>
        </p:txBody>
      </p:sp>
      <p:sp>
        <p:nvSpPr>
          <p:cNvPr id="30" name="Shape 23"/>
          <p:cNvSpPr/>
          <p:nvPr/>
        </p:nvSpPr>
        <p:spPr>
          <a:xfrm>
            <a:off x="4351186" y="2077380"/>
            <a:ext cx="4364189" cy="538628"/>
          </a:xfrm>
          <a:prstGeom prst="rect">
            <a:avLst/>
          </a:prstGeom>
          <a:solidFill>
            <a:srgbClr val="000000">
              <a:alpha val="40000"/>
            </a:srgbClr>
          </a:solidFill>
          <a:ln w="9144">
            <a:solidFill>
              <a:srgbClr val="FFFFFF">
                <a:alpha val="10000"/>
              </a:srgbClr>
            </a:solidFill>
            <a:prstDash val="solid"/>
          </a:ln>
        </p:spPr>
      </p:sp>
      <p:sp>
        <p:nvSpPr>
          <p:cNvPr id="31" name="Text 24"/>
          <p:cNvSpPr/>
          <p:nvPr/>
        </p:nvSpPr>
        <p:spPr>
          <a:xfrm>
            <a:off x="4436911" y="2163105"/>
            <a:ext cx="4192739" cy="150019"/>
          </a:xfrm>
          <a:prstGeom prst="rect">
            <a:avLst/>
          </a:prstGeom>
          <a:noFill/>
          <a:ln/>
        </p:spPr>
        <p:txBody>
          <a:bodyPr wrap="none" lIns="0" tIns="0" rIns="0" bIns="0" rtlCol="0" anchor="t">
            <a:spAutoFit/>
          </a:bodyPr>
          <a:lstStyle/>
          <a:p>
            <a:pPr algn="l" indent="0" marL="0">
              <a:lnSpc>
                <a:spcPts val="1100"/>
              </a:lnSpc>
              <a:buNone/>
            </a:pPr>
            <a:r>
              <a:rPr lang="en-US" sz="834" dirty="0">
                <a:solidFill>
                  <a:srgbClr val="9CDCFE"/>
                </a:solidFill>
                <a:latin typeface="Fira Code" pitchFamily="34" charset="0"/>
                <a:ea typeface="Fira Code" pitchFamily="34" charset="-122"/>
                <a:cs typeface="Fira Code" pitchFamily="34" charset="-120"/>
              </a:rPr>
              <a:t>euler = p.</a:t>
            </a:r>
            <a:r>
              <a:rPr lang="en-US" sz="834" dirty="0">
                <a:solidFill>
                  <a:srgbClr val="DCDCAA"/>
                </a:solidFill>
                <a:latin typeface="Fira Code" pitchFamily="34" charset="0"/>
                <a:ea typeface="Fira Code" pitchFamily="34" charset="-122"/>
                <a:cs typeface="Fira Code" pitchFamily="34" charset="-120"/>
              </a:rPr>
              <a:t>getEulerFromQuaternion</a:t>
            </a:r>
            <a:r>
              <a:rPr lang="en-US" sz="834" dirty="0">
                <a:solidFill>
                  <a:srgbClr val="9CDCFE"/>
                </a:solidFill>
                <a:latin typeface="Fira Code" pitchFamily="34" charset="0"/>
                <a:ea typeface="Fira Code" pitchFamily="34" charset="-122"/>
                <a:cs typeface="Fira Code" pitchFamily="34" charset="-120"/>
              </a:rPr>
              <a:t>(orn)</a:t>
            </a:r>
            <a:endParaRPr lang="en-US" sz="834" dirty="0"/>
          </a:p>
        </p:txBody>
      </p:sp>
      <p:sp>
        <p:nvSpPr>
          <p:cNvPr id="32" name="Text 25"/>
          <p:cNvSpPr/>
          <p:nvPr/>
        </p:nvSpPr>
        <p:spPr>
          <a:xfrm>
            <a:off x="4436911" y="2355986"/>
            <a:ext cx="4192739" cy="160009"/>
          </a:xfrm>
          <a:prstGeom prst="rect">
            <a:avLst/>
          </a:prstGeom>
          <a:noFill/>
          <a:ln/>
        </p:spPr>
        <p:txBody>
          <a:bodyPr wrap="none" lIns="0" tIns="0" rIns="0" bIns="0" rtlCol="0" anchor="t">
            <a:spAutoFit/>
          </a:bodyPr>
          <a:lstStyle/>
          <a:p>
            <a:pPr algn="l" indent="0" marL="0">
              <a:lnSpc>
                <a:spcPts val="1300"/>
              </a:lnSpc>
              <a:buNone/>
            </a:pPr>
            <a:r>
              <a:rPr lang="en-US" sz="834" dirty="0">
                <a:solidFill>
                  <a:srgbClr val="A0A0A0"/>
                </a:solidFill>
                <a:latin typeface="Open Sans" pitchFamily="34" charset="0"/>
                <a:ea typeface="Open Sans" pitchFamily="34" charset="-122"/>
                <a:cs typeface="Open Sans" pitchFamily="34" charset="-120"/>
              </a:rPr>
              <a:t>Converts complex quaternions into human-readable (roll, pitch, yaw) angles.</a:t>
            </a:r>
            <a:endParaRPr lang="en-US" sz="834" dirty="0"/>
          </a:p>
        </p:txBody>
      </p:sp>
      <p:sp>
        <p:nvSpPr>
          <p:cNvPr id="33" name="Shape 26"/>
          <p:cNvSpPr/>
          <p:nvPr/>
        </p:nvSpPr>
        <p:spPr>
          <a:xfrm>
            <a:off x="4351186" y="2758883"/>
            <a:ext cx="4364189" cy="1141214"/>
          </a:xfrm>
          <a:prstGeom prst="rect">
            <a:avLst/>
          </a:prstGeom>
          <a:solidFill>
            <a:srgbClr val="1E1E1E"/>
          </a:solidFill>
          <a:ln w="9144">
            <a:solidFill>
              <a:srgbClr val="333333"/>
            </a:solidFill>
            <a:prstDash val="solid"/>
          </a:ln>
        </p:spPr>
      </p:sp>
      <p:sp>
        <p:nvSpPr>
          <p:cNvPr id="34" name="Shape 27"/>
          <p:cNvSpPr/>
          <p:nvPr/>
        </p:nvSpPr>
        <p:spPr>
          <a:xfrm>
            <a:off x="4351186" y="2758883"/>
            <a:ext cx="4364189" cy="233958"/>
          </a:xfrm>
          <a:prstGeom prst="rect">
            <a:avLst/>
          </a:prstGeom>
          <a:solidFill>
            <a:srgbClr val="2D2D2D"/>
          </a:solidFill>
          <a:ln/>
        </p:spPr>
      </p:sp>
      <p:sp>
        <p:nvSpPr>
          <p:cNvPr id="35" name="Shape 28"/>
          <p:cNvSpPr/>
          <p:nvPr/>
        </p:nvSpPr>
        <p:spPr>
          <a:xfrm>
            <a:off x="4351186" y="2985697"/>
            <a:ext cx="4364189" cy="7144"/>
          </a:xfrm>
          <a:prstGeom prst="rect">
            <a:avLst/>
          </a:prstGeom>
          <a:solidFill>
            <a:srgbClr val="111111"/>
          </a:solidFill>
          <a:ln/>
        </p:spPr>
      </p:sp>
      <p:sp>
        <p:nvSpPr>
          <p:cNvPr id="36" name="Text 29"/>
          <p:cNvSpPr/>
          <p:nvPr/>
        </p:nvSpPr>
        <p:spPr>
          <a:xfrm>
            <a:off x="4786954" y="2816033"/>
            <a:ext cx="3821264" cy="112514"/>
          </a:xfrm>
          <a:prstGeom prst="rect">
            <a:avLst/>
          </a:prstGeom>
          <a:noFill/>
          <a:ln/>
        </p:spPr>
        <p:txBody>
          <a:bodyPr wrap="none" lIns="0" tIns="0" rIns="0" bIns="0" rtlCol="0" anchor="t">
            <a:spAutoFit/>
          </a:bodyPr>
          <a:lstStyle/>
          <a:p>
            <a:pPr algn="ctr" indent="0" marL="0">
              <a:lnSpc>
                <a:spcPts val="800"/>
              </a:lnSpc>
              <a:buNone/>
            </a:pPr>
            <a:r>
              <a:rPr lang="en-US" sz="621" dirty="0">
                <a:solidFill>
                  <a:srgbClr val="888888"/>
                </a:solidFill>
                <a:latin typeface="Fira Code" pitchFamily="34" charset="0"/>
                <a:ea typeface="Fira Code" pitchFamily="34" charset="-122"/>
                <a:cs typeface="Fira Code" pitchFamily="34" charset="-120"/>
              </a:rPr>
              <a:t>Expected Console Output (Every 0.5s)</a:t>
            </a:r>
            <a:endParaRPr lang="en-US" sz="621" dirty="0"/>
          </a:p>
        </p:txBody>
      </p:sp>
      <p:sp>
        <p:nvSpPr>
          <p:cNvPr id="37" name="Text 30"/>
          <p:cNvSpPr/>
          <p:nvPr/>
        </p:nvSpPr>
        <p:spPr>
          <a:xfrm>
            <a:off x="4422623" y="3057134"/>
            <a:ext cx="4221314"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9CDCFE"/>
                </a:solidFill>
                <a:latin typeface="Fira Code" pitchFamily="34" charset="0"/>
                <a:ea typeface="Fira Code" pitchFamily="34" charset="-122"/>
                <a:cs typeface="Fira Code" pitchFamily="34" charset="-120"/>
              </a:rPr>
              <a:t>Time:</a:t>
            </a:r>
            <a:r>
              <a:rPr lang="en-US" sz="727" dirty="0">
                <a:solidFill>
                  <a:srgbClr val="D4D4D4"/>
                </a:solidFill>
                <a:latin typeface="Fira Code" pitchFamily="34" charset="0"/>
                <a:ea typeface="Fira Code" pitchFamily="34" charset="-122"/>
                <a:cs typeface="Fira Code" pitchFamily="34" charset="-120"/>
              </a:rPr>
              <a:t> </a:t>
            </a:r>
            <a:r>
              <a:rPr lang="en-US" sz="727" dirty="0">
                <a:solidFill>
                  <a:srgbClr val="CE9178"/>
                </a:solidFill>
                <a:latin typeface="Fira Code" pitchFamily="34" charset="0"/>
                <a:ea typeface="Fira Code" pitchFamily="34" charset="-122"/>
                <a:cs typeface="Fira Code" pitchFamily="34" charset="-120"/>
              </a:rPr>
              <a:t>2.50s</a:t>
            </a:r>
            <a:endParaRPr lang="en-US" sz="727" dirty="0"/>
          </a:p>
        </p:txBody>
      </p:sp>
      <p:sp>
        <p:nvSpPr>
          <p:cNvPr id="38" name="Text 31"/>
          <p:cNvSpPr/>
          <p:nvPr/>
        </p:nvSpPr>
        <p:spPr>
          <a:xfrm>
            <a:off x="4422623" y="3207153"/>
            <a:ext cx="4221314"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9CDCFE"/>
                </a:solidFill>
                <a:latin typeface="Fira Code" pitchFamily="34" charset="0"/>
                <a:ea typeface="Fira Code" pitchFamily="34" charset="-122"/>
                <a:cs typeface="Fira Code" pitchFamily="34" charset="-120"/>
              </a:rPr>
              <a:t>Position (x,y,z):</a:t>
            </a:r>
            <a:r>
              <a:rPr lang="en-US" sz="727" dirty="0">
                <a:solidFill>
                  <a:srgbClr val="D4D4D4"/>
                </a:solidFill>
                <a:latin typeface="Fira Code" pitchFamily="34" charset="0"/>
                <a:ea typeface="Fira Code" pitchFamily="34" charset="-122"/>
                <a:cs typeface="Fira Code" pitchFamily="34" charset="-120"/>
              </a:rPr>
              <a:t> </a:t>
            </a:r>
            <a:r>
              <a:rPr lang="en-US" sz="727" dirty="0">
                <a:solidFill>
                  <a:srgbClr val="CE9178"/>
                </a:solidFill>
                <a:latin typeface="Fira Code" pitchFamily="34" charset="0"/>
                <a:ea typeface="Fira Code" pitchFamily="34" charset="-122"/>
                <a:cs typeface="Fira Code" pitchFamily="34" charset="-120"/>
              </a:rPr>
              <a:t>(0.000, 0.000, 0.500)</a:t>
            </a:r>
            <a:endParaRPr lang="en-US" sz="727" dirty="0"/>
          </a:p>
        </p:txBody>
      </p:sp>
      <p:sp>
        <p:nvSpPr>
          <p:cNvPr id="39" name="Text 32"/>
          <p:cNvSpPr/>
          <p:nvPr/>
        </p:nvSpPr>
        <p:spPr>
          <a:xfrm>
            <a:off x="4422623" y="3357172"/>
            <a:ext cx="4221314"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9CDCFE"/>
                </a:solidFill>
                <a:latin typeface="Fira Code" pitchFamily="34" charset="0"/>
                <a:ea typeface="Fira Code" pitchFamily="34" charset="-122"/>
                <a:cs typeface="Fira Code" pitchFamily="34" charset="-120"/>
              </a:rPr>
              <a:t>Orientation (r,p,y):</a:t>
            </a:r>
            <a:r>
              <a:rPr lang="en-US" sz="727" dirty="0">
                <a:solidFill>
                  <a:srgbClr val="D4D4D4"/>
                </a:solidFill>
                <a:latin typeface="Fira Code" pitchFamily="34" charset="0"/>
                <a:ea typeface="Fira Code" pitchFamily="34" charset="-122"/>
                <a:cs typeface="Fira Code" pitchFamily="34" charset="-120"/>
              </a:rPr>
              <a:t> </a:t>
            </a:r>
            <a:r>
              <a:rPr lang="en-US" sz="727" dirty="0">
                <a:solidFill>
                  <a:srgbClr val="CE9178"/>
                </a:solidFill>
                <a:latin typeface="Fira Code" pitchFamily="34" charset="0"/>
                <a:ea typeface="Fira Code" pitchFamily="34" charset="-122"/>
                <a:cs typeface="Fira Code" pitchFamily="34" charset="-120"/>
              </a:rPr>
              <a:t>(0.000, 0.000, 0.000)</a:t>
            </a:r>
            <a:endParaRPr lang="en-US" sz="727" dirty="0"/>
          </a:p>
        </p:txBody>
      </p:sp>
      <p:sp>
        <p:nvSpPr>
          <p:cNvPr id="40" name="Text 33"/>
          <p:cNvSpPr/>
          <p:nvPr/>
        </p:nvSpPr>
        <p:spPr>
          <a:xfrm>
            <a:off x="4422623" y="3507191"/>
            <a:ext cx="4221314"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9CDCFE"/>
                </a:solidFill>
                <a:latin typeface="Fira Code" pitchFamily="34" charset="0"/>
                <a:ea typeface="Fira Code" pitchFamily="34" charset="-122"/>
                <a:cs typeface="Fira Code" pitchFamily="34" charset="-120"/>
              </a:rPr>
              <a:t>Linear Velocity:</a:t>
            </a:r>
            <a:r>
              <a:rPr lang="en-US" sz="727" dirty="0">
                <a:solidFill>
                  <a:srgbClr val="D4D4D4"/>
                </a:solidFill>
                <a:latin typeface="Fira Code" pitchFamily="34" charset="0"/>
                <a:ea typeface="Fira Code" pitchFamily="34" charset="-122"/>
                <a:cs typeface="Fira Code" pitchFamily="34" charset="-120"/>
              </a:rPr>
              <a:t> </a:t>
            </a:r>
            <a:r>
              <a:rPr lang="en-US" sz="727" dirty="0">
                <a:solidFill>
                  <a:srgbClr val="CE9178"/>
                </a:solidFill>
                <a:latin typeface="Fira Code" pitchFamily="34" charset="0"/>
                <a:ea typeface="Fira Code" pitchFamily="34" charset="-122"/>
                <a:cs typeface="Fira Code" pitchFamily="34" charset="-120"/>
              </a:rPr>
              <a:t>(0.000, 0.000, 0.000)</a:t>
            </a:r>
            <a:endParaRPr lang="en-US" sz="727" dirty="0"/>
          </a:p>
        </p:txBody>
      </p:sp>
      <p:sp>
        <p:nvSpPr>
          <p:cNvPr id="41" name="Text 34"/>
          <p:cNvSpPr/>
          <p:nvPr/>
        </p:nvSpPr>
        <p:spPr>
          <a:xfrm>
            <a:off x="4422623" y="3657209"/>
            <a:ext cx="4221314"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9CDCFE"/>
                </a:solidFill>
                <a:latin typeface="Fira Code" pitchFamily="34" charset="0"/>
                <a:ea typeface="Fira Code" pitchFamily="34" charset="-122"/>
                <a:cs typeface="Fira Code" pitchFamily="34" charset="-120"/>
              </a:rPr>
              <a:t>Angular Velocity:</a:t>
            </a:r>
            <a:r>
              <a:rPr lang="en-US" sz="727" dirty="0">
                <a:solidFill>
                  <a:srgbClr val="D4D4D4"/>
                </a:solidFill>
                <a:latin typeface="Fira Code" pitchFamily="34" charset="0"/>
                <a:ea typeface="Fira Code" pitchFamily="34" charset="-122"/>
                <a:cs typeface="Fira Code" pitchFamily="34" charset="-120"/>
              </a:rPr>
              <a:t> </a:t>
            </a:r>
            <a:r>
              <a:rPr lang="en-US" sz="727" dirty="0">
                <a:solidFill>
                  <a:srgbClr val="CE9178"/>
                </a:solidFill>
                <a:latin typeface="Fira Code" pitchFamily="34" charset="0"/>
                <a:ea typeface="Fira Code" pitchFamily="34" charset="-122"/>
                <a:cs typeface="Fira Code" pitchFamily="34" charset="-120"/>
              </a:rPr>
              <a:t>(0.000, 0.000, 0.000)</a:t>
            </a:r>
            <a:endParaRPr lang="en-US" sz="727" dirty="0"/>
          </a:p>
        </p:txBody>
      </p:sp>
      <p:sp>
        <p:nvSpPr>
          <p:cNvPr id="42" name="Shape 35"/>
          <p:cNvSpPr/>
          <p:nvPr/>
        </p:nvSpPr>
        <p:spPr>
          <a:xfrm>
            <a:off x="0" y="4857750"/>
            <a:ext cx="9144000" cy="285750"/>
          </a:xfrm>
          <a:prstGeom prst="rect">
            <a:avLst/>
          </a:prstGeom>
          <a:solidFill>
            <a:srgbClr val="000000">
              <a:alpha val="0"/>
            </a:srgbClr>
          </a:solidFill>
          <a:ln/>
        </p:spPr>
      </p:sp>
      <p:sp>
        <p:nvSpPr>
          <p:cNvPr id="43" name="Shape 36"/>
          <p:cNvSpPr/>
          <p:nvPr/>
        </p:nvSpPr>
        <p:spPr>
          <a:xfrm>
            <a:off x="0" y="4857750"/>
            <a:ext cx="9144000" cy="7144"/>
          </a:xfrm>
          <a:prstGeom prst="rect">
            <a:avLst/>
          </a:prstGeom>
          <a:solidFill>
            <a:srgbClr val="FFFFFF"/>
          </a:solidFill>
          <a:ln/>
        </p:spPr>
      </p:sp>
      <p:sp>
        <p:nvSpPr>
          <p:cNvPr id="44" name="Text 37"/>
          <p:cNvSpPr/>
          <p:nvPr/>
        </p:nvSpPr>
        <p:spPr>
          <a:xfrm>
            <a:off x="428625" y="4936331"/>
            <a:ext cx="905470"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888888"/>
                </a:solidFill>
                <a:latin typeface="Open Sans" pitchFamily="34" charset="0"/>
                <a:ea typeface="Open Sans" pitchFamily="34" charset="-122"/>
                <a:cs typeface="Open Sans" pitchFamily="34" charset="-120"/>
              </a:rPr>
              <a:t>Lab 1: Hello, Robot!</a:t>
            </a:r>
            <a:endParaRPr lang="en-US" sz="727" dirty="0"/>
          </a:p>
        </p:txBody>
      </p:sp>
      <p:sp>
        <p:nvSpPr>
          <p:cNvPr id="45" name="Text 38"/>
          <p:cNvSpPr/>
          <p:nvPr/>
        </p:nvSpPr>
        <p:spPr>
          <a:xfrm>
            <a:off x="7824192" y="4936331"/>
            <a:ext cx="891183"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888888"/>
                </a:solidFill>
                <a:latin typeface="Open Sans" pitchFamily="34" charset="0"/>
                <a:ea typeface="Open Sans" pitchFamily="34" charset="-122"/>
                <a:cs typeface="Open Sans" pitchFamily="34" charset="-120"/>
              </a:rPr>
              <a:t>Block 1: Perception</a:t>
            </a:r>
            <a:endParaRPr lang="en-US" sz="727"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650081"/>
          </a:xfrm>
          <a:prstGeom prst="rect">
            <a:avLst/>
          </a:prstGeom>
          <a:solidFill>
            <a:srgbClr val="000000">
              <a:alpha val="0"/>
            </a:srgbClr>
          </a:solidFill>
          <a:ln/>
        </p:spPr>
      </p:sp>
      <p:sp>
        <p:nvSpPr>
          <p:cNvPr id="4" name="Shape 1"/>
          <p:cNvSpPr/>
          <p:nvPr/>
        </p:nvSpPr>
        <p:spPr>
          <a:xfrm>
            <a:off x="0" y="642938"/>
            <a:ext cx="9144000" cy="7144"/>
          </a:xfrm>
          <a:prstGeom prst="rect">
            <a:avLst/>
          </a:prstGeom>
          <a:solidFill>
            <a:srgbClr val="B3EBF2"/>
          </a:solidFill>
          <a:ln/>
        </p:spPr>
      </p:sp>
      <p:pic>
        <p:nvPicPr>
          <p:cNvPr id="5" name="Image 1" descr="preencoded.png">    </p:cNvPr>
          <p:cNvPicPr>
            <a:picLocks noChangeAspect="1"/>
          </p:cNvPicPr>
          <p:nvPr/>
        </p:nvPicPr>
        <p:blipFill>
          <a:blip r:embed="rId2"/>
          <a:stretch>
            <a:fillRect/>
          </a:stretch>
        </p:blipFill>
        <p:spPr>
          <a:xfrm>
            <a:off x="285750" y="300038"/>
            <a:ext cx="257175" cy="257175"/>
          </a:xfrm>
          <a:prstGeom prst="rect">
            <a:avLst/>
          </a:prstGeom>
        </p:spPr>
      </p:pic>
      <p:sp>
        <p:nvSpPr>
          <p:cNvPr id="6" name="Text 2"/>
          <p:cNvSpPr/>
          <p:nvPr/>
        </p:nvSpPr>
        <p:spPr>
          <a:xfrm>
            <a:off x="657225" y="285750"/>
            <a:ext cx="6581180" cy="285750"/>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00BCD4"/>
                </a:solidFill>
                <a:latin typeface="Fira Code" pitchFamily="34" charset="0"/>
                <a:ea typeface="Fira Code" pitchFamily="34" charset="-122"/>
                <a:cs typeface="Fira Code" pitchFamily="34" charset="-120"/>
              </a:rPr>
              <a:t>move_robot.py</a:t>
            </a:r>
            <a:r>
              <a:rPr lang="en-US" sz="1397" b="1" dirty="0">
                <a:solidFill>
                  <a:srgbClr val="00BCD4"/>
                </a:solidFill>
                <a:latin typeface="Fira Code" pitchFamily="34" charset="0"/>
                <a:ea typeface="Fira Code" pitchFamily="34" charset="-122"/>
                <a:cs typeface="Fira Code" pitchFamily="34" charset="-120"/>
              </a:rPr>
              <a:t>: Commanding Motion with resetBaseVelocity</a:t>
            </a:r>
            <a:endParaRPr lang="en-US" sz="1397" dirty="0"/>
          </a:p>
        </p:txBody>
      </p:sp>
      <p:sp>
        <p:nvSpPr>
          <p:cNvPr id="7" name="Shape 3"/>
          <p:cNvSpPr/>
          <p:nvPr/>
        </p:nvSpPr>
        <p:spPr>
          <a:xfrm>
            <a:off x="285750" y="728663"/>
            <a:ext cx="4214813" cy="1808373"/>
          </a:xfrm>
          <a:prstGeom prst="rect">
            <a:avLst/>
          </a:prstGeom>
          <a:solidFill>
            <a:srgbClr val="FFFFFF">
              <a:alpha val="5000"/>
            </a:srgbClr>
          </a:solidFill>
          <a:ln/>
        </p:spPr>
      </p:sp>
      <p:sp>
        <p:nvSpPr>
          <p:cNvPr id="8" name="Shape 4"/>
          <p:cNvSpPr/>
          <p:nvPr/>
        </p:nvSpPr>
        <p:spPr>
          <a:xfrm>
            <a:off x="285750" y="728663"/>
            <a:ext cx="28575" cy="1808373"/>
          </a:xfrm>
          <a:prstGeom prst="rect">
            <a:avLst/>
          </a:prstGeom>
          <a:solidFill>
            <a:srgbClr val="00BCD4"/>
          </a:solidFill>
          <a:ln/>
        </p:spPr>
      </p:sp>
      <p:pic>
        <p:nvPicPr>
          <p:cNvPr id="9" name="Image 2" descr="preencoded.png">    </p:cNvPr>
          <p:cNvPicPr>
            <a:picLocks noChangeAspect="1"/>
          </p:cNvPicPr>
          <p:nvPr/>
        </p:nvPicPr>
        <p:blipFill>
          <a:blip r:embed="rId3"/>
          <a:stretch>
            <a:fillRect/>
          </a:stretch>
        </p:blipFill>
        <p:spPr>
          <a:xfrm>
            <a:off x="371475" y="831354"/>
            <a:ext cx="196453" cy="157163"/>
          </a:xfrm>
          <a:prstGeom prst="rect">
            <a:avLst/>
          </a:prstGeom>
        </p:spPr>
      </p:pic>
      <p:sp>
        <p:nvSpPr>
          <p:cNvPr id="10" name="Text 5"/>
          <p:cNvSpPr/>
          <p:nvPr/>
        </p:nvSpPr>
        <p:spPr>
          <a:xfrm>
            <a:off x="639366" y="814388"/>
            <a:ext cx="1510903"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0BCD4"/>
                </a:solidFill>
                <a:latin typeface="Montserrat" pitchFamily="34" charset="0"/>
                <a:ea typeface="Montserrat" pitchFamily="34" charset="-122"/>
                <a:cs typeface="Montserrat" pitchFamily="34" charset="-120"/>
              </a:rPr>
              <a:t>The Core Function</a:t>
            </a:r>
            <a:endParaRPr lang="en-US" sz="1090" dirty="0"/>
          </a:p>
        </p:txBody>
      </p:sp>
      <p:sp>
        <p:nvSpPr>
          <p:cNvPr id="11" name="Shape 6"/>
          <p:cNvSpPr/>
          <p:nvPr/>
        </p:nvSpPr>
        <p:spPr>
          <a:xfrm>
            <a:off x="371475" y="1062633"/>
            <a:ext cx="4043363" cy="714375"/>
          </a:xfrm>
          <a:prstGeom prst="rect">
            <a:avLst/>
          </a:prstGeom>
          <a:solidFill>
            <a:srgbClr val="1E1E1E"/>
          </a:solidFill>
          <a:ln w="9144">
            <a:solidFill>
              <a:srgbClr val="333333"/>
            </a:solidFill>
            <a:prstDash val="solid"/>
          </a:ln>
        </p:spPr>
      </p:sp>
      <p:sp>
        <p:nvSpPr>
          <p:cNvPr id="12" name="Text 7"/>
          <p:cNvSpPr/>
          <p:nvPr/>
        </p:nvSpPr>
        <p:spPr>
          <a:xfrm>
            <a:off x="371475" y="1062633"/>
            <a:ext cx="4043363" cy="714375"/>
          </a:xfrm>
          <a:prstGeom prst="rect">
            <a:avLst/>
          </a:prstGeom>
          <a:noFill/>
          <a:ln/>
        </p:spPr>
        <p:txBody>
          <a:bodyPr wrap="square" lIns="85090" tIns="85090" rIns="85090" bIns="85090" rtlCol="0" anchor="t">
            <a:spAutoFit/>
          </a:bodyPr>
          <a:lstStyle/>
          <a:p>
            <a:pPr algn="l" indent="0" marL="0">
              <a:lnSpc>
                <a:spcPts val="1000"/>
              </a:lnSpc>
              <a:buNone/>
            </a:pPr>
            <a:r>
              <a:rPr lang="en-US" sz="780" dirty="0">
                <a:solidFill>
                  <a:srgbClr val="569CD6"/>
                </a:solidFill>
                <a:latin typeface="Fira Code" pitchFamily="34" charset="0"/>
                <a:ea typeface="Fira Code" pitchFamily="34" charset="-122"/>
                <a:cs typeface="Fira Code" pitchFamily="34" charset="-120"/>
              </a:rPr>
              <a:t>import</a:t>
            </a:r>
            <a:r>
              <a:rPr lang="en-US" sz="780" dirty="0">
                <a:solidFill>
                  <a:srgbClr val="D4D4D4"/>
                </a:solidFill>
                <a:latin typeface="Fira Code" pitchFamily="34" charset="0"/>
                <a:ea typeface="Fira Code" pitchFamily="34" charset="-122"/>
                <a:cs typeface="Fira Code" pitchFamily="34" charset="-120"/>
              </a:rPr>
              <a:t> pybullet </a:t>
            </a:r>
            <a:r>
              <a:rPr lang="en-US" sz="780" dirty="0">
                <a:solidFill>
                  <a:srgbClr val="569CD6"/>
                </a:solidFill>
                <a:latin typeface="Fira Code" pitchFamily="34" charset="0"/>
                <a:ea typeface="Fira Code" pitchFamily="34" charset="-122"/>
                <a:cs typeface="Fira Code" pitchFamily="34" charset="-120"/>
              </a:rPr>
              <a:t>as</a:t>
            </a:r>
            <a:r>
              <a:rPr lang="en-US" sz="780" dirty="0">
                <a:solidFill>
                  <a:srgbClr val="D4D4D4"/>
                </a:solidFill>
                <a:latin typeface="Fira Code" pitchFamily="34" charset="0"/>
                <a:ea typeface="Fira Code" pitchFamily="34" charset="-122"/>
                <a:cs typeface="Fira Code" pitchFamily="34" charset="-120"/>
              </a:rPr>
              <a:t> p
</a:t>
            </a:r>
            <a:r>
              <a:rPr lang="en-US" sz="780" dirty="0">
                <a:solidFill>
                  <a:srgbClr val="D4D4D4"/>
                </a:solidFill>
                <a:latin typeface="Fira Code" pitchFamily="34" charset="0"/>
                <a:ea typeface="Fira Code" pitchFamily="34" charset="-122"/>
                <a:cs typeface="Fira Code" pitchFamily="34" charset="-120"/>
              </a:rPr>
              <a:t># Directly sets the robot body's velocity
</a:t>
            </a:r>
            <a:r>
              <a:rPr lang="en-US" sz="780" dirty="0">
                <a:solidFill>
                  <a:srgbClr val="D4D4D4"/>
                </a:solidFill>
                <a:latin typeface="Fira Code" pitchFamily="34" charset="0"/>
                <a:ea typeface="Fira Code" pitchFamily="34" charset="-122"/>
                <a:cs typeface="Fira Code" pitchFamily="34" charset="-120"/>
              </a:rPr>
              <a:t>p.</a:t>
            </a:r>
            <a:r>
              <a:rPr lang="en-US" sz="780" dirty="0">
                <a:solidFill>
                  <a:srgbClr val="DCDCAA"/>
                </a:solidFill>
                <a:latin typeface="Fira Code" pitchFamily="34" charset="0"/>
                <a:ea typeface="Fira Code" pitchFamily="34" charset="-122"/>
                <a:cs typeface="Fira Code" pitchFamily="34" charset="-120"/>
              </a:rPr>
              <a:t>resetBaseVelocity</a:t>
            </a:r>
            <a:r>
              <a:rPr lang="en-US" sz="780" dirty="0">
                <a:solidFill>
                  <a:srgbClr val="D4D4D4"/>
                </a:solidFill>
                <a:latin typeface="Fira Code" pitchFamily="34" charset="0"/>
                <a:ea typeface="Fira Code" pitchFamily="34" charset="-122"/>
                <a:cs typeface="Fira Code" pitchFamily="34" charset="-120"/>
              </a:rPr>
              <a:t>(robotId, linearVelocity=[vx, vy, 0], </a:t>
            </a:r>
            <a:r>
              <a:rPr lang="en-US" sz="780" dirty="0">
                <a:solidFill>
                  <a:srgbClr val="D4D4D4"/>
                </a:solidFill>
                <a:latin typeface="Fira Code" pitchFamily="34" charset="0"/>
                <a:ea typeface="Fira Code" pitchFamily="34" charset="-122"/>
                <a:cs typeface="Fira Code" pitchFamily="34" charset="-120"/>
              </a:rPr>
              <a:t>angularVelocity=[0, 0, wz])</a:t>
            </a:r>
            <a:endParaRPr lang="en-US" sz="780" dirty="0"/>
          </a:p>
        </p:txBody>
      </p:sp>
      <p:sp>
        <p:nvSpPr>
          <p:cNvPr id="13" name="Text 8"/>
          <p:cNvSpPr/>
          <p:nvPr/>
        </p:nvSpPr>
        <p:spPr>
          <a:xfrm>
            <a:off x="371475" y="1819870"/>
            <a:ext cx="4043363" cy="617153"/>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E0E0E0"/>
                </a:solidFill>
                <a:latin typeface="Open Sans" pitchFamily="34" charset="0"/>
                <a:ea typeface="Open Sans" pitchFamily="34" charset="-122"/>
                <a:cs typeface="Open Sans" pitchFamily="34" charset="-120"/>
              </a:rPr>
              <a:t>This function directly commands the robot's base. It is simple, reliable, and perfect for learning the fundamentals of motion control before dealing with complex wheel physics.</a:t>
            </a:r>
            <a:endParaRPr lang="en-US" sz="942" dirty="0"/>
          </a:p>
        </p:txBody>
      </p:sp>
      <p:sp>
        <p:nvSpPr>
          <p:cNvPr id="14" name="Shape 9"/>
          <p:cNvSpPr/>
          <p:nvPr/>
        </p:nvSpPr>
        <p:spPr>
          <a:xfrm>
            <a:off x="285750" y="2608473"/>
            <a:ext cx="4214813" cy="1385441"/>
          </a:xfrm>
          <a:prstGeom prst="rect">
            <a:avLst/>
          </a:prstGeom>
          <a:solidFill>
            <a:srgbClr val="FFFFFF">
              <a:alpha val="5000"/>
            </a:srgbClr>
          </a:solidFill>
          <a:ln/>
        </p:spPr>
      </p:sp>
      <p:sp>
        <p:nvSpPr>
          <p:cNvPr id="15" name="Shape 10"/>
          <p:cNvSpPr/>
          <p:nvPr/>
        </p:nvSpPr>
        <p:spPr>
          <a:xfrm>
            <a:off x="285750" y="2608473"/>
            <a:ext cx="28575" cy="1385441"/>
          </a:xfrm>
          <a:prstGeom prst="rect">
            <a:avLst/>
          </a:prstGeom>
          <a:solidFill>
            <a:srgbClr val="00BCD4"/>
          </a:solidFill>
          <a:ln/>
        </p:spPr>
      </p:sp>
      <p:pic>
        <p:nvPicPr>
          <p:cNvPr id="16" name="Image 3" descr="preencoded.png">    </p:cNvPr>
          <p:cNvPicPr>
            <a:picLocks noChangeAspect="1"/>
          </p:cNvPicPr>
          <p:nvPr/>
        </p:nvPicPr>
        <p:blipFill>
          <a:blip r:embed="rId4"/>
          <a:stretch>
            <a:fillRect/>
          </a:stretch>
        </p:blipFill>
        <p:spPr>
          <a:xfrm>
            <a:off x="371475" y="2711165"/>
            <a:ext cx="157163" cy="157163"/>
          </a:xfrm>
          <a:prstGeom prst="rect">
            <a:avLst/>
          </a:prstGeom>
        </p:spPr>
      </p:pic>
      <p:sp>
        <p:nvSpPr>
          <p:cNvPr id="17" name="Text 11"/>
          <p:cNvSpPr/>
          <p:nvPr/>
        </p:nvSpPr>
        <p:spPr>
          <a:xfrm>
            <a:off x="600075" y="2694198"/>
            <a:ext cx="2878931"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0BCD4"/>
                </a:solidFill>
                <a:latin typeface="Montserrat" pitchFamily="34" charset="0"/>
                <a:ea typeface="Montserrat" pitchFamily="34" charset="-122"/>
                <a:cs typeface="Montserrat" pitchFamily="34" charset="-120"/>
              </a:rPr>
              <a:t>The Body-to-World Frame Problem</a:t>
            </a:r>
            <a:endParaRPr lang="en-US" sz="1090" dirty="0"/>
          </a:p>
        </p:txBody>
      </p:sp>
      <p:sp>
        <p:nvSpPr>
          <p:cNvPr id="18" name="Text 12"/>
          <p:cNvSpPr/>
          <p:nvPr/>
        </p:nvSpPr>
        <p:spPr>
          <a:xfrm>
            <a:off x="514350" y="2942444"/>
            <a:ext cx="3900488" cy="205718"/>
          </a:xfrm>
          <a:prstGeom prst="rect">
            <a:avLst/>
          </a:prstGeom>
          <a:noFill/>
          <a:ln/>
        </p:spPr>
        <p:txBody>
          <a:bodyPr wrap="none" lIns="0" tIns="0" rIns="0" bIns="0" rtlCol="0" anchor="t">
            <a:spAutoFit/>
          </a:bodyPr>
          <a:lstStyle/>
          <a:p>
            <a:pPr algn="l" marL="127000" indent="-127000">
              <a:lnSpc>
                <a:spcPts val="1600"/>
              </a:lnSpc>
              <a:buSzPct val="100000"/>
              <a:buChar char="•"/>
            </a:pPr>
            <a:r>
              <a:rPr lang="en-US" sz="885" b="1" dirty="0">
                <a:solidFill>
                  <a:srgbClr val="E0E0E0"/>
                </a:solidFill>
                <a:latin typeface="Open Sans" pitchFamily="34" charset="0"/>
                <a:ea typeface="Open Sans" pitchFamily="34" charset="-122"/>
                <a:cs typeface="Open Sans" pitchFamily="34" charset="-120"/>
              </a:rPr>
              <a:t>Robot thinks:</a:t>
            </a:r>
            <a:r>
              <a:rPr lang="en-US" sz="942" dirty="0">
                <a:solidFill>
                  <a:srgbClr val="E0E0E0"/>
                </a:solidFill>
                <a:latin typeface="Open Sans" pitchFamily="34" charset="0"/>
                <a:ea typeface="Open Sans" pitchFamily="34" charset="-122"/>
                <a:cs typeface="Open Sans" pitchFamily="34" charset="-120"/>
              </a:rPr>
              <a:t> "Move forward/backward" (Body Frame)</a:t>
            </a:r>
            <a:endParaRPr lang="en-US" sz="885" dirty="0"/>
          </a:p>
        </p:txBody>
      </p:sp>
      <p:sp>
        <p:nvSpPr>
          <p:cNvPr id="19" name="Text 13"/>
          <p:cNvSpPr/>
          <p:nvPr/>
        </p:nvSpPr>
        <p:spPr>
          <a:xfrm>
            <a:off x="514350" y="3191024"/>
            <a:ext cx="3900488" cy="205718"/>
          </a:xfrm>
          <a:prstGeom prst="rect">
            <a:avLst/>
          </a:prstGeom>
          <a:noFill/>
          <a:ln/>
        </p:spPr>
        <p:txBody>
          <a:bodyPr wrap="none" lIns="0" tIns="0" rIns="0" bIns="0" rtlCol="0" anchor="t">
            <a:spAutoFit/>
          </a:bodyPr>
          <a:lstStyle/>
          <a:p>
            <a:pPr algn="l" marL="127000" indent="-127000">
              <a:lnSpc>
                <a:spcPts val="1600"/>
              </a:lnSpc>
              <a:buSzPct val="100000"/>
              <a:buChar char="•"/>
            </a:pPr>
            <a:r>
              <a:rPr lang="en-US" sz="885" b="1" dirty="0">
                <a:solidFill>
                  <a:srgbClr val="E0E0E0"/>
                </a:solidFill>
                <a:latin typeface="Open Sans" pitchFamily="34" charset="0"/>
                <a:ea typeface="Open Sans" pitchFamily="34" charset="-122"/>
                <a:cs typeface="Open Sans" pitchFamily="34" charset="-120"/>
              </a:rPr>
              <a:t>Physics engine thinks:</a:t>
            </a:r>
            <a:r>
              <a:rPr lang="en-US" sz="942" dirty="0">
                <a:solidFill>
                  <a:srgbClr val="E0E0E0"/>
                </a:solidFill>
                <a:latin typeface="Open Sans" pitchFamily="34" charset="0"/>
                <a:ea typeface="Open Sans" pitchFamily="34" charset="-122"/>
                <a:cs typeface="Open Sans" pitchFamily="34" charset="-120"/>
              </a:rPr>
              <a:t> "Move along X/Y/Z" (World Frame)</a:t>
            </a:r>
            <a:endParaRPr lang="en-US" sz="885" dirty="0"/>
          </a:p>
        </p:txBody>
      </p:sp>
      <p:sp>
        <p:nvSpPr>
          <p:cNvPr id="20" name="Text 14"/>
          <p:cNvSpPr/>
          <p:nvPr/>
        </p:nvSpPr>
        <p:spPr>
          <a:xfrm>
            <a:off x="514350" y="3439604"/>
            <a:ext cx="3900488" cy="425723"/>
          </a:xfrm>
          <a:prstGeom prst="rect">
            <a:avLst/>
          </a:prstGeom>
          <a:noFill/>
          <a:ln/>
        </p:spPr>
        <p:txBody>
          <a:bodyPr wrap="square" lIns="0" tIns="0" rIns="0" bIns="0" rtlCol="0" anchor="t">
            <a:spAutoFit/>
          </a:bodyPr>
          <a:lstStyle/>
          <a:p>
            <a:pPr algn="l" marL="127000" indent="-127000">
              <a:lnSpc>
                <a:spcPts val="1600"/>
              </a:lnSpc>
              <a:buSzPct val="100000"/>
              <a:buChar char="•"/>
            </a:pPr>
            <a:r>
              <a:rPr lang="en-US" sz="885" b="1" dirty="0">
                <a:solidFill>
                  <a:srgbClr val="E0E0E0"/>
                </a:solidFill>
                <a:latin typeface="Open Sans" pitchFamily="34" charset="0"/>
                <a:ea typeface="Open Sans" pitchFamily="34" charset="-122"/>
                <a:cs typeface="Open Sans" pitchFamily="34" charset="-120"/>
              </a:rPr>
              <a:t>Solution:</a:t>
            </a:r>
            <a:r>
              <a:rPr lang="en-US" sz="942" dirty="0">
                <a:solidFill>
                  <a:srgbClr val="E0E0E0"/>
                </a:solidFill>
                <a:latin typeface="Open Sans" pitchFamily="34" charset="0"/>
                <a:ea typeface="Open Sans" pitchFamily="34" charset="-122"/>
                <a:cs typeface="Open Sans" pitchFamily="34" charset="-120"/>
              </a:rPr>
              <a:t> Use the current yaw angle to convert: </a:t>
            </a:r>
            <a:r>
              <a:rPr lang="en-US" sz="942" dirty="0">
                <a:solidFill>
                  <a:srgbClr val="00BCD4"/>
                </a:solidFill>
                <a:latin typeface="Fira Code" pitchFamily="34" charset="0"/>
                <a:ea typeface="Fira Code" pitchFamily="34" charset="-122"/>
                <a:cs typeface="Fira Code" pitchFamily="34" charset="-120"/>
              </a:rPr>
              <a:t>vx = speed * cos(yaw)</a:t>
            </a:r>
            <a:r>
              <a:rPr lang="en-US" sz="942" dirty="0">
                <a:solidFill>
                  <a:srgbClr val="E0E0E0"/>
                </a:solidFill>
                <a:latin typeface="Open Sans" pitchFamily="34" charset="0"/>
                <a:ea typeface="Open Sans" pitchFamily="34" charset="-122"/>
                <a:cs typeface="Open Sans" pitchFamily="34" charset="-120"/>
              </a:rPr>
              <a:t>, </a:t>
            </a:r>
            <a:r>
              <a:rPr lang="en-US" sz="942" dirty="0">
                <a:solidFill>
                  <a:srgbClr val="00BCD4"/>
                </a:solidFill>
                <a:latin typeface="Fira Code" pitchFamily="34" charset="0"/>
                <a:ea typeface="Fira Code" pitchFamily="34" charset="-122"/>
                <a:cs typeface="Fira Code" pitchFamily="34" charset="-120"/>
              </a:rPr>
              <a:t>vy = speed * sin(yaw)</a:t>
            </a:r>
            <a:endParaRPr lang="en-US" sz="885" dirty="0"/>
          </a:p>
        </p:txBody>
      </p:sp>
      <p:sp>
        <p:nvSpPr>
          <p:cNvPr id="21" name="Shape 15"/>
          <p:cNvSpPr/>
          <p:nvPr/>
        </p:nvSpPr>
        <p:spPr>
          <a:xfrm>
            <a:off x="4643438" y="728663"/>
            <a:ext cx="4214813" cy="1598414"/>
          </a:xfrm>
          <a:prstGeom prst="rect">
            <a:avLst/>
          </a:prstGeom>
          <a:solidFill>
            <a:srgbClr val="FFFFFF">
              <a:alpha val="5000"/>
            </a:srgbClr>
          </a:solidFill>
          <a:ln/>
        </p:spPr>
      </p:sp>
      <p:sp>
        <p:nvSpPr>
          <p:cNvPr id="22" name="Shape 16"/>
          <p:cNvSpPr/>
          <p:nvPr/>
        </p:nvSpPr>
        <p:spPr>
          <a:xfrm>
            <a:off x="4643438" y="728663"/>
            <a:ext cx="28575" cy="1598414"/>
          </a:xfrm>
          <a:prstGeom prst="rect">
            <a:avLst/>
          </a:prstGeom>
          <a:solidFill>
            <a:srgbClr val="E67E22"/>
          </a:solidFill>
          <a:ln/>
        </p:spPr>
      </p:sp>
      <p:pic>
        <p:nvPicPr>
          <p:cNvPr id="23" name="Image 4" descr="preencoded.png">    </p:cNvPr>
          <p:cNvPicPr>
            <a:picLocks noChangeAspect="1"/>
          </p:cNvPicPr>
          <p:nvPr/>
        </p:nvPicPr>
        <p:blipFill>
          <a:blip r:embed="rId5"/>
          <a:stretch>
            <a:fillRect/>
          </a:stretch>
        </p:blipFill>
        <p:spPr>
          <a:xfrm>
            <a:off x="4729163" y="831354"/>
            <a:ext cx="157163" cy="157163"/>
          </a:xfrm>
          <a:prstGeom prst="rect">
            <a:avLst/>
          </a:prstGeom>
        </p:spPr>
      </p:pic>
      <p:sp>
        <p:nvSpPr>
          <p:cNvPr id="24" name="Text 17"/>
          <p:cNvSpPr/>
          <p:nvPr/>
        </p:nvSpPr>
        <p:spPr>
          <a:xfrm>
            <a:off x="4957763" y="814388"/>
            <a:ext cx="3105745"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E67E22"/>
                </a:solidFill>
                <a:latin typeface="Montserrat" pitchFamily="34" charset="0"/>
                <a:ea typeface="Montserrat" pitchFamily="34" charset="-122"/>
                <a:cs typeface="Montserrat" pitchFamily="34" charset="-120"/>
              </a:rPr>
              <a:t>Movement Parameters (2x2m Square)</a:t>
            </a:r>
            <a:endParaRPr lang="en-US" sz="1090" dirty="0"/>
          </a:p>
        </p:txBody>
      </p:sp>
      <p:sp>
        <p:nvSpPr>
          <p:cNvPr id="25" name="Shape 18"/>
          <p:cNvSpPr/>
          <p:nvPr/>
        </p:nvSpPr>
        <p:spPr>
          <a:xfrm>
            <a:off x="4729163" y="1076920"/>
            <a:ext cx="1985963" cy="546497"/>
          </a:xfrm>
          <a:prstGeom prst="rect">
            <a:avLst/>
          </a:prstGeom>
          <a:solidFill>
            <a:srgbClr val="000000">
              <a:alpha val="30000"/>
            </a:srgbClr>
          </a:solidFill>
          <a:ln w="9144">
            <a:solidFill>
              <a:srgbClr val="E67E22">
                <a:alpha val="30000"/>
              </a:srgbClr>
            </a:solidFill>
            <a:prstDash val="solid"/>
          </a:ln>
        </p:spPr>
      </p:sp>
      <p:sp>
        <p:nvSpPr>
          <p:cNvPr id="26" name="Text 19"/>
          <p:cNvSpPr/>
          <p:nvPr/>
        </p:nvSpPr>
        <p:spPr>
          <a:xfrm>
            <a:off x="4800600" y="1148358"/>
            <a:ext cx="1843088" cy="225028"/>
          </a:xfrm>
          <a:prstGeom prst="rect">
            <a:avLst/>
          </a:prstGeom>
          <a:noFill/>
          <a:ln/>
        </p:spPr>
        <p:txBody>
          <a:bodyPr wrap="none" lIns="0" tIns="0" rIns="0" bIns="0" rtlCol="0" anchor="t">
            <a:spAutoFit/>
          </a:bodyPr>
          <a:lstStyle/>
          <a:p>
            <a:pPr algn="ctr" indent="0" marL="0">
              <a:lnSpc>
                <a:spcPts val="1600"/>
              </a:lnSpc>
              <a:buNone/>
            </a:pPr>
            <a:r>
              <a:rPr lang="en-US" sz="1193" b="1" dirty="0">
                <a:solidFill>
                  <a:srgbClr val="E67E22"/>
                </a:solidFill>
                <a:latin typeface="Fira Code" pitchFamily="34" charset="0"/>
                <a:ea typeface="Fira Code" pitchFamily="34" charset="-122"/>
                <a:cs typeface="Fira Code" pitchFamily="34" charset="-120"/>
              </a:rPr>
              <a:t>1.0 m/s</a:t>
            </a:r>
            <a:endParaRPr lang="en-US" sz="1193" dirty="0"/>
          </a:p>
        </p:txBody>
      </p:sp>
      <p:sp>
        <p:nvSpPr>
          <p:cNvPr id="27" name="Text 20"/>
          <p:cNvSpPr/>
          <p:nvPr/>
        </p:nvSpPr>
        <p:spPr>
          <a:xfrm>
            <a:off x="4800600" y="1401961"/>
            <a:ext cx="1843088" cy="135731"/>
          </a:xfrm>
          <a:prstGeom prst="rect">
            <a:avLst/>
          </a:prstGeom>
          <a:noFill/>
          <a:ln/>
        </p:spPr>
        <p:txBody>
          <a:bodyPr wrap="none" lIns="0" tIns="0" rIns="0" bIns="0" rtlCol="0" anchor="t">
            <a:spAutoFit/>
          </a:bodyPr>
          <a:lstStyle/>
          <a:p>
            <a:pPr algn="ctr" indent="0" marL="0">
              <a:lnSpc>
                <a:spcPts val="900"/>
              </a:lnSpc>
              <a:buNone/>
            </a:pPr>
            <a:r>
              <a:rPr lang="en-US" sz="727" spc="1" kern="0" dirty="0">
                <a:solidFill>
                  <a:srgbClr val="A0A0A0"/>
                </a:solidFill>
                <a:latin typeface="Open Sans" pitchFamily="34" charset="0"/>
                <a:ea typeface="Open Sans" pitchFamily="34" charset="-122"/>
                <a:cs typeface="Open Sans" pitchFamily="34" charset="-120"/>
              </a:rPr>
              <a:t>LINEAR SPEED</a:t>
            </a:r>
            <a:endParaRPr lang="en-US" sz="727" dirty="0"/>
          </a:p>
        </p:txBody>
      </p:sp>
      <p:sp>
        <p:nvSpPr>
          <p:cNvPr id="28" name="Shape 21"/>
          <p:cNvSpPr/>
          <p:nvPr/>
        </p:nvSpPr>
        <p:spPr>
          <a:xfrm>
            <a:off x="6786563" y="1076920"/>
            <a:ext cx="1985963" cy="546497"/>
          </a:xfrm>
          <a:prstGeom prst="rect">
            <a:avLst/>
          </a:prstGeom>
          <a:solidFill>
            <a:srgbClr val="000000">
              <a:alpha val="30000"/>
            </a:srgbClr>
          </a:solidFill>
          <a:ln w="9144">
            <a:solidFill>
              <a:srgbClr val="E67E22">
                <a:alpha val="30000"/>
              </a:srgbClr>
            </a:solidFill>
            <a:prstDash val="solid"/>
          </a:ln>
        </p:spPr>
      </p:sp>
      <p:sp>
        <p:nvSpPr>
          <p:cNvPr id="29" name="Text 22"/>
          <p:cNvSpPr/>
          <p:nvPr/>
        </p:nvSpPr>
        <p:spPr>
          <a:xfrm>
            <a:off x="6858000" y="1148358"/>
            <a:ext cx="1843088" cy="225028"/>
          </a:xfrm>
          <a:prstGeom prst="rect">
            <a:avLst/>
          </a:prstGeom>
          <a:noFill/>
          <a:ln/>
        </p:spPr>
        <p:txBody>
          <a:bodyPr wrap="none" lIns="0" tIns="0" rIns="0" bIns="0" rtlCol="0" anchor="t">
            <a:spAutoFit/>
          </a:bodyPr>
          <a:lstStyle/>
          <a:p>
            <a:pPr algn="ctr" indent="0" marL="0">
              <a:lnSpc>
                <a:spcPts val="1600"/>
              </a:lnSpc>
              <a:buNone/>
            </a:pPr>
            <a:r>
              <a:rPr lang="en-US" sz="1193" b="1" dirty="0">
                <a:solidFill>
                  <a:srgbClr val="E67E22"/>
                </a:solidFill>
                <a:latin typeface="Fira Code" pitchFamily="34" charset="0"/>
                <a:ea typeface="Fira Code" pitchFamily="34" charset="-122"/>
                <a:cs typeface="Fira Code" pitchFamily="34" charset="-120"/>
              </a:rPr>
              <a:t>2.0 s</a:t>
            </a:r>
            <a:endParaRPr lang="en-US" sz="1193" dirty="0"/>
          </a:p>
        </p:txBody>
      </p:sp>
      <p:sp>
        <p:nvSpPr>
          <p:cNvPr id="30" name="Text 23"/>
          <p:cNvSpPr/>
          <p:nvPr/>
        </p:nvSpPr>
        <p:spPr>
          <a:xfrm>
            <a:off x="6858000" y="1401961"/>
            <a:ext cx="1843088" cy="135731"/>
          </a:xfrm>
          <a:prstGeom prst="rect">
            <a:avLst/>
          </a:prstGeom>
          <a:noFill/>
          <a:ln/>
        </p:spPr>
        <p:txBody>
          <a:bodyPr wrap="none" lIns="0" tIns="0" rIns="0" bIns="0" rtlCol="0" anchor="t">
            <a:spAutoFit/>
          </a:bodyPr>
          <a:lstStyle/>
          <a:p>
            <a:pPr algn="ctr" indent="0" marL="0">
              <a:lnSpc>
                <a:spcPts val="900"/>
              </a:lnSpc>
              <a:buNone/>
            </a:pPr>
            <a:r>
              <a:rPr lang="en-US" sz="727" spc="1" kern="0" dirty="0">
                <a:solidFill>
                  <a:srgbClr val="A0A0A0"/>
                </a:solidFill>
                <a:latin typeface="Open Sans" pitchFamily="34" charset="0"/>
                <a:ea typeface="Open Sans" pitchFamily="34" charset="-122"/>
                <a:cs typeface="Open Sans" pitchFamily="34" charset="-120"/>
              </a:rPr>
              <a:t>MOVE DURATION</a:t>
            </a:r>
            <a:endParaRPr lang="en-US" sz="727" dirty="0"/>
          </a:p>
        </p:txBody>
      </p:sp>
      <p:sp>
        <p:nvSpPr>
          <p:cNvPr id="31" name="Shape 24"/>
          <p:cNvSpPr/>
          <p:nvPr/>
        </p:nvSpPr>
        <p:spPr>
          <a:xfrm>
            <a:off x="4729163" y="1680567"/>
            <a:ext cx="1985963" cy="546497"/>
          </a:xfrm>
          <a:prstGeom prst="rect">
            <a:avLst/>
          </a:prstGeom>
          <a:solidFill>
            <a:srgbClr val="000000">
              <a:alpha val="30000"/>
            </a:srgbClr>
          </a:solidFill>
          <a:ln w="9144">
            <a:solidFill>
              <a:srgbClr val="E67E22">
                <a:alpha val="30000"/>
              </a:srgbClr>
            </a:solidFill>
            <a:prstDash val="solid"/>
          </a:ln>
        </p:spPr>
      </p:sp>
      <p:sp>
        <p:nvSpPr>
          <p:cNvPr id="32" name="Text 25"/>
          <p:cNvSpPr/>
          <p:nvPr/>
        </p:nvSpPr>
        <p:spPr>
          <a:xfrm>
            <a:off x="4800600" y="1752005"/>
            <a:ext cx="1843088" cy="225028"/>
          </a:xfrm>
          <a:prstGeom prst="rect">
            <a:avLst/>
          </a:prstGeom>
          <a:noFill/>
          <a:ln/>
        </p:spPr>
        <p:txBody>
          <a:bodyPr wrap="none" lIns="0" tIns="0" rIns="0" bIns="0" rtlCol="0" anchor="t">
            <a:spAutoFit/>
          </a:bodyPr>
          <a:lstStyle/>
          <a:p>
            <a:pPr algn="ctr" indent="0" marL="0">
              <a:lnSpc>
                <a:spcPts val="1600"/>
              </a:lnSpc>
              <a:buNone/>
            </a:pPr>
            <a:r>
              <a:rPr lang="en-US" sz="1193" b="1" dirty="0">
                <a:solidFill>
                  <a:srgbClr val="E67E22"/>
                </a:solidFill>
                <a:latin typeface="Fira Code" pitchFamily="34" charset="0"/>
                <a:ea typeface="Fira Code" pitchFamily="34" charset="-122"/>
                <a:cs typeface="Fira Code" pitchFamily="34" charset="-120"/>
              </a:rPr>
              <a:t>π/2 rad/s</a:t>
            </a:r>
            <a:endParaRPr lang="en-US" sz="1193" dirty="0"/>
          </a:p>
        </p:txBody>
      </p:sp>
      <p:sp>
        <p:nvSpPr>
          <p:cNvPr id="33" name="Text 26"/>
          <p:cNvSpPr/>
          <p:nvPr/>
        </p:nvSpPr>
        <p:spPr>
          <a:xfrm>
            <a:off x="4800600" y="2005608"/>
            <a:ext cx="1843088" cy="135731"/>
          </a:xfrm>
          <a:prstGeom prst="rect">
            <a:avLst/>
          </a:prstGeom>
          <a:noFill/>
          <a:ln/>
        </p:spPr>
        <p:txBody>
          <a:bodyPr wrap="none" lIns="0" tIns="0" rIns="0" bIns="0" rtlCol="0" anchor="t">
            <a:spAutoFit/>
          </a:bodyPr>
          <a:lstStyle/>
          <a:p>
            <a:pPr algn="ctr" indent="0" marL="0">
              <a:lnSpc>
                <a:spcPts val="900"/>
              </a:lnSpc>
              <a:buNone/>
            </a:pPr>
            <a:r>
              <a:rPr lang="en-US" sz="727" spc="1" kern="0" dirty="0">
                <a:solidFill>
                  <a:srgbClr val="A0A0A0"/>
                </a:solidFill>
                <a:latin typeface="Open Sans" pitchFamily="34" charset="0"/>
                <a:ea typeface="Open Sans" pitchFamily="34" charset="-122"/>
                <a:cs typeface="Open Sans" pitchFamily="34" charset="-120"/>
              </a:rPr>
              <a:t>TURN SPEED (90°/S)</a:t>
            </a:r>
            <a:endParaRPr lang="en-US" sz="727" dirty="0"/>
          </a:p>
        </p:txBody>
      </p:sp>
      <p:sp>
        <p:nvSpPr>
          <p:cNvPr id="34" name="Shape 27"/>
          <p:cNvSpPr/>
          <p:nvPr/>
        </p:nvSpPr>
        <p:spPr>
          <a:xfrm>
            <a:off x="6786563" y="1680567"/>
            <a:ext cx="1985963" cy="546497"/>
          </a:xfrm>
          <a:prstGeom prst="rect">
            <a:avLst/>
          </a:prstGeom>
          <a:solidFill>
            <a:srgbClr val="000000">
              <a:alpha val="30000"/>
            </a:srgbClr>
          </a:solidFill>
          <a:ln w="9144">
            <a:solidFill>
              <a:srgbClr val="E67E22">
                <a:alpha val="30000"/>
              </a:srgbClr>
            </a:solidFill>
            <a:prstDash val="solid"/>
          </a:ln>
        </p:spPr>
      </p:sp>
      <p:sp>
        <p:nvSpPr>
          <p:cNvPr id="35" name="Text 28"/>
          <p:cNvSpPr/>
          <p:nvPr/>
        </p:nvSpPr>
        <p:spPr>
          <a:xfrm>
            <a:off x="6858000" y="1752005"/>
            <a:ext cx="1843088" cy="225028"/>
          </a:xfrm>
          <a:prstGeom prst="rect">
            <a:avLst/>
          </a:prstGeom>
          <a:noFill/>
          <a:ln/>
        </p:spPr>
        <p:txBody>
          <a:bodyPr wrap="none" lIns="0" tIns="0" rIns="0" bIns="0" rtlCol="0" anchor="t">
            <a:spAutoFit/>
          </a:bodyPr>
          <a:lstStyle/>
          <a:p>
            <a:pPr algn="ctr" indent="0" marL="0">
              <a:lnSpc>
                <a:spcPts val="1600"/>
              </a:lnSpc>
              <a:buNone/>
            </a:pPr>
            <a:r>
              <a:rPr lang="en-US" sz="1193" b="1" dirty="0">
                <a:solidFill>
                  <a:srgbClr val="E67E22"/>
                </a:solidFill>
                <a:latin typeface="Fira Code" pitchFamily="34" charset="0"/>
                <a:ea typeface="Fira Code" pitchFamily="34" charset="-122"/>
                <a:cs typeface="Fira Code" pitchFamily="34" charset="-120"/>
              </a:rPr>
              <a:t>1.0 s</a:t>
            </a:r>
            <a:endParaRPr lang="en-US" sz="1193" dirty="0"/>
          </a:p>
        </p:txBody>
      </p:sp>
      <p:sp>
        <p:nvSpPr>
          <p:cNvPr id="36" name="Text 29"/>
          <p:cNvSpPr/>
          <p:nvPr/>
        </p:nvSpPr>
        <p:spPr>
          <a:xfrm>
            <a:off x="6858000" y="2005608"/>
            <a:ext cx="1843088" cy="135731"/>
          </a:xfrm>
          <a:prstGeom prst="rect">
            <a:avLst/>
          </a:prstGeom>
          <a:noFill/>
          <a:ln/>
        </p:spPr>
        <p:txBody>
          <a:bodyPr wrap="none" lIns="0" tIns="0" rIns="0" bIns="0" rtlCol="0" anchor="t">
            <a:spAutoFit/>
          </a:bodyPr>
          <a:lstStyle/>
          <a:p>
            <a:pPr algn="ctr" indent="0" marL="0">
              <a:lnSpc>
                <a:spcPts val="900"/>
              </a:lnSpc>
              <a:buNone/>
            </a:pPr>
            <a:r>
              <a:rPr lang="en-US" sz="727" spc="1" kern="0" dirty="0">
                <a:solidFill>
                  <a:srgbClr val="A0A0A0"/>
                </a:solidFill>
                <a:latin typeface="Open Sans" pitchFamily="34" charset="0"/>
                <a:ea typeface="Open Sans" pitchFamily="34" charset="-122"/>
                <a:cs typeface="Open Sans" pitchFamily="34" charset="-120"/>
              </a:rPr>
              <a:t>TURN DURATION</a:t>
            </a:r>
            <a:endParaRPr lang="en-US" sz="727" dirty="0"/>
          </a:p>
        </p:txBody>
      </p:sp>
      <p:sp>
        <p:nvSpPr>
          <p:cNvPr id="37" name="Shape 30"/>
          <p:cNvSpPr/>
          <p:nvPr/>
        </p:nvSpPr>
        <p:spPr>
          <a:xfrm>
            <a:off x="4643438" y="2384227"/>
            <a:ext cx="4214813" cy="1492262"/>
          </a:xfrm>
          <a:prstGeom prst="rect">
            <a:avLst/>
          </a:prstGeom>
          <a:solidFill>
            <a:srgbClr val="FFFFFF">
              <a:alpha val="5000"/>
            </a:srgbClr>
          </a:solidFill>
          <a:ln/>
        </p:spPr>
      </p:sp>
      <p:sp>
        <p:nvSpPr>
          <p:cNvPr id="38" name="Shape 31"/>
          <p:cNvSpPr/>
          <p:nvPr/>
        </p:nvSpPr>
        <p:spPr>
          <a:xfrm>
            <a:off x="4643438" y="2384227"/>
            <a:ext cx="28575" cy="1492262"/>
          </a:xfrm>
          <a:prstGeom prst="rect">
            <a:avLst/>
          </a:prstGeom>
          <a:solidFill>
            <a:srgbClr val="E67E22"/>
          </a:solidFill>
          <a:ln/>
        </p:spPr>
      </p:sp>
      <p:pic>
        <p:nvPicPr>
          <p:cNvPr id="39" name="Image 5" descr="preencoded.png">    </p:cNvPr>
          <p:cNvPicPr>
            <a:picLocks noChangeAspect="1"/>
          </p:cNvPicPr>
          <p:nvPr/>
        </p:nvPicPr>
        <p:blipFill>
          <a:blip r:embed="rId6"/>
          <a:stretch>
            <a:fillRect/>
          </a:stretch>
        </p:blipFill>
        <p:spPr>
          <a:xfrm>
            <a:off x="4729163" y="2486918"/>
            <a:ext cx="157163" cy="157163"/>
          </a:xfrm>
          <a:prstGeom prst="rect">
            <a:avLst/>
          </a:prstGeom>
        </p:spPr>
      </p:pic>
      <p:sp>
        <p:nvSpPr>
          <p:cNvPr id="40" name="Text 32"/>
          <p:cNvSpPr/>
          <p:nvPr/>
        </p:nvSpPr>
        <p:spPr>
          <a:xfrm>
            <a:off x="4957763" y="2469952"/>
            <a:ext cx="1412677"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E67E22"/>
                </a:solidFill>
                <a:latin typeface="Montserrat" pitchFamily="34" charset="0"/>
                <a:ea typeface="Montserrat" pitchFamily="34" charset="-122"/>
                <a:cs typeface="Montserrat" pitchFamily="34" charset="-120"/>
              </a:rPr>
              <a:t>The Control Loop</a:t>
            </a:r>
            <a:endParaRPr lang="en-US" sz="1090" dirty="0"/>
          </a:p>
        </p:txBody>
      </p:sp>
      <p:sp>
        <p:nvSpPr>
          <p:cNvPr id="41" name="Text 33"/>
          <p:cNvSpPr/>
          <p:nvPr/>
        </p:nvSpPr>
        <p:spPr>
          <a:xfrm>
            <a:off x="4729163" y="2718197"/>
            <a:ext cx="4043363" cy="205718"/>
          </a:xfrm>
          <a:prstGeom prst="rect">
            <a:avLst/>
          </a:prstGeom>
          <a:noFill/>
          <a:ln/>
        </p:spPr>
        <p:txBody>
          <a:bodyPr wrap="none" lIns="0" tIns="0" rIns="0" bIns="0" rtlCol="0" anchor="t">
            <a:spAutoFit/>
          </a:bodyPr>
          <a:lstStyle/>
          <a:p>
            <a:pPr algn="l" indent="0" marL="0">
              <a:lnSpc>
                <a:spcPts val="1600"/>
              </a:lnSpc>
              <a:buNone/>
            </a:pPr>
            <a:r>
              <a:rPr lang="en-US" sz="942" dirty="0">
                <a:solidFill>
                  <a:srgbClr val="E0E0E0"/>
                </a:solidFill>
                <a:latin typeface="Open Sans" pitchFamily="34" charset="0"/>
                <a:ea typeface="Open Sans" pitchFamily="34" charset="-122"/>
                <a:cs typeface="Open Sans" pitchFamily="34" charset="-120"/>
              </a:rPr>
              <a:t>To draw a square, we repeat the sequence 4 times:</a:t>
            </a:r>
            <a:endParaRPr lang="en-US" sz="942" dirty="0"/>
          </a:p>
        </p:txBody>
      </p:sp>
      <p:sp>
        <p:nvSpPr>
          <p:cNvPr id="42" name="Shape 34"/>
          <p:cNvSpPr/>
          <p:nvPr/>
        </p:nvSpPr>
        <p:spPr>
          <a:xfrm>
            <a:off x="4729163" y="2995352"/>
            <a:ext cx="4043363" cy="312539"/>
          </a:xfrm>
          <a:prstGeom prst="rect">
            <a:avLst/>
          </a:prstGeom>
          <a:solidFill>
            <a:srgbClr val="000000">
              <a:alpha val="30000"/>
            </a:srgbClr>
          </a:solidFill>
          <a:ln w="9144">
            <a:solidFill>
              <a:srgbClr val="FFFFFF">
                <a:alpha val="20000"/>
              </a:srgbClr>
            </a:solidFill>
            <a:prstDash val="dash"/>
          </a:ln>
        </p:spPr>
      </p:sp>
      <p:sp>
        <p:nvSpPr>
          <p:cNvPr id="43" name="Text 35"/>
          <p:cNvSpPr/>
          <p:nvPr/>
        </p:nvSpPr>
        <p:spPr>
          <a:xfrm>
            <a:off x="4814888" y="3066790"/>
            <a:ext cx="864394" cy="155377"/>
          </a:xfrm>
          <a:prstGeom prst="rect">
            <a:avLst/>
          </a:prstGeom>
          <a:noFill/>
          <a:ln/>
        </p:spPr>
        <p:txBody>
          <a:bodyPr wrap="none" lIns="0" tIns="0" rIns="0" bIns="0" rtlCol="0" anchor="t">
            <a:spAutoFit/>
          </a:bodyPr>
          <a:lstStyle/>
          <a:p>
            <a:pPr algn="ctr" indent="0" marL="0">
              <a:lnSpc>
                <a:spcPts val="1100"/>
              </a:lnSpc>
              <a:buNone/>
            </a:pPr>
            <a:r>
              <a:rPr lang="en-US" sz="784" b="1" dirty="0">
                <a:solidFill>
                  <a:srgbClr val="FFFFFF"/>
                </a:solidFill>
                <a:latin typeface="Open Sans" pitchFamily="34" charset="0"/>
                <a:ea typeface="Open Sans" pitchFamily="34" charset="-122"/>
                <a:cs typeface="Open Sans" pitchFamily="34" charset="-120"/>
              </a:rPr>
              <a:t>For i in range(4)</a:t>
            </a:r>
            <a:endParaRPr lang="en-US" sz="784" dirty="0"/>
          </a:p>
        </p:txBody>
      </p:sp>
      <p:pic>
        <p:nvPicPr>
          <p:cNvPr id="44" name="Image 6" descr="preencoded.png">    </p:cNvPr>
          <p:cNvPicPr>
            <a:picLocks noChangeAspect="1"/>
          </p:cNvPicPr>
          <p:nvPr/>
        </p:nvPicPr>
        <p:blipFill>
          <a:blip r:embed="rId7"/>
          <a:stretch>
            <a:fillRect/>
          </a:stretch>
        </p:blipFill>
        <p:spPr>
          <a:xfrm>
            <a:off x="5938689" y="3080184"/>
            <a:ext cx="112514" cy="128588"/>
          </a:xfrm>
          <a:prstGeom prst="rect">
            <a:avLst/>
          </a:prstGeom>
        </p:spPr>
      </p:pic>
      <p:sp>
        <p:nvSpPr>
          <p:cNvPr id="45" name="Text 36"/>
          <p:cNvSpPr/>
          <p:nvPr/>
        </p:nvSpPr>
        <p:spPr>
          <a:xfrm>
            <a:off x="6310610" y="3066790"/>
            <a:ext cx="1016198" cy="155377"/>
          </a:xfrm>
          <a:prstGeom prst="rect">
            <a:avLst/>
          </a:prstGeom>
          <a:noFill/>
          <a:ln/>
        </p:spPr>
        <p:txBody>
          <a:bodyPr wrap="none" lIns="0" tIns="0" rIns="0" bIns="0" rtlCol="0" anchor="t">
            <a:spAutoFit/>
          </a:bodyPr>
          <a:lstStyle/>
          <a:p>
            <a:pPr algn="ctr" indent="0" marL="0">
              <a:lnSpc>
                <a:spcPts val="1100"/>
              </a:lnSpc>
              <a:buNone/>
            </a:pPr>
            <a:r>
              <a:rPr lang="en-US" sz="784" b="1" dirty="0">
                <a:solidFill>
                  <a:srgbClr val="E67E22"/>
                </a:solidFill>
                <a:latin typeface="Open Sans" pitchFamily="34" charset="0"/>
                <a:ea typeface="Open Sans" pitchFamily="34" charset="-122"/>
                <a:cs typeface="Open Sans" pitchFamily="34" charset="-120"/>
              </a:rPr>
              <a:t>Move Forward (2s)</a:t>
            </a:r>
            <a:endParaRPr lang="en-US" sz="784" dirty="0"/>
          </a:p>
        </p:txBody>
      </p:sp>
      <p:pic>
        <p:nvPicPr>
          <p:cNvPr id="46" name="Image 7" descr="preencoded.png">    </p:cNvPr>
          <p:cNvPicPr>
            <a:picLocks noChangeAspect="1"/>
          </p:cNvPicPr>
          <p:nvPr/>
        </p:nvPicPr>
        <p:blipFill>
          <a:blip r:embed="rId8"/>
          <a:stretch>
            <a:fillRect/>
          </a:stretch>
        </p:blipFill>
        <p:spPr>
          <a:xfrm>
            <a:off x="7586216" y="3080184"/>
            <a:ext cx="112514" cy="128588"/>
          </a:xfrm>
          <a:prstGeom prst="rect">
            <a:avLst/>
          </a:prstGeom>
        </p:spPr>
      </p:pic>
      <p:sp>
        <p:nvSpPr>
          <p:cNvPr id="47" name="Text 37"/>
          <p:cNvSpPr/>
          <p:nvPr/>
        </p:nvSpPr>
        <p:spPr>
          <a:xfrm>
            <a:off x="7958138" y="3066790"/>
            <a:ext cx="728663" cy="155377"/>
          </a:xfrm>
          <a:prstGeom prst="rect">
            <a:avLst/>
          </a:prstGeom>
          <a:noFill/>
          <a:ln/>
        </p:spPr>
        <p:txBody>
          <a:bodyPr wrap="none" lIns="0" tIns="0" rIns="0" bIns="0" rtlCol="0" anchor="t">
            <a:spAutoFit/>
          </a:bodyPr>
          <a:lstStyle/>
          <a:p>
            <a:pPr algn="ctr" indent="0" marL="0">
              <a:lnSpc>
                <a:spcPts val="1100"/>
              </a:lnSpc>
              <a:buNone/>
            </a:pPr>
            <a:r>
              <a:rPr lang="en-US" sz="784" b="1" dirty="0">
                <a:solidFill>
                  <a:srgbClr val="00BCD4"/>
                </a:solidFill>
                <a:latin typeface="Open Sans" pitchFamily="34" charset="0"/>
                <a:ea typeface="Open Sans" pitchFamily="34" charset="-122"/>
                <a:cs typeface="Open Sans" pitchFamily="34" charset="-120"/>
              </a:rPr>
              <a:t>Turn Left (1s)</a:t>
            </a:r>
            <a:endParaRPr lang="en-US" sz="784" dirty="0"/>
          </a:p>
        </p:txBody>
      </p:sp>
      <p:sp>
        <p:nvSpPr>
          <p:cNvPr id="48" name="Text 38"/>
          <p:cNvSpPr/>
          <p:nvPr/>
        </p:nvSpPr>
        <p:spPr>
          <a:xfrm>
            <a:off x="4729163" y="3365041"/>
            <a:ext cx="4043363" cy="411435"/>
          </a:xfrm>
          <a:prstGeom prst="rect">
            <a:avLst/>
          </a:prstGeom>
          <a:noFill/>
          <a:ln/>
        </p:spPr>
        <p:txBody>
          <a:bodyPr wrap="square" lIns="0" tIns="0" rIns="0" bIns="0" rtlCol="0" anchor="t">
            <a:spAutoFit/>
          </a:bodyPr>
          <a:lstStyle/>
          <a:p>
            <a:pPr algn="l" indent="0" marL="0">
              <a:lnSpc>
                <a:spcPts val="1600"/>
              </a:lnSpc>
              <a:buNone/>
            </a:pPr>
            <a:r>
              <a:rPr lang="en-US" sz="885" b="1" dirty="0">
                <a:solidFill>
                  <a:srgbClr val="E0E0E0"/>
                </a:solidFill>
                <a:latin typeface="Open Sans" pitchFamily="34" charset="0"/>
                <a:ea typeface="Open Sans" pitchFamily="34" charset="-122"/>
                <a:cs typeface="Open Sans" pitchFamily="34" charset="-120"/>
              </a:rPr>
              <a:t>Expected Output:</a:t>
            </a:r>
            <a:r>
              <a:rPr lang="en-US" sz="942" dirty="0">
                <a:solidFill>
                  <a:srgbClr val="E0E0E0"/>
                </a:solidFill>
                <a:latin typeface="Open Sans" pitchFamily="34" charset="0"/>
                <a:ea typeface="Open Sans" pitchFamily="34" charset="-122"/>
                <a:cs typeface="Open Sans" pitchFamily="34" charset="-120"/>
              </a:rPr>
              <a:t> The robot traces a visible square in the GUI </a:t>
            </a:r>
            <a:r>
              <a:rPr lang="en-US" sz="942" dirty="0">
                <a:solidFill>
                  <a:srgbClr val="E0E0E0"/>
                </a:solidFill>
                <a:latin typeface="Open Sans" pitchFamily="34" charset="0"/>
                <a:ea typeface="Open Sans" pitchFamily="34" charset="-122"/>
                <a:cs typeface="Open Sans" pitchFamily="34" charset="-120"/>
              </a:rPr>
              <a:t>window and returns to its starting position.</a:t>
            </a:r>
            <a:endParaRPr lang="en-US" sz="885" dirty="0"/>
          </a:p>
        </p:txBody>
      </p:sp>
      <p:sp>
        <p:nvSpPr>
          <p:cNvPr id="49" name="Shape 39"/>
          <p:cNvSpPr/>
          <p:nvPr/>
        </p:nvSpPr>
        <p:spPr>
          <a:xfrm>
            <a:off x="0" y="4857750"/>
            <a:ext cx="9144000" cy="285750"/>
          </a:xfrm>
          <a:prstGeom prst="rect">
            <a:avLst/>
          </a:prstGeom>
          <a:solidFill>
            <a:srgbClr val="000000">
              <a:alpha val="0"/>
            </a:srgbClr>
          </a:solidFill>
          <a:ln/>
        </p:spPr>
      </p:sp>
      <p:sp>
        <p:nvSpPr>
          <p:cNvPr id="50" name="Shape 40"/>
          <p:cNvSpPr/>
          <p:nvPr/>
        </p:nvSpPr>
        <p:spPr>
          <a:xfrm>
            <a:off x="0" y="4857750"/>
            <a:ext cx="9144000" cy="7144"/>
          </a:xfrm>
          <a:prstGeom prst="rect">
            <a:avLst/>
          </a:prstGeom>
          <a:solidFill>
            <a:srgbClr val="FFFFFF"/>
          </a:solidFill>
          <a:ln/>
        </p:spPr>
      </p:sp>
      <p:sp>
        <p:nvSpPr>
          <p:cNvPr id="51" name="Text 41"/>
          <p:cNvSpPr/>
          <p:nvPr/>
        </p:nvSpPr>
        <p:spPr>
          <a:xfrm>
            <a:off x="285750" y="4936331"/>
            <a:ext cx="905470"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888888"/>
                </a:solidFill>
                <a:latin typeface="Open Sans" pitchFamily="34" charset="0"/>
                <a:ea typeface="Open Sans" pitchFamily="34" charset="-122"/>
                <a:cs typeface="Open Sans" pitchFamily="34" charset="-120"/>
              </a:rPr>
              <a:t>Lab 1: Hello, Robot!</a:t>
            </a:r>
            <a:endParaRPr lang="en-US" sz="727" dirty="0"/>
          </a:p>
        </p:txBody>
      </p:sp>
      <p:sp>
        <p:nvSpPr>
          <p:cNvPr id="52" name="Text 42"/>
          <p:cNvSpPr/>
          <p:nvPr/>
        </p:nvSpPr>
        <p:spPr>
          <a:xfrm>
            <a:off x="7967067" y="4936331"/>
            <a:ext cx="891183"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888888"/>
                </a:solidFill>
                <a:latin typeface="Open Sans" pitchFamily="34" charset="0"/>
                <a:ea typeface="Open Sans" pitchFamily="34" charset="-122"/>
                <a:cs typeface="Open Sans" pitchFamily="34" charset="-120"/>
              </a:rPr>
              <a:t>Block 1: Perception</a:t>
            </a:r>
            <a:endParaRPr lang="en-US" sz="727"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302448"/>
          </a:xfrm>
          <a:prstGeom prst="rect">
            <a:avLst/>
          </a:prstGeom>
        </p:spPr>
      </p:pic>
      <p:sp>
        <p:nvSpPr>
          <p:cNvPr id="3" name="Shape 0"/>
          <p:cNvSpPr/>
          <p:nvPr/>
        </p:nvSpPr>
        <p:spPr>
          <a:xfrm>
            <a:off x="0" y="0"/>
            <a:ext cx="9144000" cy="957263"/>
          </a:xfrm>
          <a:prstGeom prst="rect">
            <a:avLst/>
          </a:prstGeom>
          <a:solidFill>
            <a:srgbClr val="000000">
              <a:alpha val="0"/>
            </a:srgbClr>
          </a:solidFill>
          <a:ln/>
        </p:spPr>
      </p:sp>
      <p:sp>
        <p:nvSpPr>
          <p:cNvPr id="4" name="Shape 1"/>
          <p:cNvSpPr/>
          <p:nvPr/>
        </p:nvSpPr>
        <p:spPr>
          <a:xfrm>
            <a:off x="0" y="950119"/>
            <a:ext cx="9144000" cy="7144"/>
          </a:xfrm>
          <a:prstGeom prst="rect">
            <a:avLst/>
          </a:prstGeom>
          <a:solidFill>
            <a:srgbClr val="B3EBF2"/>
          </a:solidFill>
          <a:ln/>
        </p:spPr>
      </p:sp>
      <p:pic>
        <p:nvPicPr>
          <p:cNvPr id="5" name="Image 1" descr="preencoded.png">    </p:cNvPr>
          <p:cNvPicPr>
            <a:picLocks noChangeAspect="1"/>
          </p:cNvPicPr>
          <p:nvPr/>
        </p:nvPicPr>
        <p:blipFill>
          <a:blip r:embed="rId2"/>
          <a:stretch>
            <a:fillRect/>
          </a:stretch>
        </p:blipFill>
        <p:spPr>
          <a:xfrm>
            <a:off x="428625" y="435769"/>
            <a:ext cx="289322" cy="257175"/>
          </a:xfrm>
          <a:prstGeom prst="rect">
            <a:avLst/>
          </a:prstGeom>
        </p:spPr>
      </p:pic>
      <p:sp>
        <p:nvSpPr>
          <p:cNvPr id="6" name="Text 2"/>
          <p:cNvSpPr/>
          <p:nvPr/>
        </p:nvSpPr>
        <p:spPr>
          <a:xfrm>
            <a:off x="860822" y="285750"/>
            <a:ext cx="7854553" cy="557213"/>
          </a:xfrm>
          <a:prstGeom prst="rect">
            <a:avLst/>
          </a:prstGeom>
          <a:noFill/>
          <a:ln/>
        </p:spPr>
        <p:txBody>
          <a:bodyPr wrap="square" lIns="0" tIns="0" rIns="0" bIns="0" rtlCol="0" anchor="t">
            <a:spAutoFit/>
          </a:bodyPr>
          <a:lstStyle/>
          <a:p>
            <a:pPr algn="l" indent="0" marL="0">
              <a:lnSpc>
                <a:spcPts val="2200"/>
              </a:lnSpc>
              <a:buNone/>
            </a:pPr>
            <a:r>
              <a:rPr lang="en-US" sz="1602" b="1" dirty="0">
                <a:solidFill>
                  <a:srgbClr val="FFFFFF"/>
                </a:solidFill>
                <a:latin typeface="Montserrat" pitchFamily="34" charset="0"/>
                <a:ea typeface="Montserrat" pitchFamily="34" charset="-122"/>
                <a:cs typeface="Montserrat" pitchFamily="34" charset="-120"/>
              </a:rPr>
              <a:t>Why cos(yaw) and sin(yaw)? Converting Body Frame to World Frame</a:t>
            </a:r>
            <a:endParaRPr lang="en-US" sz="1602" dirty="0"/>
          </a:p>
        </p:txBody>
      </p:sp>
      <p:pic>
        <p:nvPicPr>
          <p:cNvPr id="7" name="Image 2" descr="preencoded.png">    </p:cNvPr>
          <p:cNvPicPr>
            <a:picLocks noChangeAspect="1"/>
          </p:cNvPicPr>
          <p:nvPr/>
        </p:nvPicPr>
        <p:blipFill>
          <a:blip r:embed="rId3"/>
          <a:stretch>
            <a:fillRect/>
          </a:stretch>
        </p:blipFill>
        <p:spPr>
          <a:xfrm>
            <a:off x="564998" y="2015430"/>
            <a:ext cx="4000500" cy="1857375"/>
          </a:xfrm>
          <a:prstGeom prst="rect">
            <a:avLst/>
          </a:prstGeom>
        </p:spPr>
      </p:pic>
      <p:sp>
        <p:nvSpPr>
          <p:cNvPr id="8" name="Shape 3"/>
          <p:cNvSpPr/>
          <p:nvPr/>
        </p:nvSpPr>
        <p:spPr>
          <a:xfrm>
            <a:off x="5059087" y="1092994"/>
            <a:ext cx="3799163" cy="998339"/>
          </a:xfrm>
          <a:prstGeom prst="rect">
            <a:avLst/>
          </a:prstGeom>
          <a:solidFill>
            <a:srgbClr val="FFFFFF">
              <a:alpha val="5000"/>
            </a:srgbClr>
          </a:solidFill>
          <a:ln/>
        </p:spPr>
      </p:sp>
      <p:sp>
        <p:nvSpPr>
          <p:cNvPr id="9" name="Shape 4"/>
          <p:cNvSpPr/>
          <p:nvPr/>
        </p:nvSpPr>
        <p:spPr>
          <a:xfrm>
            <a:off x="5059087" y="1092994"/>
            <a:ext cx="28575" cy="998339"/>
          </a:xfrm>
          <a:prstGeom prst="rect">
            <a:avLst/>
          </a:prstGeom>
          <a:solidFill>
            <a:srgbClr val="00BCD4"/>
          </a:solidFill>
          <a:ln/>
        </p:spPr>
      </p:sp>
      <p:sp>
        <p:nvSpPr>
          <p:cNvPr id="10" name="Text 5"/>
          <p:cNvSpPr/>
          <p:nvPr/>
        </p:nvSpPr>
        <p:spPr>
          <a:xfrm>
            <a:off x="5144812" y="1178719"/>
            <a:ext cx="3627713"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0BCD4"/>
                </a:solidFill>
                <a:latin typeface="Montserrat" pitchFamily="34" charset="0"/>
                <a:ea typeface="Montserrat" pitchFamily="34" charset="-122"/>
                <a:cs typeface="Montserrat" pitchFamily="34" charset="-120"/>
              </a:rPr>
              <a:t>The Core Problem</a:t>
            </a:r>
            <a:endParaRPr lang="en-US" sz="1090" dirty="0"/>
          </a:p>
        </p:txBody>
      </p:sp>
      <p:sp>
        <p:nvSpPr>
          <p:cNvPr id="11" name="Text 6"/>
          <p:cNvSpPr/>
          <p:nvPr/>
        </p:nvSpPr>
        <p:spPr>
          <a:xfrm>
            <a:off x="5144812" y="1426964"/>
            <a:ext cx="3627713" cy="578644"/>
          </a:xfrm>
          <a:prstGeom prst="rect">
            <a:avLst/>
          </a:prstGeom>
          <a:noFill/>
          <a:ln/>
        </p:spPr>
        <p:txBody>
          <a:bodyPr wrap="square" lIns="0" tIns="0" rIns="0" bIns="0" rtlCol="0" anchor="t">
            <a:spAutoFit/>
          </a:bodyPr>
          <a:lstStyle/>
          <a:p>
            <a:pPr algn="l" indent="0" marL="0">
              <a:lnSpc>
                <a:spcPts val="1500"/>
              </a:lnSpc>
              <a:buNone/>
            </a:pPr>
            <a:r>
              <a:rPr lang="en-US" sz="942" dirty="0">
                <a:solidFill>
                  <a:srgbClr val="E0E0E0"/>
                </a:solidFill>
                <a:latin typeface="Open Sans" pitchFamily="34" charset="0"/>
                <a:ea typeface="Open Sans" pitchFamily="34" charset="-122"/>
                <a:cs typeface="Open Sans" pitchFamily="34" charset="-120"/>
              </a:rPr>
              <a:t>The robot thinks in "forward/backward" (</a:t>
            </a:r>
            <a:r>
              <a:rPr lang="en-US" sz="885" b="1" dirty="0">
                <a:solidFill>
                  <a:srgbClr val="E0E0E0"/>
                </a:solidFill>
                <a:latin typeface="Open Sans" pitchFamily="34" charset="0"/>
                <a:ea typeface="Open Sans" pitchFamily="34" charset="-122"/>
                <a:cs typeface="Open Sans" pitchFamily="34" charset="-120"/>
              </a:rPr>
              <a:t>Body Frame</a:t>
            </a:r>
            <a:r>
              <a:rPr lang="en-US" sz="942" dirty="0">
                <a:solidFill>
                  <a:srgbClr val="E0E0E0"/>
                </a:solidFill>
                <a:latin typeface="Open Sans" pitchFamily="34" charset="0"/>
                <a:ea typeface="Open Sans" pitchFamily="34" charset="-122"/>
                <a:cs typeface="Open Sans" pitchFamily="34" charset="-120"/>
              </a:rPr>
              <a:t>), but </a:t>
            </a:r>
            <a:r>
              <a:rPr lang="en-US" sz="942" dirty="0">
                <a:solidFill>
                  <a:srgbClr val="E0E0E0"/>
                </a:solidFill>
                <a:latin typeface="Open Sans" pitchFamily="34" charset="0"/>
                <a:ea typeface="Open Sans" pitchFamily="34" charset="-122"/>
                <a:cs typeface="Open Sans" pitchFamily="34" charset="-120"/>
              </a:rPr>
              <a:t>the physics engine thinks in absolute "X/Y/Z" coordinates </a:t>
            </a:r>
            <a:r>
              <a:rPr lang="en-US" sz="942" dirty="0">
                <a:solidFill>
                  <a:srgbClr val="E0E0E0"/>
                </a:solidFill>
                <a:latin typeface="Open Sans" pitchFamily="34" charset="0"/>
                <a:ea typeface="Open Sans" pitchFamily="34" charset="-122"/>
                <a:cs typeface="Open Sans" pitchFamily="34" charset="-120"/>
              </a:rPr>
              <a:t>(</a:t>
            </a:r>
            <a:r>
              <a:rPr lang="en-US" sz="885" b="1" dirty="0">
                <a:solidFill>
                  <a:srgbClr val="E0E0E0"/>
                </a:solidFill>
                <a:latin typeface="Open Sans" pitchFamily="34" charset="0"/>
                <a:ea typeface="Open Sans" pitchFamily="34" charset="-122"/>
                <a:cs typeface="Open Sans" pitchFamily="34" charset="-120"/>
              </a:rPr>
              <a:t>World Frame</a:t>
            </a:r>
            <a:r>
              <a:rPr lang="en-US" sz="942" dirty="0">
                <a:solidFill>
                  <a:srgbClr val="E0E0E0"/>
                </a:solidFill>
                <a:latin typeface="Open Sans" pitchFamily="34" charset="0"/>
                <a:ea typeface="Open Sans" pitchFamily="34" charset="-122"/>
                <a:cs typeface="Open Sans" pitchFamily="34" charset="-120"/>
              </a:rPr>
              <a:t>).</a:t>
            </a:r>
            <a:endParaRPr lang="en-US" sz="942" dirty="0"/>
          </a:p>
        </p:txBody>
      </p:sp>
      <p:sp>
        <p:nvSpPr>
          <p:cNvPr id="12" name="Shape 7"/>
          <p:cNvSpPr/>
          <p:nvPr/>
        </p:nvSpPr>
        <p:spPr>
          <a:xfrm>
            <a:off x="5059087" y="2177058"/>
            <a:ext cx="3799163" cy="1446609"/>
          </a:xfrm>
          <a:prstGeom prst="rect">
            <a:avLst/>
          </a:prstGeom>
          <a:solidFill>
            <a:srgbClr val="FFFFFF">
              <a:alpha val="5000"/>
            </a:srgbClr>
          </a:solidFill>
          <a:ln/>
        </p:spPr>
      </p:sp>
      <p:sp>
        <p:nvSpPr>
          <p:cNvPr id="13" name="Shape 8"/>
          <p:cNvSpPr/>
          <p:nvPr/>
        </p:nvSpPr>
        <p:spPr>
          <a:xfrm>
            <a:off x="5059087" y="2177058"/>
            <a:ext cx="28575" cy="1446609"/>
          </a:xfrm>
          <a:prstGeom prst="rect">
            <a:avLst/>
          </a:prstGeom>
          <a:solidFill>
            <a:srgbClr val="E67E22"/>
          </a:solidFill>
          <a:ln/>
        </p:spPr>
      </p:sp>
      <p:sp>
        <p:nvSpPr>
          <p:cNvPr id="14" name="Text 9"/>
          <p:cNvSpPr/>
          <p:nvPr/>
        </p:nvSpPr>
        <p:spPr>
          <a:xfrm>
            <a:off x="5144812" y="2262783"/>
            <a:ext cx="3627713"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E67E22"/>
                </a:solidFill>
                <a:latin typeface="Montserrat" pitchFamily="34" charset="0"/>
                <a:ea typeface="Montserrat" pitchFamily="34" charset="-122"/>
                <a:cs typeface="Montserrat" pitchFamily="34" charset="-120"/>
              </a:rPr>
              <a:t>The Trigonometric Solution</a:t>
            </a:r>
            <a:endParaRPr lang="en-US" sz="1090" dirty="0"/>
          </a:p>
        </p:txBody>
      </p:sp>
      <p:sp>
        <p:nvSpPr>
          <p:cNvPr id="15" name="Text 10"/>
          <p:cNvSpPr/>
          <p:nvPr/>
        </p:nvSpPr>
        <p:spPr>
          <a:xfrm>
            <a:off x="5144812" y="2519958"/>
            <a:ext cx="2177058" cy="175022"/>
          </a:xfrm>
          <a:prstGeom prst="rect">
            <a:avLst/>
          </a:prstGeom>
          <a:noFill/>
          <a:ln/>
        </p:spPr>
        <p:txBody>
          <a:bodyPr wrap="none" lIns="0" tIns="0" rIns="0" bIns="0" rtlCol="0" anchor="t">
            <a:spAutoFit/>
          </a:bodyPr>
          <a:lstStyle/>
          <a:p>
            <a:pPr algn="l" indent="0" marL="0">
              <a:lnSpc>
                <a:spcPts val="1500"/>
              </a:lnSpc>
              <a:buNone/>
            </a:pPr>
            <a:r>
              <a:rPr lang="en-US" sz="942" dirty="0">
                <a:solidFill>
                  <a:srgbClr val="E0E0E0"/>
                </a:solidFill>
                <a:latin typeface="Open Sans" pitchFamily="34" charset="0"/>
                <a:ea typeface="Open Sans" pitchFamily="34" charset="-122"/>
                <a:cs typeface="Open Sans" pitchFamily="34" charset="-120"/>
              </a:rPr>
              <a:t>We use the robot's current heading (</a:t>
            </a:r>
            <a:endParaRPr lang="en-US" sz="942" dirty="0"/>
          </a:p>
        </p:txBody>
      </p:sp>
      <p:sp>
        <p:nvSpPr>
          <p:cNvPr id="16" name="Shape 11"/>
          <p:cNvSpPr/>
          <p:nvPr/>
        </p:nvSpPr>
        <p:spPr>
          <a:xfrm>
            <a:off x="7321869" y="2530673"/>
            <a:ext cx="289322" cy="178594"/>
          </a:xfrm>
          <a:prstGeom prst="rect">
            <a:avLst/>
          </a:prstGeom>
          <a:solidFill>
            <a:srgbClr val="000000">
              <a:alpha val="50000"/>
            </a:srgbClr>
          </a:solidFill>
          <a:ln/>
        </p:spPr>
      </p:sp>
      <p:sp>
        <p:nvSpPr>
          <p:cNvPr id="17" name="Text 12"/>
          <p:cNvSpPr/>
          <p:nvPr/>
        </p:nvSpPr>
        <p:spPr>
          <a:xfrm>
            <a:off x="7321869" y="2530673"/>
            <a:ext cx="289322" cy="178594"/>
          </a:xfrm>
          <a:prstGeom prst="rect">
            <a:avLst/>
          </a:prstGeom>
          <a:noFill/>
          <a:ln/>
        </p:spPr>
        <p:txBody>
          <a:bodyPr wrap="none" lIns="51054" tIns="17018" rIns="51054" bIns="17018" rtlCol="0" anchor="t">
            <a:spAutoFit/>
          </a:bodyPr>
          <a:lstStyle/>
          <a:p>
            <a:pPr algn="l" indent="0" marL="0">
              <a:lnSpc>
                <a:spcPts val="1400"/>
              </a:lnSpc>
              <a:buNone/>
            </a:pPr>
            <a:r>
              <a:rPr lang="en-US" sz="834" dirty="0">
                <a:solidFill>
                  <a:srgbClr val="9CDCFE"/>
                </a:solidFill>
                <a:latin typeface="Fira Code" pitchFamily="34" charset="0"/>
                <a:ea typeface="Fira Code" pitchFamily="34" charset="-122"/>
                <a:cs typeface="Fira Code" pitchFamily="34" charset="-120"/>
              </a:rPr>
              <a:t>yaw</a:t>
            </a:r>
            <a:endParaRPr lang="en-US" sz="834" dirty="0"/>
          </a:p>
        </p:txBody>
      </p:sp>
      <p:sp>
        <p:nvSpPr>
          <p:cNvPr id="18" name="Text 13"/>
          <p:cNvSpPr/>
          <p:nvPr/>
        </p:nvSpPr>
        <p:spPr>
          <a:xfrm>
            <a:off x="7611191" y="2519958"/>
            <a:ext cx="851892" cy="175022"/>
          </a:xfrm>
          <a:prstGeom prst="rect">
            <a:avLst/>
          </a:prstGeom>
          <a:noFill/>
          <a:ln/>
        </p:spPr>
        <p:txBody>
          <a:bodyPr wrap="none" lIns="0" tIns="0" rIns="0" bIns="0" rtlCol="0" anchor="t">
            <a:spAutoFit/>
          </a:bodyPr>
          <a:lstStyle/>
          <a:p>
            <a:pPr algn="l" indent="0" marL="0">
              <a:lnSpc>
                <a:spcPts val="1500"/>
              </a:lnSpc>
              <a:buNone/>
            </a:pPr>
            <a:r>
              <a:rPr lang="en-US" sz="942" dirty="0">
                <a:solidFill>
                  <a:srgbClr val="E0E0E0"/>
                </a:solidFill>
                <a:latin typeface="Open Sans" pitchFamily="34" charset="0"/>
                <a:ea typeface="Open Sans" pitchFamily="34" charset="-122"/>
                <a:cs typeface="Open Sans" pitchFamily="34" charset="-120"/>
              </a:rPr>
              <a:t>) to convert its</a:t>
            </a:r>
            <a:endParaRPr lang="en-US" sz="942" dirty="0"/>
          </a:p>
        </p:txBody>
      </p:sp>
      <p:sp>
        <p:nvSpPr>
          <p:cNvPr id="19" name="Text 14"/>
          <p:cNvSpPr/>
          <p:nvPr/>
        </p:nvSpPr>
        <p:spPr>
          <a:xfrm>
            <a:off x="5144812" y="2714625"/>
            <a:ext cx="2623542" cy="175022"/>
          </a:xfrm>
          <a:prstGeom prst="rect">
            <a:avLst/>
          </a:prstGeom>
          <a:noFill/>
          <a:ln/>
        </p:spPr>
        <p:txBody>
          <a:bodyPr wrap="none" lIns="0" tIns="0" rIns="0" bIns="0" rtlCol="0" anchor="t">
            <a:spAutoFit/>
          </a:bodyPr>
          <a:lstStyle/>
          <a:p>
            <a:pPr algn="l" indent="0" marL="0">
              <a:lnSpc>
                <a:spcPts val="1500"/>
              </a:lnSpc>
              <a:buNone/>
            </a:pPr>
            <a:r>
              <a:rPr lang="en-US" sz="942" dirty="0">
                <a:solidFill>
                  <a:srgbClr val="E0E0E0"/>
                </a:solidFill>
                <a:latin typeface="Open Sans" pitchFamily="34" charset="0"/>
                <a:ea typeface="Open Sans" pitchFamily="34" charset="-122"/>
                <a:cs typeface="Open Sans" pitchFamily="34" charset="-120"/>
              </a:rPr>
              <a:t>forward speed into global X and Y velocities:</a:t>
            </a:r>
            <a:endParaRPr lang="en-US" sz="942" dirty="0"/>
          </a:p>
        </p:txBody>
      </p:sp>
      <p:sp>
        <p:nvSpPr>
          <p:cNvPr id="20" name="Text 15"/>
          <p:cNvSpPr/>
          <p:nvPr/>
        </p:nvSpPr>
        <p:spPr>
          <a:xfrm>
            <a:off x="5144812" y="2955727"/>
            <a:ext cx="3627713" cy="582216"/>
          </a:xfrm>
          <a:prstGeom prst="rect">
            <a:avLst/>
          </a:prstGeom>
          <a:noFill/>
          <a:ln/>
        </p:spPr>
        <p:txBody>
          <a:bodyPr wrap="square" lIns="102108" tIns="0" rIns="0" bIns="0" rtlCol="0" anchor="t">
            <a:spAutoFit/>
          </a:bodyPr>
          <a:lstStyle/>
          <a:p>
            <a:pPr algn="l" indent="0" marL="0">
              <a:lnSpc>
                <a:spcPts val="1500"/>
              </a:lnSpc>
              <a:buNone/>
            </a:pPr>
            <a:r>
              <a:rPr lang="en-US" sz="885" b="1" dirty="0">
                <a:solidFill>
                  <a:srgbClr val="E0E0E0"/>
                </a:solidFill>
                <a:latin typeface="Open Sans" pitchFamily="34" charset="0"/>
                <a:ea typeface="Open Sans" pitchFamily="34" charset="-122"/>
                <a:cs typeface="Open Sans" pitchFamily="34" charset="-120"/>
              </a:rPr>
              <a:t>Facing East (yaw=0):</a:t>
            </a:r>
            <a:r>
              <a:rPr lang="en-US" sz="942" dirty="0">
                <a:solidFill>
                  <a:srgbClr val="E0E0E0"/>
                </a:solidFill>
                <a:latin typeface="Open Sans" pitchFamily="34" charset="0"/>
                <a:ea typeface="Open Sans" pitchFamily="34" charset="-122"/>
                <a:cs typeface="Open Sans" pitchFamily="34" charset="-120"/>
              </a:rPr>
              <a:t>
</a:t>
            </a:r>
            <a:r>
              <a:rPr lang="en-US" sz="834" dirty="0">
                <a:solidFill>
                  <a:srgbClr val="9CDCFE"/>
                </a:solidFill>
                <a:latin typeface="Fira Code" pitchFamily="34" charset="0"/>
                <a:ea typeface="Fira Code" pitchFamily="34" charset="-122"/>
                <a:cs typeface="Fira Code" pitchFamily="34" charset="-120"/>
              </a:rPr>
              <a:t>vx = speed × cos(0) = speed</a:t>
            </a:r>
            <a:r>
              <a:rPr lang="en-US" sz="942" dirty="0">
                <a:solidFill>
                  <a:srgbClr val="E0E0E0"/>
                </a:solidFill>
                <a:latin typeface="Open Sans" pitchFamily="34" charset="0"/>
                <a:ea typeface="Open Sans" pitchFamily="34" charset="-122"/>
                <a:cs typeface="Open Sans" pitchFamily="34" charset="-120"/>
              </a:rPr>
              <a:t>
</a:t>
            </a:r>
            <a:r>
              <a:rPr lang="en-US" sz="834" dirty="0">
                <a:solidFill>
                  <a:srgbClr val="9CDCFE"/>
                </a:solidFill>
                <a:latin typeface="Fira Code" pitchFamily="34" charset="0"/>
                <a:ea typeface="Fira Code" pitchFamily="34" charset="-122"/>
                <a:cs typeface="Fira Code" pitchFamily="34" charset="-120"/>
              </a:rPr>
              <a:t>vy = speed × sin(0) = 0</a:t>
            </a:r>
            <a:endParaRPr lang="en-US" sz="942" dirty="0"/>
          </a:p>
        </p:txBody>
      </p:sp>
      <p:sp>
        <p:nvSpPr>
          <p:cNvPr id="21" name="Shape 16"/>
          <p:cNvSpPr/>
          <p:nvPr/>
        </p:nvSpPr>
        <p:spPr>
          <a:xfrm>
            <a:off x="5059087" y="3709392"/>
            <a:ext cx="3799163" cy="1000125"/>
          </a:xfrm>
          <a:prstGeom prst="rect">
            <a:avLst/>
          </a:prstGeom>
          <a:solidFill>
            <a:srgbClr val="FFFFFF">
              <a:alpha val="5000"/>
            </a:srgbClr>
          </a:solidFill>
          <a:ln/>
        </p:spPr>
      </p:sp>
      <p:sp>
        <p:nvSpPr>
          <p:cNvPr id="22" name="Shape 17"/>
          <p:cNvSpPr/>
          <p:nvPr/>
        </p:nvSpPr>
        <p:spPr>
          <a:xfrm>
            <a:off x="5059087" y="3709392"/>
            <a:ext cx="28575" cy="1000125"/>
          </a:xfrm>
          <a:prstGeom prst="rect">
            <a:avLst/>
          </a:prstGeom>
          <a:solidFill>
            <a:srgbClr val="FFFFFF"/>
          </a:solidFill>
          <a:ln/>
        </p:spPr>
      </p:sp>
      <p:sp>
        <p:nvSpPr>
          <p:cNvPr id="23" name="Text 18"/>
          <p:cNvSpPr/>
          <p:nvPr/>
        </p:nvSpPr>
        <p:spPr>
          <a:xfrm>
            <a:off x="5144812" y="3795117"/>
            <a:ext cx="3627713"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FFFFF"/>
                </a:solidFill>
                <a:latin typeface="Montserrat" pitchFamily="34" charset="0"/>
                <a:ea typeface="Montserrat" pitchFamily="34" charset="-122"/>
                <a:cs typeface="Montserrat" pitchFamily="34" charset="-120"/>
              </a:rPr>
              <a:t>Key Insight</a:t>
            </a:r>
            <a:endParaRPr lang="en-US" sz="1090" dirty="0"/>
          </a:p>
        </p:txBody>
      </p:sp>
      <p:sp>
        <p:nvSpPr>
          <p:cNvPr id="24" name="Text 19"/>
          <p:cNvSpPr/>
          <p:nvPr/>
        </p:nvSpPr>
        <p:spPr>
          <a:xfrm>
            <a:off x="5144812" y="4043363"/>
            <a:ext cx="3627713" cy="580430"/>
          </a:xfrm>
          <a:prstGeom prst="rect">
            <a:avLst/>
          </a:prstGeom>
          <a:noFill/>
          <a:ln/>
        </p:spPr>
        <p:txBody>
          <a:bodyPr wrap="square" lIns="0" tIns="0" rIns="0" bIns="0" rtlCol="0" anchor="t">
            <a:spAutoFit/>
          </a:bodyPr>
          <a:lstStyle/>
          <a:p>
            <a:pPr algn="l" indent="0" marL="0">
              <a:lnSpc>
                <a:spcPts val="1500"/>
              </a:lnSpc>
              <a:buNone/>
            </a:pPr>
            <a:r>
              <a:rPr lang="en-US" sz="942" dirty="0">
                <a:solidFill>
                  <a:srgbClr val="E0E0E0"/>
                </a:solidFill>
                <a:latin typeface="Open Sans" pitchFamily="34" charset="0"/>
                <a:ea typeface="Open Sans" pitchFamily="34" charset="-122"/>
                <a:cs typeface="Open Sans" pitchFamily="34" charset="-120"/>
              </a:rPr>
              <a:t>The robot's "forward" direction changes as it turns, but the </a:t>
            </a:r>
            <a:r>
              <a:rPr lang="en-US" sz="942" dirty="0">
                <a:solidFill>
                  <a:srgbClr val="E0E0E0"/>
                </a:solidFill>
                <a:latin typeface="Open Sans" pitchFamily="34" charset="0"/>
                <a:ea typeface="Open Sans" pitchFamily="34" charset="-122"/>
                <a:cs typeface="Open Sans" pitchFamily="34" charset="-120"/>
              </a:rPr>
              <a:t>world's X and Y axes stay fixed. This is why we must </a:t>
            </a:r>
            <a:r>
              <a:rPr lang="en-US" sz="942" dirty="0">
                <a:solidFill>
                  <a:srgbClr val="E0E0E0"/>
                </a:solidFill>
                <a:latin typeface="Open Sans" pitchFamily="34" charset="0"/>
                <a:ea typeface="Open Sans" pitchFamily="34" charset="-122"/>
                <a:cs typeface="Open Sans" pitchFamily="34" charset="-120"/>
              </a:rPr>
              <a:t>recalculate </a:t>
            </a:r>
            <a:r>
              <a:rPr lang="en-US" sz="834" dirty="0">
                <a:solidFill>
                  <a:srgbClr val="9CDCFE"/>
                </a:solidFill>
                <a:latin typeface="Fira Code" pitchFamily="34" charset="0"/>
                <a:ea typeface="Fira Code" pitchFamily="34" charset="-122"/>
                <a:cs typeface="Fira Code" pitchFamily="34" charset="-120"/>
              </a:rPr>
              <a:t>vx</a:t>
            </a:r>
            <a:r>
              <a:rPr lang="en-US" sz="942" dirty="0">
                <a:solidFill>
                  <a:srgbClr val="E0E0E0"/>
                </a:solidFill>
                <a:latin typeface="Open Sans" pitchFamily="34" charset="0"/>
                <a:ea typeface="Open Sans" pitchFamily="34" charset="-122"/>
                <a:cs typeface="Open Sans" pitchFamily="34" charset="-120"/>
              </a:rPr>
              <a:t> and </a:t>
            </a:r>
            <a:r>
              <a:rPr lang="en-US" sz="834" dirty="0">
                <a:solidFill>
                  <a:srgbClr val="9CDCFE"/>
                </a:solidFill>
                <a:latin typeface="Fira Code" pitchFamily="34" charset="0"/>
                <a:ea typeface="Fira Code" pitchFamily="34" charset="-122"/>
                <a:cs typeface="Fira Code" pitchFamily="34" charset="-120"/>
              </a:rPr>
              <a:t>vy</a:t>
            </a:r>
            <a:r>
              <a:rPr lang="en-US" sz="942" dirty="0">
                <a:solidFill>
                  <a:srgbClr val="E0E0E0"/>
                </a:solidFill>
                <a:latin typeface="Open Sans" pitchFamily="34" charset="0"/>
                <a:ea typeface="Open Sans" pitchFamily="34" charset="-122"/>
                <a:cs typeface="Open Sans" pitchFamily="34" charset="-120"/>
              </a:rPr>
              <a:t> at </a:t>
            </a:r>
            <a:r>
              <a:rPr lang="en-US" sz="942" i="1" dirty="0">
                <a:solidFill>
                  <a:srgbClr val="E0E0E0"/>
                </a:solidFill>
                <a:latin typeface="Open Sans" pitchFamily="34" charset="0"/>
                <a:ea typeface="Open Sans" pitchFamily="34" charset="-122"/>
                <a:cs typeface="Open Sans" pitchFamily="34" charset="-120"/>
              </a:rPr>
              <a:t>every simulation step</a:t>
            </a:r>
            <a:r>
              <a:rPr lang="en-US" sz="942" dirty="0">
                <a:solidFill>
                  <a:srgbClr val="E0E0E0"/>
                </a:solidFill>
                <a:latin typeface="Open Sans" pitchFamily="34" charset="0"/>
                <a:ea typeface="Open Sans" pitchFamily="34" charset="-122"/>
                <a:cs typeface="Open Sans" pitchFamily="34" charset="-120"/>
              </a:rPr>
              <a:t>.</a:t>
            </a:r>
            <a:endParaRPr lang="en-US" sz="942" dirty="0"/>
          </a:p>
        </p:txBody>
      </p:sp>
      <p:sp>
        <p:nvSpPr>
          <p:cNvPr id="25" name="Shape 20"/>
          <p:cNvSpPr/>
          <p:nvPr/>
        </p:nvSpPr>
        <p:spPr>
          <a:xfrm>
            <a:off x="0" y="4938117"/>
            <a:ext cx="9144000" cy="357188"/>
          </a:xfrm>
          <a:prstGeom prst="rect">
            <a:avLst/>
          </a:prstGeom>
          <a:solidFill>
            <a:srgbClr val="000000">
              <a:alpha val="0"/>
            </a:srgbClr>
          </a:solidFill>
          <a:ln/>
        </p:spPr>
      </p:sp>
      <p:sp>
        <p:nvSpPr>
          <p:cNvPr id="26" name="Shape 21"/>
          <p:cNvSpPr/>
          <p:nvPr/>
        </p:nvSpPr>
        <p:spPr>
          <a:xfrm>
            <a:off x="0" y="4938117"/>
            <a:ext cx="9144000" cy="7144"/>
          </a:xfrm>
          <a:prstGeom prst="rect">
            <a:avLst/>
          </a:prstGeom>
          <a:solidFill>
            <a:srgbClr val="FFFFFF"/>
          </a:solidFill>
          <a:ln/>
        </p:spPr>
      </p:sp>
      <p:sp>
        <p:nvSpPr>
          <p:cNvPr id="27" name="Text 22"/>
          <p:cNvSpPr/>
          <p:nvPr/>
        </p:nvSpPr>
        <p:spPr>
          <a:xfrm>
            <a:off x="428625" y="5045273"/>
            <a:ext cx="905470"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888888"/>
                </a:solidFill>
                <a:latin typeface="Open Sans" pitchFamily="34" charset="0"/>
                <a:ea typeface="Open Sans" pitchFamily="34" charset="-122"/>
                <a:cs typeface="Open Sans" pitchFamily="34" charset="-120"/>
              </a:rPr>
              <a:t>Lab 1: Hello, Robot!</a:t>
            </a:r>
            <a:endParaRPr lang="en-US" sz="727" dirty="0"/>
          </a:p>
        </p:txBody>
      </p:sp>
      <p:sp>
        <p:nvSpPr>
          <p:cNvPr id="28" name="Text 23"/>
          <p:cNvSpPr/>
          <p:nvPr/>
        </p:nvSpPr>
        <p:spPr>
          <a:xfrm>
            <a:off x="7824192" y="5045273"/>
            <a:ext cx="891183"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888888"/>
                </a:solidFill>
                <a:latin typeface="Open Sans" pitchFamily="34" charset="0"/>
                <a:ea typeface="Open Sans" pitchFamily="34" charset="-122"/>
                <a:cs typeface="Open Sans" pitchFamily="34" charset="-120"/>
              </a:rPr>
              <a:t>Block 1: Perception</a:t>
            </a:r>
            <a:endParaRPr lang="en-US" sz="727"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721519"/>
          </a:xfrm>
          <a:prstGeom prst="rect">
            <a:avLst/>
          </a:prstGeom>
          <a:solidFill>
            <a:srgbClr val="000000">
              <a:alpha val="0"/>
            </a:srgbClr>
          </a:solidFill>
          <a:ln/>
        </p:spPr>
      </p:sp>
      <p:sp>
        <p:nvSpPr>
          <p:cNvPr id="4" name="Shape 1"/>
          <p:cNvSpPr/>
          <p:nvPr/>
        </p:nvSpPr>
        <p:spPr>
          <a:xfrm>
            <a:off x="0" y="714375"/>
            <a:ext cx="9144000" cy="7144"/>
          </a:xfrm>
          <a:prstGeom prst="rect">
            <a:avLst/>
          </a:prstGeom>
          <a:solidFill>
            <a:srgbClr val="B3EBF2"/>
          </a:solidFill>
          <a:ln/>
        </p:spPr>
      </p:sp>
      <p:pic>
        <p:nvPicPr>
          <p:cNvPr id="5" name="Image 1" descr="preencoded.png">    </p:cNvPr>
          <p:cNvPicPr>
            <a:picLocks noChangeAspect="1"/>
          </p:cNvPicPr>
          <p:nvPr/>
        </p:nvPicPr>
        <p:blipFill>
          <a:blip r:embed="rId2"/>
          <a:stretch>
            <a:fillRect/>
          </a:stretch>
        </p:blipFill>
        <p:spPr>
          <a:xfrm>
            <a:off x="428625" y="300038"/>
            <a:ext cx="257175" cy="257175"/>
          </a:xfrm>
          <a:prstGeom prst="rect">
            <a:avLst/>
          </a:prstGeom>
        </p:spPr>
      </p:pic>
      <p:sp>
        <p:nvSpPr>
          <p:cNvPr id="6" name="Text 2"/>
          <p:cNvSpPr/>
          <p:nvPr/>
        </p:nvSpPr>
        <p:spPr>
          <a:xfrm>
            <a:off x="828675" y="285750"/>
            <a:ext cx="7299127" cy="285750"/>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E67E22"/>
                </a:solidFill>
                <a:latin typeface="Fira Code" pitchFamily="34" charset="0"/>
                <a:ea typeface="Fira Code" pitchFamily="34" charset="-122"/>
                <a:cs typeface="Fira Code" pitchFamily="34" charset="-120"/>
              </a:rPr>
              <a:t>visualize_trajectory.py</a:t>
            </a:r>
            <a:r>
              <a:rPr lang="en-US" sz="1397" b="1" dirty="0">
                <a:solidFill>
                  <a:srgbClr val="E67E22"/>
                </a:solidFill>
                <a:latin typeface="Fira Code" pitchFamily="34" charset="0"/>
                <a:ea typeface="Fira Code" pitchFamily="34" charset="-122"/>
                <a:cs typeface="Fira Code" pitchFamily="34" charset="-120"/>
              </a:rPr>
              <a:t>: From Raw Data to Actionable Insights</a:t>
            </a:r>
            <a:endParaRPr lang="en-US" sz="1397" dirty="0"/>
          </a:p>
        </p:txBody>
      </p:sp>
      <p:sp>
        <p:nvSpPr>
          <p:cNvPr id="7" name="Shape 3"/>
          <p:cNvSpPr/>
          <p:nvPr/>
        </p:nvSpPr>
        <p:spPr>
          <a:xfrm>
            <a:off x="428625" y="857250"/>
            <a:ext cx="4000500" cy="1852687"/>
          </a:xfrm>
          <a:prstGeom prst="rect">
            <a:avLst/>
          </a:prstGeom>
          <a:solidFill>
            <a:srgbClr val="FFFFFF">
              <a:alpha val="5000"/>
            </a:srgbClr>
          </a:solidFill>
          <a:ln/>
        </p:spPr>
      </p:sp>
      <p:sp>
        <p:nvSpPr>
          <p:cNvPr id="8" name="Shape 4"/>
          <p:cNvSpPr/>
          <p:nvPr/>
        </p:nvSpPr>
        <p:spPr>
          <a:xfrm>
            <a:off x="428625" y="857250"/>
            <a:ext cx="28575" cy="1852687"/>
          </a:xfrm>
          <a:prstGeom prst="rect">
            <a:avLst/>
          </a:prstGeom>
          <a:solidFill>
            <a:srgbClr val="00BCD4"/>
          </a:solidFill>
          <a:ln/>
        </p:spPr>
      </p:sp>
      <p:pic>
        <p:nvPicPr>
          <p:cNvPr id="9" name="Image 2" descr="preencoded.png">    </p:cNvPr>
          <p:cNvPicPr>
            <a:picLocks noChangeAspect="1"/>
          </p:cNvPicPr>
          <p:nvPr/>
        </p:nvPicPr>
        <p:blipFill>
          <a:blip r:embed="rId3"/>
          <a:stretch>
            <a:fillRect/>
          </a:stretch>
        </p:blipFill>
        <p:spPr>
          <a:xfrm>
            <a:off x="571500" y="1017091"/>
            <a:ext cx="137517" cy="157163"/>
          </a:xfrm>
          <a:prstGeom prst="rect">
            <a:avLst/>
          </a:prstGeom>
        </p:spPr>
      </p:pic>
      <p:sp>
        <p:nvSpPr>
          <p:cNvPr id="10" name="Text 5"/>
          <p:cNvSpPr/>
          <p:nvPr/>
        </p:nvSpPr>
        <p:spPr>
          <a:xfrm>
            <a:off x="780455" y="1000125"/>
            <a:ext cx="1685925"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0BCD4"/>
                </a:solidFill>
                <a:latin typeface="Montserrat" pitchFamily="34" charset="0"/>
                <a:ea typeface="Montserrat" pitchFamily="34" charset="-122"/>
                <a:cs typeface="Montserrat" pitchFamily="34" charset="-120"/>
              </a:rPr>
              <a:t>Step 1: Data Logging</a:t>
            </a:r>
            <a:endParaRPr lang="en-US" sz="1090" dirty="0"/>
          </a:p>
        </p:txBody>
      </p:sp>
      <p:sp>
        <p:nvSpPr>
          <p:cNvPr id="11" name="Text 6"/>
          <p:cNvSpPr/>
          <p:nvPr/>
        </p:nvSpPr>
        <p:spPr>
          <a:xfrm>
            <a:off x="571500" y="1262658"/>
            <a:ext cx="3714750" cy="411435"/>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E0E0E0"/>
                </a:solidFill>
                <a:latin typeface="Open Sans" pitchFamily="34" charset="0"/>
                <a:ea typeface="Open Sans" pitchFamily="34" charset="-122"/>
                <a:cs typeface="Open Sans" pitchFamily="34" charset="-120"/>
              </a:rPr>
              <a:t>Instead of just watching the robot move, we need to record its position at every step to analyze its performance later.</a:t>
            </a:r>
            <a:endParaRPr lang="en-US" sz="942" dirty="0"/>
          </a:p>
        </p:txBody>
      </p:sp>
      <p:sp>
        <p:nvSpPr>
          <p:cNvPr id="12" name="Shape 7"/>
          <p:cNvSpPr/>
          <p:nvPr/>
        </p:nvSpPr>
        <p:spPr>
          <a:xfrm>
            <a:off x="571500" y="1781249"/>
            <a:ext cx="3714750" cy="785813"/>
          </a:xfrm>
          <a:prstGeom prst="rect">
            <a:avLst/>
          </a:prstGeom>
          <a:solidFill>
            <a:srgbClr val="1E1E1E"/>
          </a:solidFill>
          <a:ln w="9144">
            <a:solidFill>
              <a:srgbClr val="333333"/>
            </a:solidFill>
            <a:prstDash val="solid"/>
          </a:ln>
        </p:spPr>
      </p:sp>
      <p:sp>
        <p:nvSpPr>
          <p:cNvPr id="13" name="Text 8"/>
          <p:cNvSpPr/>
          <p:nvPr/>
        </p:nvSpPr>
        <p:spPr>
          <a:xfrm>
            <a:off x="571500" y="1781249"/>
            <a:ext cx="3714750" cy="785813"/>
          </a:xfrm>
          <a:prstGeom prst="rect">
            <a:avLst/>
          </a:prstGeom>
          <a:noFill/>
          <a:ln/>
        </p:spPr>
        <p:txBody>
          <a:bodyPr wrap="square" lIns="127508" tIns="127508" rIns="127508" bIns="127508" rtlCol="0" anchor="t">
            <a:spAutoFit/>
          </a:bodyPr>
          <a:lstStyle/>
          <a:p>
            <a:pPr algn="l" indent="0" marL="0">
              <a:lnSpc>
                <a:spcPts val="1000"/>
              </a:lnSpc>
              <a:buNone/>
            </a:pPr>
            <a:r>
              <a:rPr lang="en-US" sz="780" dirty="0">
                <a:solidFill>
                  <a:srgbClr val="6A9955"/>
                </a:solidFill>
                <a:latin typeface="Fira Code" pitchFamily="34" charset="0"/>
                <a:ea typeface="Fira Code" pitchFamily="34" charset="-122"/>
                <a:cs typeface="Fira Code" pitchFamily="34" charset="-120"/>
              </a:rPr>
              <a:t># Initialize empty list</a:t>
            </a:r>
            <a:r>
              <a:rPr lang="en-US" sz="780" dirty="0">
                <a:solidFill>
                  <a:srgbClr val="D4D4D4"/>
                </a:solidFill>
                <a:latin typeface="Fira Code" pitchFamily="34" charset="0"/>
                <a:ea typeface="Fira Code" pitchFamily="34" charset="-122"/>
                <a:cs typeface="Fira Code" pitchFamily="34" charset="-120"/>
              </a:rPr>
              <a:t> trajectory = [] </a:t>
            </a:r>
            <a:r>
              <a:rPr lang="en-US" sz="780" dirty="0">
                <a:solidFill>
                  <a:srgbClr val="6A9955"/>
                </a:solidFill>
                <a:latin typeface="Fira Code" pitchFamily="34" charset="0"/>
                <a:ea typeface="Fira Code" pitchFamily="34" charset="-122"/>
                <a:cs typeface="Fira Code" pitchFamily="34" charset="-120"/>
              </a:rPr>
              <a:t># Inside </a:t>
            </a:r>
            <a:r>
              <a:rPr lang="en-US" sz="780" dirty="0">
                <a:solidFill>
                  <a:srgbClr val="6A9955"/>
                </a:solidFill>
                <a:latin typeface="Fira Code" pitchFamily="34" charset="0"/>
                <a:ea typeface="Fira Code" pitchFamily="34" charset="-122"/>
                <a:cs typeface="Fira Code" pitchFamily="34" charset="-120"/>
              </a:rPr>
              <a:t>simulation loop:</a:t>
            </a:r>
            <a:r>
              <a:rPr lang="en-US" sz="780" dirty="0">
                <a:solidFill>
                  <a:srgbClr val="D4D4D4"/>
                </a:solidFill>
                <a:latin typeface="Fira Code" pitchFamily="34" charset="0"/>
                <a:ea typeface="Fira Code" pitchFamily="34" charset="-122"/>
                <a:cs typeface="Fira Code" pitchFamily="34" charset="-120"/>
              </a:rPr>
              <a:t> pos, _ = </a:t>
            </a:r>
            <a:r>
              <a:rPr lang="en-US" sz="780" dirty="0">
                <a:solidFill>
                  <a:srgbClr val="D4D4D4"/>
                </a:solidFill>
                <a:latin typeface="Fira Code" pitchFamily="34" charset="0"/>
                <a:ea typeface="Fira Code" pitchFamily="34" charset="-122"/>
                <a:cs typeface="Fira Code" pitchFamily="34" charset="-120"/>
              </a:rPr>
              <a:t>p.</a:t>
            </a:r>
            <a:r>
              <a:rPr lang="en-US" sz="780" dirty="0">
                <a:solidFill>
                  <a:srgbClr val="DCDCAA"/>
                </a:solidFill>
                <a:latin typeface="Fira Code" pitchFamily="34" charset="0"/>
                <a:ea typeface="Fira Code" pitchFamily="34" charset="-122"/>
                <a:cs typeface="Fira Code" pitchFamily="34" charset="-120"/>
              </a:rPr>
              <a:t>getBasePositionAndOrientation</a:t>
            </a:r>
            <a:r>
              <a:rPr lang="en-US" sz="780" dirty="0">
                <a:solidFill>
                  <a:srgbClr val="D4D4D4"/>
                </a:solidFill>
                <a:latin typeface="Fira Code" pitchFamily="34" charset="0"/>
                <a:ea typeface="Fira Code" pitchFamily="34" charset="-122"/>
                <a:cs typeface="Fira Code" pitchFamily="34" charset="-120"/>
              </a:rPr>
              <a:t>(robotId) </a:t>
            </a:r>
            <a:r>
              <a:rPr lang="en-US" sz="780" dirty="0">
                <a:solidFill>
                  <a:srgbClr val="D4D4D4"/>
                </a:solidFill>
                <a:latin typeface="Fira Code" pitchFamily="34" charset="0"/>
                <a:ea typeface="Fira Code" pitchFamily="34" charset="-122"/>
                <a:cs typeface="Fira Code" pitchFamily="34" charset="-120"/>
              </a:rPr>
              <a:t>trajectory.</a:t>
            </a:r>
            <a:r>
              <a:rPr lang="en-US" sz="780" dirty="0">
                <a:solidFill>
                  <a:srgbClr val="DCDCAA"/>
                </a:solidFill>
                <a:latin typeface="Fira Code" pitchFamily="34" charset="0"/>
                <a:ea typeface="Fira Code" pitchFamily="34" charset="-122"/>
                <a:cs typeface="Fira Code" pitchFamily="34" charset="-120"/>
              </a:rPr>
              <a:t>append</a:t>
            </a:r>
            <a:r>
              <a:rPr lang="en-US" sz="780" dirty="0">
                <a:solidFill>
                  <a:srgbClr val="D4D4D4"/>
                </a:solidFill>
                <a:latin typeface="Fira Code" pitchFamily="34" charset="0"/>
                <a:ea typeface="Fira Code" pitchFamily="34" charset="-122"/>
                <a:cs typeface="Fira Code" pitchFamily="34" charset="-120"/>
              </a:rPr>
              <a:t>([pos[0], pos[1], pos[2]])</a:t>
            </a:r>
            <a:endParaRPr lang="en-US" sz="780" dirty="0"/>
          </a:p>
        </p:txBody>
      </p:sp>
      <p:sp>
        <p:nvSpPr>
          <p:cNvPr id="14" name="Shape 9"/>
          <p:cNvSpPr/>
          <p:nvPr/>
        </p:nvSpPr>
        <p:spPr>
          <a:xfrm>
            <a:off x="428625" y="2838524"/>
            <a:ext cx="4000500" cy="1172580"/>
          </a:xfrm>
          <a:prstGeom prst="rect">
            <a:avLst/>
          </a:prstGeom>
          <a:solidFill>
            <a:srgbClr val="FFFFFF">
              <a:alpha val="5000"/>
            </a:srgbClr>
          </a:solidFill>
          <a:ln/>
        </p:spPr>
      </p:sp>
      <p:sp>
        <p:nvSpPr>
          <p:cNvPr id="15" name="Shape 10"/>
          <p:cNvSpPr/>
          <p:nvPr/>
        </p:nvSpPr>
        <p:spPr>
          <a:xfrm>
            <a:off x="428625" y="2838524"/>
            <a:ext cx="28575" cy="1172580"/>
          </a:xfrm>
          <a:prstGeom prst="rect">
            <a:avLst/>
          </a:prstGeom>
          <a:solidFill>
            <a:srgbClr val="E67E22"/>
          </a:solidFill>
          <a:ln/>
        </p:spPr>
      </p:sp>
      <p:pic>
        <p:nvPicPr>
          <p:cNvPr id="16" name="Image 3" descr="preencoded.png">    </p:cNvPr>
          <p:cNvPicPr>
            <a:picLocks noChangeAspect="1"/>
          </p:cNvPicPr>
          <p:nvPr/>
        </p:nvPicPr>
        <p:blipFill>
          <a:blip r:embed="rId4"/>
          <a:stretch>
            <a:fillRect/>
          </a:stretch>
        </p:blipFill>
        <p:spPr>
          <a:xfrm>
            <a:off x="571500" y="2998366"/>
            <a:ext cx="176808" cy="157163"/>
          </a:xfrm>
          <a:prstGeom prst="rect">
            <a:avLst/>
          </a:prstGeom>
        </p:spPr>
      </p:pic>
      <p:sp>
        <p:nvSpPr>
          <p:cNvPr id="17" name="Text 11"/>
          <p:cNvSpPr/>
          <p:nvPr/>
        </p:nvSpPr>
        <p:spPr>
          <a:xfrm>
            <a:off x="819745" y="2981399"/>
            <a:ext cx="2169914"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E67E22"/>
                </a:solidFill>
                <a:latin typeface="Montserrat" pitchFamily="34" charset="0"/>
                <a:ea typeface="Montserrat" pitchFamily="34" charset="-122"/>
                <a:cs typeface="Montserrat" pitchFamily="34" charset="-120"/>
              </a:rPr>
              <a:t>Headless Mode (p.DIRECT)</a:t>
            </a:r>
            <a:endParaRPr lang="en-US" sz="1090" dirty="0"/>
          </a:p>
        </p:txBody>
      </p:sp>
      <p:sp>
        <p:nvSpPr>
          <p:cNvPr id="18" name="Text 12"/>
          <p:cNvSpPr/>
          <p:nvPr/>
        </p:nvSpPr>
        <p:spPr>
          <a:xfrm>
            <a:off x="571500" y="3243932"/>
            <a:ext cx="3714750" cy="624297"/>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E0E0E0"/>
                </a:solidFill>
                <a:latin typeface="Open Sans" pitchFamily="34" charset="0"/>
                <a:ea typeface="Open Sans" pitchFamily="34" charset="-122"/>
                <a:cs typeface="Open Sans" pitchFamily="34" charset="-120"/>
              </a:rPr>
              <a:t>When collecting data, we don't need the GUI. Using </a:t>
            </a:r>
            <a:r>
              <a:rPr lang="en-US" sz="942" dirty="0">
                <a:solidFill>
                  <a:srgbClr val="E67E22"/>
                </a:solidFill>
                <a:latin typeface="Fira Code" pitchFamily="34" charset="0"/>
                <a:ea typeface="Fira Code" pitchFamily="34" charset="-122"/>
                <a:cs typeface="Fira Code" pitchFamily="34" charset="-120"/>
              </a:rPr>
              <a:t>p.DIRECT</a:t>
            </a:r>
            <a:r>
              <a:rPr lang="en-US" sz="942" dirty="0">
                <a:solidFill>
                  <a:srgbClr val="E0E0E0"/>
                </a:solidFill>
                <a:latin typeface="Open Sans" pitchFamily="34" charset="0"/>
                <a:ea typeface="Open Sans" pitchFamily="34" charset="-122"/>
                <a:cs typeface="Open Sans" pitchFamily="34" charset="-120"/>
              </a:rPr>
              <a:t> runs the simulation thousands of times faster in </a:t>
            </a:r>
            <a:r>
              <a:rPr lang="en-US" sz="942" dirty="0">
                <a:solidFill>
                  <a:srgbClr val="E0E0E0"/>
                </a:solidFill>
                <a:latin typeface="Open Sans" pitchFamily="34" charset="0"/>
                <a:ea typeface="Open Sans" pitchFamily="34" charset="-122"/>
                <a:cs typeface="Open Sans" pitchFamily="34" charset="-120"/>
              </a:rPr>
              <a:t>the background.</a:t>
            </a:r>
            <a:endParaRPr lang="en-US" sz="942" dirty="0"/>
          </a:p>
        </p:txBody>
      </p:sp>
      <p:sp>
        <p:nvSpPr>
          <p:cNvPr id="19" name="Shape 13"/>
          <p:cNvSpPr/>
          <p:nvPr/>
        </p:nvSpPr>
        <p:spPr>
          <a:xfrm>
            <a:off x="4714875" y="857250"/>
            <a:ext cx="4000500" cy="3352874"/>
          </a:xfrm>
          <a:prstGeom prst="rect">
            <a:avLst/>
          </a:prstGeom>
          <a:solidFill>
            <a:srgbClr val="FFFFFF">
              <a:alpha val="5000"/>
            </a:srgbClr>
          </a:solidFill>
          <a:ln/>
        </p:spPr>
      </p:sp>
      <p:sp>
        <p:nvSpPr>
          <p:cNvPr id="20" name="Shape 14"/>
          <p:cNvSpPr/>
          <p:nvPr/>
        </p:nvSpPr>
        <p:spPr>
          <a:xfrm>
            <a:off x="4714875" y="857250"/>
            <a:ext cx="28575" cy="3352874"/>
          </a:xfrm>
          <a:prstGeom prst="rect">
            <a:avLst/>
          </a:prstGeom>
          <a:solidFill>
            <a:srgbClr val="00BCD4"/>
          </a:solidFill>
          <a:ln/>
        </p:spPr>
      </p:sp>
      <p:pic>
        <p:nvPicPr>
          <p:cNvPr id="21" name="Image 4" descr="preencoded.png">    </p:cNvPr>
          <p:cNvPicPr>
            <a:picLocks noChangeAspect="1"/>
          </p:cNvPicPr>
          <p:nvPr/>
        </p:nvPicPr>
        <p:blipFill>
          <a:blip r:embed="rId5"/>
          <a:stretch>
            <a:fillRect/>
          </a:stretch>
        </p:blipFill>
        <p:spPr>
          <a:xfrm>
            <a:off x="4857750" y="1017091"/>
            <a:ext cx="157163" cy="157163"/>
          </a:xfrm>
          <a:prstGeom prst="rect">
            <a:avLst/>
          </a:prstGeom>
        </p:spPr>
      </p:pic>
      <p:sp>
        <p:nvSpPr>
          <p:cNvPr id="22" name="Text 15"/>
          <p:cNvSpPr/>
          <p:nvPr/>
        </p:nvSpPr>
        <p:spPr>
          <a:xfrm>
            <a:off x="5086350" y="1000125"/>
            <a:ext cx="2564606"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0BCD4"/>
                </a:solidFill>
                <a:latin typeface="Montserrat" pitchFamily="34" charset="0"/>
                <a:ea typeface="Montserrat" pitchFamily="34" charset="-122"/>
                <a:cs typeface="Montserrat" pitchFamily="34" charset="-120"/>
              </a:rPr>
              <a:t>Step 2: Plotting with Matplotlib</a:t>
            </a:r>
            <a:endParaRPr lang="en-US" sz="1090" dirty="0"/>
          </a:p>
        </p:txBody>
      </p:sp>
      <p:sp>
        <p:nvSpPr>
          <p:cNvPr id="23" name="Text 16"/>
          <p:cNvSpPr/>
          <p:nvPr/>
        </p:nvSpPr>
        <p:spPr>
          <a:xfrm>
            <a:off x="4857750" y="1262658"/>
            <a:ext cx="3714750" cy="411435"/>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E0E0E0"/>
                </a:solidFill>
                <a:latin typeface="Open Sans" pitchFamily="34" charset="0"/>
                <a:ea typeface="Open Sans" pitchFamily="34" charset="-122"/>
                <a:cs typeface="Open Sans" pitchFamily="34" charset="-120"/>
              </a:rPr>
              <a:t>We convert the list into a NumPy array and plot the X and Y coordinates to visualize the path.</a:t>
            </a:r>
            <a:endParaRPr lang="en-US" sz="942" dirty="0"/>
          </a:p>
        </p:txBody>
      </p:sp>
      <p:sp>
        <p:nvSpPr>
          <p:cNvPr id="24" name="Shape 17"/>
          <p:cNvSpPr/>
          <p:nvPr/>
        </p:nvSpPr>
        <p:spPr>
          <a:xfrm>
            <a:off x="4857750" y="1781249"/>
            <a:ext cx="3714750" cy="785813"/>
          </a:xfrm>
          <a:prstGeom prst="rect">
            <a:avLst/>
          </a:prstGeom>
          <a:solidFill>
            <a:srgbClr val="1E1E1E"/>
          </a:solidFill>
          <a:ln w="9144">
            <a:solidFill>
              <a:srgbClr val="333333"/>
            </a:solidFill>
            <a:prstDash val="solid"/>
          </a:ln>
        </p:spPr>
      </p:sp>
      <p:sp>
        <p:nvSpPr>
          <p:cNvPr id="25" name="Text 18"/>
          <p:cNvSpPr/>
          <p:nvPr/>
        </p:nvSpPr>
        <p:spPr>
          <a:xfrm>
            <a:off x="4857750" y="1781249"/>
            <a:ext cx="3714750" cy="785813"/>
          </a:xfrm>
          <a:prstGeom prst="rect">
            <a:avLst/>
          </a:prstGeom>
          <a:noFill/>
          <a:ln/>
        </p:spPr>
        <p:txBody>
          <a:bodyPr wrap="square" lIns="127508" tIns="127508" rIns="127508" bIns="127508" rtlCol="0" anchor="t">
            <a:spAutoFit/>
          </a:bodyPr>
          <a:lstStyle/>
          <a:p>
            <a:pPr algn="l" indent="0" marL="0">
              <a:lnSpc>
                <a:spcPts val="1000"/>
              </a:lnSpc>
              <a:buNone/>
            </a:pPr>
            <a:r>
              <a:rPr lang="en-US" sz="780" dirty="0">
                <a:solidFill>
                  <a:srgbClr val="569CD6"/>
                </a:solidFill>
                <a:latin typeface="Fira Code" pitchFamily="34" charset="0"/>
                <a:ea typeface="Fira Code" pitchFamily="34" charset="-122"/>
                <a:cs typeface="Fira Code" pitchFamily="34" charset="-120"/>
              </a:rPr>
              <a:t>import</a:t>
            </a:r>
            <a:r>
              <a:rPr lang="en-US" sz="780" dirty="0">
                <a:solidFill>
                  <a:srgbClr val="D4D4D4"/>
                </a:solidFill>
                <a:latin typeface="Fira Code" pitchFamily="34" charset="0"/>
                <a:ea typeface="Fira Code" pitchFamily="34" charset="-122"/>
                <a:cs typeface="Fira Code" pitchFamily="34" charset="-120"/>
              </a:rPr>
              <a:t> matplotlib.pyplot </a:t>
            </a:r>
            <a:r>
              <a:rPr lang="en-US" sz="780" dirty="0">
                <a:solidFill>
                  <a:srgbClr val="569CD6"/>
                </a:solidFill>
                <a:latin typeface="Fira Code" pitchFamily="34" charset="0"/>
                <a:ea typeface="Fira Code" pitchFamily="34" charset="-122"/>
                <a:cs typeface="Fira Code" pitchFamily="34" charset="-120"/>
              </a:rPr>
              <a:t>as</a:t>
            </a:r>
            <a:r>
              <a:rPr lang="en-US" sz="780" dirty="0">
                <a:solidFill>
                  <a:srgbClr val="D4D4D4"/>
                </a:solidFill>
                <a:latin typeface="Fira Code" pitchFamily="34" charset="0"/>
                <a:ea typeface="Fira Code" pitchFamily="34" charset="-122"/>
                <a:cs typeface="Fira Code" pitchFamily="34" charset="-120"/>
              </a:rPr>
              <a:t> plt </a:t>
            </a:r>
            <a:r>
              <a:rPr lang="en-US" sz="780" dirty="0">
                <a:solidFill>
                  <a:srgbClr val="569CD6"/>
                </a:solidFill>
                <a:latin typeface="Fira Code" pitchFamily="34" charset="0"/>
                <a:ea typeface="Fira Code" pitchFamily="34" charset="-122"/>
                <a:cs typeface="Fira Code" pitchFamily="34" charset="-120"/>
              </a:rPr>
              <a:t>import</a:t>
            </a:r>
            <a:r>
              <a:rPr lang="en-US" sz="780" dirty="0">
                <a:solidFill>
                  <a:srgbClr val="D4D4D4"/>
                </a:solidFill>
                <a:latin typeface="Fira Code" pitchFamily="34" charset="0"/>
                <a:ea typeface="Fira Code" pitchFamily="34" charset="-122"/>
                <a:cs typeface="Fira Code" pitchFamily="34" charset="-120"/>
              </a:rPr>
              <a:t> numpy </a:t>
            </a:r>
            <a:r>
              <a:rPr lang="en-US" sz="780" dirty="0">
                <a:solidFill>
                  <a:srgbClr val="569CD6"/>
                </a:solidFill>
                <a:latin typeface="Fira Code" pitchFamily="34" charset="0"/>
                <a:ea typeface="Fira Code" pitchFamily="34" charset="-122"/>
                <a:cs typeface="Fira Code" pitchFamily="34" charset="-120"/>
              </a:rPr>
              <a:t>as</a:t>
            </a:r>
            <a:r>
              <a:rPr lang="en-US" sz="780" dirty="0">
                <a:solidFill>
                  <a:srgbClr val="D4D4D4"/>
                </a:solidFill>
                <a:latin typeface="Fira Code" pitchFamily="34" charset="0"/>
                <a:ea typeface="Fira Code" pitchFamily="34" charset="-122"/>
                <a:cs typeface="Fira Code" pitchFamily="34" charset="-120"/>
              </a:rPr>
              <a:t> np </a:t>
            </a:r>
            <a:r>
              <a:rPr lang="en-US" sz="780" dirty="0">
                <a:solidFill>
                  <a:srgbClr val="D4D4D4"/>
                </a:solidFill>
                <a:latin typeface="Fira Code" pitchFamily="34" charset="0"/>
                <a:ea typeface="Fira Code" pitchFamily="34" charset="-122"/>
                <a:cs typeface="Fira Code" pitchFamily="34" charset="-120"/>
              </a:rPr>
              <a:t>traj_array = np.</a:t>
            </a:r>
            <a:r>
              <a:rPr lang="en-US" sz="780" dirty="0">
                <a:solidFill>
                  <a:srgbClr val="DCDCAA"/>
                </a:solidFill>
                <a:latin typeface="Fira Code" pitchFamily="34" charset="0"/>
                <a:ea typeface="Fira Code" pitchFamily="34" charset="-122"/>
                <a:cs typeface="Fira Code" pitchFamily="34" charset="-120"/>
              </a:rPr>
              <a:t>array</a:t>
            </a:r>
            <a:r>
              <a:rPr lang="en-US" sz="780" dirty="0">
                <a:solidFill>
                  <a:srgbClr val="D4D4D4"/>
                </a:solidFill>
                <a:latin typeface="Fira Code" pitchFamily="34" charset="0"/>
                <a:ea typeface="Fira Code" pitchFamily="34" charset="-122"/>
                <a:cs typeface="Fira Code" pitchFamily="34" charset="-120"/>
              </a:rPr>
              <a:t>(trajectory) </a:t>
            </a:r>
            <a:r>
              <a:rPr lang="en-US" sz="780" dirty="0">
                <a:solidFill>
                  <a:srgbClr val="D4D4D4"/>
                </a:solidFill>
                <a:latin typeface="Fira Code" pitchFamily="34" charset="0"/>
                <a:ea typeface="Fira Code" pitchFamily="34" charset="-122"/>
                <a:cs typeface="Fira Code" pitchFamily="34" charset="-120"/>
              </a:rPr>
              <a:t>plt.</a:t>
            </a:r>
            <a:r>
              <a:rPr lang="en-US" sz="780" dirty="0">
                <a:solidFill>
                  <a:srgbClr val="DCDCAA"/>
                </a:solidFill>
                <a:latin typeface="Fira Code" pitchFamily="34" charset="0"/>
                <a:ea typeface="Fira Code" pitchFamily="34" charset="-122"/>
                <a:cs typeface="Fira Code" pitchFamily="34" charset="-120"/>
              </a:rPr>
              <a:t>plot</a:t>
            </a:r>
            <a:r>
              <a:rPr lang="en-US" sz="780" dirty="0">
                <a:solidFill>
                  <a:srgbClr val="D4D4D4"/>
                </a:solidFill>
                <a:latin typeface="Fira Code" pitchFamily="34" charset="0"/>
                <a:ea typeface="Fira Code" pitchFamily="34" charset="-122"/>
                <a:cs typeface="Fira Code" pitchFamily="34" charset="-120"/>
              </a:rPr>
              <a:t>(traj_array[:, 0], traj_array[:, 1]) </a:t>
            </a:r>
            <a:r>
              <a:rPr lang="en-US" sz="780" dirty="0">
                <a:solidFill>
                  <a:srgbClr val="D4D4D4"/>
                </a:solidFill>
                <a:latin typeface="Fira Code" pitchFamily="34" charset="0"/>
                <a:ea typeface="Fira Code" pitchFamily="34" charset="-122"/>
                <a:cs typeface="Fira Code" pitchFamily="34" charset="-120"/>
              </a:rPr>
              <a:t>plt.</a:t>
            </a:r>
            <a:r>
              <a:rPr lang="en-US" sz="780" dirty="0">
                <a:solidFill>
                  <a:srgbClr val="DCDCAA"/>
                </a:solidFill>
                <a:latin typeface="Fira Code" pitchFamily="34" charset="0"/>
                <a:ea typeface="Fira Code" pitchFamily="34" charset="-122"/>
                <a:cs typeface="Fira Code" pitchFamily="34" charset="-120"/>
              </a:rPr>
              <a:t>show</a:t>
            </a:r>
            <a:r>
              <a:rPr lang="en-US" sz="780" dirty="0">
                <a:solidFill>
                  <a:srgbClr val="D4D4D4"/>
                </a:solidFill>
                <a:latin typeface="Fira Code" pitchFamily="34" charset="0"/>
                <a:ea typeface="Fira Code" pitchFamily="34" charset="-122"/>
                <a:cs typeface="Fira Code" pitchFamily="34" charset="-120"/>
              </a:rPr>
              <a:t>()</a:t>
            </a:r>
            <a:endParaRPr lang="en-US" sz="780" dirty="0"/>
          </a:p>
        </p:txBody>
      </p:sp>
      <p:sp>
        <p:nvSpPr>
          <p:cNvPr id="26" name="Shape 19"/>
          <p:cNvSpPr/>
          <p:nvPr/>
        </p:nvSpPr>
        <p:spPr>
          <a:xfrm>
            <a:off x="4857750" y="2624212"/>
            <a:ext cx="3714750" cy="1428750"/>
          </a:xfrm>
          <a:prstGeom prst="rect">
            <a:avLst/>
          </a:prstGeom>
          <a:solidFill>
            <a:srgbClr val="000000">
              <a:alpha val="50000"/>
            </a:srgbClr>
          </a:solidFill>
          <a:ln w="9144">
            <a:solidFill>
              <a:srgbClr val="FFFFFF">
                <a:alpha val="20000"/>
              </a:srgbClr>
            </a:solidFill>
            <a:prstDash val="dash"/>
          </a:ln>
        </p:spPr>
      </p:sp>
      <p:pic>
        <p:nvPicPr>
          <p:cNvPr id="27" name="Image 5" descr="preencoded.png">    </p:cNvPr>
          <p:cNvPicPr>
            <a:picLocks noChangeAspect="1"/>
          </p:cNvPicPr>
          <p:nvPr/>
        </p:nvPicPr>
        <p:blipFill>
          <a:blip r:embed="rId6"/>
          <a:stretch>
            <a:fillRect/>
          </a:stretch>
        </p:blipFill>
        <p:spPr>
          <a:xfrm>
            <a:off x="6554391" y="3082305"/>
            <a:ext cx="321469" cy="285750"/>
          </a:xfrm>
          <a:prstGeom prst="rect">
            <a:avLst/>
          </a:prstGeom>
        </p:spPr>
      </p:pic>
      <p:sp>
        <p:nvSpPr>
          <p:cNvPr id="28" name="Text 20"/>
          <p:cNvSpPr/>
          <p:nvPr/>
        </p:nvSpPr>
        <p:spPr>
          <a:xfrm>
            <a:off x="5357813" y="3439492"/>
            <a:ext cx="2714625"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888888"/>
                </a:solidFill>
                <a:latin typeface="Open Sans" pitchFamily="34" charset="0"/>
                <a:ea typeface="Open Sans" pitchFamily="34" charset="-122"/>
                <a:cs typeface="Open Sans" pitchFamily="34" charset="-120"/>
              </a:rPr>
              <a:t>Generates a 2D Top-Down View of the Square Path</a:t>
            </a:r>
            <a:endParaRPr lang="en-US" sz="834" dirty="0"/>
          </a:p>
        </p:txBody>
      </p:sp>
      <p:sp>
        <p:nvSpPr>
          <p:cNvPr id="29" name="Shape 21"/>
          <p:cNvSpPr/>
          <p:nvPr/>
        </p:nvSpPr>
        <p:spPr>
          <a:xfrm>
            <a:off x="0" y="4786313"/>
            <a:ext cx="9144000" cy="357188"/>
          </a:xfrm>
          <a:prstGeom prst="rect">
            <a:avLst/>
          </a:prstGeom>
          <a:solidFill>
            <a:srgbClr val="000000">
              <a:alpha val="0"/>
            </a:srgbClr>
          </a:solidFill>
          <a:ln/>
        </p:spPr>
      </p:sp>
      <p:sp>
        <p:nvSpPr>
          <p:cNvPr id="30" name="Shape 22"/>
          <p:cNvSpPr/>
          <p:nvPr/>
        </p:nvSpPr>
        <p:spPr>
          <a:xfrm>
            <a:off x="0" y="4786313"/>
            <a:ext cx="9144000" cy="7144"/>
          </a:xfrm>
          <a:prstGeom prst="rect">
            <a:avLst/>
          </a:prstGeom>
          <a:solidFill>
            <a:srgbClr val="FFFFFF"/>
          </a:solidFill>
          <a:ln/>
        </p:spPr>
      </p:sp>
      <p:sp>
        <p:nvSpPr>
          <p:cNvPr id="31" name="Text 23"/>
          <p:cNvSpPr/>
          <p:nvPr/>
        </p:nvSpPr>
        <p:spPr>
          <a:xfrm>
            <a:off x="428625" y="4900613"/>
            <a:ext cx="905470"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888888"/>
                </a:solidFill>
                <a:latin typeface="Open Sans" pitchFamily="34" charset="0"/>
                <a:ea typeface="Open Sans" pitchFamily="34" charset="-122"/>
                <a:cs typeface="Open Sans" pitchFamily="34" charset="-120"/>
              </a:rPr>
              <a:t>Lab 1: Hello, Robot!</a:t>
            </a:r>
            <a:endParaRPr lang="en-US" sz="727" dirty="0"/>
          </a:p>
        </p:txBody>
      </p:sp>
      <p:sp>
        <p:nvSpPr>
          <p:cNvPr id="32" name="Text 24"/>
          <p:cNvSpPr/>
          <p:nvPr/>
        </p:nvSpPr>
        <p:spPr>
          <a:xfrm>
            <a:off x="7824192" y="4900613"/>
            <a:ext cx="891183"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888888"/>
                </a:solidFill>
                <a:latin typeface="Open Sans" pitchFamily="34" charset="0"/>
                <a:ea typeface="Open Sans" pitchFamily="34" charset="-122"/>
                <a:cs typeface="Open Sans" pitchFamily="34" charset="-120"/>
              </a:rPr>
              <a:t>Block 1: Perception</a:t>
            </a:r>
            <a:endParaRPr lang="en-US" sz="727"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555019"/>
          </a:xfrm>
          <a:prstGeom prst="rect">
            <a:avLst/>
          </a:prstGeom>
        </p:spPr>
      </p:pic>
      <p:sp>
        <p:nvSpPr>
          <p:cNvPr id="3" name="Shape 0"/>
          <p:cNvSpPr/>
          <p:nvPr/>
        </p:nvSpPr>
        <p:spPr>
          <a:xfrm>
            <a:off x="0" y="0"/>
            <a:ext cx="9144000" cy="714375"/>
          </a:xfrm>
          <a:prstGeom prst="rect">
            <a:avLst/>
          </a:prstGeom>
          <a:solidFill>
            <a:srgbClr val="000000">
              <a:alpha val="0"/>
            </a:srgbClr>
          </a:solidFill>
          <a:ln/>
        </p:spPr>
      </p:sp>
      <p:sp>
        <p:nvSpPr>
          <p:cNvPr id="4" name="Shape 1"/>
          <p:cNvSpPr/>
          <p:nvPr/>
        </p:nvSpPr>
        <p:spPr>
          <a:xfrm>
            <a:off x="0" y="707231"/>
            <a:ext cx="9144000" cy="7144"/>
          </a:xfrm>
          <a:prstGeom prst="rect">
            <a:avLst/>
          </a:prstGeom>
          <a:solidFill>
            <a:srgbClr val="B3EBF2"/>
          </a:solidFill>
          <a:ln/>
        </p:spPr>
      </p:sp>
      <p:pic>
        <p:nvPicPr>
          <p:cNvPr id="5" name="Image 1" descr="preencoded.png">    </p:cNvPr>
          <p:cNvPicPr>
            <a:picLocks noChangeAspect="1"/>
          </p:cNvPicPr>
          <p:nvPr/>
        </p:nvPicPr>
        <p:blipFill>
          <a:blip r:embed="rId2"/>
          <a:stretch>
            <a:fillRect/>
          </a:stretch>
        </p:blipFill>
        <p:spPr>
          <a:xfrm>
            <a:off x="428625" y="296466"/>
            <a:ext cx="257175" cy="257175"/>
          </a:xfrm>
          <a:prstGeom prst="rect">
            <a:avLst/>
          </a:prstGeom>
        </p:spPr>
      </p:pic>
      <p:sp>
        <p:nvSpPr>
          <p:cNvPr id="6" name="Text 2"/>
          <p:cNvSpPr/>
          <p:nvPr/>
        </p:nvSpPr>
        <p:spPr>
          <a:xfrm>
            <a:off x="828675" y="285750"/>
            <a:ext cx="4339828" cy="278606"/>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FFFFFF"/>
                </a:solidFill>
                <a:latin typeface="Montserrat" pitchFamily="34" charset="0"/>
                <a:ea typeface="Montserrat" pitchFamily="34" charset="-122"/>
                <a:cs typeface="Montserrat" pitchFamily="34" charset="-120"/>
              </a:rPr>
              <a:t>Verify Your Work Before Submission</a:t>
            </a:r>
            <a:endParaRPr lang="en-US" sz="1602" dirty="0"/>
          </a:p>
        </p:txBody>
      </p:sp>
      <p:sp>
        <p:nvSpPr>
          <p:cNvPr id="7" name="Shape 3"/>
          <p:cNvSpPr/>
          <p:nvPr/>
        </p:nvSpPr>
        <p:spPr>
          <a:xfrm>
            <a:off x="428625" y="921544"/>
            <a:ext cx="3636811" cy="1024347"/>
          </a:xfrm>
          <a:prstGeom prst="rect">
            <a:avLst/>
          </a:prstGeom>
          <a:solidFill>
            <a:srgbClr val="FFFFFF">
              <a:alpha val="5000"/>
            </a:srgbClr>
          </a:solidFill>
          <a:ln/>
        </p:spPr>
      </p:sp>
      <p:sp>
        <p:nvSpPr>
          <p:cNvPr id="8" name="Shape 4"/>
          <p:cNvSpPr/>
          <p:nvPr/>
        </p:nvSpPr>
        <p:spPr>
          <a:xfrm>
            <a:off x="428625" y="921544"/>
            <a:ext cx="28575" cy="1024347"/>
          </a:xfrm>
          <a:prstGeom prst="rect">
            <a:avLst/>
          </a:prstGeom>
          <a:solidFill>
            <a:srgbClr val="27C93F"/>
          </a:solidFill>
          <a:ln/>
        </p:spPr>
      </p:sp>
      <p:pic>
        <p:nvPicPr>
          <p:cNvPr id="9" name="Image 2" descr="preencoded.png">    </p:cNvPr>
          <p:cNvPicPr>
            <a:picLocks noChangeAspect="1"/>
          </p:cNvPicPr>
          <p:nvPr/>
        </p:nvPicPr>
        <p:blipFill>
          <a:blip r:embed="rId3"/>
          <a:stretch>
            <a:fillRect/>
          </a:stretch>
        </p:blipFill>
        <p:spPr>
          <a:xfrm>
            <a:off x="514350" y="1024235"/>
            <a:ext cx="196453" cy="157163"/>
          </a:xfrm>
          <a:prstGeom prst="rect">
            <a:avLst/>
          </a:prstGeom>
        </p:spPr>
      </p:pic>
      <p:sp>
        <p:nvSpPr>
          <p:cNvPr id="10" name="Text 5"/>
          <p:cNvSpPr/>
          <p:nvPr/>
        </p:nvSpPr>
        <p:spPr>
          <a:xfrm>
            <a:off x="782241" y="1007269"/>
            <a:ext cx="1580555"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27C93F"/>
                </a:solidFill>
                <a:latin typeface="Montserrat" pitchFamily="34" charset="0"/>
                <a:ea typeface="Montserrat" pitchFamily="34" charset="-122"/>
                <a:cs typeface="Montserrat" pitchFamily="34" charset="-120"/>
              </a:rPr>
              <a:t>Automated Testing</a:t>
            </a:r>
            <a:endParaRPr lang="en-US" sz="1090" dirty="0"/>
          </a:p>
        </p:txBody>
      </p:sp>
      <p:sp>
        <p:nvSpPr>
          <p:cNvPr id="11" name="Text 6"/>
          <p:cNvSpPr/>
          <p:nvPr/>
        </p:nvSpPr>
        <p:spPr>
          <a:xfrm>
            <a:off x="514350" y="1255514"/>
            <a:ext cx="3266480" cy="175022"/>
          </a:xfrm>
          <a:prstGeom prst="rect">
            <a:avLst/>
          </a:prstGeom>
          <a:noFill/>
          <a:ln/>
        </p:spPr>
        <p:txBody>
          <a:bodyPr wrap="none" lIns="0" tIns="0" rIns="0" bIns="0" rtlCol="0" anchor="t">
            <a:spAutoFit/>
          </a:bodyPr>
          <a:lstStyle/>
          <a:p>
            <a:pPr algn="l" indent="0" marL="0">
              <a:lnSpc>
                <a:spcPts val="1600"/>
              </a:lnSpc>
              <a:buNone/>
            </a:pPr>
            <a:r>
              <a:rPr lang="en-US" sz="942" dirty="0">
                <a:solidFill>
                  <a:srgbClr val="E0E0E0"/>
                </a:solidFill>
                <a:latin typeface="Open Sans" pitchFamily="34" charset="0"/>
                <a:ea typeface="Open Sans" pitchFamily="34" charset="-122"/>
                <a:cs typeface="Open Sans" pitchFamily="34" charset="-120"/>
              </a:rPr>
              <a:t>In industry, code is never deployed without automated</a:t>
            </a:r>
            <a:endParaRPr lang="en-US" sz="942" dirty="0"/>
          </a:p>
        </p:txBody>
      </p:sp>
      <p:sp>
        <p:nvSpPr>
          <p:cNvPr id="12" name="Text 7"/>
          <p:cNvSpPr/>
          <p:nvPr/>
        </p:nvSpPr>
        <p:spPr>
          <a:xfrm>
            <a:off x="514350" y="1461232"/>
            <a:ext cx="2936081" cy="175022"/>
          </a:xfrm>
          <a:prstGeom prst="rect">
            <a:avLst/>
          </a:prstGeom>
          <a:noFill/>
          <a:ln/>
        </p:spPr>
        <p:txBody>
          <a:bodyPr wrap="none" lIns="0" tIns="0" rIns="0" bIns="0" rtlCol="0" anchor="t">
            <a:spAutoFit/>
          </a:bodyPr>
          <a:lstStyle/>
          <a:p>
            <a:pPr algn="l" indent="0" marL="0">
              <a:lnSpc>
                <a:spcPts val="1600"/>
              </a:lnSpc>
              <a:buNone/>
            </a:pPr>
            <a:r>
              <a:rPr lang="en-US" sz="942" dirty="0">
                <a:solidFill>
                  <a:srgbClr val="E0E0E0"/>
                </a:solidFill>
                <a:latin typeface="Open Sans" pitchFamily="34" charset="0"/>
                <a:ea typeface="Open Sans" pitchFamily="34" charset="-122"/>
                <a:cs typeface="Open Sans" pitchFamily="34" charset="-120"/>
              </a:rPr>
              <a:t>tests. We introduce this concept in Lab 1 with the</a:t>
            </a:r>
            <a:endParaRPr lang="en-US" sz="942" dirty="0"/>
          </a:p>
        </p:txBody>
      </p:sp>
      <p:sp>
        <p:nvSpPr>
          <p:cNvPr id="13" name="Text 8"/>
          <p:cNvSpPr/>
          <p:nvPr/>
        </p:nvSpPr>
        <p:spPr>
          <a:xfrm>
            <a:off x="514350" y="1668735"/>
            <a:ext cx="1157315" cy="175022"/>
          </a:xfrm>
          <a:prstGeom prst="rect">
            <a:avLst/>
          </a:prstGeom>
          <a:noFill/>
          <a:ln/>
        </p:spPr>
        <p:txBody>
          <a:bodyPr wrap="none" lIns="0" tIns="0" rIns="0" bIns="0" rtlCol="0" anchor="t">
            <a:spAutoFit/>
          </a:bodyPr>
          <a:lstStyle/>
          <a:p>
            <a:pPr algn="l" indent="0" marL="0">
              <a:lnSpc>
                <a:spcPts val="1600"/>
              </a:lnSpc>
              <a:buNone/>
            </a:pPr>
            <a:r>
              <a:rPr lang="en-US" sz="942" dirty="0">
                <a:solidFill>
                  <a:srgbClr val="E0E0E0"/>
                </a:solidFill>
                <a:latin typeface="monospace" pitchFamily="34" charset="0"/>
                <a:ea typeface="monospace" pitchFamily="34" charset="-122"/>
                <a:cs typeface="monospace" pitchFamily="34" charset="-120"/>
              </a:rPr>
              <a:t>check_my_lab.py</a:t>
            </a:r>
            <a:endParaRPr lang="en-US" sz="942" dirty="0"/>
          </a:p>
        </p:txBody>
      </p:sp>
      <p:sp>
        <p:nvSpPr>
          <p:cNvPr id="14" name="Text 9"/>
          <p:cNvSpPr/>
          <p:nvPr/>
        </p:nvSpPr>
        <p:spPr>
          <a:xfrm>
            <a:off x="1671665" y="1666949"/>
            <a:ext cx="398264" cy="175022"/>
          </a:xfrm>
          <a:prstGeom prst="rect">
            <a:avLst/>
          </a:prstGeom>
          <a:noFill/>
          <a:ln/>
        </p:spPr>
        <p:txBody>
          <a:bodyPr wrap="none" lIns="0" tIns="0" rIns="0" bIns="0" rtlCol="0" anchor="t">
            <a:spAutoFit/>
          </a:bodyPr>
          <a:lstStyle/>
          <a:p>
            <a:pPr algn="l" indent="0" marL="0">
              <a:lnSpc>
                <a:spcPts val="1600"/>
              </a:lnSpc>
              <a:buNone/>
            </a:pPr>
            <a:r>
              <a:rPr lang="en-US" sz="942" dirty="0">
                <a:solidFill>
                  <a:srgbClr val="E0E0E0"/>
                </a:solidFill>
                <a:latin typeface="Open Sans" pitchFamily="34" charset="0"/>
                <a:ea typeface="Open Sans" pitchFamily="34" charset="-122"/>
                <a:cs typeface="Open Sans" pitchFamily="34" charset="-120"/>
              </a:rPr>
              <a:t>script.</a:t>
            </a:r>
            <a:endParaRPr lang="en-US" sz="942" dirty="0"/>
          </a:p>
        </p:txBody>
      </p:sp>
      <p:sp>
        <p:nvSpPr>
          <p:cNvPr id="15" name="Shape 10"/>
          <p:cNvSpPr/>
          <p:nvPr/>
        </p:nvSpPr>
        <p:spPr>
          <a:xfrm>
            <a:off x="428625" y="2031616"/>
            <a:ext cx="3636811" cy="1222586"/>
          </a:xfrm>
          <a:prstGeom prst="rect">
            <a:avLst/>
          </a:prstGeom>
          <a:solidFill>
            <a:srgbClr val="FFFFFF">
              <a:alpha val="5000"/>
            </a:srgbClr>
          </a:solidFill>
          <a:ln/>
        </p:spPr>
      </p:sp>
      <p:sp>
        <p:nvSpPr>
          <p:cNvPr id="16" name="Shape 11"/>
          <p:cNvSpPr/>
          <p:nvPr/>
        </p:nvSpPr>
        <p:spPr>
          <a:xfrm>
            <a:off x="428625" y="2031616"/>
            <a:ext cx="28575" cy="1222586"/>
          </a:xfrm>
          <a:prstGeom prst="rect">
            <a:avLst/>
          </a:prstGeom>
          <a:solidFill>
            <a:srgbClr val="00BCD4"/>
          </a:solidFill>
          <a:ln/>
        </p:spPr>
      </p:sp>
      <p:pic>
        <p:nvPicPr>
          <p:cNvPr id="17" name="Image 3" descr="preencoded.png">    </p:cNvPr>
          <p:cNvPicPr>
            <a:picLocks noChangeAspect="1"/>
          </p:cNvPicPr>
          <p:nvPr/>
        </p:nvPicPr>
        <p:blipFill>
          <a:blip r:embed="rId4"/>
          <a:stretch>
            <a:fillRect/>
          </a:stretch>
        </p:blipFill>
        <p:spPr>
          <a:xfrm>
            <a:off x="514350" y="2134307"/>
            <a:ext cx="157163" cy="157163"/>
          </a:xfrm>
          <a:prstGeom prst="rect">
            <a:avLst/>
          </a:prstGeom>
        </p:spPr>
      </p:pic>
      <p:sp>
        <p:nvSpPr>
          <p:cNvPr id="18" name="Text 12"/>
          <p:cNvSpPr/>
          <p:nvPr/>
        </p:nvSpPr>
        <p:spPr>
          <a:xfrm>
            <a:off x="742950" y="2117341"/>
            <a:ext cx="1264444"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0BCD4"/>
                </a:solidFill>
                <a:latin typeface="Montserrat" pitchFamily="34" charset="0"/>
                <a:ea typeface="Montserrat" pitchFamily="34" charset="-122"/>
                <a:cs typeface="Montserrat" pitchFamily="34" charset="-120"/>
              </a:rPr>
              <a:t>What It Checks</a:t>
            </a:r>
            <a:endParaRPr lang="en-US" sz="1090" dirty="0"/>
          </a:p>
        </p:txBody>
      </p:sp>
      <p:sp>
        <p:nvSpPr>
          <p:cNvPr id="19" name="Text 13"/>
          <p:cNvSpPr/>
          <p:nvPr/>
        </p:nvSpPr>
        <p:spPr>
          <a:xfrm>
            <a:off x="657225" y="2379873"/>
            <a:ext cx="3322486" cy="205718"/>
          </a:xfrm>
          <a:prstGeom prst="rect">
            <a:avLst/>
          </a:prstGeom>
          <a:noFill/>
          <a:ln/>
        </p:spPr>
        <p:txBody>
          <a:bodyPr wrap="none" lIns="0" tIns="0" rIns="0" bIns="0" rtlCol="0" anchor="t">
            <a:spAutoFit/>
          </a:bodyPr>
          <a:lstStyle/>
          <a:p>
            <a:pPr algn="l" marL="127000" indent="-127000">
              <a:lnSpc>
                <a:spcPts val="1600"/>
              </a:lnSpc>
              <a:buSzPct val="100000"/>
              <a:buChar char="•"/>
            </a:pPr>
            <a:r>
              <a:rPr lang="en-US" sz="885" b="1" dirty="0">
                <a:solidFill>
                  <a:srgbClr val="E0E0E0"/>
                </a:solidFill>
                <a:latin typeface="Open Sans" pitchFamily="34" charset="0"/>
                <a:ea typeface="Open Sans" pitchFamily="34" charset="-122"/>
                <a:cs typeface="Open Sans" pitchFamily="34" charset="-120"/>
              </a:rPr>
              <a:t>Shape:</a:t>
            </a:r>
            <a:r>
              <a:rPr lang="en-US" sz="942" dirty="0">
                <a:solidFill>
                  <a:srgbClr val="E0E0E0"/>
                </a:solidFill>
                <a:latin typeface="Open Sans" pitchFamily="34" charset="0"/>
                <a:ea typeface="Open Sans" pitchFamily="34" charset="-122"/>
                <a:cs typeface="Open Sans" pitchFamily="34" charset="-120"/>
              </a:rPr>
              <a:t> Did the robot make exactly 4 turns?</a:t>
            </a:r>
            <a:endParaRPr lang="en-US" sz="885" dirty="0"/>
          </a:p>
        </p:txBody>
      </p:sp>
      <p:sp>
        <p:nvSpPr>
          <p:cNvPr id="20" name="Text 14"/>
          <p:cNvSpPr/>
          <p:nvPr/>
        </p:nvSpPr>
        <p:spPr>
          <a:xfrm>
            <a:off x="657225" y="2642741"/>
            <a:ext cx="3322486" cy="205718"/>
          </a:xfrm>
          <a:prstGeom prst="rect">
            <a:avLst/>
          </a:prstGeom>
          <a:noFill/>
          <a:ln/>
        </p:spPr>
        <p:txBody>
          <a:bodyPr wrap="none" lIns="0" tIns="0" rIns="0" bIns="0" rtlCol="0" anchor="t">
            <a:spAutoFit/>
          </a:bodyPr>
          <a:lstStyle/>
          <a:p>
            <a:pPr algn="l" marL="127000" indent="-127000">
              <a:lnSpc>
                <a:spcPts val="1600"/>
              </a:lnSpc>
              <a:buSzPct val="100000"/>
              <a:buChar char="•"/>
            </a:pPr>
            <a:r>
              <a:rPr lang="en-US" sz="885" b="1" dirty="0">
                <a:solidFill>
                  <a:srgbClr val="E0E0E0"/>
                </a:solidFill>
                <a:latin typeface="Open Sans" pitchFamily="34" charset="0"/>
                <a:ea typeface="Open Sans" pitchFamily="34" charset="-122"/>
                <a:cs typeface="Open Sans" pitchFamily="34" charset="-120"/>
              </a:rPr>
              <a:t>Distance:</a:t>
            </a:r>
            <a:r>
              <a:rPr lang="en-US" sz="942" dirty="0">
                <a:solidFill>
                  <a:srgbClr val="E0E0E0"/>
                </a:solidFill>
                <a:latin typeface="Open Sans" pitchFamily="34" charset="0"/>
                <a:ea typeface="Open Sans" pitchFamily="34" charset="-122"/>
                <a:cs typeface="Open Sans" pitchFamily="34" charset="-120"/>
              </a:rPr>
              <a:t> Are the sides approximately 2 meters long?</a:t>
            </a:r>
            <a:endParaRPr lang="en-US" sz="885" dirty="0"/>
          </a:p>
        </p:txBody>
      </p:sp>
      <p:sp>
        <p:nvSpPr>
          <p:cNvPr id="21" name="Text 15"/>
          <p:cNvSpPr/>
          <p:nvPr/>
        </p:nvSpPr>
        <p:spPr>
          <a:xfrm>
            <a:off x="657225" y="2905609"/>
            <a:ext cx="3322486" cy="205718"/>
          </a:xfrm>
          <a:prstGeom prst="rect">
            <a:avLst/>
          </a:prstGeom>
          <a:noFill/>
          <a:ln/>
        </p:spPr>
        <p:txBody>
          <a:bodyPr wrap="none" lIns="0" tIns="0" rIns="0" bIns="0" rtlCol="0" anchor="t">
            <a:spAutoFit/>
          </a:bodyPr>
          <a:lstStyle/>
          <a:p>
            <a:pPr algn="l" marL="127000" indent="-127000">
              <a:lnSpc>
                <a:spcPts val="1600"/>
              </a:lnSpc>
              <a:buSzPct val="100000"/>
              <a:buChar char="•"/>
            </a:pPr>
            <a:r>
              <a:rPr lang="en-US" sz="885" b="1" dirty="0">
                <a:solidFill>
                  <a:srgbClr val="E0E0E0"/>
                </a:solidFill>
                <a:latin typeface="Open Sans" pitchFamily="34" charset="0"/>
                <a:ea typeface="Open Sans" pitchFamily="34" charset="-122"/>
                <a:cs typeface="Open Sans" pitchFamily="34" charset="-120"/>
              </a:rPr>
              <a:t>Closure:</a:t>
            </a:r>
            <a:r>
              <a:rPr lang="en-US" sz="942" dirty="0">
                <a:solidFill>
                  <a:srgbClr val="E0E0E0"/>
                </a:solidFill>
                <a:latin typeface="Open Sans" pitchFamily="34" charset="0"/>
                <a:ea typeface="Open Sans" pitchFamily="34" charset="-122"/>
                <a:cs typeface="Open Sans" pitchFamily="34" charset="-120"/>
              </a:rPr>
              <a:t> Did the robot return to its starting point?</a:t>
            </a:r>
            <a:endParaRPr lang="en-US" sz="885" dirty="0"/>
          </a:p>
        </p:txBody>
      </p:sp>
      <p:sp>
        <p:nvSpPr>
          <p:cNvPr id="22" name="Shape 16"/>
          <p:cNvSpPr/>
          <p:nvPr/>
        </p:nvSpPr>
        <p:spPr>
          <a:xfrm>
            <a:off x="428625" y="3339926"/>
            <a:ext cx="3636811" cy="1022561"/>
          </a:xfrm>
          <a:prstGeom prst="rect">
            <a:avLst/>
          </a:prstGeom>
          <a:solidFill>
            <a:srgbClr val="FFFFFF">
              <a:alpha val="5000"/>
            </a:srgbClr>
          </a:solidFill>
          <a:ln/>
        </p:spPr>
      </p:sp>
      <p:sp>
        <p:nvSpPr>
          <p:cNvPr id="23" name="Shape 17"/>
          <p:cNvSpPr/>
          <p:nvPr/>
        </p:nvSpPr>
        <p:spPr>
          <a:xfrm>
            <a:off x="428625" y="3339926"/>
            <a:ext cx="28575" cy="1022561"/>
          </a:xfrm>
          <a:prstGeom prst="rect">
            <a:avLst/>
          </a:prstGeom>
          <a:solidFill>
            <a:srgbClr val="E67E22"/>
          </a:solidFill>
          <a:ln/>
        </p:spPr>
      </p:sp>
      <p:pic>
        <p:nvPicPr>
          <p:cNvPr id="24" name="Image 4" descr="preencoded.png">    </p:cNvPr>
          <p:cNvPicPr>
            <a:picLocks noChangeAspect="1"/>
          </p:cNvPicPr>
          <p:nvPr/>
        </p:nvPicPr>
        <p:blipFill>
          <a:blip r:embed="rId5"/>
          <a:stretch>
            <a:fillRect/>
          </a:stretch>
        </p:blipFill>
        <p:spPr>
          <a:xfrm>
            <a:off x="514350" y="3442618"/>
            <a:ext cx="196453" cy="157163"/>
          </a:xfrm>
          <a:prstGeom prst="rect">
            <a:avLst/>
          </a:prstGeom>
        </p:spPr>
      </p:pic>
      <p:sp>
        <p:nvSpPr>
          <p:cNvPr id="25" name="Text 18"/>
          <p:cNvSpPr/>
          <p:nvPr/>
        </p:nvSpPr>
        <p:spPr>
          <a:xfrm>
            <a:off x="782241" y="3425651"/>
            <a:ext cx="1434108"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E67E22"/>
                </a:solidFill>
                <a:latin typeface="Montserrat" pitchFamily="34" charset="0"/>
                <a:ea typeface="Montserrat" pitchFamily="34" charset="-122"/>
                <a:cs typeface="Montserrat" pitchFamily="34" charset="-120"/>
              </a:rPr>
              <a:t>Instant Feedback</a:t>
            </a:r>
            <a:endParaRPr lang="en-US" sz="1090" dirty="0"/>
          </a:p>
        </p:txBody>
      </p:sp>
      <p:sp>
        <p:nvSpPr>
          <p:cNvPr id="26" name="Text 19"/>
          <p:cNvSpPr/>
          <p:nvPr/>
        </p:nvSpPr>
        <p:spPr>
          <a:xfrm>
            <a:off x="514350" y="3659609"/>
            <a:ext cx="3465361" cy="617153"/>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E0E0E0"/>
                </a:solidFill>
                <a:latin typeface="Open Sans" pitchFamily="34" charset="0"/>
                <a:ea typeface="Open Sans" pitchFamily="34" charset="-122"/>
                <a:cs typeface="Open Sans" pitchFamily="34" charset="-120"/>
              </a:rPr>
              <a:t>Run this script as many times as you need. If all tests pass, you are guaranteed full marks for the coding portion of the lab.</a:t>
            </a:r>
            <a:endParaRPr lang="en-US" sz="942" dirty="0"/>
          </a:p>
        </p:txBody>
      </p:sp>
      <p:sp>
        <p:nvSpPr>
          <p:cNvPr id="27" name="Shape 20"/>
          <p:cNvSpPr/>
          <p:nvPr/>
        </p:nvSpPr>
        <p:spPr>
          <a:xfrm>
            <a:off x="4351186" y="921544"/>
            <a:ext cx="4364189" cy="4054832"/>
          </a:xfrm>
          <a:prstGeom prst="rect">
            <a:avLst/>
          </a:prstGeom>
          <a:solidFill>
            <a:srgbClr val="1E1E1E"/>
          </a:solidFill>
          <a:ln w="9144">
            <a:solidFill>
              <a:srgbClr val="333333"/>
            </a:solidFill>
            <a:prstDash val="solid"/>
          </a:ln>
        </p:spPr>
      </p:sp>
      <p:sp>
        <p:nvSpPr>
          <p:cNvPr id="28" name="Shape 21"/>
          <p:cNvSpPr/>
          <p:nvPr/>
        </p:nvSpPr>
        <p:spPr>
          <a:xfrm>
            <a:off x="4351186" y="921544"/>
            <a:ext cx="4364189" cy="280392"/>
          </a:xfrm>
          <a:prstGeom prst="rect">
            <a:avLst/>
          </a:prstGeom>
          <a:solidFill>
            <a:srgbClr val="2D2D2D"/>
          </a:solidFill>
          <a:ln/>
        </p:spPr>
      </p:sp>
      <p:sp>
        <p:nvSpPr>
          <p:cNvPr id="29" name="Shape 22"/>
          <p:cNvSpPr/>
          <p:nvPr/>
        </p:nvSpPr>
        <p:spPr>
          <a:xfrm>
            <a:off x="4351186" y="1194792"/>
            <a:ext cx="4364189" cy="7144"/>
          </a:xfrm>
          <a:prstGeom prst="rect">
            <a:avLst/>
          </a:prstGeom>
          <a:solidFill>
            <a:srgbClr val="111111"/>
          </a:solidFill>
          <a:ln/>
        </p:spPr>
      </p:sp>
      <p:sp>
        <p:nvSpPr>
          <p:cNvPr id="30" name="Text 23"/>
          <p:cNvSpPr/>
          <p:nvPr/>
        </p:nvSpPr>
        <p:spPr>
          <a:xfrm>
            <a:off x="4829817" y="992981"/>
            <a:ext cx="3778402" cy="130373"/>
          </a:xfrm>
          <a:prstGeom prst="rect">
            <a:avLst/>
          </a:prstGeom>
          <a:noFill/>
          <a:ln/>
        </p:spPr>
        <p:txBody>
          <a:bodyPr wrap="none" lIns="0" tIns="0" rIns="0" bIns="0" rtlCol="0" anchor="t">
            <a:spAutoFit/>
          </a:bodyPr>
          <a:lstStyle/>
          <a:p>
            <a:pPr algn="ctr" indent="0" marL="0">
              <a:lnSpc>
                <a:spcPts val="900"/>
              </a:lnSpc>
              <a:buNone/>
            </a:pPr>
            <a:r>
              <a:rPr lang="en-US" sz="727" dirty="0">
                <a:solidFill>
                  <a:srgbClr val="888888"/>
                </a:solidFill>
                <a:latin typeface="Fira Code" pitchFamily="34" charset="0"/>
                <a:ea typeface="Fira Code" pitchFamily="34" charset="-122"/>
                <a:cs typeface="Fira Code" pitchFamily="34" charset="-120"/>
              </a:rPr>
              <a:t>Terminal</a:t>
            </a:r>
            <a:endParaRPr lang="en-US" sz="727" dirty="0"/>
          </a:p>
        </p:txBody>
      </p:sp>
      <p:sp>
        <p:nvSpPr>
          <p:cNvPr id="31" name="Text 24"/>
          <p:cNvSpPr/>
          <p:nvPr/>
        </p:nvSpPr>
        <p:spPr>
          <a:xfrm>
            <a:off x="4494061" y="1337667"/>
            <a:ext cx="4078439" cy="182863"/>
          </a:xfrm>
          <a:prstGeom prst="rect">
            <a:avLst/>
          </a:prstGeom>
          <a:noFill/>
          <a:ln/>
        </p:spPr>
        <p:txBody>
          <a:bodyPr wrap="none" lIns="0" tIns="0" rIns="0" bIns="0" rtlCol="0" anchor="t">
            <a:spAutoFit/>
          </a:bodyPr>
          <a:lstStyle/>
          <a:p>
            <a:pPr algn="l" indent="0" marL="0">
              <a:lnSpc>
                <a:spcPts val="1400"/>
              </a:lnSpc>
              <a:buNone/>
            </a:pPr>
            <a:r>
              <a:rPr lang="en-US" sz="834" dirty="0">
                <a:solidFill>
                  <a:srgbClr val="9CDCFE"/>
                </a:solidFill>
                <a:latin typeface="Fira Code" pitchFamily="34" charset="0"/>
                <a:ea typeface="Fira Code" pitchFamily="34" charset="-122"/>
                <a:cs typeface="Fira Code" pitchFamily="34" charset="-120"/>
              </a:rPr>
              <a:t>(robotics) user@zuj:~$</a:t>
            </a:r>
            <a:r>
              <a:rPr lang="en-US" sz="834" dirty="0">
                <a:solidFill>
                  <a:srgbClr val="D4D4D4"/>
                </a:solidFill>
                <a:latin typeface="Fira Code" pitchFamily="34" charset="0"/>
                <a:ea typeface="Fira Code" pitchFamily="34" charset="-122"/>
                <a:cs typeface="Fira Code" pitchFamily="34" charset="-120"/>
              </a:rPr>
              <a:t> </a:t>
            </a:r>
            <a:r>
              <a:rPr lang="en-US" sz="834" dirty="0">
                <a:solidFill>
                  <a:srgbClr val="569CD6"/>
                </a:solidFill>
                <a:latin typeface="Fira Code" pitchFamily="34" charset="0"/>
                <a:ea typeface="Fira Code" pitchFamily="34" charset="-122"/>
                <a:cs typeface="Fira Code" pitchFamily="34" charset="-120"/>
              </a:rPr>
              <a:t>python check_my_lab.py</a:t>
            </a:r>
            <a:endParaRPr lang="en-US" sz="834" dirty="0"/>
          </a:p>
        </p:txBody>
      </p:sp>
      <p:sp>
        <p:nvSpPr>
          <p:cNvPr id="32" name="Text 25"/>
          <p:cNvSpPr/>
          <p:nvPr/>
        </p:nvSpPr>
        <p:spPr>
          <a:xfrm>
            <a:off x="4494061" y="1703394"/>
            <a:ext cx="4078439" cy="182863"/>
          </a:xfrm>
          <a:prstGeom prst="rect">
            <a:avLst/>
          </a:prstGeom>
          <a:noFill/>
          <a:ln/>
        </p:spPr>
        <p:txBody>
          <a:bodyPr wrap="none" lIns="0" tIns="0" rIns="0" bIns="0" rtlCol="0" anchor="t">
            <a:spAutoFit/>
          </a:bodyPr>
          <a:lstStyle/>
          <a:p>
            <a:pPr algn="l" indent="0" marL="0">
              <a:lnSpc>
                <a:spcPts val="1400"/>
              </a:lnSpc>
              <a:buNone/>
            </a:pPr>
            <a:r>
              <a:rPr lang="en-US" sz="834" dirty="0">
                <a:solidFill>
                  <a:srgbClr val="D4D4D4"/>
                </a:solidFill>
                <a:latin typeface="Fira Code" pitchFamily="34" charset="0"/>
                <a:ea typeface="Fira Code" pitchFamily="34" charset="-122"/>
                <a:cs typeface="Fira Code" pitchFamily="34" charset="-120"/>
              </a:rPr>
              <a:t>--- Running Automated Lab Check for Week 1 ---</a:t>
            </a:r>
            <a:endParaRPr lang="en-US" sz="834" dirty="0"/>
          </a:p>
        </p:txBody>
      </p:sp>
      <p:sp>
        <p:nvSpPr>
          <p:cNvPr id="33" name="Text 26"/>
          <p:cNvSpPr/>
          <p:nvPr/>
        </p:nvSpPr>
        <p:spPr>
          <a:xfrm>
            <a:off x="4494061" y="1886257"/>
            <a:ext cx="4078439" cy="182863"/>
          </a:xfrm>
          <a:prstGeom prst="rect">
            <a:avLst/>
          </a:prstGeom>
          <a:noFill/>
          <a:ln/>
        </p:spPr>
        <p:txBody>
          <a:bodyPr wrap="none" lIns="0" tIns="0" rIns="0" bIns="0" rtlCol="0" anchor="t">
            <a:spAutoFit/>
          </a:bodyPr>
          <a:lstStyle/>
          <a:p>
            <a:pPr algn="l" indent="0" marL="0">
              <a:lnSpc>
                <a:spcPts val="1400"/>
              </a:lnSpc>
              <a:buNone/>
            </a:pPr>
            <a:r>
              <a:rPr lang="en-US" sz="834" dirty="0">
                <a:solidFill>
                  <a:srgbClr val="D4D4D4"/>
                </a:solidFill>
                <a:latin typeface="Fira Code" pitchFamily="34" charset="0"/>
                <a:ea typeface="Fira Code" pitchFamily="34" charset="-122"/>
                <a:cs typeface="Fira Code" pitchFamily="34" charset="-120"/>
              </a:rPr>
              <a:t>Importing your 'move_square' function...</a:t>
            </a:r>
            <a:endParaRPr lang="en-US" sz="834" dirty="0"/>
          </a:p>
        </p:txBody>
      </p:sp>
      <p:sp>
        <p:nvSpPr>
          <p:cNvPr id="34" name="Text 27"/>
          <p:cNvSpPr/>
          <p:nvPr/>
        </p:nvSpPr>
        <p:spPr>
          <a:xfrm>
            <a:off x="4494061" y="2069120"/>
            <a:ext cx="4078439" cy="182863"/>
          </a:xfrm>
          <a:prstGeom prst="rect">
            <a:avLst/>
          </a:prstGeom>
          <a:noFill/>
          <a:ln/>
        </p:spPr>
        <p:txBody>
          <a:bodyPr wrap="none" lIns="0" tIns="0" rIns="0" bIns="0" rtlCol="0" anchor="t">
            <a:spAutoFit/>
          </a:bodyPr>
          <a:lstStyle/>
          <a:p>
            <a:pPr algn="l" indent="0" marL="0">
              <a:lnSpc>
                <a:spcPts val="1400"/>
              </a:lnSpc>
              <a:buNone/>
            </a:pPr>
            <a:r>
              <a:rPr lang="en-US" sz="834" dirty="0">
                <a:solidFill>
                  <a:srgbClr val="D4D4D4"/>
                </a:solidFill>
                <a:latin typeface="Fira Code" pitchFamily="34" charset="0"/>
                <a:ea typeface="Fira Code" pitchFamily="34" charset="-122"/>
                <a:cs typeface="Fira Code" pitchFamily="34" charset="-120"/>
              </a:rPr>
              <a:t>Running simulation in background...</a:t>
            </a:r>
            <a:endParaRPr lang="en-US" sz="834" dirty="0"/>
          </a:p>
        </p:txBody>
      </p:sp>
      <p:sp>
        <p:nvSpPr>
          <p:cNvPr id="35" name="Text 28"/>
          <p:cNvSpPr/>
          <p:nvPr/>
        </p:nvSpPr>
        <p:spPr>
          <a:xfrm>
            <a:off x="4494061" y="2434847"/>
            <a:ext cx="4078439" cy="182863"/>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27C93F"/>
                </a:solidFill>
                <a:latin typeface="Fira Code" pitchFamily="34" charset="0"/>
                <a:ea typeface="Fira Code" pitchFamily="34" charset="-122"/>
                <a:cs typeface="Fira Code" pitchFamily="34" charset="-120"/>
              </a:rPr>
              <a:t>[PASS]</a:t>
            </a:r>
            <a:r>
              <a:rPr lang="en-US" sz="834" dirty="0">
                <a:solidFill>
                  <a:srgbClr val="D4D4D4"/>
                </a:solidFill>
                <a:latin typeface="Fira Code" pitchFamily="34" charset="0"/>
                <a:ea typeface="Fira Code" pitchFamily="34" charset="-122"/>
                <a:cs typeface="Fira Code" pitchFamily="34" charset="-120"/>
              </a:rPr>
              <a:t> 4 Corners Detected</a:t>
            </a:r>
            <a:endParaRPr lang="en-US" sz="784" dirty="0"/>
          </a:p>
        </p:txBody>
      </p:sp>
      <p:sp>
        <p:nvSpPr>
          <p:cNvPr id="36" name="Text 29"/>
          <p:cNvSpPr/>
          <p:nvPr/>
        </p:nvSpPr>
        <p:spPr>
          <a:xfrm>
            <a:off x="4494061" y="2633783"/>
            <a:ext cx="2714625" cy="150019"/>
          </a:xfrm>
          <a:prstGeom prst="rect">
            <a:avLst/>
          </a:prstGeom>
          <a:noFill/>
          <a:ln/>
        </p:spPr>
        <p:txBody>
          <a:bodyPr wrap="none" lIns="0" tIns="0" rIns="0" bIns="0" rtlCol="0" anchor="t">
            <a:spAutoFit/>
          </a:bodyPr>
          <a:lstStyle/>
          <a:p>
            <a:pPr algn="l" indent="0" marL="0">
              <a:lnSpc>
                <a:spcPts val="1400"/>
              </a:lnSpc>
              <a:buNone/>
            </a:pPr>
            <a:r>
              <a:rPr lang="en-US" sz="834" dirty="0">
                <a:solidFill>
                  <a:srgbClr val="9CDCFE"/>
                </a:solidFill>
                <a:latin typeface="Fira Code" pitchFamily="34" charset="0"/>
                <a:ea typeface="Fira Code" pitchFamily="34" charset="-122"/>
                <a:cs typeface="Fira Code" pitchFamily="34" charset="-120"/>
              </a:rPr>
              <a:t>Found exactly 4 distinct turning points.</a:t>
            </a:r>
            <a:endParaRPr lang="en-US" sz="834" dirty="0"/>
          </a:p>
        </p:txBody>
      </p:sp>
      <p:sp>
        <p:nvSpPr>
          <p:cNvPr id="37" name="Text 30"/>
          <p:cNvSpPr/>
          <p:nvPr/>
        </p:nvSpPr>
        <p:spPr>
          <a:xfrm>
            <a:off x="4494061" y="2983436"/>
            <a:ext cx="4078439" cy="182863"/>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27C93F"/>
                </a:solidFill>
                <a:latin typeface="Fira Code" pitchFamily="34" charset="0"/>
                <a:ea typeface="Fira Code" pitchFamily="34" charset="-122"/>
                <a:cs typeface="Fira Code" pitchFamily="34" charset="-120"/>
              </a:rPr>
              <a:t>[PASS]</a:t>
            </a:r>
            <a:r>
              <a:rPr lang="en-US" sz="834" dirty="0">
                <a:solidFill>
                  <a:srgbClr val="D4D4D4"/>
                </a:solidFill>
                <a:latin typeface="Fira Code" pitchFamily="34" charset="0"/>
                <a:ea typeface="Fira Code" pitchFamily="34" charset="-122"/>
                <a:cs typeface="Fira Code" pitchFamily="34" charset="-120"/>
              </a:rPr>
              <a:t> Side Lengths are ~2m</a:t>
            </a:r>
            <a:endParaRPr lang="en-US" sz="784" dirty="0"/>
          </a:p>
        </p:txBody>
      </p:sp>
      <p:sp>
        <p:nvSpPr>
          <p:cNvPr id="38" name="Text 31"/>
          <p:cNvSpPr/>
          <p:nvPr/>
        </p:nvSpPr>
        <p:spPr>
          <a:xfrm>
            <a:off x="4494061" y="3182373"/>
            <a:ext cx="3257550" cy="150019"/>
          </a:xfrm>
          <a:prstGeom prst="rect">
            <a:avLst/>
          </a:prstGeom>
          <a:noFill/>
          <a:ln/>
        </p:spPr>
        <p:txBody>
          <a:bodyPr wrap="none" lIns="0" tIns="0" rIns="0" bIns="0" rtlCol="0" anchor="t">
            <a:spAutoFit/>
          </a:bodyPr>
          <a:lstStyle/>
          <a:p>
            <a:pPr algn="l" indent="0" marL="0">
              <a:lnSpc>
                <a:spcPts val="1400"/>
              </a:lnSpc>
              <a:buNone/>
            </a:pPr>
            <a:r>
              <a:rPr lang="en-US" sz="834" dirty="0">
                <a:solidFill>
                  <a:srgbClr val="9CDCFE"/>
                </a:solidFill>
                <a:latin typeface="Fira Code" pitchFamily="34" charset="0"/>
                <a:ea typeface="Fira Code" pitchFamily="34" charset="-122"/>
                <a:cs typeface="Fira Code" pitchFamily="34" charset="-120"/>
              </a:rPr>
              <a:t>Measured sides: ['2.01', '1.98', '2.03', '1.99']</a:t>
            </a:r>
            <a:endParaRPr lang="en-US" sz="834" dirty="0"/>
          </a:p>
        </p:txBody>
      </p:sp>
      <p:sp>
        <p:nvSpPr>
          <p:cNvPr id="39" name="Text 32"/>
          <p:cNvSpPr/>
          <p:nvPr/>
        </p:nvSpPr>
        <p:spPr>
          <a:xfrm>
            <a:off x="4494061" y="3532026"/>
            <a:ext cx="4078439" cy="182863"/>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27C93F"/>
                </a:solidFill>
                <a:latin typeface="Fira Code" pitchFamily="34" charset="0"/>
                <a:ea typeface="Fira Code" pitchFamily="34" charset="-122"/>
                <a:cs typeface="Fira Code" pitchFamily="34" charset="-120"/>
              </a:rPr>
              <a:t>[PASS]</a:t>
            </a:r>
            <a:r>
              <a:rPr lang="en-US" sz="834" dirty="0">
                <a:solidFill>
                  <a:srgbClr val="D4D4D4"/>
                </a:solidFill>
                <a:latin typeface="Fira Code" pitchFamily="34" charset="0"/>
                <a:ea typeface="Fira Code" pitchFamily="34" charset="-122"/>
                <a:cs typeface="Fira Code" pitchFamily="34" charset="-120"/>
              </a:rPr>
              <a:t> Returned to Origin</a:t>
            </a:r>
            <a:endParaRPr lang="en-US" sz="784" dirty="0"/>
          </a:p>
        </p:txBody>
      </p:sp>
      <p:sp>
        <p:nvSpPr>
          <p:cNvPr id="40" name="Text 33"/>
          <p:cNvSpPr/>
          <p:nvPr/>
        </p:nvSpPr>
        <p:spPr>
          <a:xfrm>
            <a:off x="4494061" y="3730963"/>
            <a:ext cx="3393281" cy="150019"/>
          </a:xfrm>
          <a:prstGeom prst="rect">
            <a:avLst/>
          </a:prstGeom>
          <a:noFill/>
          <a:ln/>
        </p:spPr>
        <p:txBody>
          <a:bodyPr wrap="none" lIns="0" tIns="0" rIns="0" bIns="0" rtlCol="0" anchor="t">
            <a:spAutoFit/>
          </a:bodyPr>
          <a:lstStyle/>
          <a:p>
            <a:pPr algn="l" indent="0" marL="0">
              <a:lnSpc>
                <a:spcPts val="1400"/>
              </a:lnSpc>
              <a:buNone/>
            </a:pPr>
            <a:r>
              <a:rPr lang="en-US" sz="834" dirty="0">
                <a:solidFill>
                  <a:srgbClr val="9CDCFE"/>
                </a:solidFill>
                <a:latin typeface="Fira Code" pitchFamily="34" charset="0"/>
                <a:ea typeface="Fira Code" pitchFamily="34" charset="-122"/>
                <a:cs typeface="Fira Code" pitchFamily="34" charset="-120"/>
              </a:rPr>
              <a:t>Final distance from start: 0.05m (Threshold: 0.2m)</a:t>
            </a:r>
            <a:endParaRPr lang="en-US" sz="834" dirty="0"/>
          </a:p>
        </p:txBody>
      </p:sp>
      <p:sp>
        <p:nvSpPr>
          <p:cNvPr id="41" name="Text 34"/>
          <p:cNvSpPr/>
          <p:nvPr/>
        </p:nvSpPr>
        <p:spPr>
          <a:xfrm>
            <a:off x="4494061" y="4080616"/>
            <a:ext cx="4078439" cy="182863"/>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E67E22"/>
                </a:solidFill>
                <a:latin typeface="Fira Code" pitchFamily="34" charset="0"/>
                <a:ea typeface="Fira Code" pitchFamily="34" charset="-122"/>
                <a:cs typeface="Fira Code" pitchFamily="34" charset="-120"/>
              </a:rPr>
              <a:t>=========================================</a:t>
            </a:r>
            <a:endParaRPr lang="en-US" sz="784" dirty="0"/>
          </a:p>
        </p:txBody>
      </p:sp>
      <p:sp>
        <p:nvSpPr>
          <p:cNvPr id="42" name="Text 35"/>
          <p:cNvSpPr/>
          <p:nvPr/>
        </p:nvSpPr>
        <p:spPr>
          <a:xfrm>
            <a:off x="4494061" y="4263479"/>
            <a:ext cx="4078439" cy="182863"/>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E67E22"/>
                </a:solidFill>
                <a:latin typeface="Fira Code" pitchFamily="34" charset="0"/>
                <a:ea typeface="Fira Code" pitchFamily="34" charset="-122"/>
                <a:cs typeface="Fira Code" pitchFamily="34" charset="-120"/>
              </a:rPr>
              <a:t>FINAL RESULT: 3/3 TESTS PASSED</a:t>
            </a:r>
            <a:endParaRPr lang="en-US" sz="784" dirty="0"/>
          </a:p>
        </p:txBody>
      </p:sp>
      <p:sp>
        <p:nvSpPr>
          <p:cNvPr id="43" name="Text 36"/>
          <p:cNvSpPr/>
          <p:nvPr/>
        </p:nvSpPr>
        <p:spPr>
          <a:xfrm>
            <a:off x="4494061" y="4446343"/>
            <a:ext cx="4078439" cy="182863"/>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E67E22"/>
                </a:solidFill>
                <a:latin typeface="Fira Code" pitchFamily="34" charset="0"/>
                <a:ea typeface="Fira Code" pitchFamily="34" charset="-122"/>
                <a:cs typeface="Fira Code" pitchFamily="34" charset="-120"/>
              </a:rPr>
              <a:t>=========================================</a:t>
            </a:r>
            <a:endParaRPr lang="en-US" sz="784" dirty="0"/>
          </a:p>
        </p:txBody>
      </p:sp>
      <p:sp>
        <p:nvSpPr>
          <p:cNvPr id="44" name="Text 37"/>
          <p:cNvSpPr/>
          <p:nvPr/>
        </p:nvSpPr>
        <p:spPr>
          <a:xfrm>
            <a:off x="4494061" y="4629206"/>
            <a:ext cx="4078439" cy="182863"/>
          </a:xfrm>
          <a:prstGeom prst="rect">
            <a:avLst/>
          </a:prstGeom>
          <a:noFill/>
          <a:ln/>
        </p:spPr>
        <p:txBody>
          <a:bodyPr wrap="none" lIns="0" tIns="0" rIns="0" bIns="0" rtlCol="0" anchor="t">
            <a:spAutoFit/>
          </a:bodyPr>
          <a:lstStyle/>
          <a:p>
            <a:pPr algn="l" indent="0" marL="0">
              <a:lnSpc>
                <a:spcPts val="1400"/>
              </a:lnSpc>
              <a:buNone/>
            </a:pPr>
            <a:r>
              <a:rPr lang="en-US" sz="834" dirty="0">
                <a:solidFill>
                  <a:srgbClr val="D4D4D4"/>
                </a:solidFill>
                <a:latin typeface="Fira Code" pitchFamily="34" charset="0"/>
                <a:ea typeface="Fira Code" pitchFamily="34" charset="-122"/>
                <a:cs typeface="Fira Code" pitchFamily="34" charset="-120"/>
              </a:rPr>
              <a:t>Ready for submission!</a:t>
            </a:r>
            <a:endParaRPr lang="en-US" sz="834" dirty="0"/>
          </a:p>
        </p:txBody>
      </p:sp>
      <p:sp>
        <p:nvSpPr>
          <p:cNvPr id="45" name="Shape 38"/>
          <p:cNvSpPr/>
          <p:nvPr/>
        </p:nvSpPr>
        <p:spPr>
          <a:xfrm>
            <a:off x="0" y="5169257"/>
            <a:ext cx="9144000" cy="357188"/>
          </a:xfrm>
          <a:prstGeom prst="rect">
            <a:avLst/>
          </a:prstGeom>
          <a:solidFill>
            <a:srgbClr val="000000">
              <a:alpha val="0"/>
            </a:srgbClr>
          </a:solidFill>
          <a:ln/>
        </p:spPr>
      </p:sp>
      <p:sp>
        <p:nvSpPr>
          <p:cNvPr id="46" name="Shape 39"/>
          <p:cNvSpPr/>
          <p:nvPr/>
        </p:nvSpPr>
        <p:spPr>
          <a:xfrm>
            <a:off x="0" y="5169257"/>
            <a:ext cx="9144000" cy="7144"/>
          </a:xfrm>
          <a:prstGeom prst="rect">
            <a:avLst/>
          </a:prstGeom>
          <a:solidFill>
            <a:srgbClr val="FFFFFF"/>
          </a:solidFill>
          <a:ln/>
        </p:spPr>
      </p:sp>
      <p:sp>
        <p:nvSpPr>
          <p:cNvPr id="47" name="Text 40"/>
          <p:cNvSpPr/>
          <p:nvPr/>
        </p:nvSpPr>
        <p:spPr>
          <a:xfrm>
            <a:off x="428625" y="5276413"/>
            <a:ext cx="905470"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888888"/>
                </a:solidFill>
                <a:latin typeface="Open Sans" pitchFamily="34" charset="0"/>
                <a:ea typeface="Open Sans" pitchFamily="34" charset="-122"/>
                <a:cs typeface="Open Sans" pitchFamily="34" charset="-120"/>
              </a:rPr>
              <a:t>Lab 1: Hello, Robot!</a:t>
            </a:r>
            <a:endParaRPr lang="en-US" sz="727" dirty="0"/>
          </a:p>
        </p:txBody>
      </p:sp>
      <p:sp>
        <p:nvSpPr>
          <p:cNvPr id="48" name="Text 41"/>
          <p:cNvSpPr/>
          <p:nvPr/>
        </p:nvSpPr>
        <p:spPr>
          <a:xfrm>
            <a:off x="7824192" y="5276413"/>
            <a:ext cx="891183"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888888"/>
                </a:solidFill>
                <a:latin typeface="Open Sans" pitchFamily="34" charset="0"/>
                <a:ea typeface="Open Sans" pitchFamily="34" charset="-122"/>
                <a:cs typeface="Open Sans" pitchFamily="34" charset="-120"/>
              </a:rPr>
              <a:t>Block 1: Perception</a:t>
            </a:r>
            <a:endParaRPr lang="en-US" sz="727"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714375"/>
          </a:xfrm>
          <a:prstGeom prst="rect">
            <a:avLst/>
          </a:prstGeom>
          <a:solidFill>
            <a:srgbClr val="000000">
              <a:alpha val="0"/>
            </a:srgbClr>
          </a:solidFill>
          <a:ln/>
        </p:spPr>
      </p:sp>
      <p:sp>
        <p:nvSpPr>
          <p:cNvPr id="4" name="Shape 1"/>
          <p:cNvSpPr/>
          <p:nvPr/>
        </p:nvSpPr>
        <p:spPr>
          <a:xfrm>
            <a:off x="0" y="707231"/>
            <a:ext cx="9144000" cy="7144"/>
          </a:xfrm>
          <a:prstGeom prst="rect">
            <a:avLst/>
          </a:prstGeom>
          <a:solidFill>
            <a:srgbClr val="B3EBF2"/>
          </a:solidFill>
          <a:ln/>
        </p:spPr>
      </p:sp>
      <p:pic>
        <p:nvPicPr>
          <p:cNvPr id="5" name="Image 1" descr="preencoded.png">    </p:cNvPr>
          <p:cNvPicPr>
            <a:picLocks noChangeAspect="1"/>
          </p:cNvPicPr>
          <p:nvPr/>
        </p:nvPicPr>
        <p:blipFill>
          <a:blip r:embed="rId2"/>
          <a:stretch>
            <a:fillRect/>
          </a:stretch>
        </p:blipFill>
        <p:spPr>
          <a:xfrm>
            <a:off x="428625" y="296466"/>
            <a:ext cx="321469" cy="257175"/>
          </a:xfrm>
          <a:prstGeom prst="rect">
            <a:avLst/>
          </a:prstGeom>
        </p:spPr>
      </p:pic>
      <p:sp>
        <p:nvSpPr>
          <p:cNvPr id="6" name="Text 2"/>
          <p:cNvSpPr/>
          <p:nvPr/>
        </p:nvSpPr>
        <p:spPr>
          <a:xfrm>
            <a:off x="892969" y="285750"/>
            <a:ext cx="4434483" cy="278606"/>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FFFFFF"/>
                </a:solidFill>
                <a:latin typeface="Montserrat" pitchFamily="34" charset="0"/>
                <a:ea typeface="Montserrat" pitchFamily="34" charset="-122"/>
                <a:cs typeface="Montserrat" pitchFamily="34" charset="-120"/>
              </a:rPr>
              <a:t>What to Submit and How to Succeed</a:t>
            </a:r>
            <a:endParaRPr lang="en-US" sz="1602" dirty="0"/>
          </a:p>
        </p:txBody>
      </p:sp>
      <p:sp>
        <p:nvSpPr>
          <p:cNvPr id="7" name="Shape 3"/>
          <p:cNvSpPr/>
          <p:nvPr/>
        </p:nvSpPr>
        <p:spPr>
          <a:xfrm>
            <a:off x="428625" y="921544"/>
            <a:ext cx="4000500" cy="3650456"/>
          </a:xfrm>
          <a:prstGeom prst="rect">
            <a:avLst/>
          </a:prstGeom>
          <a:solidFill>
            <a:srgbClr val="FFFFFF">
              <a:alpha val="5000"/>
            </a:srgbClr>
          </a:solidFill>
          <a:ln/>
        </p:spPr>
      </p:sp>
      <p:sp>
        <p:nvSpPr>
          <p:cNvPr id="8" name="Shape 4"/>
          <p:cNvSpPr/>
          <p:nvPr/>
        </p:nvSpPr>
        <p:spPr>
          <a:xfrm>
            <a:off x="428625" y="921544"/>
            <a:ext cx="28575" cy="3650456"/>
          </a:xfrm>
          <a:prstGeom prst="rect">
            <a:avLst/>
          </a:prstGeom>
          <a:solidFill>
            <a:srgbClr val="E67E22"/>
          </a:solidFill>
          <a:ln/>
        </p:spPr>
      </p:sp>
      <p:pic>
        <p:nvPicPr>
          <p:cNvPr id="9" name="Image 2" descr="preencoded.png">    </p:cNvPr>
          <p:cNvPicPr>
            <a:picLocks noChangeAspect="1"/>
          </p:cNvPicPr>
          <p:nvPr/>
        </p:nvPicPr>
        <p:blipFill>
          <a:blip r:embed="rId3"/>
          <a:stretch>
            <a:fillRect/>
          </a:stretch>
        </p:blipFill>
        <p:spPr>
          <a:xfrm>
            <a:off x="607219" y="1118890"/>
            <a:ext cx="171450" cy="171450"/>
          </a:xfrm>
          <a:prstGeom prst="rect">
            <a:avLst/>
          </a:prstGeom>
        </p:spPr>
      </p:pic>
      <p:sp>
        <p:nvSpPr>
          <p:cNvPr id="10" name="Text 5"/>
          <p:cNvSpPr/>
          <p:nvPr/>
        </p:nvSpPr>
        <p:spPr>
          <a:xfrm>
            <a:off x="850106" y="1100138"/>
            <a:ext cx="1925241" cy="208955"/>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E67E22"/>
                </a:solidFill>
                <a:latin typeface="Montserrat" pitchFamily="34" charset="0"/>
                <a:ea typeface="Montserrat" pitchFamily="34" charset="-122"/>
                <a:cs typeface="Montserrat" pitchFamily="34" charset="-120"/>
              </a:rPr>
              <a:t>Submission Checklist</a:t>
            </a:r>
            <a:endParaRPr lang="en-US" sz="1193" dirty="0"/>
          </a:p>
        </p:txBody>
      </p:sp>
      <p:pic>
        <p:nvPicPr>
          <p:cNvPr id="11" name="Image 3" descr="preencoded.png">    </p:cNvPr>
          <p:cNvPicPr>
            <a:picLocks noChangeAspect="1"/>
          </p:cNvPicPr>
          <p:nvPr/>
        </p:nvPicPr>
        <p:blipFill>
          <a:blip r:embed="rId4"/>
          <a:stretch>
            <a:fillRect/>
          </a:stretch>
        </p:blipFill>
        <p:spPr>
          <a:xfrm>
            <a:off x="607219" y="1466255"/>
            <a:ext cx="125016" cy="142875"/>
          </a:xfrm>
          <a:prstGeom prst="rect">
            <a:avLst/>
          </a:prstGeom>
        </p:spPr>
      </p:pic>
      <p:sp>
        <p:nvSpPr>
          <p:cNvPr id="12" name="Text 6"/>
          <p:cNvSpPr/>
          <p:nvPr/>
        </p:nvSpPr>
        <p:spPr>
          <a:xfrm>
            <a:off x="839391" y="1451967"/>
            <a:ext cx="3411141" cy="578644"/>
          </a:xfrm>
          <a:prstGeom prst="rect">
            <a:avLst/>
          </a:prstGeom>
          <a:noFill/>
          <a:ln/>
        </p:spPr>
        <p:txBody>
          <a:bodyPr wrap="square" lIns="0" tIns="0" rIns="0" bIns="0" rtlCol="0" anchor="t">
            <a:spAutoFit/>
          </a:bodyPr>
          <a:lstStyle/>
          <a:p>
            <a:pPr algn="l" indent="0" marL="0">
              <a:lnSpc>
                <a:spcPts val="1500"/>
              </a:lnSpc>
              <a:buNone/>
            </a:pPr>
            <a:r>
              <a:rPr lang="en-US" sz="885" b="1" dirty="0">
                <a:solidFill>
                  <a:srgbClr val="FFFFFF"/>
                </a:solidFill>
                <a:latin typeface="Open Sans" pitchFamily="34" charset="0"/>
                <a:ea typeface="Open Sans" pitchFamily="34" charset="-122"/>
                <a:cs typeface="Open Sans" pitchFamily="34" charset="-120"/>
              </a:rPr>
              <a:t>move_robot.py</a:t>
            </a:r>
            <a:r>
              <a:rPr lang="en-US" sz="942" dirty="0">
                <a:solidFill>
                  <a:srgbClr val="E0E0E0"/>
                </a:solidFill>
                <a:latin typeface="Open Sans" pitchFamily="34" charset="0"/>
                <a:ea typeface="Open Sans" pitchFamily="34" charset="-122"/>
                <a:cs typeface="Open Sans" pitchFamily="34" charset="-120"/>
              </a:rPr>
              <a:t>
</a:t>
            </a:r>
            <a:r>
              <a:rPr lang="en-US" sz="942" dirty="0">
                <a:solidFill>
                  <a:srgbClr val="E0E0E0"/>
                </a:solidFill>
                <a:latin typeface="Open Sans" pitchFamily="34" charset="0"/>
                <a:ea typeface="Open Sans" pitchFamily="34" charset="-122"/>
                <a:cs typeface="Open Sans" pitchFamily="34" charset="-120"/>
              </a:rPr>
              <a:t>Your completed script that successfully drives the robot </a:t>
            </a:r>
            <a:r>
              <a:rPr lang="en-US" sz="942" dirty="0">
                <a:solidFill>
                  <a:srgbClr val="E0E0E0"/>
                </a:solidFill>
                <a:latin typeface="Open Sans" pitchFamily="34" charset="0"/>
                <a:ea typeface="Open Sans" pitchFamily="34" charset="-122"/>
                <a:cs typeface="Open Sans" pitchFamily="34" charset="-120"/>
              </a:rPr>
              <a:t>in a 2x2m square.</a:t>
            </a:r>
            <a:endParaRPr lang="en-US" sz="885" dirty="0"/>
          </a:p>
        </p:txBody>
      </p:sp>
      <p:pic>
        <p:nvPicPr>
          <p:cNvPr id="13" name="Image 4" descr="preencoded.png">    </p:cNvPr>
          <p:cNvPicPr>
            <a:picLocks noChangeAspect="1"/>
          </p:cNvPicPr>
          <p:nvPr/>
        </p:nvPicPr>
        <p:blipFill>
          <a:blip r:embed="rId5"/>
          <a:stretch>
            <a:fillRect/>
          </a:stretch>
        </p:blipFill>
        <p:spPr>
          <a:xfrm>
            <a:off x="607219" y="2152055"/>
            <a:ext cx="125016" cy="142875"/>
          </a:xfrm>
          <a:prstGeom prst="rect">
            <a:avLst/>
          </a:prstGeom>
        </p:spPr>
      </p:pic>
      <p:sp>
        <p:nvSpPr>
          <p:cNvPr id="14" name="Text 7"/>
          <p:cNvSpPr/>
          <p:nvPr/>
        </p:nvSpPr>
        <p:spPr>
          <a:xfrm>
            <a:off x="839391" y="2146697"/>
            <a:ext cx="876895" cy="175022"/>
          </a:xfrm>
          <a:prstGeom prst="rect">
            <a:avLst/>
          </a:prstGeom>
          <a:noFill/>
          <a:ln/>
        </p:spPr>
        <p:txBody>
          <a:bodyPr wrap="none" lIns="0" tIns="0" rIns="0" bIns="0" rtlCol="0" anchor="t">
            <a:spAutoFit/>
          </a:bodyPr>
          <a:lstStyle/>
          <a:p>
            <a:pPr algn="l" indent="0" marL="0">
              <a:lnSpc>
                <a:spcPts val="1500"/>
              </a:lnSpc>
              <a:buNone/>
            </a:pPr>
            <a:r>
              <a:rPr lang="en-US" sz="885" b="1" dirty="0">
                <a:solidFill>
                  <a:srgbClr val="FFFFFF"/>
                </a:solidFill>
                <a:latin typeface="Open Sans" pitchFamily="34" charset="0"/>
                <a:ea typeface="Open Sans" pitchFamily="34" charset="-122"/>
                <a:cs typeface="Open Sans" pitchFamily="34" charset="-120"/>
              </a:rPr>
              <a:t>trajectory.png</a:t>
            </a:r>
            <a:endParaRPr lang="en-US" sz="885" dirty="0"/>
          </a:p>
        </p:txBody>
      </p:sp>
      <p:sp>
        <p:nvSpPr>
          <p:cNvPr id="15" name="Text 8"/>
          <p:cNvSpPr/>
          <p:nvPr/>
        </p:nvSpPr>
        <p:spPr>
          <a:xfrm>
            <a:off x="839391" y="2339578"/>
            <a:ext cx="1344811" cy="175022"/>
          </a:xfrm>
          <a:prstGeom prst="rect">
            <a:avLst/>
          </a:prstGeom>
          <a:noFill/>
          <a:ln/>
        </p:spPr>
        <p:txBody>
          <a:bodyPr wrap="none" lIns="0" tIns="0" rIns="0" bIns="0" rtlCol="0" anchor="t">
            <a:spAutoFit/>
          </a:bodyPr>
          <a:lstStyle/>
          <a:p>
            <a:pPr algn="l" indent="0" marL="0">
              <a:lnSpc>
                <a:spcPts val="1500"/>
              </a:lnSpc>
              <a:buNone/>
            </a:pPr>
            <a:r>
              <a:rPr lang="en-US" sz="942" dirty="0">
                <a:solidFill>
                  <a:srgbClr val="E0E0E0"/>
                </a:solidFill>
                <a:latin typeface="Open Sans" pitchFamily="34" charset="0"/>
                <a:ea typeface="Open Sans" pitchFamily="34" charset="-122"/>
                <a:cs typeface="Open Sans" pitchFamily="34" charset="-120"/>
              </a:rPr>
              <a:t>The plot generated by</a:t>
            </a:r>
            <a:endParaRPr lang="en-US" sz="942" dirty="0"/>
          </a:p>
        </p:txBody>
      </p:sp>
      <p:sp>
        <p:nvSpPr>
          <p:cNvPr id="16" name="Text 9"/>
          <p:cNvSpPr/>
          <p:nvPr/>
        </p:nvSpPr>
        <p:spPr>
          <a:xfrm>
            <a:off x="2184202" y="2341364"/>
            <a:ext cx="1774524" cy="175022"/>
          </a:xfrm>
          <a:prstGeom prst="rect">
            <a:avLst/>
          </a:prstGeom>
          <a:noFill/>
          <a:ln/>
        </p:spPr>
        <p:txBody>
          <a:bodyPr wrap="none" lIns="0" tIns="0" rIns="0" bIns="0" rtlCol="0" anchor="t">
            <a:spAutoFit/>
          </a:bodyPr>
          <a:lstStyle/>
          <a:p>
            <a:pPr algn="l" indent="0" marL="0">
              <a:lnSpc>
                <a:spcPts val="1500"/>
              </a:lnSpc>
              <a:buNone/>
            </a:pPr>
            <a:r>
              <a:rPr lang="en-US" sz="942" dirty="0">
                <a:solidFill>
                  <a:srgbClr val="E0E0E0"/>
                </a:solidFill>
                <a:latin typeface="monospace" pitchFamily="34" charset="0"/>
                <a:ea typeface="monospace" pitchFamily="34" charset="-122"/>
                <a:cs typeface="monospace" pitchFamily="34" charset="-120"/>
              </a:rPr>
              <a:t>visualize_trajectory.py</a:t>
            </a:r>
            <a:endParaRPr lang="en-US" sz="942" dirty="0"/>
          </a:p>
        </p:txBody>
      </p:sp>
      <p:sp>
        <p:nvSpPr>
          <p:cNvPr id="17" name="Text 10"/>
          <p:cNvSpPr/>
          <p:nvPr/>
        </p:nvSpPr>
        <p:spPr>
          <a:xfrm>
            <a:off x="839391" y="2534245"/>
            <a:ext cx="1598414" cy="175022"/>
          </a:xfrm>
          <a:prstGeom prst="rect">
            <a:avLst/>
          </a:prstGeom>
          <a:noFill/>
          <a:ln/>
        </p:spPr>
        <p:txBody>
          <a:bodyPr wrap="none" lIns="0" tIns="0" rIns="0" bIns="0" rtlCol="0" anchor="t">
            <a:spAutoFit/>
          </a:bodyPr>
          <a:lstStyle/>
          <a:p>
            <a:pPr algn="l" indent="0" marL="0">
              <a:lnSpc>
                <a:spcPts val="1500"/>
              </a:lnSpc>
              <a:buNone/>
            </a:pPr>
            <a:r>
              <a:rPr lang="en-US" sz="942" dirty="0">
                <a:solidFill>
                  <a:srgbClr val="E0E0E0"/>
                </a:solidFill>
                <a:latin typeface="Open Sans" pitchFamily="34" charset="0"/>
                <a:ea typeface="Open Sans" pitchFamily="34" charset="-122"/>
                <a:cs typeface="Open Sans" pitchFamily="34" charset="-120"/>
              </a:rPr>
              <a:t>showing your robot's path.</a:t>
            </a:r>
            <a:endParaRPr lang="en-US" sz="942" dirty="0"/>
          </a:p>
        </p:txBody>
      </p:sp>
      <p:pic>
        <p:nvPicPr>
          <p:cNvPr id="18" name="Image 5" descr="preencoded.png">    </p:cNvPr>
          <p:cNvPicPr>
            <a:picLocks noChangeAspect="1"/>
          </p:cNvPicPr>
          <p:nvPr/>
        </p:nvPicPr>
        <p:blipFill>
          <a:blip r:embed="rId6"/>
          <a:stretch>
            <a:fillRect/>
          </a:stretch>
        </p:blipFill>
        <p:spPr>
          <a:xfrm>
            <a:off x="607219" y="2839641"/>
            <a:ext cx="125016" cy="142875"/>
          </a:xfrm>
          <a:prstGeom prst="rect">
            <a:avLst/>
          </a:prstGeom>
        </p:spPr>
      </p:pic>
      <p:sp>
        <p:nvSpPr>
          <p:cNvPr id="19" name="Text 11"/>
          <p:cNvSpPr/>
          <p:nvPr/>
        </p:nvSpPr>
        <p:spPr>
          <a:xfrm>
            <a:off x="839391" y="2834283"/>
            <a:ext cx="1042988" cy="175022"/>
          </a:xfrm>
          <a:prstGeom prst="rect">
            <a:avLst/>
          </a:prstGeom>
          <a:noFill/>
          <a:ln/>
        </p:spPr>
        <p:txBody>
          <a:bodyPr wrap="none" lIns="0" tIns="0" rIns="0" bIns="0" rtlCol="0" anchor="t">
            <a:spAutoFit/>
          </a:bodyPr>
          <a:lstStyle/>
          <a:p>
            <a:pPr algn="l" indent="0" marL="0">
              <a:lnSpc>
                <a:spcPts val="1500"/>
              </a:lnSpc>
              <a:buNone/>
            </a:pPr>
            <a:r>
              <a:rPr lang="en-US" sz="885" b="1" dirty="0">
                <a:solidFill>
                  <a:srgbClr val="FFFFFF"/>
                </a:solidFill>
                <a:latin typeface="Open Sans" pitchFamily="34" charset="0"/>
                <a:ea typeface="Open Sans" pitchFamily="34" charset="-122"/>
                <a:cs typeface="Open Sans" pitchFamily="34" charset="-120"/>
              </a:rPr>
              <a:t>check_output.txt</a:t>
            </a:r>
            <a:endParaRPr lang="en-US" sz="885" dirty="0"/>
          </a:p>
        </p:txBody>
      </p:sp>
      <p:sp>
        <p:nvSpPr>
          <p:cNvPr id="20" name="Text 12"/>
          <p:cNvSpPr/>
          <p:nvPr/>
        </p:nvSpPr>
        <p:spPr>
          <a:xfrm>
            <a:off x="839391" y="3027164"/>
            <a:ext cx="2984302" cy="175022"/>
          </a:xfrm>
          <a:prstGeom prst="rect">
            <a:avLst/>
          </a:prstGeom>
          <a:noFill/>
          <a:ln/>
        </p:spPr>
        <p:txBody>
          <a:bodyPr wrap="none" lIns="0" tIns="0" rIns="0" bIns="0" rtlCol="0" anchor="t">
            <a:spAutoFit/>
          </a:bodyPr>
          <a:lstStyle/>
          <a:p>
            <a:pPr algn="l" indent="0" marL="0">
              <a:lnSpc>
                <a:spcPts val="1500"/>
              </a:lnSpc>
              <a:buNone/>
            </a:pPr>
            <a:r>
              <a:rPr lang="en-US" sz="942" dirty="0">
                <a:solidFill>
                  <a:srgbClr val="E0E0E0"/>
                </a:solidFill>
                <a:latin typeface="Open Sans" pitchFamily="34" charset="0"/>
                <a:ea typeface="Open Sans" pitchFamily="34" charset="-122"/>
                <a:cs typeface="Open Sans" pitchFamily="34" charset="-120"/>
              </a:rPr>
              <a:t>A screenshot or text copy showing that your code</a:t>
            </a:r>
            <a:endParaRPr lang="en-US" sz="942" dirty="0"/>
          </a:p>
        </p:txBody>
      </p:sp>
      <p:sp>
        <p:nvSpPr>
          <p:cNvPr id="21" name="Text 13"/>
          <p:cNvSpPr/>
          <p:nvPr/>
        </p:nvSpPr>
        <p:spPr>
          <a:xfrm>
            <a:off x="839391" y="3027164"/>
            <a:ext cx="3405783" cy="367903"/>
          </a:xfrm>
          <a:prstGeom prst="rect">
            <a:avLst/>
          </a:prstGeom>
          <a:noFill/>
          <a:ln/>
        </p:spPr>
        <p:txBody>
          <a:bodyPr wrap="square" lIns="0" tIns="0" rIns="0" bIns="0" rtlCol="0" anchor="t">
            <a:spAutoFit/>
          </a:bodyPr>
          <a:lstStyle/>
          <a:p>
            <a:pPr algn="l" indent="0" marL="0">
              <a:lnSpc>
                <a:spcPts val="1500"/>
              </a:lnSpc>
              <a:buNone/>
            </a:pPr>
            <a:r>
              <a:rPr lang="en-US" sz="942" dirty="0">
                <a:solidFill>
                  <a:srgbClr val="E0E0E0"/>
                </a:solidFill>
                <a:latin typeface="Open Sans" pitchFamily="34" charset="0"/>
                <a:ea typeface="Open Sans" pitchFamily="34" charset="-122"/>
                <a:cs typeface="Open Sans" pitchFamily="34" charset="-120"/>
              </a:rPr>
              <a:t>passed all 3 tests in</a:t>
            </a:r>
            <a:endParaRPr lang="en-US" sz="942" dirty="0"/>
          </a:p>
        </p:txBody>
      </p:sp>
      <p:sp>
        <p:nvSpPr>
          <p:cNvPr id="22" name="Text 14"/>
          <p:cNvSpPr/>
          <p:nvPr/>
        </p:nvSpPr>
        <p:spPr>
          <a:xfrm>
            <a:off x="1580555" y="3221831"/>
            <a:ext cx="1157315" cy="175022"/>
          </a:xfrm>
          <a:prstGeom prst="rect">
            <a:avLst/>
          </a:prstGeom>
          <a:noFill/>
          <a:ln/>
        </p:spPr>
        <p:txBody>
          <a:bodyPr wrap="none" lIns="0" tIns="0" rIns="0" bIns="0" rtlCol="0" anchor="t">
            <a:spAutoFit/>
          </a:bodyPr>
          <a:lstStyle/>
          <a:p>
            <a:pPr algn="l" indent="0" marL="0">
              <a:lnSpc>
                <a:spcPts val="1500"/>
              </a:lnSpc>
              <a:buNone/>
            </a:pPr>
            <a:r>
              <a:rPr lang="en-US" sz="942" dirty="0">
                <a:solidFill>
                  <a:srgbClr val="E0E0E0"/>
                </a:solidFill>
                <a:latin typeface="monospace" pitchFamily="34" charset="0"/>
                <a:ea typeface="monospace" pitchFamily="34" charset="-122"/>
                <a:cs typeface="monospace" pitchFamily="34" charset="-120"/>
              </a:rPr>
              <a:t>check_my_lab.py</a:t>
            </a:r>
            <a:endParaRPr lang="en-US" sz="942" dirty="0"/>
          </a:p>
        </p:txBody>
      </p:sp>
      <p:sp>
        <p:nvSpPr>
          <p:cNvPr id="23" name="Text 15"/>
          <p:cNvSpPr/>
          <p:nvPr/>
        </p:nvSpPr>
        <p:spPr>
          <a:xfrm>
            <a:off x="2737870" y="3220045"/>
            <a:ext cx="33933" cy="175022"/>
          </a:xfrm>
          <a:prstGeom prst="rect">
            <a:avLst/>
          </a:prstGeom>
          <a:noFill/>
          <a:ln/>
        </p:spPr>
        <p:txBody>
          <a:bodyPr wrap="none" lIns="0" tIns="0" rIns="0" bIns="0" rtlCol="0" anchor="t">
            <a:spAutoFit/>
          </a:bodyPr>
          <a:lstStyle/>
          <a:p>
            <a:pPr algn="l" indent="0" marL="0">
              <a:lnSpc>
                <a:spcPts val="1500"/>
              </a:lnSpc>
              <a:buNone/>
            </a:pPr>
            <a:r>
              <a:rPr lang="en-US" sz="942" dirty="0">
                <a:solidFill>
                  <a:srgbClr val="E0E0E0"/>
                </a:solidFill>
                <a:latin typeface="Open Sans" pitchFamily="34" charset="0"/>
                <a:ea typeface="Open Sans" pitchFamily="34" charset="-122"/>
                <a:cs typeface="Open Sans" pitchFamily="34" charset="-120"/>
              </a:rPr>
              <a:t>.</a:t>
            </a:r>
            <a:endParaRPr lang="en-US" sz="942" dirty="0"/>
          </a:p>
        </p:txBody>
      </p:sp>
      <p:pic>
        <p:nvPicPr>
          <p:cNvPr id="24" name="Image 6" descr="preencoded.png">    </p:cNvPr>
          <p:cNvPicPr>
            <a:picLocks noChangeAspect="1"/>
          </p:cNvPicPr>
          <p:nvPr/>
        </p:nvPicPr>
        <p:blipFill>
          <a:blip r:embed="rId7"/>
          <a:stretch>
            <a:fillRect/>
          </a:stretch>
        </p:blipFill>
        <p:spPr>
          <a:xfrm>
            <a:off x="607219" y="3527227"/>
            <a:ext cx="125016" cy="142875"/>
          </a:xfrm>
          <a:prstGeom prst="rect">
            <a:avLst/>
          </a:prstGeom>
        </p:spPr>
      </p:pic>
      <p:sp>
        <p:nvSpPr>
          <p:cNvPr id="25" name="Text 16"/>
          <p:cNvSpPr/>
          <p:nvPr/>
        </p:nvSpPr>
        <p:spPr>
          <a:xfrm>
            <a:off x="839391" y="3521869"/>
            <a:ext cx="919758" cy="175022"/>
          </a:xfrm>
          <a:prstGeom prst="rect">
            <a:avLst/>
          </a:prstGeom>
          <a:noFill/>
          <a:ln/>
        </p:spPr>
        <p:txBody>
          <a:bodyPr wrap="none" lIns="0" tIns="0" rIns="0" bIns="0" rtlCol="0" anchor="t">
            <a:spAutoFit/>
          </a:bodyPr>
          <a:lstStyle/>
          <a:p>
            <a:pPr algn="l" indent="0" marL="0">
              <a:lnSpc>
                <a:spcPts val="1500"/>
              </a:lnSpc>
              <a:buNone/>
            </a:pPr>
            <a:r>
              <a:rPr lang="en-US" sz="885" b="1" dirty="0">
                <a:solidFill>
                  <a:srgbClr val="FFFFFF"/>
                </a:solidFill>
                <a:latin typeface="Open Sans" pitchFamily="34" charset="0"/>
                <a:ea typeface="Open Sans" pitchFamily="34" charset="-122"/>
                <a:cs typeface="Open Sans" pitchFamily="34" charset="-120"/>
              </a:rPr>
              <a:t>Zip File Format</a:t>
            </a:r>
            <a:endParaRPr lang="en-US" sz="885" dirty="0"/>
          </a:p>
        </p:txBody>
      </p:sp>
      <p:sp>
        <p:nvSpPr>
          <p:cNvPr id="26" name="Text 17"/>
          <p:cNvSpPr/>
          <p:nvPr/>
        </p:nvSpPr>
        <p:spPr>
          <a:xfrm>
            <a:off x="839391" y="3714750"/>
            <a:ext cx="2343150" cy="175022"/>
          </a:xfrm>
          <a:prstGeom prst="rect">
            <a:avLst/>
          </a:prstGeom>
          <a:noFill/>
          <a:ln/>
        </p:spPr>
        <p:txBody>
          <a:bodyPr wrap="none" lIns="0" tIns="0" rIns="0" bIns="0" rtlCol="0" anchor="t">
            <a:spAutoFit/>
          </a:bodyPr>
          <a:lstStyle/>
          <a:p>
            <a:pPr algn="l" indent="0" marL="0">
              <a:lnSpc>
                <a:spcPts val="1500"/>
              </a:lnSpc>
              <a:buNone/>
            </a:pPr>
            <a:r>
              <a:rPr lang="en-US" sz="942" dirty="0">
                <a:solidFill>
                  <a:srgbClr val="E0E0E0"/>
                </a:solidFill>
                <a:latin typeface="Open Sans" pitchFamily="34" charset="0"/>
                <a:ea typeface="Open Sans" pitchFamily="34" charset="-122"/>
                <a:cs typeface="Open Sans" pitchFamily="34" charset="-120"/>
              </a:rPr>
              <a:t>Package all files into a single zip named</a:t>
            </a:r>
            <a:endParaRPr lang="en-US" sz="942" dirty="0"/>
          </a:p>
        </p:txBody>
      </p:sp>
      <p:sp>
        <p:nvSpPr>
          <p:cNvPr id="27" name="Text 18"/>
          <p:cNvSpPr/>
          <p:nvPr/>
        </p:nvSpPr>
        <p:spPr>
          <a:xfrm>
            <a:off x="839391" y="3909417"/>
            <a:ext cx="1851682" cy="175022"/>
          </a:xfrm>
          <a:prstGeom prst="rect">
            <a:avLst/>
          </a:prstGeom>
          <a:noFill/>
          <a:ln/>
        </p:spPr>
        <p:txBody>
          <a:bodyPr wrap="none" lIns="0" tIns="0" rIns="0" bIns="0" rtlCol="0" anchor="t">
            <a:spAutoFit/>
          </a:bodyPr>
          <a:lstStyle/>
          <a:p>
            <a:pPr algn="l" indent="0" marL="0">
              <a:lnSpc>
                <a:spcPts val="1500"/>
              </a:lnSpc>
              <a:buNone/>
            </a:pPr>
            <a:r>
              <a:rPr lang="en-US" sz="942" dirty="0">
                <a:solidFill>
                  <a:srgbClr val="E0E0E0"/>
                </a:solidFill>
                <a:latin typeface="monospace" pitchFamily="34" charset="0"/>
                <a:ea typeface="monospace" pitchFamily="34" charset="-122"/>
                <a:cs typeface="monospace" pitchFamily="34" charset="-120"/>
              </a:rPr>
              <a:t>Lab1_YourName_YourID.zip</a:t>
            </a:r>
            <a:endParaRPr lang="en-US" sz="942" dirty="0"/>
          </a:p>
        </p:txBody>
      </p:sp>
      <p:sp>
        <p:nvSpPr>
          <p:cNvPr id="28" name="Text 19"/>
          <p:cNvSpPr/>
          <p:nvPr/>
        </p:nvSpPr>
        <p:spPr>
          <a:xfrm>
            <a:off x="2691073" y="3907631"/>
            <a:ext cx="33933" cy="175022"/>
          </a:xfrm>
          <a:prstGeom prst="rect">
            <a:avLst/>
          </a:prstGeom>
          <a:noFill/>
          <a:ln/>
        </p:spPr>
        <p:txBody>
          <a:bodyPr wrap="none" lIns="0" tIns="0" rIns="0" bIns="0" rtlCol="0" anchor="t">
            <a:spAutoFit/>
          </a:bodyPr>
          <a:lstStyle/>
          <a:p>
            <a:pPr algn="l" indent="0" marL="0">
              <a:lnSpc>
                <a:spcPts val="1500"/>
              </a:lnSpc>
              <a:buNone/>
            </a:pPr>
            <a:r>
              <a:rPr lang="en-US" sz="942" dirty="0">
                <a:solidFill>
                  <a:srgbClr val="E0E0E0"/>
                </a:solidFill>
                <a:latin typeface="Open Sans" pitchFamily="34" charset="0"/>
                <a:ea typeface="Open Sans" pitchFamily="34" charset="-122"/>
                <a:cs typeface="Open Sans" pitchFamily="34" charset="-120"/>
              </a:rPr>
              <a:t>.</a:t>
            </a:r>
            <a:endParaRPr lang="en-US" sz="942" dirty="0"/>
          </a:p>
        </p:txBody>
      </p:sp>
      <p:sp>
        <p:nvSpPr>
          <p:cNvPr id="29" name="Shape 20"/>
          <p:cNvSpPr/>
          <p:nvPr/>
        </p:nvSpPr>
        <p:spPr>
          <a:xfrm>
            <a:off x="4714875" y="921544"/>
            <a:ext cx="4000500" cy="3650456"/>
          </a:xfrm>
          <a:prstGeom prst="rect">
            <a:avLst/>
          </a:prstGeom>
          <a:solidFill>
            <a:srgbClr val="00BCD4">
              <a:alpha val="5000"/>
            </a:srgbClr>
          </a:solidFill>
          <a:ln/>
        </p:spPr>
      </p:sp>
      <p:sp>
        <p:nvSpPr>
          <p:cNvPr id="30" name="Shape 21"/>
          <p:cNvSpPr/>
          <p:nvPr/>
        </p:nvSpPr>
        <p:spPr>
          <a:xfrm>
            <a:off x="4714875" y="921544"/>
            <a:ext cx="28575" cy="3650456"/>
          </a:xfrm>
          <a:prstGeom prst="rect">
            <a:avLst/>
          </a:prstGeom>
          <a:solidFill>
            <a:srgbClr val="00BCD4"/>
          </a:solidFill>
          <a:ln/>
        </p:spPr>
      </p:sp>
      <p:pic>
        <p:nvPicPr>
          <p:cNvPr id="31" name="Image 7" descr="preencoded.png">    </p:cNvPr>
          <p:cNvPicPr>
            <a:picLocks noChangeAspect="1"/>
          </p:cNvPicPr>
          <p:nvPr/>
        </p:nvPicPr>
        <p:blipFill>
          <a:blip r:embed="rId8"/>
          <a:stretch>
            <a:fillRect/>
          </a:stretch>
        </p:blipFill>
        <p:spPr>
          <a:xfrm>
            <a:off x="4893469" y="1118890"/>
            <a:ext cx="128588" cy="171450"/>
          </a:xfrm>
          <a:prstGeom prst="rect">
            <a:avLst/>
          </a:prstGeom>
        </p:spPr>
      </p:pic>
      <p:sp>
        <p:nvSpPr>
          <p:cNvPr id="32" name="Text 22"/>
          <p:cNvSpPr/>
          <p:nvPr/>
        </p:nvSpPr>
        <p:spPr>
          <a:xfrm>
            <a:off x="5093494" y="1100138"/>
            <a:ext cx="1785938" cy="208955"/>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00BCD4"/>
                </a:solidFill>
                <a:latin typeface="Montserrat" pitchFamily="34" charset="0"/>
                <a:ea typeface="Montserrat" pitchFamily="34" charset="-122"/>
                <a:cs typeface="Montserrat" pitchFamily="34" charset="-120"/>
              </a:rPr>
              <a:t>Pro Tips for Success</a:t>
            </a:r>
            <a:endParaRPr lang="en-US" sz="1193" dirty="0"/>
          </a:p>
        </p:txBody>
      </p:sp>
      <p:pic>
        <p:nvPicPr>
          <p:cNvPr id="33" name="Image 8" descr="preencoded.png">    </p:cNvPr>
          <p:cNvPicPr>
            <a:picLocks noChangeAspect="1"/>
          </p:cNvPicPr>
          <p:nvPr/>
        </p:nvPicPr>
        <p:blipFill>
          <a:blip r:embed="rId9"/>
          <a:stretch>
            <a:fillRect/>
          </a:stretch>
        </p:blipFill>
        <p:spPr>
          <a:xfrm>
            <a:off x="4893469" y="1466255"/>
            <a:ext cx="71438" cy="142875"/>
          </a:xfrm>
          <a:prstGeom prst="rect">
            <a:avLst/>
          </a:prstGeom>
        </p:spPr>
      </p:pic>
      <p:sp>
        <p:nvSpPr>
          <p:cNvPr id="34" name="Text 23"/>
          <p:cNvSpPr/>
          <p:nvPr/>
        </p:nvSpPr>
        <p:spPr>
          <a:xfrm>
            <a:off x="5072063" y="1451967"/>
            <a:ext cx="3464719" cy="578644"/>
          </a:xfrm>
          <a:prstGeom prst="rect">
            <a:avLst/>
          </a:prstGeom>
          <a:noFill/>
          <a:ln/>
        </p:spPr>
        <p:txBody>
          <a:bodyPr wrap="square" lIns="0" tIns="0" rIns="0" bIns="0" rtlCol="0" anchor="t">
            <a:spAutoFit/>
          </a:bodyPr>
          <a:lstStyle/>
          <a:p>
            <a:pPr algn="l" indent="0" marL="0">
              <a:lnSpc>
                <a:spcPts val="1500"/>
              </a:lnSpc>
              <a:buNone/>
            </a:pPr>
            <a:r>
              <a:rPr lang="en-US" sz="885" b="1" dirty="0">
                <a:solidFill>
                  <a:srgbClr val="E0E0E0"/>
                </a:solidFill>
                <a:latin typeface="Open Sans" pitchFamily="34" charset="0"/>
                <a:ea typeface="Open Sans" pitchFamily="34" charset="-122"/>
                <a:cs typeface="Open Sans" pitchFamily="34" charset="-120"/>
              </a:rPr>
              <a:t>Read the Comments:</a:t>
            </a:r>
            <a:r>
              <a:rPr lang="en-US" sz="942" dirty="0">
                <a:solidFill>
                  <a:srgbClr val="E0E0E0"/>
                </a:solidFill>
                <a:latin typeface="Open Sans" pitchFamily="34" charset="0"/>
                <a:ea typeface="Open Sans" pitchFamily="34" charset="-122"/>
                <a:cs typeface="Open Sans" pitchFamily="34" charset="-120"/>
              </a:rPr>
              <a:t> The provided code is heavily </a:t>
            </a:r>
            <a:r>
              <a:rPr lang="en-US" sz="942" dirty="0">
                <a:solidFill>
                  <a:srgbClr val="E0E0E0"/>
                </a:solidFill>
                <a:latin typeface="Open Sans" pitchFamily="34" charset="0"/>
                <a:ea typeface="Open Sans" pitchFamily="34" charset="-122"/>
                <a:cs typeface="Open Sans" pitchFamily="34" charset="-120"/>
              </a:rPr>
              <a:t>commented. Read them to understand the </a:t>
            </a:r>
            <a:r>
              <a:rPr lang="en-US" sz="942" i="1" dirty="0">
                <a:solidFill>
                  <a:srgbClr val="E0E0E0"/>
                </a:solidFill>
                <a:latin typeface="Open Sans" pitchFamily="34" charset="0"/>
                <a:ea typeface="Open Sans" pitchFamily="34" charset="-122"/>
                <a:cs typeface="Open Sans" pitchFamily="34" charset="-120"/>
              </a:rPr>
              <a:t>why</a:t>
            </a:r>
            <a:r>
              <a:rPr lang="en-US" sz="942" dirty="0">
                <a:solidFill>
                  <a:srgbClr val="E0E0E0"/>
                </a:solidFill>
                <a:latin typeface="Open Sans" pitchFamily="34" charset="0"/>
                <a:ea typeface="Open Sans" pitchFamily="34" charset="-122"/>
                <a:cs typeface="Open Sans" pitchFamily="34" charset="-120"/>
              </a:rPr>
              <a:t>, not just </a:t>
            </a:r>
            <a:r>
              <a:rPr lang="en-US" sz="942" dirty="0">
                <a:solidFill>
                  <a:srgbClr val="E0E0E0"/>
                </a:solidFill>
                <a:latin typeface="Open Sans" pitchFamily="34" charset="0"/>
                <a:ea typeface="Open Sans" pitchFamily="34" charset="-122"/>
                <a:cs typeface="Open Sans" pitchFamily="34" charset="-120"/>
              </a:rPr>
              <a:t>the </a:t>
            </a:r>
            <a:r>
              <a:rPr lang="en-US" sz="942" i="1" dirty="0">
                <a:solidFill>
                  <a:srgbClr val="E0E0E0"/>
                </a:solidFill>
                <a:latin typeface="Open Sans" pitchFamily="34" charset="0"/>
                <a:ea typeface="Open Sans" pitchFamily="34" charset="-122"/>
                <a:cs typeface="Open Sans" pitchFamily="34" charset="-120"/>
              </a:rPr>
              <a:t>how</a:t>
            </a:r>
            <a:r>
              <a:rPr lang="en-US" sz="942" dirty="0">
                <a:solidFill>
                  <a:srgbClr val="E0E0E0"/>
                </a:solidFill>
                <a:latin typeface="Open Sans" pitchFamily="34" charset="0"/>
                <a:ea typeface="Open Sans" pitchFamily="34" charset="-122"/>
                <a:cs typeface="Open Sans" pitchFamily="34" charset="-120"/>
              </a:rPr>
              <a:t>.</a:t>
            </a:r>
            <a:endParaRPr lang="en-US" sz="885" dirty="0"/>
          </a:p>
        </p:txBody>
      </p:sp>
      <p:pic>
        <p:nvPicPr>
          <p:cNvPr id="35" name="Image 9" descr="preencoded.png">    </p:cNvPr>
          <p:cNvPicPr>
            <a:picLocks noChangeAspect="1"/>
          </p:cNvPicPr>
          <p:nvPr/>
        </p:nvPicPr>
        <p:blipFill>
          <a:blip r:embed="rId10"/>
          <a:stretch>
            <a:fillRect/>
          </a:stretch>
        </p:blipFill>
        <p:spPr>
          <a:xfrm>
            <a:off x="4893469" y="2152055"/>
            <a:ext cx="71438" cy="142875"/>
          </a:xfrm>
          <a:prstGeom prst="rect">
            <a:avLst/>
          </a:prstGeom>
        </p:spPr>
      </p:pic>
      <p:sp>
        <p:nvSpPr>
          <p:cNvPr id="36" name="Text 24"/>
          <p:cNvSpPr/>
          <p:nvPr/>
        </p:nvSpPr>
        <p:spPr>
          <a:xfrm>
            <a:off x="5072063" y="2137767"/>
            <a:ext cx="3464719" cy="578644"/>
          </a:xfrm>
          <a:prstGeom prst="rect">
            <a:avLst/>
          </a:prstGeom>
          <a:noFill/>
          <a:ln/>
        </p:spPr>
        <p:txBody>
          <a:bodyPr wrap="square" lIns="0" tIns="0" rIns="0" bIns="0" rtlCol="0" anchor="t">
            <a:spAutoFit/>
          </a:bodyPr>
          <a:lstStyle/>
          <a:p>
            <a:pPr algn="l" indent="0" marL="0">
              <a:lnSpc>
                <a:spcPts val="1500"/>
              </a:lnSpc>
              <a:buNone/>
            </a:pPr>
            <a:r>
              <a:rPr lang="en-US" sz="885" b="1" dirty="0">
                <a:solidFill>
                  <a:srgbClr val="E0E0E0"/>
                </a:solidFill>
                <a:latin typeface="Open Sans" pitchFamily="34" charset="0"/>
                <a:ea typeface="Open Sans" pitchFamily="34" charset="-122"/>
                <a:cs typeface="Open Sans" pitchFamily="34" charset="-120"/>
              </a:rPr>
              <a:t>Test Incrementally:</a:t>
            </a:r>
            <a:r>
              <a:rPr lang="en-US" sz="942" dirty="0">
                <a:solidFill>
                  <a:srgbClr val="E0E0E0"/>
                </a:solidFill>
                <a:latin typeface="Open Sans" pitchFamily="34" charset="0"/>
                <a:ea typeface="Open Sans" pitchFamily="34" charset="-122"/>
                <a:cs typeface="Open Sans" pitchFamily="34" charset="-120"/>
              </a:rPr>
              <a:t> Don't write the whole square at </a:t>
            </a:r>
            <a:r>
              <a:rPr lang="en-US" sz="942" dirty="0">
                <a:solidFill>
                  <a:srgbClr val="E0E0E0"/>
                </a:solidFill>
                <a:latin typeface="Open Sans" pitchFamily="34" charset="0"/>
                <a:ea typeface="Open Sans" pitchFamily="34" charset="-122"/>
                <a:cs typeface="Open Sans" pitchFamily="34" charset="-120"/>
              </a:rPr>
              <a:t>once. Make it move forward first. Then make it turn. </a:t>
            </a:r>
            <a:r>
              <a:rPr lang="en-US" sz="942" dirty="0">
                <a:solidFill>
                  <a:srgbClr val="E0E0E0"/>
                </a:solidFill>
                <a:latin typeface="Open Sans" pitchFamily="34" charset="0"/>
                <a:ea typeface="Open Sans" pitchFamily="34" charset="-122"/>
                <a:cs typeface="Open Sans" pitchFamily="34" charset="-120"/>
              </a:rPr>
              <a:t>Then combine them.</a:t>
            </a:r>
            <a:endParaRPr lang="en-US" sz="885" dirty="0"/>
          </a:p>
        </p:txBody>
      </p:sp>
      <p:pic>
        <p:nvPicPr>
          <p:cNvPr id="37" name="Image 10" descr="preencoded.png">    </p:cNvPr>
          <p:cNvPicPr>
            <a:picLocks noChangeAspect="1"/>
          </p:cNvPicPr>
          <p:nvPr/>
        </p:nvPicPr>
        <p:blipFill>
          <a:blip r:embed="rId11"/>
          <a:stretch>
            <a:fillRect/>
          </a:stretch>
        </p:blipFill>
        <p:spPr>
          <a:xfrm>
            <a:off x="4893469" y="2837855"/>
            <a:ext cx="71438" cy="142875"/>
          </a:xfrm>
          <a:prstGeom prst="rect">
            <a:avLst/>
          </a:prstGeom>
        </p:spPr>
      </p:pic>
      <p:sp>
        <p:nvSpPr>
          <p:cNvPr id="38" name="Text 25"/>
          <p:cNvSpPr/>
          <p:nvPr/>
        </p:nvSpPr>
        <p:spPr>
          <a:xfrm>
            <a:off x="5072063" y="2823567"/>
            <a:ext cx="3464719" cy="385763"/>
          </a:xfrm>
          <a:prstGeom prst="rect">
            <a:avLst/>
          </a:prstGeom>
          <a:noFill/>
          <a:ln/>
        </p:spPr>
        <p:txBody>
          <a:bodyPr wrap="square" lIns="0" tIns="0" rIns="0" bIns="0" rtlCol="0" anchor="t">
            <a:spAutoFit/>
          </a:bodyPr>
          <a:lstStyle/>
          <a:p>
            <a:pPr algn="l" indent="0" marL="0">
              <a:lnSpc>
                <a:spcPts val="1500"/>
              </a:lnSpc>
              <a:buNone/>
            </a:pPr>
            <a:r>
              <a:rPr lang="en-US" sz="885" b="1" dirty="0">
                <a:solidFill>
                  <a:srgbClr val="E0E0E0"/>
                </a:solidFill>
                <a:latin typeface="Open Sans" pitchFamily="34" charset="0"/>
                <a:ea typeface="Open Sans" pitchFamily="34" charset="-122"/>
                <a:cs typeface="Open Sans" pitchFamily="34" charset="-120"/>
              </a:rPr>
              <a:t>Mind the Units:</a:t>
            </a:r>
            <a:r>
              <a:rPr lang="en-US" sz="942" dirty="0">
                <a:solidFill>
                  <a:srgbClr val="E0E0E0"/>
                </a:solidFill>
                <a:latin typeface="Open Sans" pitchFamily="34" charset="0"/>
                <a:ea typeface="Open Sans" pitchFamily="34" charset="-122"/>
                <a:cs typeface="Open Sans" pitchFamily="34" charset="-120"/>
              </a:rPr>
              <a:t> PyBullet uses meters for distance and </a:t>
            </a:r>
            <a:r>
              <a:rPr lang="en-US" sz="942" dirty="0">
                <a:solidFill>
                  <a:srgbClr val="E0E0E0"/>
                </a:solidFill>
                <a:latin typeface="Open Sans" pitchFamily="34" charset="0"/>
                <a:ea typeface="Open Sans" pitchFamily="34" charset="-122"/>
                <a:cs typeface="Open Sans" pitchFamily="34" charset="-120"/>
              </a:rPr>
              <a:t>radians for angles. (90 degrees = π/2 radians ≈ 1.57).</a:t>
            </a:r>
            <a:endParaRPr lang="en-US" sz="885" dirty="0"/>
          </a:p>
        </p:txBody>
      </p:sp>
      <p:pic>
        <p:nvPicPr>
          <p:cNvPr id="39" name="Image 11" descr="preencoded.png">    </p:cNvPr>
          <p:cNvPicPr>
            <a:picLocks noChangeAspect="1"/>
          </p:cNvPicPr>
          <p:nvPr/>
        </p:nvPicPr>
        <p:blipFill>
          <a:blip r:embed="rId12"/>
          <a:stretch>
            <a:fillRect/>
          </a:stretch>
        </p:blipFill>
        <p:spPr>
          <a:xfrm>
            <a:off x="4893469" y="3330773"/>
            <a:ext cx="71438" cy="142875"/>
          </a:xfrm>
          <a:prstGeom prst="rect">
            <a:avLst/>
          </a:prstGeom>
        </p:spPr>
      </p:pic>
      <p:sp>
        <p:nvSpPr>
          <p:cNvPr id="40" name="Text 26"/>
          <p:cNvSpPr/>
          <p:nvPr/>
        </p:nvSpPr>
        <p:spPr>
          <a:xfrm>
            <a:off x="5072063" y="3325416"/>
            <a:ext cx="1910953" cy="175022"/>
          </a:xfrm>
          <a:prstGeom prst="rect">
            <a:avLst/>
          </a:prstGeom>
          <a:noFill/>
          <a:ln/>
        </p:spPr>
        <p:txBody>
          <a:bodyPr wrap="none" lIns="0" tIns="0" rIns="0" bIns="0" rtlCol="0" anchor="t">
            <a:spAutoFit/>
          </a:bodyPr>
          <a:lstStyle/>
          <a:p>
            <a:pPr algn="l" indent="0" marL="0">
              <a:lnSpc>
                <a:spcPts val="1500"/>
              </a:lnSpc>
              <a:buNone/>
            </a:pPr>
            <a:r>
              <a:rPr lang="en-US" sz="885" b="1" dirty="0">
                <a:solidFill>
                  <a:srgbClr val="E0E0E0"/>
                </a:solidFill>
                <a:latin typeface="Open Sans" pitchFamily="34" charset="0"/>
                <a:ea typeface="Open Sans" pitchFamily="34" charset="-122"/>
                <a:cs typeface="Open Sans" pitchFamily="34" charset="-120"/>
              </a:rPr>
              <a:t>Use Your Unique Environment:</a:t>
            </a:r>
            <a:endParaRPr lang="en-US" sz="885" dirty="0"/>
          </a:p>
        </p:txBody>
      </p:sp>
      <p:sp>
        <p:nvSpPr>
          <p:cNvPr id="41" name="Text 27"/>
          <p:cNvSpPr/>
          <p:nvPr/>
        </p:nvSpPr>
        <p:spPr>
          <a:xfrm>
            <a:off x="6983016" y="3325416"/>
            <a:ext cx="1271588" cy="175022"/>
          </a:xfrm>
          <a:prstGeom prst="rect">
            <a:avLst/>
          </a:prstGeom>
          <a:noFill/>
          <a:ln/>
        </p:spPr>
        <p:txBody>
          <a:bodyPr wrap="none" lIns="0" tIns="0" rIns="0" bIns="0" rtlCol="0" anchor="t">
            <a:spAutoFit/>
          </a:bodyPr>
          <a:lstStyle/>
          <a:p>
            <a:pPr algn="l" indent="0" marL="0">
              <a:lnSpc>
                <a:spcPts val="1500"/>
              </a:lnSpc>
              <a:buNone/>
            </a:pPr>
            <a:r>
              <a:rPr lang="en-US" sz="942" dirty="0">
                <a:solidFill>
                  <a:srgbClr val="E0E0E0"/>
                </a:solidFill>
                <a:latin typeface="Open Sans" pitchFamily="34" charset="0"/>
                <a:ea typeface="Open Sans" pitchFamily="34" charset="-122"/>
                <a:cs typeface="Open Sans" pitchFamily="34" charset="-120"/>
              </a:rPr>
              <a:t>Always remember to</a:t>
            </a:r>
            <a:endParaRPr lang="en-US" sz="942" dirty="0"/>
          </a:p>
        </p:txBody>
      </p:sp>
      <p:sp>
        <p:nvSpPr>
          <p:cNvPr id="42" name="Text 28"/>
          <p:cNvSpPr/>
          <p:nvPr/>
        </p:nvSpPr>
        <p:spPr>
          <a:xfrm>
            <a:off x="5072063" y="3520083"/>
            <a:ext cx="2468891" cy="175022"/>
          </a:xfrm>
          <a:prstGeom prst="rect">
            <a:avLst/>
          </a:prstGeom>
          <a:noFill/>
          <a:ln/>
        </p:spPr>
        <p:txBody>
          <a:bodyPr wrap="none" lIns="0" tIns="0" rIns="0" bIns="0" rtlCol="0" anchor="t">
            <a:spAutoFit/>
          </a:bodyPr>
          <a:lstStyle/>
          <a:p>
            <a:pPr algn="l" indent="0" marL="0">
              <a:lnSpc>
                <a:spcPts val="1500"/>
              </a:lnSpc>
              <a:buNone/>
            </a:pPr>
            <a:r>
              <a:rPr lang="en-US" sz="942" dirty="0">
                <a:solidFill>
                  <a:srgbClr val="E0E0E0"/>
                </a:solidFill>
                <a:latin typeface="monospace" pitchFamily="34" charset="0"/>
                <a:ea typeface="monospace" pitchFamily="34" charset="-122"/>
                <a:cs typeface="monospace" pitchFamily="34" charset="-120"/>
              </a:rPr>
              <a:t>conda activate robotics_YourName</a:t>
            </a:r>
            <a:endParaRPr lang="en-US" sz="942" dirty="0"/>
          </a:p>
        </p:txBody>
      </p:sp>
      <p:sp>
        <p:nvSpPr>
          <p:cNvPr id="43" name="Text 29"/>
          <p:cNvSpPr/>
          <p:nvPr/>
        </p:nvSpPr>
        <p:spPr>
          <a:xfrm>
            <a:off x="7540954" y="3518297"/>
            <a:ext cx="928688" cy="175022"/>
          </a:xfrm>
          <a:prstGeom prst="rect">
            <a:avLst/>
          </a:prstGeom>
          <a:noFill/>
          <a:ln/>
        </p:spPr>
        <p:txBody>
          <a:bodyPr wrap="none" lIns="0" tIns="0" rIns="0" bIns="0" rtlCol="0" anchor="t">
            <a:spAutoFit/>
          </a:bodyPr>
          <a:lstStyle/>
          <a:p>
            <a:pPr algn="l" indent="0" marL="0">
              <a:lnSpc>
                <a:spcPts val="1500"/>
              </a:lnSpc>
              <a:buNone/>
            </a:pPr>
            <a:r>
              <a:rPr lang="en-US" sz="942" dirty="0">
                <a:solidFill>
                  <a:srgbClr val="E0E0E0"/>
                </a:solidFill>
                <a:latin typeface="Open Sans" pitchFamily="34" charset="0"/>
                <a:ea typeface="Open Sans" pitchFamily="34" charset="-122"/>
                <a:cs typeface="Open Sans" pitchFamily="34" charset="-120"/>
              </a:rPr>
              <a:t>before running</a:t>
            </a:r>
            <a:endParaRPr lang="en-US" sz="942" dirty="0"/>
          </a:p>
        </p:txBody>
      </p:sp>
      <p:sp>
        <p:nvSpPr>
          <p:cNvPr id="44" name="Text 30"/>
          <p:cNvSpPr/>
          <p:nvPr/>
        </p:nvSpPr>
        <p:spPr>
          <a:xfrm>
            <a:off x="5072063" y="3712964"/>
            <a:ext cx="673298" cy="175022"/>
          </a:xfrm>
          <a:prstGeom prst="rect">
            <a:avLst/>
          </a:prstGeom>
          <a:noFill/>
          <a:ln/>
        </p:spPr>
        <p:txBody>
          <a:bodyPr wrap="none" lIns="0" tIns="0" rIns="0" bIns="0" rtlCol="0" anchor="t">
            <a:spAutoFit/>
          </a:bodyPr>
          <a:lstStyle/>
          <a:p>
            <a:pPr algn="l" indent="0" marL="0">
              <a:lnSpc>
                <a:spcPts val="1500"/>
              </a:lnSpc>
              <a:buNone/>
            </a:pPr>
            <a:r>
              <a:rPr lang="en-US" sz="942" dirty="0">
                <a:solidFill>
                  <a:srgbClr val="E0E0E0"/>
                </a:solidFill>
                <a:latin typeface="Open Sans" pitchFamily="34" charset="0"/>
                <a:ea typeface="Open Sans" pitchFamily="34" charset="-122"/>
                <a:cs typeface="Open Sans" pitchFamily="34" charset="-120"/>
              </a:rPr>
              <a:t>any scripts.</a:t>
            </a:r>
            <a:endParaRPr lang="en-US" sz="942" dirty="0"/>
          </a:p>
        </p:txBody>
      </p:sp>
      <p:sp>
        <p:nvSpPr>
          <p:cNvPr id="45" name="Shape 31"/>
          <p:cNvSpPr/>
          <p:nvPr/>
        </p:nvSpPr>
        <p:spPr>
          <a:xfrm>
            <a:off x="0" y="4786313"/>
            <a:ext cx="9144000" cy="357188"/>
          </a:xfrm>
          <a:prstGeom prst="rect">
            <a:avLst/>
          </a:prstGeom>
          <a:solidFill>
            <a:srgbClr val="000000">
              <a:alpha val="0"/>
            </a:srgbClr>
          </a:solidFill>
          <a:ln/>
        </p:spPr>
      </p:sp>
      <p:sp>
        <p:nvSpPr>
          <p:cNvPr id="46" name="Shape 32"/>
          <p:cNvSpPr/>
          <p:nvPr/>
        </p:nvSpPr>
        <p:spPr>
          <a:xfrm>
            <a:off x="0" y="4786313"/>
            <a:ext cx="9144000" cy="7144"/>
          </a:xfrm>
          <a:prstGeom prst="rect">
            <a:avLst/>
          </a:prstGeom>
          <a:solidFill>
            <a:srgbClr val="FFFFFF"/>
          </a:solidFill>
          <a:ln/>
        </p:spPr>
      </p:sp>
      <p:sp>
        <p:nvSpPr>
          <p:cNvPr id="47" name="Text 33"/>
          <p:cNvSpPr/>
          <p:nvPr/>
        </p:nvSpPr>
        <p:spPr>
          <a:xfrm>
            <a:off x="428625" y="4900613"/>
            <a:ext cx="905470"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888888"/>
                </a:solidFill>
                <a:latin typeface="Open Sans" pitchFamily="34" charset="0"/>
                <a:ea typeface="Open Sans" pitchFamily="34" charset="-122"/>
                <a:cs typeface="Open Sans" pitchFamily="34" charset="-120"/>
              </a:rPr>
              <a:t>Lab 1: Hello, Robot!</a:t>
            </a:r>
            <a:endParaRPr lang="en-US" sz="727" dirty="0"/>
          </a:p>
        </p:txBody>
      </p:sp>
      <p:sp>
        <p:nvSpPr>
          <p:cNvPr id="48" name="Text 34"/>
          <p:cNvSpPr/>
          <p:nvPr/>
        </p:nvSpPr>
        <p:spPr>
          <a:xfrm>
            <a:off x="7824192" y="4900613"/>
            <a:ext cx="891183" cy="135731"/>
          </a:xfrm>
          <a:prstGeom prst="rect">
            <a:avLst/>
          </a:prstGeom>
          <a:noFill/>
          <a:ln/>
        </p:spPr>
        <p:txBody>
          <a:bodyPr wrap="none" lIns="0" tIns="0" rIns="0" bIns="0" rtlCol="0" anchor="t">
            <a:spAutoFit/>
          </a:bodyPr>
          <a:lstStyle/>
          <a:p>
            <a:pPr algn="l" indent="0" marL="0">
              <a:lnSpc>
                <a:spcPts val="900"/>
              </a:lnSpc>
              <a:buNone/>
            </a:pPr>
            <a:r>
              <a:rPr lang="en-US" sz="727" dirty="0">
                <a:solidFill>
                  <a:srgbClr val="888888"/>
                </a:solidFill>
                <a:latin typeface="Open Sans" pitchFamily="34" charset="0"/>
                <a:ea typeface="Open Sans" pitchFamily="34" charset="-122"/>
                <a:cs typeface="Open Sans" pitchFamily="34" charset="-120"/>
              </a:rPr>
              <a:t>Block 1: Perception</a:t>
            </a:r>
            <a:endParaRPr lang="en-US" sz="727"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143375" y="496686"/>
            <a:ext cx="857250" cy="857250"/>
          </a:xfrm>
          <a:prstGeom prst="ellipse">
            <a:avLst/>
          </a:prstGeom>
          <a:solidFill>
            <a:srgbClr val="00BCD4">
              <a:alpha val="10000"/>
            </a:srgbClr>
          </a:solidFill>
          <a:ln w="18288">
            <a:solidFill>
              <a:srgbClr val="00BCD4"/>
            </a:solidFill>
            <a:prstDash val="solid"/>
          </a:ln>
        </p:spPr>
      </p:sp>
      <p:pic>
        <p:nvPicPr>
          <p:cNvPr id="4" name="Image 1" descr="preencoded.png">    </p:cNvPr>
          <p:cNvPicPr>
            <a:picLocks noChangeAspect="1"/>
          </p:cNvPicPr>
          <p:nvPr/>
        </p:nvPicPr>
        <p:blipFill>
          <a:blip r:embed="rId2"/>
          <a:stretch>
            <a:fillRect/>
          </a:stretch>
        </p:blipFill>
        <p:spPr>
          <a:xfrm>
            <a:off x="4330898" y="710998"/>
            <a:ext cx="482203" cy="428625"/>
          </a:xfrm>
          <a:prstGeom prst="rect">
            <a:avLst/>
          </a:prstGeom>
        </p:spPr>
      </p:pic>
      <p:sp>
        <p:nvSpPr>
          <p:cNvPr id="5" name="Text 1"/>
          <p:cNvSpPr/>
          <p:nvPr/>
        </p:nvSpPr>
        <p:spPr>
          <a:xfrm>
            <a:off x="1357313" y="1568248"/>
            <a:ext cx="6429375" cy="822927"/>
          </a:xfrm>
          <a:prstGeom prst="rect">
            <a:avLst/>
          </a:prstGeom>
          <a:noFill/>
          <a:ln/>
        </p:spPr>
        <p:txBody>
          <a:bodyPr wrap="square" lIns="0" tIns="0" rIns="0" bIns="0" rtlCol="0" anchor="t">
            <a:spAutoFit/>
          </a:bodyPr>
          <a:lstStyle/>
          <a:p>
            <a:pPr algn="ctr" indent="0" marL="0">
              <a:lnSpc>
                <a:spcPts val="3200"/>
              </a:lnSpc>
              <a:buNone/>
            </a:pPr>
            <a:r>
              <a:rPr lang="en-US" sz="2436" b="1" dirty="0">
                <a:solidFill>
                  <a:srgbClr val="FFFFFF"/>
                </a:solidFill>
                <a:latin typeface="Montserrat" pitchFamily="34" charset="0"/>
                <a:ea typeface="Montserrat" pitchFamily="34" charset="-122"/>
                <a:cs typeface="Montserrat" pitchFamily="34" charset="-120"/>
              </a:rPr>
              <a:t>You Just Built the Foundation of </a:t>
            </a:r>
            <a:r>
              <a:rPr lang="en-US" sz="2436" b="1" dirty="0">
                <a:solidFill>
                  <a:srgbClr val="FFFFFF"/>
                </a:solidFill>
                <a:latin typeface="Montserrat" pitchFamily="34" charset="0"/>
                <a:ea typeface="Montserrat" pitchFamily="34" charset="-122"/>
                <a:cs typeface="Montserrat" pitchFamily="34" charset="-120"/>
              </a:rPr>
              <a:t>an </a:t>
            </a:r>
            <a:r>
              <a:rPr lang="en-US" sz="2436" b="1" dirty="0">
                <a:solidFill>
                  <a:srgbClr val="E67E22"/>
                </a:solidFill>
                <a:latin typeface="Montserrat" pitchFamily="34" charset="0"/>
                <a:ea typeface="Montserrat" pitchFamily="34" charset="-122"/>
                <a:cs typeface="Montserrat" pitchFamily="34" charset="-120"/>
              </a:rPr>
              <a:t>Autonomous System</a:t>
            </a:r>
            <a:endParaRPr lang="en-US" sz="2436" dirty="0"/>
          </a:p>
        </p:txBody>
      </p:sp>
      <p:sp>
        <p:nvSpPr>
          <p:cNvPr id="6" name="Text 2"/>
          <p:cNvSpPr/>
          <p:nvPr/>
        </p:nvSpPr>
        <p:spPr>
          <a:xfrm>
            <a:off x="1357313" y="2534050"/>
            <a:ext cx="6429375" cy="514350"/>
          </a:xfrm>
          <a:prstGeom prst="rect">
            <a:avLst/>
          </a:prstGeom>
          <a:noFill/>
          <a:ln/>
        </p:spPr>
        <p:txBody>
          <a:bodyPr wrap="square" lIns="0" tIns="0" rIns="0" bIns="0" rtlCol="0" anchor="t">
            <a:spAutoFit/>
          </a:bodyPr>
          <a:lstStyle/>
          <a:p>
            <a:pPr algn="ctr" indent="0" marL="0">
              <a:lnSpc>
                <a:spcPts val="2000"/>
              </a:lnSpc>
              <a:buNone/>
            </a:pPr>
            <a:r>
              <a:rPr lang="en-US" sz="1269" dirty="0">
                <a:solidFill>
                  <a:srgbClr val="A0A0A0"/>
                </a:solidFill>
                <a:latin typeface="Open Sans" pitchFamily="34" charset="0"/>
                <a:ea typeface="Open Sans" pitchFamily="34" charset="-122"/>
                <a:cs typeface="Open Sans" pitchFamily="34" charset="-120"/>
              </a:rPr>
              <a:t>Today you learned to spawn a world, read sensors, command motion, and analyze data. Next week, we give the robot "eyes" with Computer Vision.</a:t>
            </a:r>
            <a:endParaRPr lang="en-US" sz="1269" dirty="0"/>
          </a:p>
        </p:txBody>
      </p:sp>
      <p:sp>
        <p:nvSpPr>
          <p:cNvPr id="7" name="Shape 3"/>
          <p:cNvSpPr/>
          <p:nvPr/>
        </p:nvSpPr>
        <p:spPr>
          <a:xfrm>
            <a:off x="3040559" y="3405587"/>
            <a:ext cx="3062883" cy="1241227"/>
          </a:xfrm>
          <a:prstGeom prst="rect">
            <a:avLst/>
          </a:prstGeom>
          <a:solidFill>
            <a:srgbClr val="FFFFFF">
              <a:alpha val="5000"/>
            </a:srgbClr>
          </a:solidFill>
          <a:ln w="9144">
            <a:solidFill>
              <a:srgbClr val="FFFFFF">
                <a:alpha val="10000"/>
              </a:srgbClr>
            </a:solidFill>
            <a:prstDash val="solid"/>
          </a:ln>
        </p:spPr>
      </p:sp>
      <p:pic>
        <p:nvPicPr>
          <p:cNvPr id="8" name="Image 2" descr="preencoded.png">    </p:cNvPr>
          <p:cNvPicPr>
            <a:picLocks noChangeAspect="1"/>
          </p:cNvPicPr>
          <p:nvPr/>
        </p:nvPicPr>
        <p:blipFill>
          <a:blip r:embed="rId3"/>
          <a:stretch>
            <a:fillRect/>
          </a:stretch>
        </p:blipFill>
        <p:spPr>
          <a:xfrm>
            <a:off x="3404890" y="3638652"/>
            <a:ext cx="214313" cy="171450"/>
          </a:xfrm>
          <a:prstGeom prst="rect">
            <a:avLst/>
          </a:prstGeom>
        </p:spPr>
      </p:pic>
      <p:sp>
        <p:nvSpPr>
          <p:cNvPr id="9" name="Text 4"/>
          <p:cNvSpPr/>
          <p:nvPr/>
        </p:nvSpPr>
        <p:spPr>
          <a:xfrm>
            <a:off x="3726359" y="3627044"/>
            <a:ext cx="1203722" cy="194667"/>
          </a:xfrm>
          <a:prstGeom prst="rect">
            <a:avLst/>
          </a:prstGeom>
          <a:noFill/>
          <a:ln/>
        </p:spPr>
        <p:txBody>
          <a:bodyPr wrap="none" lIns="0" tIns="0" rIns="0" bIns="0" rtlCol="0" anchor="t">
            <a:spAutoFit/>
          </a:bodyPr>
          <a:lstStyle/>
          <a:p>
            <a:pPr algn="ctr" indent="0" marL="0">
              <a:lnSpc>
                <a:spcPts val="1400"/>
              </a:lnSpc>
              <a:buNone/>
            </a:pPr>
            <a:r>
              <a:rPr lang="en-US" sz="1050" dirty="0">
                <a:solidFill>
                  <a:srgbClr val="E0E0E0"/>
                </a:solidFill>
                <a:latin typeface="Open Sans" pitchFamily="34" charset="0"/>
                <a:ea typeface="Open Sans" pitchFamily="34" charset="-122"/>
                <a:cs typeface="Open Sans" pitchFamily="34" charset="-120"/>
              </a:rPr>
              <a:t>Dr. Akram Fatayer</a:t>
            </a:r>
            <a:endParaRPr lang="en-US" sz="1050" dirty="0"/>
          </a:p>
        </p:txBody>
      </p:sp>
      <p:pic>
        <p:nvPicPr>
          <p:cNvPr id="10" name="Image 3" descr="preencoded.png">    </p:cNvPr>
          <p:cNvPicPr>
            <a:picLocks noChangeAspect="1"/>
          </p:cNvPicPr>
          <p:nvPr/>
        </p:nvPicPr>
        <p:blipFill>
          <a:blip r:embed="rId4"/>
          <a:stretch>
            <a:fillRect/>
          </a:stretch>
        </p:blipFill>
        <p:spPr>
          <a:xfrm>
            <a:off x="3404890" y="3940476"/>
            <a:ext cx="214313" cy="171450"/>
          </a:xfrm>
          <a:prstGeom prst="rect">
            <a:avLst/>
          </a:prstGeom>
        </p:spPr>
      </p:pic>
      <p:sp>
        <p:nvSpPr>
          <p:cNvPr id="11" name="Text 5"/>
          <p:cNvSpPr/>
          <p:nvPr/>
        </p:nvSpPr>
        <p:spPr>
          <a:xfrm>
            <a:off x="3726359" y="3928867"/>
            <a:ext cx="1355527" cy="194667"/>
          </a:xfrm>
          <a:prstGeom prst="rect">
            <a:avLst/>
          </a:prstGeom>
          <a:noFill/>
          <a:ln/>
        </p:spPr>
        <p:txBody>
          <a:bodyPr wrap="none" lIns="0" tIns="0" rIns="0" bIns="0" rtlCol="0" anchor="t">
            <a:spAutoFit/>
          </a:bodyPr>
          <a:lstStyle/>
          <a:p>
            <a:pPr algn="ctr" indent="0" marL="0">
              <a:lnSpc>
                <a:spcPts val="1400"/>
              </a:lnSpc>
              <a:buNone/>
            </a:pPr>
            <a:r>
              <a:rPr lang="en-US" sz="1050" dirty="0">
                <a:solidFill>
                  <a:srgbClr val="E0E0E0"/>
                </a:solidFill>
                <a:latin typeface="Open Sans" pitchFamily="34" charset="0"/>
                <a:ea typeface="Open Sans" pitchFamily="34" charset="-122"/>
                <a:cs typeface="Open Sans" pitchFamily="34" charset="-120"/>
              </a:rPr>
              <a:t>a.fatayer@zuj.edu.jo</a:t>
            </a:r>
            <a:endParaRPr lang="en-US" sz="1050" dirty="0"/>
          </a:p>
        </p:txBody>
      </p:sp>
      <p:pic>
        <p:nvPicPr>
          <p:cNvPr id="12" name="Image 4" descr="preencoded.png">    </p:cNvPr>
          <p:cNvPicPr>
            <a:picLocks noChangeAspect="1"/>
          </p:cNvPicPr>
          <p:nvPr/>
        </p:nvPicPr>
        <p:blipFill>
          <a:blip r:embed="rId5"/>
          <a:stretch>
            <a:fillRect/>
          </a:stretch>
        </p:blipFill>
        <p:spPr>
          <a:xfrm>
            <a:off x="3404890" y="4242299"/>
            <a:ext cx="214313" cy="171450"/>
          </a:xfrm>
          <a:prstGeom prst="rect">
            <a:avLst/>
          </a:prstGeom>
        </p:spPr>
      </p:pic>
      <p:sp>
        <p:nvSpPr>
          <p:cNvPr id="13" name="Text 6"/>
          <p:cNvSpPr/>
          <p:nvPr/>
        </p:nvSpPr>
        <p:spPr>
          <a:xfrm>
            <a:off x="3726359" y="4230691"/>
            <a:ext cx="2012752" cy="194667"/>
          </a:xfrm>
          <a:prstGeom prst="rect">
            <a:avLst/>
          </a:prstGeom>
          <a:noFill/>
          <a:ln/>
        </p:spPr>
        <p:txBody>
          <a:bodyPr wrap="none" lIns="0" tIns="0" rIns="0" bIns="0" rtlCol="0" anchor="t">
            <a:spAutoFit/>
          </a:bodyPr>
          <a:lstStyle/>
          <a:p>
            <a:pPr algn="ctr" indent="0" marL="0">
              <a:lnSpc>
                <a:spcPts val="1400"/>
              </a:lnSpc>
              <a:buNone/>
            </a:pPr>
            <a:r>
              <a:rPr lang="en-US" sz="1050" dirty="0">
                <a:solidFill>
                  <a:srgbClr val="E0E0E0"/>
                </a:solidFill>
                <a:latin typeface="Open Sans" pitchFamily="34" charset="0"/>
                <a:ea typeface="Open Sans" pitchFamily="34" charset="-122"/>
                <a:cs typeface="Open Sans" pitchFamily="34" charset="-120"/>
              </a:rPr>
              <a:t>linkedin.com/in/akram-fatayer</a:t>
            </a:r>
            <a:endParaRPr lang="en-US" sz="1050" dirty="0"/>
          </a:p>
        </p:txBody>
      </p:sp>
      <p:sp>
        <p:nvSpPr>
          <p:cNvPr id="14" name="Shape 7"/>
          <p:cNvSpPr/>
          <p:nvPr/>
        </p:nvSpPr>
        <p:spPr>
          <a:xfrm>
            <a:off x="0" y="4714875"/>
            <a:ext cx="9144000" cy="428625"/>
          </a:xfrm>
          <a:prstGeom prst="rect">
            <a:avLst/>
          </a:prstGeom>
          <a:solidFill>
            <a:srgbClr val="000000">
              <a:alpha val="0"/>
            </a:srgbClr>
          </a:solidFill>
          <a:ln/>
        </p:spPr>
      </p:sp>
      <p:sp>
        <p:nvSpPr>
          <p:cNvPr id="15" name="Shape 8"/>
          <p:cNvSpPr/>
          <p:nvPr/>
        </p:nvSpPr>
        <p:spPr>
          <a:xfrm>
            <a:off x="0" y="4714875"/>
            <a:ext cx="9144000" cy="7144"/>
          </a:xfrm>
          <a:prstGeom prst="rect">
            <a:avLst/>
          </a:prstGeom>
          <a:solidFill>
            <a:srgbClr val="FFFFFF"/>
          </a:solidFill>
          <a:ln/>
        </p:spPr>
      </p:sp>
      <p:sp>
        <p:nvSpPr>
          <p:cNvPr id="16" name="Text 9"/>
          <p:cNvSpPr/>
          <p:nvPr/>
        </p:nvSpPr>
        <p:spPr>
          <a:xfrm>
            <a:off x="428625" y="4864894"/>
            <a:ext cx="905470" cy="135731"/>
          </a:xfrm>
          <a:prstGeom prst="rect">
            <a:avLst/>
          </a:prstGeom>
          <a:noFill/>
          <a:ln/>
        </p:spPr>
        <p:txBody>
          <a:bodyPr wrap="none" lIns="0" tIns="0" rIns="0" bIns="0" rtlCol="0" anchor="t">
            <a:spAutoFit/>
          </a:bodyPr>
          <a:lstStyle/>
          <a:p>
            <a:pPr algn="ctr" indent="0" marL="0">
              <a:lnSpc>
                <a:spcPts val="900"/>
              </a:lnSpc>
              <a:buNone/>
            </a:pPr>
            <a:r>
              <a:rPr lang="en-US" sz="727" dirty="0">
                <a:solidFill>
                  <a:srgbClr val="888888"/>
                </a:solidFill>
                <a:latin typeface="Open Sans" pitchFamily="34" charset="0"/>
                <a:ea typeface="Open Sans" pitchFamily="34" charset="-122"/>
                <a:cs typeface="Open Sans" pitchFamily="34" charset="-120"/>
              </a:rPr>
              <a:t>Lab 1: Hello, Robot!</a:t>
            </a:r>
            <a:endParaRPr lang="en-US" sz="727" dirty="0"/>
          </a:p>
        </p:txBody>
      </p:sp>
      <p:sp>
        <p:nvSpPr>
          <p:cNvPr id="17" name="Text 10"/>
          <p:cNvSpPr/>
          <p:nvPr/>
        </p:nvSpPr>
        <p:spPr>
          <a:xfrm>
            <a:off x="7154466" y="4864894"/>
            <a:ext cx="1560909" cy="135731"/>
          </a:xfrm>
          <a:prstGeom prst="rect">
            <a:avLst/>
          </a:prstGeom>
          <a:noFill/>
          <a:ln/>
        </p:spPr>
        <p:txBody>
          <a:bodyPr wrap="none" lIns="0" tIns="0" rIns="0" bIns="0" rtlCol="0" anchor="t">
            <a:spAutoFit/>
          </a:bodyPr>
          <a:lstStyle/>
          <a:p>
            <a:pPr algn="ctr" indent="0" marL="0">
              <a:lnSpc>
                <a:spcPts val="900"/>
              </a:lnSpc>
              <a:buNone/>
            </a:pPr>
            <a:r>
              <a:rPr lang="en-US" sz="727" dirty="0">
                <a:solidFill>
                  <a:srgbClr val="888888"/>
                </a:solidFill>
                <a:latin typeface="Open Sans" pitchFamily="34" charset="0"/>
                <a:ea typeface="Open Sans" pitchFamily="34" charset="-122"/>
                <a:cs typeface="Open Sans" pitchFamily="34" charset="-120"/>
              </a:rPr>
              <a:t>Al-Zaytoonah University of Jordan</a:t>
            </a:r>
            <a:endParaRPr lang="en-US" sz="72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2026-04-04T17:03:45Z</dcterms:created>
  <dcterms:modified xsi:type="dcterms:W3CDTF">2026-04-04T17:03:45Z</dcterms:modified>
</cp:coreProperties>
</file>