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87f6410-2abe-ab4e-0633-a5726b32a705}">
          <p14:sldIdLst>
            <p14:sldId id="256"/>
            <p14:sldId id="257"/>
            <p14:sldId id="258"/>
          </p14:sldIdLst>
        </p14:section>
        <p14:section name="Belief and the Kalman Filter" id="{19e8d1d2-8fee-7646-1c41-445209808cdf}">
          <p14:sldIdLst>
            <p14:sldId id="259"/>
            <p14:sldId id="260"/>
            <p14:sldId id="261"/>
            <p14:sldId id="262"/>
            <p14:sldId id="263"/>
            <p14:sldId id="264"/>
            <p14:sldId id="265"/>
            <p14:sldId id="266"/>
            <p14:sldId id="267"/>
          </p14:sldIdLst>
        </p14:section>
        <p14:section name="Kalman with Matrices" id="{ff0ced6d-1879-64e1-7116-84f060db1727}">
          <p14:sldIdLst>
            <p14:sldId id="268"/>
            <p14:sldId id="269"/>
            <p14:sldId id="270"/>
            <p14:sldId id="271"/>
            <p14:sldId id="272"/>
            <p14:sldId id="273"/>
          </p14:sldIdLst>
        </p14:section>
        <p14:section name="From Theory to Your Robot" id="{85705fd0-1577-10a0-6a08-67d20b1b5e1f}">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Lecture 2, Robot Localization and State Estimation. This is the start of Block 2: Know Where You Are. Every robot that moves needs to answer one question before anything else: where am I? Today we see how a robot answers it with imperfect sensors, using the Kalman filter, first with single numbers and then with vectors and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in the course. We built the foundation in Block 1: spawning a robot, reading its sensors and driving it. Now in Block 2 the robot learns where it is. You cannot plan a road trip without knowing your starting point, and a robot cannot plan a path without knowing its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equation: why can a robot never be sure where it is? Two reasons. Its motion is uncertain: you command one metre, the wheels slip, and it moves 0.97 metres slightly to the left. And its sensing is uncertain: every reading has noise. These two uncertainties are the two halves of today's lecture, the predict step and the update step. The tool that handles both is probability, so that is where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single position, the robot keeps a belief: a bell curve over all positions. Its centre, mu, is the best guess; its width, sigma, is the uncertainty. A narrow curve means the robot is confident, a wide one means it is lost. Remember mu plus or minus two sigma: about 95% of the belief is inside it, and you will see that band in every Lab 3 plot. The filter keeps track of the variance, sigma squared, and calls it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motion alone. The predict step uses the motion model, and the motion comes from odometry: the wheel encoders report how far the robot moved since the last step, and that is the control input u. The mean moves by u, and the variance grows by Q, odometry's error per step. Do it three times and P keeps growing: on its own, odometry drifts. In the simulation used in the module, five laps of a circle leave odometry 4.9 metres off. Mention once that some books and Activity 2 put odometry into the update step as a velocity measurement instead; the answer is almost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sensing alone. GPS measures the absolute position and never drifts, but it is noisy, about 3 metres, and slow, once a second. In the filter, a sensor is described by z, what it reads, H, which part of the state it measures, and R, how noisy it is. GPS alone, holding the last fix, is 4.4 metres off and the estimate jumps every second. Point at the picture: odometry is smooth but drifts, GPS is noisy but stays centred. They fail in opposite ways, so combining them should help.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how would you combine them? Most students propose exactly this: follow odometry, and when GPS disagrees too much, jump to GPS and start again. It is a sensible engineering idea and it does stop the drift growing forever. But look at the numbers from the simulation, averaged over 20 runs: 4.05 metres, only a little better than odometry or GPS alone, and the estimate sometimes jumps 12.7 metres in a tenth of a second, when the robot really moves 26 centimetres. A controller following that estimate would swerve. Why does such a reasonable idea do so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One: every reset copies one GPS reading, so right after a reset you are exactly as wrong as GPS. Two: between resets you tolerate up to six metres of drift. Three: you throw information away, the fixes inside the gate and the odometry history at each reset; many noisy GPS fixes averaged together would be far more accurate than any one. Four: noise itself triggers resets, which is where the big jumps come from. The root problem is that the decision is all or nothing. The fix: move only part of the way towards GPS, by an amount that depends on how much we trust each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Forget time for a moment: two GPS units read 10 and 12 metres, one twice as precise as the other. The best combination weights each by one over its variance, giving 10.4 metres, and the result is more certain than either unit. Now write the same arithmetic as a correction: start from A and move a fraction K towards B, with K equal to P over P plus R. That fraction is the Kalman gain. This is the key link to the previous slide: the gated reset is K equals 0 or 1; the Kalman filter chooses K from the uncertainties.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update step in full. With H equal to 1 it is exactly the weighting from the previous slide. The innovation is the gap between the reading and the prediction, and K decides how much of it to believe. In the example the prediction is less certain than GPS, so K is 0.69 and the estimate moves most of the way. The new sigma, 0.83, is smaller than both: combining two uncertain beliefs always gives a more certain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steps in a loop and you have the Kalman filter. Every step, odometry moves the belief and P grows; every GPS fix, the update pulls it back and P shrinks. Notice how K behaves: just after a fix, P is small, so a new fix moves the estimate only a little; long after a fix, P is large and GPS counts more. That is the gated reset done properly. The result: 1.35 metres, three times better than either sensor or the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confusion: is sensor fusion the same as a Kalman filter? No. Fusion is the goal, the filter is one way to reach it, like classification and logistic regression. The table shows all four combinations from this course. Fusion without a Kalman filter: the two-GPS average, and next week's occupancy grid. A Kalman filter without fusion: Activity 1, one sensor plus a motion model. And Activity 3 is both. Whether odometry enters the predict step or the update step, combining odometry and GPS is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in the equations: in 2D every number becomes a vector or a matrix. The state is a column vector, the uncertainty is a 2 by 2 covariance matrix, and dividing by P plus R becomes multiplying by an inverse. The picture changes from a bell curve to an ellipse. The diagonal entries are the variances in x and y. The off-diagonal entry says whether the errors move together: when it is zero the ellipse is aligned with the axes; when it is positive the ellipse tilts. Activity 2 uses position and velocity, so four by four matrices, but the rules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operations are all you need for the Kalman filter by hand. Adding matrices is entry by entry. Multiplying is row times column: for the top entry, two times one plus one times minus a half gives 1.5. Transposing turns rows into columns, so H transposed for a sensor that measures x is a column. And the 2 by 2 inverse: one over the determinant, swap the diagonal, negate the off-diagonal. NumPy does this with np.linalg.inv, which you will use in every Lab 3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2D example. The robot was at 3, 2.5 and odometry reports it moved 1 metre in x and half a metre in y. The predicted position is 4, 3. For the covariance, F is the identity, so F P F transposed is just P, and we add Q. Q has an off-diagonal term of 0.25: slipping wheels push the robot forward or back along its path, so x and y errors move together. The result P minus equals 2, 1, 1, 2: a tilted ellipse.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update. S is the uncertainty of the innovation: the prediction's covariance plus the sensor's. Its determinant is 8, so its inverse is one eighth times the swapped and negated matrix. Then K is P minus times S inverse. Walk through one entry with the class: row one of P, 2 and 1, times column one of S inverse, 0.375 and minus 0.125, gives 0.625. The diagonal says we trust GPS about 62% in each axis; the off-diagonal 0.125 will let an x correction nudge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innovation is the GPS reading minus the prediction: 1 metre in x, minus half a metre in y. Multiply by K and add: the new estimate is 4.56, 2.81. The covariance shrinks to 0.625 on the diagonal. On the picture, the purple ellipse is smaller than both the orange prediction and the teal GPS ellipse. This is the whole Kalman filter: everything else is repeating these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matrices worth it. The wall sensor measures only x, so H is 1, 0 and S is just a number. K is the first column of P divided by S, and it has two entries. The y estimate moves by 0.44 metres even though nobody measured y. Why? Because P12 says the x and y errors are correlated: if we were wrong in x, we were probably wrong in y in the same direction. If the predicted P12 were zero, y would not move at all. Students can check this in section 4 of the interactive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and R are the two knobs. Q says how much you trust the motion model, R how much you trust the sensor; only their balance matters for K. In Activity 1 you will see both failure modes: a small Q is smooth on a steady train but overshoots when the train stops; a large Q reacts quickly but follows the noise. Section 5 of the interactive module lets students feel this before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the position variance over time and you get a sawtooth. Between GPS fixes the filter keeps predicting with odometry, so P climbs by Q every step. At each GPS fix P drops sharply. After a few cycles the pattern settles. This proves the filter is working: it knows when it is uncertain and corrects itself when new data arrives. Activity 3 asks you to explain exactly this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 builds the localization engine in three steps: the pure equations in 1D, the 2D filter on the robot, then fusion of odometry and GPS. Before the lab, students should work through interactive module 2. It uses the same numbers as this lecture, so the worked examples carry straight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to keep. The robot keeps a belief, not a position. Odometry predicts and widens it, a measurement updates and narrows it. Weigh the sources by their uncertainty instead of switching between them. In 2D the same equations run on matrices. Next lecture: motion models. Today the robot moved in straight lines; real robots turn, and that makes the predict step non-linear.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and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END-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E1B2B"/>
        </a:solidFill>
      </p:bgPr>
    </p:bg>
    <p:spTree>
      <p:nvGrpSpPr>
        <p:cNvPr id="1" name=""/>
        <p:cNvGrpSpPr/>
        <p:nvPr/>
      </p:nvGrpSpPr>
      <p:grpSpPr>
        <a:xfrm>
          <a:off x="0" y="0"/>
          <a:ext cx="0" cy="0"/>
          <a:chOff x="0" y="0"/>
          <a:chExt cx="0" cy="0"/>
        </a:xfrm>
      </p:grpSpPr>
      <p:sp>
        <p:nvSpPr>
          <p:cNvPr id="2" name="Shape 0"/>
          <p:cNvSpPr/>
          <p:nvPr/>
        </p:nvSpPr>
        <p:spPr>
          <a:xfrm>
            <a:off x="502920" y="896112"/>
            <a:ext cx="411480" cy="0"/>
          </a:xfrm>
          <a:prstGeom prst="line">
            <a:avLst/>
          </a:prstGeom>
          <a:noFill/>
          <a:ln w="31750">
            <a:solidFill>
              <a:srgbClr val="16A085"/>
            </a:solidFill>
            <a:prstDash val="solid"/>
          </a:ln>
        </p:spPr>
      </p:sp>
      <p:sp>
        <p:nvSpPr>
          <p:cNvPr id="3" name="Text 1"/>
          <p:cNvSpPr/>
          <p:nvPr/>
        </p:nvSpPr>
        <p:spPr>
          <a:xfrm>
            <a:off x="502920" y="4828032"/>
            <a:ext cx="5029200" cy="201168"/>
          </a:xfrm>
          <a:prstGeom prst="rect">
            <a:avLst/>
          </a:prstGeom>
          <a:noFill/>
          <a:ln/>
        </p:spPr>
        <p:txBody>
          <a:bodyPr wrap="square" lIns="0" tIns="0" rIns="0" bIns="0" rtlCol="0" anchor="ctr"/>
          <a:lstStyle/>
          <a:p>
            <a:pPr indent="0" marL="0">
              <a:buNone/>
            </a:pPr>
            <a:r>
              <a:rPr lang="en-US" sz="800" dirty="0">
                <a:solidFill>
                  <a:srgbClr val="8C99A8"/>
                </a:solidFill>
                <a:latin typeface="Calibri" pitchFamily="34" charset="0"/>
                <a:ea typeface="Calibri" pitchFamily="34" charset="-122"/>
                <a:cs typeface="Calibri" pitchFamily="34" charset="-120"/>
              </a:rPr>
              <a:t>Introduction to Robotics for AI and Data Science · Lecture 2</a:t>
            </a:r>
            <a:endParaRPr lang="en-US" sz="800" dirty="0"/>
          </a:p>
        </p:txBody>
      </p:sp>
      <p:sp>
        <p:nvSpPr>
          <p:cNvPr id="4" name="Text 2"/>
          <p:cNvSpPr/>
          <p:nvPr/>
        </p:nvSpPr>
        <p:spPr>
          <a:xfrm>
            <a:off x="6126480" y="4828032"/>
            <a:ext cx="2057400" cy="201168"/>
          </a:xfrm>
          <a:prstGeom prst="rect">
            <a:avLst/>
          </a:prstGeom>
          <a:noFill/>
          <a:ln/>
        </p:spPr>
        <p:txBody>
          <a:bodyPr wrap="square" lIns="0" tIns="0" rIns="0" bIns="0" rtlCol="0" anchor="ctr"/>
          <a:lstStyle/>
          <a:p>
            <a:pPr algn="r" indent="0" marL="0">
              <a:buNone/>
            </a:pPr>
            <a:r>
              <a:rPr lang="en-US" sz="800" dirty="0">
                <a:solidFill>
                  <a:srgbClr val="8C99A8"/>
                </a:solidFill>
                <a:latin typeface="Calibri" pitchFamily="34" charset="0"/>
                <a:ea typeface="Calibri" pitchFamily="34" charset="-122"/>
                <a:cs typeface="Calibri" pitchFamily="34" charset="-120"/>
              </a:rPr>
              <a:t>Dr. Akram Fatayer</a:t>
            </a:r>
            <a:endParaRPr lang="en-US" sz="800" dirty="0"/>
          </a:p>
        </p:txBody>
      </p:sp>
      <p:sp>
        <p:nvSpPr>
          <p:cNvPr id="5" name="Text 3"/>
          <p:cNvSpPr/>
          <p:nvPr>
            <p:ph idx="103" type="title" hasCustomPrompt="1"/>
          </p:nvPr>
        </p:nvSpPr>
        <p:spPr>
          <a:xfrm>
            <a:off x="502920" y="274320"/>
            <a:ext cx="8138160" cy="566928"/>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4" Type="http://schemas.openxmlformats.org/officeDocument/2006/relationships/hyperlink" Target="https://akramfatayer.github.io/courses/robotics/learn/2" TargetMode="External"/><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1.png"/><Relationship Id="rId5" Type="http://schemas.openxmlformats.org/officeDocument/2006/relationships/image" Target="../media/image-22-5.pn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02920" y="274320"/>
            <a:ext cx="4572000" cy="228600"/>
          </a:xfrm>
          <a:prstGeom prst="rect">
            <a:avLst/>
          </a:prstGeom>
          <a:noFill/>
          <a:ln/>
        </p:spPr>
        <p:txBody>
          <a:bodyPr wrap="square" lIns="0" tIns="0" rIns="0" bIns="0" rtlCol="0" anchor="t"/>
          <a:lstStyle/>
          <a:p>
            <a:pPr indent="0" marL="0">
              <a:buNone/>
            </a:pPr>
            <a:r>
              <a:rPr lang="en-US" sz="900" spc="150" kern="0" dirty="0">
                <a:solidFill>
                  <a:srgbClr val="C9D1DB"/>
                </a:solidFill>
                <a:latin typeface="Calibri" pitchFamily="34" charset="0"/>
                <a:ea typeface="Calibri" pitchFamily="34" charset="-122"/>
                <a:cs typeface="Calibri" pitchFamily="34" charset="-120"/>
              </a:rPr>
              <a:t>AL-ZAYTOONAH UNIVERSITY OF JORDAN</a:t>
            </a:r>
            <a:endParaRPr lang="en-US" sz="900" dirty="0"/>
          </a:p>
        </p:txBody>
      </p:sp>
      <p:sp>
        <p:nvSpPr>
          <p:cNvPr id="3" name="Text 1"/>
          <p:cNvSpPr txBox="1"/>
          <p:nvPr/>
        </p:nvSpPr>
        <p:spPr>
          <a:xfrm>
            <a:off x="1371600" y="566928"/>
            <a:ext cx="6400800" cy="274320"/>
          </a:xfrm>
          <a:prstGeom prst="rect">
            <a:avLst/>
          </a:prstGeom>
          <a:noFill/>
          <a:ln/>
        </p:spPr>
        <p:txBody>
          <a:bodyPr wrap="square" lIns="0" tIns="0" rIns="0" bIns="0" rtlCol="0" anchor="t"/>
          <a:lstStyle/>
          <a:p>
            <a:pPr algn="ctr" indent="0" marL="0">
              <a:buNone/>
            </a:pPr>
            <a:r>
              <a:rPr lang="en-US" sz="1100" b="1" spc="200" kern="0" dirty="0">
                <a:solidFill>
                  <a:srgbClr val="E67E22"/>
                </a:solidFill>
                <a:latin typeface="Calibri" pitchFamily="34" charset="0"/>
                <a:ea typeface="Calibri" pitchFamily="34" charset="-122"/>
                <a:cs typeface="Calibri" pitchFamily="34" charset="-120"/>
              </a:rPr>
              <a:t>LECTURE 2  ·  BLOCK 2: KNOW WHERE YOU ARE</a:t>
            </a:r>
            <a:endParaRPr lang="en-US" sz="1100" dirty="0"/>
          </a:p>
        </p:txBody>
      </p:sp>
      <p:sp>
        <p:nvSpPr>
          <p:cNvPr id="4" name="Text 2"/>
          <p:cNvSpPr txBox="1"/>
          <p:nvPr/>
        </p:nvSpPr>
        <p:spPr>
          <a:xfrm>
            <a:off x="914400" y="896112"/>
            <a:ext cx="7315200" cy="1078992"/>
          </a:xfrm>
          <a:prstGeom prst="rect">
            <a:avLst/>
          </a:prstGeom>
          <a:noFill/>
          <a:ln/>
        </p:spPr>
        <p:txBody>
          <a:bodyPr wrap="square" lIns="0" tIns="0" rIns="0" bIns="0" rtlCol="0" anchor="ctr"/>
          <a:lstStyle/>
          <a:p>
            <a:pPr algn="ctr" indent="0" marL="0">
              <a:buNone/>
            </a:pPr>
            <a:r>
              <a:rPr lang="en-US" sz="3200" spc="150" kern="0" dirty="0">
                <a:solidFill>
                  <a:srgbClr val="FFFFFF"/>
                </a:solidFill>
                <a:latin typeface="Arial" pitchFamily="34" charset="0"/>
                <a:ea typeface="Arial" pitchFamily="34" charset="-122"/>
                <a:cs typeface="Arial" pitchFamily="34" charset="-120"/>
              </a:rPr>
              <a:t>ROBOT LOCALIZATION</a:t>
            </a:r>
            <a:endParaRPr lang="en-US" sz="3200" dirty="0"/>
          </a:p>
          <a:p>
            <a:pPr algn="ctr" indent="0" marL="0">
              <a:buNone/>
            </a:pPr>
            <a:r>
              <a:rPr lang="en-US" sz="3200" spc="150" kern="0" dirty="0">
                <a:solidFill>
                  <a:srgbClr val="FFFFFF"/>
                </a:solidFill>
                <a:latin typeface="Arial" pitchFamily="34" charset="0"/>
                <a:ea typeface="Arial" pitchFamily="34" charset="-122"/>
                <a:cs typeface="Arial" pitchFamily="34" charset="-120"/>
              </a:rPr>
              <a:t>AND STATE ESTIMATION</a:t>
            </a:r>
            <a:endParaRPr lang="en-US" sz="3200" dirty="0"/>
          </a:p>
        </p:txBody>
      </p:sp>
      <p:sp>
        <p:nvSpPr>
          <p:cNvPr id="5" name="Text 3"/>
          <p:cNvSpPr txBox="1"/>
          <p:nvPr/>
        </p:nvSpPr>
        <p:spPr>
          <a:xfrm>
            <a:off x="1371600" y="2377440"/>
            <a:ext cx="6400800" cy="320040"/>
          </a:xfrm>
          <a:prstGeom prst="rect">
            <a:avLst/>
          </a:prstGeom>
          <a:noFill/>
          <a:ln/>
        </p:spPr>
        <p:txBody>
          <a:bodyPr wrap="square" lIns="0" tIns="0" rIns="0" bIns="0" rtlCol="0" anchor="t"/>
          <a:lstStyle/>
          <a:p>
            <a:pPr algn="ctr" indent="0" marL="0">
              <a:buNone/>
            </a:pPr>
            <a:r>
              <a:rPr lang="en-US" sz="1500" dirty="0">
                <a:solidFill>
                  <a:srgbClr val="16A085"/>
                </a:solidFill>
                <a:latin typeface="Calibri" pitchFamily="34" charset="0"/>
                <a:ea typeface="Calibri" pitchFamily="34" charset="-122"/>
                <a:cs typeface="Calibri" pitchFamily="34" charset="-120"/>
              </a:rPr>
              <a:t>Introduction to Robotics for AI and Data Science</a:t>
            </a:r>
            <a:endParaRPr lang="en-US" sz="1500" dirty="0"/>
          </a:p>
        </p:txBody>
      </p:sp>
      <p:sp>
        <p:nvSpPr>
          <p:cNvPr id="6" name="Shape 4"/>
          <p:cNvSpPr/>
          <p:nvPr/>
        </p:nvSpPr>
        <p:spPr>
          <a:xfrm>
            <a:off x="3017520" y="3063240"/>
            <a:ext cx="3108960" cy="1234440"/>
          </a:xfrm>
          <a:prstGeom prst="roundRect">
            <a:avLst>
              <a:gd name="adj" fmla="val 5926"/>
            </a:avLst>
          </a:prstGeom>
          <a:solidFill>
            <a:srgbClr val="16263A"/>
          </a:solidFill>
          <a:ln w="12700">
            <a:solidFill>
              <a:srgbClr val="2A3A4E"/>
            </a:solidFill>
            <a:prstDash val="solid"/>
          </a:ln>
        </p:spPr>
      </p:sp>
      <p:sp>
        <p:nvSpPr>
          <p:cNvPr id="7" name="Text 5"/>
          <p:cNvSpPr txBox="1"/>
          <p:nvPr/>
        </p:nvSpPr>
        <p:spPr>
          <a:xfrm>
            <a:off x="3017520" y="3200400"/>
            <a:ext cx="3108960" cy="274320"/>
          </a:xfrm>
          <a:prstGeom prst="rect">
            <a:avLst/>
          </a:prstGeom>
          <a:noFill/>
          <a:ln/>
        </p:spPr>
        <p:txBody>
          <a:bodyPr wrap="square" lIns="0" tIns="0" rIns="0" bIns="0" rtlCol="0" anchor="t"/>
          <a:lstStyle/>
          <a:p>
            <a:pPr algn="ctr" indent="0" marL="0">
              <a:buNone/>
            </a:pPr>
            <a:r>
              <a:rPr lang="en-US" sz="1300" b="1" dirty="0">
                <a:solidFill>
                  <a:srgbClr val="E67E22"/>
                </a:solidFill>
                <a:latin typeface="Calibri" pitchFamily="34" charset="0"/>
                <a:ea typeface="Calibri" pitchFamily="34" charset="-122"/>
                <a:cs typeface="Calibri" pitchFamily="34" charset="-120"/>
              </a:rPr>
              <a:t>Dr. Akram Fatayer</a:t>
            </a:r>
            <a:endParaRPr lang="en-US" sz="1300" dirty="0"/>
          </a:p>
        </p:txBody>
      </p:sp>
      <p:pic>
        <p:nvPicPr>
          <p:cNvPr id="8" name="Image 0" descr="C:\Users\xion\AppData\Local\Temp\claude\d--prorfolio-source-portfolio-source\a0e35da0-4b5a-4408-8426-d30cd7a097a8\scratchpad\slides\assets\icon-email.png">    </p:cNvPr>
          <p:cNvPicPr>
            <a:picLocks noChangeAspect="1"/>
          </p:cNvPicPr>
          <p:nvPr/>
        </p:nvPicPr>
        <p:blipFill>
          <a:blip r:embed="rId1"/>
          <a:stretch>
            <a:fillRect/>
          </a:stretch>
        </p:blipFill>
        <p:spPr>
          <a:xfrm>
            <a:off x="3520440" y="3593592"/>
            <a:ext cx="182880" cy="128016"/>
          </a:xfrm>
          <a:prstGeom prst="rect">
            <a:avLst/>
          </a:prstGeom>
        </p:spPr>
      </p:pic>
      <p:sp>
        <p:nvSpPr>
          <p:cNvPr id="9" name="Text 6"/>
          <p:cNvSpPr txBox="1"/>
          <p:nvPr/>
        </p:nvSpPr>
        <p:spPr>
          <a:xfrm>
            <a:off x="3794760" y="3547872"/>
            <a:ext cx="2194560" cy="219456"/>
          </a:xfrm>
          <a:prstGeom prst="rect">
            <a:avLst/>
          </a:prstGeom>
          <a:noFill/>
          <a:ln/>
        </p:spPr>
        <p:txBody>
          <a:bodyPr wrap="square" lIns="0" tIns="0" rIns="0" bIns="0" rtlCol="0" anchor="t"/>
          <a:lstStyle/>
          <a:p>
            <a:pPr indent="0" marL="0">
              <a:buNone/>
            </a:pPr>
            <a:r>
              <a:rPr lang="en-US" sz="1050" dirty="0">
                <a:solidFill>
                  <a:srgbClr val="C9D1DB"/>
                </a:solidFill>
                <a:latin typeface="Calibri" pitchFamily="34" charset="0"/>
                <a:ea typeface="Calibri" pitchFamily="34" charset="-122"/>
                <a:cs typeface="Calibri" pitchFamily="34" charset="-120"/>
              </a:rPr>
              <a:t>a.fatayer@zuj.edu.jo</a:t>
            </a:r>
            <a:endParaRPr lang="en-US" sz="1050" dirty="0"/>
          </a:p>
        </p:txBody>
      </p:sp>
      <p:pic>
        <p:nvPicPr>
          <p:cNvPr id="10" name="Image 1" descr="C:\Users\xion\AppData\Local\Temp\claude\d--prorfolio-source-portfolio-source\a0e35da0-4b5a-4408-8426-d30cd7a097a8\scratchpad\slides\assets\icon-linkedin.png">    </p:cNvPr>
          <p:cNvPicPr>
            <a:picLocks noChangeAspect="1"/>
          </p:cNvPicPr>
          <p:nvPr/>
        </p:nvPicPr>
        <p:blipFill>
          <a:blip r:embed="rId2"/>
          <a:stretch>
            <a:fillRect/>
          </a:stretch>
        </p:blipFill>
        <p:spPr>
          <a:xfrm>
            <a:off x="3520440" y="3904488"/>
            <a:ext cx="182880" cy="128016"/>
          </a:xfrm>
          <a:prstGeom prst="rect">
            <a:avLst/>
          </a:prstGeom>
        </p:spPr>
      </p:pic>
      <p:sp>
        <p:nvSpPr>
          <p:cNvPr id="11" name="Text 7"/>
          <p:cNvSpPr txBox="1"/>
          <p:nvPr/>
        </p:nvSpPr>
        <p:spPr>
          <a:xfrm>
            <a:off x="3794760" y="3858768"/>
            <a:ext cx="2194560" cy="219456"/>
          </a:xfrm>
          <a:prstGeom prst="rect">
            <a:avLst/>
          </a:prstGeom>
          <a:noFill/>
          <a:ln/>
        </p:spPr>
        <p:txBody>
          <a:bodyPr wrap="square" lIns="0" tIns="0" rIns="0" bIns="0" rtlCol="0" anchor="t"/>
          <a:lstStyle/>
          <a:p>
            <a:pPr indent="0" marL="0">
              <a:buNone/>
            </a:pPr>
            <a:r>
              <a:rPr lang="en-US" sz="1050" dirty="0">
                <a:solidFill>
                  <a:srgbClr val="16A085"/>
                </a:solidFill>
                <a:latin typeface="Calibri" pitchFamily="34" charset="0"/>
                <a:ea typeface="Calibri" pitchFamily="34" charset="-122"/>
                <a:cs typeface="Calibri" pitchFamily="34" charset="-120"/>
              </a:rPr>
              <a:t>linkedin.com/in/akram-fatayer/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Integration Map: You Are Here</a:t>
            </a:r>
            <a:endParaRPr lang="en-US" sz="2400" dirty="0"/>
          </a:p>
        </p:txBody>
      </p:sp>
      <p:pic>
        <p:nvPicPr>
          <p:cNvPr id="3" name="Image 0" descr="C:\Users\xion\AppData\Local\Temp\claude\d--prorfolio-source-portfolio-source\a0e35da0-4b5a-4408-8426-d30cd7a097a8\scratchpad\slides\assets\integration-map.png">    </p:cNvPr>
          <p:cNvPicPr>
            <a:picLocks noChangeAspect="1"/>
          </p:cNvPicPr>
          <p:nvPr/>
        </p:nvPicPr>
        <p:blipFill>
          <a:blip r:embed="rId1"/>
          <a:stretch>
            <a:fillRect/>
          </a:stretch>
        </p:blipFill>
        <p:spPr>
          <a:xfrm>
            <a:off x="1645920" y="1051560"/>
            <a:ext cx="5852160" cy="3283186"/>
          </a:xfrm>
          <a:prstGeom prst="rect">
            <a:avLst/>
          </a:prstGeom>
        </p:spPr>
      </p:pic>
      <p:sp>
        <p:nvSpPr>
          <p:cNvPr id="4" name="Text 1"/>
          <p:cNvSpPr txBox="1"/>
          <p:nvPr/>
        </p:nvSpPr>
        <p:spPr>
          <a:xfrm>
            <a:off x="1645920" y="4434840"/>
            <a:ext cx="2743200" cy="256032"/>
          </a:xfrm>
          <a:prstGeom prst="rect">
            <a:avLst/>
          </a:prstGeom>
          <a:noFill/>
          <a:ln/>
        </p:spPr>
        <p:txBody>
          <a:bodyPr wrap="square" lIns="0" tIns="0" rIns="0" bIns="0" rtlCol="0" anchor="t"/>
          <a:lstStyle/>
          <a:p>
            <a:pPr indent="0" marL="0">
              <a:buNone/>
            </a:pPr>
            <a:r>
              <a:rPr lang="en-US" sz="1300" b="1" dirty="0">
                <a:solidFill>
                  <a:srgbClr val="E67E22"/>
                </a:solidFill>
                <a:latin typeface="Calibri" pitchFamily="34" charset="0"/>
                <a:ea typeface="Calibri" pitchFamily="34" charset="-122"/>
                <a:cs typeface="Calibri" pitchFamily="34" charset="-120"/>
              </a:rPr>
              <a:t>Block 2: Know Where You Are</a:t>
            </a:r>
            <a:endParaRPr lang="en-US" sz="1300" dirty="0"/>
          </a:p>
        </p:txBody>
      </p:sp>
      <p:sp>
        <p:nvSpPr>
          <p:cNvPr id="5" name="Text 2"/>
          <p:cNvSpPr txBox="1"/>
          <p:nvPr/>
        </p:nvSpPr>
        <p:spPr>
          <a:xfrm>
            <a:off x="3931920" y="4453128"/>
            <a:ext cx="3566160" cy="237744"/>
          </a:xfrm>
          <a:prstGeom prst="rect">
            <a:avLst/>
          </a:prstGeom>
          <a:noFill/>
          <a:ln/>
        </p:spPr>
        <p:txBody>
          <a:bodyPr wrap="square" lIns="0" tIns="0" rIns="0" bIns="0" rtlCol="0" anchor="t"/>
          <a:lstStyle/>
          <a:p>
            <a:pPr algn="r" indent="0" marL="0">
              <a:buNone/>
            </a:pPr>
            <a:r>
              <a:rPr lang="en-US" sz="1050" dirty="0">
                <a:solidFill>
                  <a:srgbClr val="C9D1DB"/>
                </a:solidFill>
                <a:latin typeface="Calibri" pitchFamily="34" charset="0"/>
                <a:ea typeface="Calibri" pitchFamily="34" charset="-122"/>
                <a:cs typeface="Calibri" pitchFamily="34" charset="-120"/>
              </a:rPr>
              <a:t>Before your robot can plan a path, it must know where it is.</a:t>
            </a:r>
            <a:endParaRPr lang="en-US" sz="10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The Fundamental Problem: Where Am I?</a:t>
            </a:r>
            <a:endParaRPr lang="en-US" sz="2400" dirty="0"/>
          </a:p>
        </p:txBody>
      </p:sp>
      <p:sp>
        <p:nvSpPr>
          <p:cNvPr id="3" name="Text 1"/>
          <p:cNvSpPr txBox="1"/>
          <p:nvPr/>
        </p:nvSpPr>
        <p:spPr>
          <a:xfrm>
            <a:off x="502920" y="1051560"/>
            <a:ext cx="8138160" cy="274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 robot never knows exactly where it is. Two things are always uncertain:</a:t>
            </a:r>
            <a:endParaRPr lang="en-US" sz="1400" dirty="0"/>
          </a:p>
        </p:txBody>
      </p:sp>
      <p:sp>
        <p:nvSpPr>
          <p:cNvPr id="4" name="Shape 2"/>
          <p:cNvSpPr/>
          <p:nvPr/>
        </p:nvSpPr>
        <p:spPr>
          <a:xfrm>
            <a:off x="502920" y="1463040"/>
            <a:ext cx="3794760" cy="2011680"/>
          </a:xfrm>
          <a:prstGeom prst="roundRect">
            <a:avLst>
              <a:gd name="adj" fmla="val 3636"/>
            </a:avLst>
          </a:prstGeom>
          <a:solidFill>
            <a:srgbClr val="16263A"/>
          </a:solidFill>
          <a:ln w="12700">
            <a:solidFill>
              <a:srgbClr val="16263A"/>
            </a:solidFill>
            <a:prstDash val="solid"/>
          </a:ln>
        </p:spPr>
      </p:sp>
      <p:pic>
        <p:nvPicPr>
          <p:cNvPr id="5" name="Image 0" descr="C:\Users\xion\AppData\Local\Temp\claude\d--prorfolio-source-portfolio-source\a0e35da0-4b5a-4408-8426-d30cd7a097a8\scratchpad\slides\assets\icon-robot.png">    </p:cNvPr>
          <p:cNvPicPr>
            <a:picLocks noChangeAspect="1"/>
          </p:cNvPicPr>
          <p:nvPr/>
        </p:nvPicPr>
        <p:blipFill>
          <a:blip r:embed="rId1"/>
          <a:stretch>
            <a:fillRect/>
          </a:stretch>
        </p:blipFill>
        <p:spPr>
          <a:xfrm>
            <a:off x="2116836" y="1600200"/>
            <a:ext cx="566928" cy="457200"/>
          </a:xfrm>
          <a:prstGeom prst="rect">
            <a:avLst/>
          </a:prstGeom>
        </p:spPr>
      </p:pic>
      <p:sp>
        <p:nvSpPr>
          <p:cNvPr id="6" name="Text 3"/>
          <p:cNvSpPr txBox="1"/>
          <p:nvPr/>
        </p:nvSpPr>
        <p:spPr>
          <a:xfrm>
            <a:off x="502920" y="2130552"/>
            <a:ext cx="3794760" cy="29260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Its motion</a:t>
            </a:r>
            <a:endParaRPr lang="en-US" sz="1600" dirty="0"/>
          </a:p>
        </p:txBody>
      </p:sp>
      <p:sp>
        <p:nvSpPr>
          <p:cNvPr id="7" name="Text 4"/>
          <p:cNvSpPr txBox="1"/>
          <p:nvPr/>
        </p:nvSpPr>
        <p:spPr>
          <a:xfrm>
            <a:off x="777240" y="2487168"/>
            <a:ext cx="3246120" cy="548640"/>
          </a:xfrm>
          <a:prstGeom prst="rect">
            <a:avLst/>
          </a:prstGeom>
          <a:noFill/>
          <a:ln/>
        </p:spPr>
        <p:txBody>
          <a:bodyPr wrap="square" lIns="0" tIns="0" rIns="0" bIns="0" rtlCol="0" anchor="t"/>
          <a:lstStyle/>
          <a:p>
            <a:pPr algn="ctr" indent="0" marL="0">
              <a:buNone/>
            </a:pPr>
            <a:r>
              <a:rPr lang="en-US" sz="1200" dirty="0">
                <a:solidFill>
                  <a:srgbClr val="C9D1DB"/>
                </a:solidFill>
                <a:latin typeface="Calibri" pitchFamily="34" charset="0"/>
                <a:ea typeface="Calibri" pitchFamily="34" charset="-122"/>
                <a:cs typeface="Calibri" pitchFamily="34" charset="-120"/>
              </a:rPr>
              <a:t>Wheels slip and floors are uneven: after a move, the robot is only roughly where it planned to be.</a:t>
            </a:r>
            <a:endParaRPr lang="en-US" sz="1200" dirty="0"/>
          </a:p>
        </p:txBody>
      </p:sp>
      <p:sp>
        <p:nvSpPr>
          <p:cNvPr id="8" name="Text 5"/>
          <p:cNvSpPr txBox="1"/>
          <p:nvPr/>
        </p:nvSpPr>
        <p:spPr>
          <a:xfrm>
            <a:off x="777240" y="3063240"/>
            <a:ext cx="3246120" cy="274320"/>
          </a:xfrm>
          <a:prstGeom prst="rect">
            <a:avLst/>
          </a:prstGeom>
          <a:noFill/>
          <a:ln/>
        </p:spPr>
        <p:txBody>
          <a:bodyPr wrap="square" lIns="0" tIns="0" rIns="0" bIns="0" rtlCol="0" anchor="t"/>
          <a:lstStyle/>
          <a:p>
            <a:pPr algn="ctr" indent="0" marL="0">
              <a:buNone/>
            </a:pPr>
            <a:r>
              <a:rPr lang="en-US" sz="1200" b="1" dirty="0">
                <a:solidFill>
                  <a:srgbClr val="E67E22"/>
                </a:solidFill>
                <a:latin typeface="Calibri" pitchFamily="34" charset="0"/>
                <a:ea typeface="Calibri" pitchFamily="34" charset="-122"/>
                <a:cs typeface="Calibri" pitchFamily="34" charset="-120"/>
              </a:rPr>
              <a:t>→ the predict step</a:t>
            </a:r>
            <a:endParaRPr lang="en-US" sz="1200" dirty="0"/>
          </a:p>
        </p:txBody>
      </p:sp>
      <p:sp>
        <p:nvSpPr>
          <p:cNvPr id="9" name="Shape 6"/>
          <p:cNvSpPr/>
          <p:nvPr/>
        </p:nvSpPr>
        <p:spPr>
          <a:xfrm>
            <a:off x="4846320" y="1463040"/>
            <a:ext cx="3794760" cy="2011680"/>
          </a:xfrm>
          <a:prstGeom prst="roundRect">
            <a:avLst>
              <a:gd name="adj" fmla="val 3636"/>
            </a:avLst>
          </a:prstGeom>
          <a:solidFill>
            <a:srgbClr val="16263A"/>
          </a:solidFill>
          <a:ln w="12700">
            <a:solidFill>
              <a:srgbClr val="16263A"/>
            </a:solidFill>
            <a:prstDash val="solid"/>
          </a:ln>
        </p:spPr>
      </p:sp>
      <p:pic>
        <p:nvPicPr>
          <p:cNvPr id="10" name="Image 1" descr="C:\Users\xion\AppData\Local\Temp\claude\d--prorfolio-source-portfolio-source\a0e35da0-4b5a-4408-8426-d30cd7a097a8\scratchpad\slides\assets\icon-dish.png">    </p:cNvPr>
          <p:cNvPicPr>
            <a:picLocks noChangeAspect="1"/>
          </p:cNvPicPr>
          <p:nvPr/>
        </p:nvPicPr>
        <p:blipFill>
          <a:blip r:embed="rId2"/>
          <a:stretch>
            <a:fillRect/>
          </a:stretch>
        </p:blipFill>
        <p:spPr>
          <a:xfrm>
            <a:off x="6515100" y="1600200"/>
            <a:ext cx="457200" cy="457200"/>
          </a:xfrm>
          <a:prstGeom prst="rect">
            <a:avLst/>
          </a:prstGeom>
        </p:spPr>
      </p:pic>
      <p:sp>
        <p:nvSpPr>
          <p:cNvPr id="11" name="Text 7"/>
          <p:cNvSpPr txBox="1"/>
          <p:nvPr/>
        </p:nvSpPr>
        <p:spPr>
          <a:xfrm>
            <a:off x="4846320" y="2130552"/>
            <a:ext cx="3794760" cy="29260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Its sensing</a:t>
            </a:r>
            <a:endParaRPr lang="en-US" sz="1600" dirty="0"/>
          </a:p>
        </p:txBody>
      </p:sp>
      <p:sp>
        <p:nvSpPr>
          <p:cNvPr id="12" name="Text 8"/>
          <p:cNvSpPr txBox="1"/>
          <p:nvPr/>
        </p:nvSpPr>
        <p:spPr>
          <a:xfrm>
            <a:off x="5120640" y="2487168"/>
            <a:ext cx="3246120" cy="548640"/>
          </a:xfrm>
          <a:prstGeom prst="rect">
            <a:avLst/>
          </a:prstGeom>
          <a:noFill/>
          <a:ln/>
        </p:spPr>
        <p:txBody>
          <a:bodyPr wrap="square" lIns="0" tIns="0" rIns="0" bIns="0" rtlCol="0" anchor="t"/>
          <a:lstStyle/>
          <a:p>
            <a:pPr algn="ctr" indent="0" marL="0">
              <a:buNone/>
            </a:pPr>
            <a:r>
              <a:rPr lang="en-US" sz="1200" dirty="0">
                <a:solidFill>
                  <a:srgbClr val="C9D1DB"/>
                </a:solidFill>
                <a:latin typeface="Calibri" pitchFamily="34" charset="0"/>
                <a:ea typeface="Calibri" pitchFamily="34" charset="-122"/>
                <a:cs typeface="Calibri" pitchFamily="34" charset="-120"/>
              </a:rPr>
              <a:t>Every sensor reading is noisy, and some sensors are slow: no reading tells the exact truth.</a:t>
            </a:r>
            <a:endParaRPr lang="en-US" sz="1200" dirty="0"/>
          </a:p>
        </p:txBody>
      </p:sp>
      <p:sp>
        <p:nvSpPr>
          <p:cNvPr id="13" name="Text 9"/>
          <p:cNvSpPr txBox="1"/>
          <p:nvPr/>
        </p:nvSpPr>
        <p:spPr>
          <a:xfrm>
            <a:off x="5120640" y="3063240"/>
            <a:ext cx="3246120" cy="274320"/>
          </a:xfrm>
          <a:prstGeom prst="rect">
            <a:avLst/>
          </a:prstGeom>
          <a:noFill/>
          <a:ln/>
        </p:spPr>
        <p:txBody>
          <a:bodyPr wrap="square" lIns="0" tIns="0" rIns="0" bIns="0" rtlCol="0" anchor="t"/>
          <a:lstStyle/>
          <a:p>
            <a:pPr algn="ctr" indent="0" marL="0">
              <a:buNone/>
            </a:pPr>
            <a:r>
              <a:rPr lang="en-US" sz="1200" b="1" dirty="0">
                <a:solidFill>
                  <a:srgbClr val="E67E22"/>
                </a:solidFill>
                <a:latin typeface="Calibri" pitchFamily="34" charset="0"/>
                <a:ea typeface="Calibri" pitchFamily="34" charset="-122"/>
                <a:cs typeface="Calibri" pitchFamily="34" charset="-120"/>
              </a:rPr>
              <a:t>→ the update step</a:t>
            </a:r>
            <a:endParaRPr lang="en-US" sz="1200" dirty="0"/>
          </a:p>
        </p:txBody>
      </p:sp>
      <p:sp>
        <p:nvSpPr>
          <p:cNvPr id="14" name="Text 10"/>
          <p:cNvSpPr txBox="1"/>
          <p:nvPr/>
        </p:nvSpPr>
        <p:spPr>
          <a:xfrm>
            <a:off x="502920" y="3749040"/>
            <a:ext cx="8138160" cy="292608"/>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So instead of one position, the robot keeps a probability distribution.</a:t>
            </a:r>
            <a:endParaRPr lang="en-US" sz="1500" dirty="0"/>
          </a:p>
        </p:txBody>
      </p:sp>
      <p:sp>
        <p:nvSpPr>
          <p:cNvPr id="15" name="Text 11"/>
          <p:cNvSpPr txBox="1"/>
          <p:nvPr/>
        </p:nvSpPr>
        <p:spPr>
          <a:xfrm>
            <a:off x="502920" y="4096512"/>
            <a:ext cx="8138160" cy="292608"/>
          </a:xfrm>
          <a:prstGeom prst="rect">
            <a:avLst/>
          </a:prstGeom>
          <a:noFill/>
          <a:ln/>
        </p:spPr>
        <p:txBody>
          <a:bodyPr wrap="square" lIns="0" tIns="0" rIns="0" bIns="0" rtlCol="0" anchor="t"/>
          <a:lstStyle/>
          <a:p>
            <a:pPr algn="ctr" indent="0" marL="0">
              <a:buNone/>
            </a:pPr>
            <a:r>
              <a:rPr lang="en-US" sz="1400" dirty="0">
                <a:solidFill>
                  <a:srgbClr val="16A085"/>
                </a:solidFill>
                <a:latin typeface="Calibri" pitchFamily="34" charset="0"/>
                <a:ea typeface="Calibri" pitchFamily="34" charset="-122"/>
                <a:cs typeface="Calibri" pitchFamily="34" charset="-120"/>
              </a:rPr>
              <a:t>How do we reason with uncertain motion and uncertain sensing?</a:t>
            </a:r>
            <a:endParaRPr lang="en-US" sz="14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A Belief Is a Probability Distribution</a:t>
            </a:r>
            <a:endParaRPr lang="en-US" sz="2400" dirty="0"/>
          </a:p>
        </p:txBody>
      </p:sp>
      <p:sp>
        <p:nvSpPr>
          <p:cNvPr id="3" name="Text 1"/>
          <p:cNvSpPr txBox="1"/>
          <p:nvPr/>
        </p:nvSpPr>
        <p:spPr>
          <a:xfrm>
            <a:off x="502920" y="1097280"/>
            <a:ext cx="4206240" cy="914400"/>
          </a:xfrm>
          <a:prstGeom prst="rect">
            <a:avLst/>
          </a:prstGeom>
          <a:noFill/>
          <a:ln/>
        </p:spPr>
        <p:txBody>
          <a:bodyPr wrap="square" lIns="0" tIns="0" rIns="0" bIns="0" rtlCol="0" anchor="t"/>
          <a:lstStyle/>
          <a:p>
            <a:pPr indent="0" marL="0">
              <a:spcAft>
                <a:spcPts val="600"/>
              </a:spcAft>
              <a:buNone/>
            </a:pPr>
            <a:r>
              <a:rPr lang="en-US" sz="1300" dirty="0">
                <a:solidFill>
                  <a:srgbClr val="C9D1DB"/>
                </a:solidFill>
                <a:latin typeface="Calibri" pitchFamily="34" charset="0"/>
                <a:ea typeface="Calibri" pitchFamily="34" charset="-122"/>
                <a:cs typeface="Calibri" pitchFamily="34" charset="-120"/>
              </a:rPr>
              <a:t>A robot never knows its exact position. It keeps a </a:t>
            </a:r>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belief</a:t>
            </a:r>
            <a:pPr indent="0" marL="0">
              <a:spcAft>
                <a:spcPts val="600"/>
              </a:spcAft>
              <a:buNone/>
            </a:pPr>
            <a:r>
              <a:rPr lang="en-US" sz="1300" dirty="0">
                <a:solidFill>
                  <a:srgbClr val="C9D1DB"/>
                </a:solidFill>
                <a:latin typeface="Calibri" pitchFamily="34" charset="0"/>
                <a:ea typeface="Calibri" pitchFamily="34" charset="-122"/>
                <a:cs typeface="Calibri" pitchFamily="34" charset="-120"/>
              </a:rPr>
              <a:t>: a probability distribution over where it might be.</a:t>
            </a:r>
            <a:endParaRPr lang="en-US" sz="1300" dirty="0"/>
          </a:p>
          <a:p>
            <a:pPr indent="0" marL="0">
              <a:spcAft>
                <a:spcPts val="600"/>
              </a:spcAft>
              <a:buNone/>
            </a:pPr>
            <a:r>
              <a:rPr lang="en-US" sz="1300" dirty="0">
                <a:solidFill>
                  <a:srgbClr val="C9D1DB"/>
                </a:solidFill>
                <a:latin typeface="Calibri" pitchFamily="34" charset="0"/>
                <a:ea typeface="Calibri" pitchFamily="34" charset="-122"/>
                <a:cs typeface="Calibri" pitchFamily="34" charset="-120"/>
              </a:rPr>
              <a:t>The Kalman filter uses a Gaussian, described by two numbers:</a:t>
            </a:r>
            <a:endParaRPr lang="en-US" sz="1300" dirty="0"/>
          </a:p>
        </p:txBody>
      </p:sp>
      <p:sp>
        <p:nvSpPr>
          <p:cNvPr id="4" name="Text 2"/>
          <p:cNvSpPr txBox="1"/>
          <p:nvPr/>
        </p:nvSpPr>
        <p:spPr>
          <a:xfrm>
            <a:off x="640080" y="2011680"/>
            <a:ext cx="406908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C9D1DB"/>
                </a:solidFill>
                <a:latin typeface="Calibri" pitchFamily="34" charset="0"/>
                <a:ea typeface="Calibri" pitchFamily="34" charset="-122"/>
                <a:cs typeface="Calibri" pitchFamily="34" charset="-120"/>
              </a:rPr>
              <a:t>μ  mean: the best guess of the position</a:t>
            </a:r>
            <a:endParaRPr lang="en-US" sz="1300" dirty="0"/>
          </a:p>
          <a:p>
            <a:pPr marL="342900" indent="-342900">
              <a:spcAft>
                <a:spcPts val="400"/>
              </a:spcAft>
              <a:buSzPct val="100000"/>
              <a:buChar char="•"/>
            </a:pPr>
            <a:r>
              <a:rPr lang="en-US" sz="1300" dirty="0">
                <a:solidFill>
                  <a:srgbClr val="C9D1DB"/>
                </a:solidFill>
                <a:latin typeface="Calibri" pitchFamily="34" charset="0"/>
                <a:ea typeface="Calibri" pitchFamily="34" charset="-122"/>
                <a:cs typeface="Calibri" pitchFamily="34" charset="-120"/>
              </a:rPr>
              <a:t>σ  standard deviation: how unsure the robot is</a:t>
            </a:r>
            <a:endParaRPr lang="en-US" sz="1300" dirty="0"/>
          </a:p>
          <a:p>
            <a:pPr marL="342900" indent="-342900">
              <a:spcAft>
                <a:spcPts val="400"/>
              </a:spcAft>
              <a:buSzPct val="100000"/>
              <a:buChar char="•"/>
            </a:pPr>
            <a:r>
              <a:rPr lang="en-US" sz="1300" dirty="0">
                <a:solidFill>
                  <a:srgbClr val="C9D1DB"/>
                </a:solidFill>
                <a:latin typeface="Calibri" pitchFamily="34" charset="0"/>
                <a:ea typeface="Calibri" pitchFamily="34" charset="-122"/>
                <a:cs typeface="Calibri" pitchFamily="34" charset="-120"/>
              </a:rPr>
              <a:t>Narrow curve: confident. Wide curve: lost.</a:t>
            </a:r>
            <a:endParaRPr lang="en-US" sz="1300" dirty="0"/>
          </a:p>
        </p:txBody>
      </p:sp>
      <p:sp>
        <p:nvSpPr>
          <p:cNvPr id="5" name="Shape 3"/>
          <p:cNvSpPr/>
          <p:nvPr/>
        </p:nvSpPr>
        <p:spPr>
          <a:xfrm>
            <a:off x="502920" y="3017520"/>
            <a:ext cx="4206240" cy="1463040"/>
          </a:xfrm>
          <a:prstGeom prst="roundRect">
            <a:avLst>
              <a:gd name="adj" fmla="val 5000"/>
            </a:avLst>
          </a:prstGeom>
          <a:solidFill>
            <a:srgbClr val="16263A"/>
          </a:solidFill>
          <a:ln w="12700">
            <a:solidFill>
              <a:srgbClr val="2A3A4E"/>
            </a:solidFill>
            <a:prstDash val="solid"/>
          </a:ln>
        </p:spPr>
      </p:sp>
      <p:sp>
        <p:nvSpPr>
          <p:cNvPr id="6" name="Text 4"/>
          <p:cNvSpPr txBox="1"/>
          <p:nvPr/>
        </p:nvSpPr>
        <p:spPr>
          <a:xfrm>
            <a:off x="685800" y="3236976"/>
            <a:ext cx="3991905"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p(x) = 1 / (σ√(2π)) · exp( −(x − μ)² / (2σ²) )</a:t>
            </a:r>
            <a:endParaRPr lang="en-US" sz="1300" dirty="0"/>
          </a:p>
        </p:txBody>
      </p:sp>
      <p:sp>
        <p:nvSpPr>
          <p:cNvPr id="7" name="Text 5"/>
          <p:cNvSpPr txBox="1"/>
          <p:nvPr/>
        </p:nvSpPr>
        <p:spPr>
          <a:xfrm>
            <a:off x="685800" y="3703320"/>
            <a:ext cx="3886200" cy="640080"/>
          </a:xfrm>
          <a:prstGeom prst="rect">
            <a:avLst/>
          </a:prstGeom>
          <a:noFill/>
          <a:ln/>
        </p:spPr>
        <p:txBody>
          <a:bodyPr wrap="square" lIns="0" tIns="0" rIns="0" bIns="0" rtlCol="0" anchor="t"/>
          <a:lstStyle/>
          <a:p>
            <a:pPr indent="0" marL="0">
              <a:buNone/>
            </a:pPr>
            <a:r>
              <a:rPr lang="en-US" sz="1200" dirty="0">
                <a:solidFill>
                  <a:srgbClr val="C9D1DB"/>
                </a:solidFill>
                <a:latin typeface="Calibri" pitchFamily="34" charset="0"/>
                <a:ea typeface="Calibri" pitchFamily="34" charset="-122"/>
                <a:cs typeface="Calibri" pitchFamily="34" charset="-120"/>
              </a:rPr>
              <a:t>About 95% of the belief lies within </a:t>
            </a:r>
            <a:pPr indent="0" marL="0">
              <a:buNone/>
            </a:pPr>
            <a:r>
              <a:rPr lang="en-US" sz="1200" b="1" dirty="0">
                <a:solidFill>
                  <a:srgbClr val="E67E22"/>
                </a:solidFill>
                <a:latin typeface="Calibri" pitchFamily="34" charset="0"/>
                <a:ea typeface="Calibri" pitchFamily="34" charset="-122"/>
                <a:cs typeface="Calibri" pitchFamily="34" charset="-120"/>
              </a:rPr>
              <a:t>μ ± 2σ</a:t>
            </a:r>
            <a:pPr indent="0" marL="0">
              <a:buNone/>
            </a:pPr>
            <a:r>
              <a:rPr lang="en-US" sz="1200" dirty="0">
                <a:solidFill>
                  <a:srgbClr val="C9D1DB"/>
                </a:solidFill>
                <a:latin typeface="Calibri" pitchFamily="34" charset="0"/>
                <a:ea typeface="Calibri" pitchFamily="34" charset="-122"/>
                <a:cs typeface="Calibri" pitchFamily="34" charset="-120"/>
              </a:rPr>
              <a:t>: the shaded band in the Lab 3 plots. The variance σ² is what the filter tracks; it calls it P.</a:t>
            </a:r>
            <a:endParaRPr lang="en-US" sz="1200" dirty="0"/>
          </a:p>
        </p:txBody>
      </p:sp>
      <p:pic>
        <p:nvPicPr>
          <p:cNvPr id="8" name="Image 0" descr="C:\Users\xion\AppData\Local\Temp\claude\d--prorfolio-source-portfolio-source\a0e35da0-4b5a-4408-8426-d30cd7a097a8\scratchpad\slides\assets\gaussians.png">    </p:cNvPr>
          <p:cNvPicPr>
            <a:picLocks noChangeAspect="1"/>
          </p:cNvPicPr>
          <p:nvPr/>
        </p:nvPicPr>
        <p:blipFill>
          <a:blip r:embed="rId1"/>
          <a:stretch>
            <a:fillRect/>
          </a:stretch>
        </p:blipFill>
        <p:spPr>
          <a:xfrm>
            <a:off x="4983480" y="1097280"/>
            <a:ext cx="3657600" cy="2961540"/>
          </a:xfrm>
          <a:prstGeom prst="rect">
            <a:avLst/>
          </a:prstGeom>
        </p:spPr>
      </p:pic>
      <p:sp>
        <p:nvSpPr>
          <p:cNvPr id="9" name="Text 6"/>
          <p:cNvSpPr txBox="1"/>
          <p:nvPr/>
        </p:nvSpPr>
        <p:spPr>
          <a:xfrm>
            <a:off x="4983480" y="4160520"/>
            <a:ext cx="3657600" cy="201168"/>
          </a:xfrm>
          <a:prstGeom prst="rect">
            <a:avLst/>
          </a:prstGeom>
          <a:noFill/>
          <a:ln/>
        </p:spPr>
        <p:txBody>
          <a:bodyPr wrap="square" lIns="0" tIns="0" rIns="0" bIns="0" rtlCol="0" anchor="t"/>
          <a:lstStyle/>
          <a:p>
            <a:pPr algn="r" indent="0" marL="0">
              <a:buNone/>
            </a:pPr>
            <a:r>
              <a:rPr lang="en-US" sz="900" i="1" dirty="0">
                <a:solidFill>
                  <a:srgbClr val="8C99A8"/>
                </a:solidFill>
                <a:latin typeface="Calibri" pitchFamily="34" charset="0"/>
                <a:ea typeface="Calibri" pitchFamily="34" charset="-122"/>
                <a:cs typeface="Calibri" pitchFamily="34" charset="-120"/>
              </a:rPr>
              <a:t>Probabilistic Robotics (Thrun, Burgard and Fox, 2005)</a:t>
            </a:r>
            <a:endParaRPr lang="en-US" sz="9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Motion Alone: The Predict Step</a:t>
            </a:r>
            <a:endParaRPr lang="en-US" sz="2400" dirty="0"/>
          </a:p>
        </p:txBody>
      </p:sp>
      <p:sp>
        <p:nvSpPr>
          <p:cNvPr id="3" name="Shape 1"/>
          <p:cNvSpPr/>
          <p:nvPr/>
        </p:nvSpPr>
        <p:spPr>
          <a:xfrm>
            <a:off x="502920" y="1097280"/>
            <a:ext cx="4160520" cy="960120"/>
          </a:xfrm>
          <a:prstGeom prst="roundRect">
            <a:avLst>
              <a:gd name="adj" fmla="val 7619"/>
            </a:avLst>
          </a:prstGeom>
          <a:solidFill>
            <a:srgbClr val="16263A"/>
          </a:solidFill>
          <a:ln w="12700">
            <a:solidFill>
              <a:srgbClr val="2A3A4E"/>
            </a:solidFill>
            <a:prstDash val="solid"/>
          </a:ln>
        </p:spPr>
      </p:sp>
      <p:sp>
        <p:nvSpPr>
          <p:cNvPr id="4" name="Text 2"/>
          <p:cNvSpPr txBox="1"/>
          <p:nvPr/>
        </p:nvSpPr>
        <p:spPr>
          <a:xfrm>
            <a:off x="731520" y="1225296"/>
            <a:ext cx="2306483" cy="292608"/>
          </a:xfrm>
          <a:prstGeom prst="rect">
            <a:avLst/>
          </a:prstGeom>
          <a:noFill/>
          <a:ln/>
        </p:spPr>
        <p:txBody>
          <a:bodyPr wrap="square" lIns="0" tIns="0" rIns="0" bIns="0" rtlCol="0" anchor="ctr"/>
          <a:lstStyle/>
          <a:p>
            <a:pPr indent="0" marL="0">
              <a:buNone/>
            </a:pPr>
            <a:r>
              <a:rPr lang="en-US" sz="1800" dirty="0">
                <a:solidFill>
                  <a:srgbClr val="FFFFFF"/>
                </a:solidFill>
                <a:latin typeface="Cambria Math" pitchFamily="34" charset="0"/>
                <a:ea typeface="Cambria Math" pitchFamily="34" charset="-122"/>
                <a:cs typeface="Cambria Math" pitchFamily="34" charset="-120"/>
              </a:rPr>
              <a:t>x̂⁻ = F · x + B · u</a:t>
            </a:r>
            <a:endParaRPr lang="en-US" sz="1800" dirty="0"/>
          </a:p>
        </p:txBody>
      </p:sp>
      <p:sp>
        <p:nvSpPr>
          <p:cNvPr id="5" name="Text 3"/>
          <p:cNvSpPr txBox="1"/>
          <p:nvPr/>
        </p:nvSpPr>
        <p:spPr>
          <a:xfrm>
            <a:off x="731520" y="1636776"/>
            <a:ext cx="2306483" cy="292608"/>
          </a:xfrm>
          <a:prstGeom prst="rect">
            <a:avLst/>
          </a:prstGeom>
          <a:noFill/>
          <a:ln/>
        </p:spPr>
        <p:txBody>
          <a:bodyPr wrap="square" lIns="0" tIns="0" rIns="0" bIns="0" rtlCol="0" anchor="ctr"/>
          <a:lstStyle/>
          <a:p>
            <a:pPr indent="0" marL="0">
              <a:buNone/>
            </a:pPr>
            <a:r>
              <a:rPr lang="en-US" sz="1800" dirty="0">
                <a:solidFill>
                  <a:srgbClr val="FFFFFF"/>
                </a:solidFill>
                <a:latin typeface="Cambria Math" pitchFamily="34" charset="0"/>
                <a:ea typeface="Cambria Math" pitchFamily="34" charset="-122"/>
                <a:cs typeface="Cambria Math" pitchFamily="34" charset="-120"/>
              </a:rPr>
              <a:t>P⁻ = F · P · Fᵀ + Q</a:t>
            </a:r>
            <a:endParaRPr lang="en-US" sz="1800" dirty="0"/>
          </a:p>
        </p:txBody>
      </p:sp>
      <p:sp>
        <p:nvSpPr>
          <p:cNvPr id="6" name="Text 4"/>
          <p:cNvSpPr txBox="1"/>
          <p:nvPr/>
        </p:nvSpPr>
        <p:spPr>
          <a:xfrm>
            <a:off x="548640" y="2212848"/>
            <a:ext cx="685800" cy="292608"/>
          </a:xfrm>
          <a:prstGeom prst="rect">
            <a:avLst/>
          </a:prstGeom>
          <a:noFill/>
          <a:ln/>
        </p:spPr>
        <p:txBody>
          <a:bodyPr wrap="square" lIns="0" tIns="0" rIns="0" bIns="0" rtlCol="0" anchor="t"/>
          <a:lstStyle/>
          <a:p>
            <a:pPr indent="0" marL="0">
              <a:buNone/>
            </a:pPr>
            <a:r>
              <a:rPr lang="en-US" sz="1300" dirty="0">
                <a:solidFill>
                  <a:srgbClr val="16A085"/>
                </a:solidFill>
                <a:latin typeface="Cambria Math" pitchFamily="34" charset="0"/>
                <a:ea typeface="Cambria Math" pitchFamily="34" charset="-122"/>
                <a:cs typeface="Cambria Math" pitchFamily="34" charset="-120"/>
              </a:rPr>
              <a:t>F</a:t>
            </a:r>
            <a:endParaRPr lang="en-US" sz="1300" dirty="0"/>
          </a:p>
        </p:txBody>
      </p:sp>
      <p:sp>
        <p:nvSpPr>
          <p:cNvPr id="7" name="Text 5"/>
          <p:cNvSpPr txBox="1"/>
          <p:nvPr/>
        </p:nvSpPr>
        <p:spPr>
          <a:xfrm>
            <a:off x="1234440" y="2212848"/>
            <a:ext cx="3474720" cy="329184"/>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How the state evolves on its own (here 1)</a:t>
            </a:r>
            <a:endParaRPr lang="en-US" sz="1150" dirty="0"/>
          </a:p>
        </p:txBody>
      </p:sp>
      <p:sp>
        <p:nvSpPr>
          <p:cNvPr id="8" name="Text 6"/>
          <p:cNvSpPr txBox="1"/>
          <p:nvPr/>
        </p:nvSpPr>
        <p:spPr>
          <a:xfrm>
            <a:off x="548640" y="2578608"/>
            <a:ext cx="685800" cy="292608"/>
          </a:xfrm>
          <a:prstGeom prst="rect">
            <a:avLst/>
          </a:prstGeom>
          <a:noFill/>
          <a:ln/>
        </p:spPr>
        <p:txBody>
          <a:bodyPr wrap="square" lIns="0" tIns="0" rIns="0" bIns="0" rtlCol="0" anchor="t"/>
          <a:lstStyle/>
          <a:p>
            <a:pPr indent="0" marL="0">
              <a:buNone/>
            </a:pPr>
            <a:r>
              <a:rPr lang="en-US" sz="1300" dirty="0">
                <a:solidFill>
                  <a:srgbClr val="16A085"/>
                </a:solidFill>
                <a:latin typeface="Cambria Math" pitchFamily="34" charset="0"/>
                <a:ea typeface="Cambria Math" pitchFamily="34" charset="-122"/>
                <a:cs typeface="Cambria Math" pitchFamily="34" charset="-120"/>
              </a:rPr>
              <a:t>B · u</a:t>
            </a:r>
            <a:endParaRPr lang="en-US" sz="1300" dirty="0"/>
          </a:p>
        </p:txBody>
      </p:sp>
      <p:sp>
        <p:nvSpPr>
          <p:cNvPr id="9" name="Text 7"/>
          <p:cNvSpPr txBox="1"/>
          <p:nvPr/>
        </p:nvSpPr>
        <p:spPr>
          <a:xfrm>
            <a:off x="1234440" y="2578608"/>
            <a:ext cx="3474720" cy="329184"/>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Odometry's report: distance moved since the last step</a:t>
            </a:r>
            <a:endParaRPr lang="en-US" sz="1150" dirty="0"/>
          </a:p>
        </p:txBody>
      </p:sp>
      <p:sp>
        <p:nvSpPr>
          <p:cNvPr id="10" name="Text 8"/>
          <p:cNvSpPr txBox="1"/>
          <p:nvPr/>
        </p:nvSpPr>
        <p:spPr>
          <a:xfrm>
            <a:off x="548640" y="2944368"/>
            <a:ext cx="685800" cy="292608"/>
          </a:xfrm>
          <a:prstGeom prst="rect">
            <a:avLst/>
          </a:prstGeom>
          <a:noFill/>
          <a:ln/>
        </p:spPr>
        <p:txBody>
          <a:bodyPr wrap="square" lIns="0" tIns="0" rIns="0" bIns="0" rtlCol="0" anchor="t"/>
          <a:lstStyle/>
          <a:p>
            <a:pPr indent="0" marL="0">
              <a:buNone/>
            </a:pPr>
            <a:r>
              <a:rPr lang="en-US" sz="1300" dirty="0">
                <a:solidFill>
                  <a:srgbClr val="16A085"/>
                </a:solidFill>
                <a:latin typeface="Cambria Math" pitchFamily="34" charset="0"/>
                <a:ea typeface="Cambria Math" pitchFamily="34" charset="-122"/>
                <a:cs typeface="Cambria Math" pitchFamily="34" charset="-120"/>
              </a:rPr>
              <a:t>P</a:t>
            </a:r>
            <a:endParaRPr lang="en-US" sz="1300" dirty="0"/>
          </a:p>
        </p:txBody>
      </p:sp>
      <p:sp>
        <p:nvSpPr>
          <p:cNvPr id="11" name="Text 9"/>
          <p:cNvSpPr txBox="1"/>
          <p:nvPr/>
        </p:nvSpPr>
        <p:spPr>
          <a:xfrm>
            <a:off x="1234440" y="2944368"/>
            <a:ext cx="3474720" cy="329184"/>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Variance of the estimate (uncertainty², m²)</a:t>
            </a:r>
            <a:endParaRPr lang="en-US" sz="1150" dirty="0"/>
          </a:p>
        </p:txBody>
      </p:sp>
      <p:sp>
        <p:nvSpPr>
          <p:cNvPr id="12" name="Text 10"/>
          <p:cNvSpPr txBox="1"/>
          <p:nvPr/>
        </p:nvSpPr>
        <p:spPr>
          <a:xfrm>
            <a:off x="548640" y="3310128"/>
            <a:ext cx="685800" cy="292608"/>
          </a:xfrm>
          <a:prstGeom prst="rect">
            <a:avLst/>
          </a:prstGeom>
          <a:noFill/>
          <a:ln/>
        </p:spPr>
        <p:txBody>
          <a:bodyPr wrap="square" lIns="0" tIns="0" rIns="0" bIns="0" rtlCol="0" anchor="t"/>
          <a:lstStyle/>
          <a:p>
            <a:pPr indent="0" marL="0">
              <a:buNone/>
            </a:pPr>
            <a:r>
              <a:rPr lang="en-US" sz="1300" dirty="0">
                <a:solidFill>
                  <a:srgbClr val="16A085"/>
                </a:solidFill>
                <a:latin typeface="Cambria Math" pitchFamily="34" charset="0"/>
                <a:ea typeface="Cambria Math" pitchFamily="34" charset="-122"/>
                <a:cs typeface="Cambria Math" pitchFamily="34" charset="-120"/>
              </a:rPr>
              <a:t>Q</a:t>
            </a:r>
            <a:endParaRPr lang="en-US" sz="1300" dirty="0"/>
          </a:p>
        </p:txBody>
      </p:sp>
      <p:sp>
        <p:nvSpPr>
          <p:cNvPr id="13" name="Text 11"/>
          <p:cNvSpPr txBox="1"/>
          <p:nvPr/>
        </p:nvSpPr>
        <p:spPr>
          <a:xfrm>
            <a:off x="1234440" y="3310128"/>
            <a:ext cx="3474720" cy="329184"/>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Odometry's error per step: slip, bias, noise</a:t>
            </a:r>
            <a:endParaRPr lang="en-US" sz="1150" dirty="0"/>
          </a:p>
        </p:txBody>
      </p:sp>
      <p:sp>
        <p:nvSpPr>
          <p:cNvPr id="14" name="Text 12"/>
          <p:cNvSpPr txBox="1"/>
          <p:nvPr/>
        </p:nvSpPr>
        <p:spPr>
          <a:xfrm>
            <a:off x="502920" y="3794760"/>
            <a:ext cx="4160520" cy="548640"/>
          </a:xfrm>
          <a:prstGeom prst="rect">
            <a:avLst/>
          </a:prstGeom>
          <a:noFill/>
          <a:ln/>
        </p:spPr>
        <p:txBody>
          <a:bodyPr wrap="square" lIns="0" tIns="0" rIns="0" bIns="0" rtlCol="0" anchor="t"/>
          <a:lstStyle/>
          <a:p>
            <a:pPr indent="0" marL="0">
              <a:buNone/>
            </a:pPr>
            <a:r>
              <a:rPr lang="en-US" sz="1000" i="1" dirty="0">
                <a:solidFill>
                  <a:srgbClr val="8C99A8"/>
                </a:solidFill>
                <a:latin typeface="Calibri" pitchFamily="34" charset="0"/>
                <a:ea typeface="Calibri" pitchFamily="34" charset="-122"/>
                <a:cs typeface="Calibri" pitchFamily="34" charset="-120"/>
              </a:rPr>
              <a:t>Some books, and Lab 3 Activity 2, treat odometry as a velocity measurement in the update step instead. The result is almost the same.</a:t>
            </a:r>
            <a:endParaRPr lang="en-US" sz="1000" dirty="0"/>
          </a:p>
        </p:txBody>
      </p:sp>
      <p:sp>
        <p:nvSpPr>
          <p:cNvPr id="15" name="Shape 13"/>
          <p:cNvSpPr/>
          <p:nvPr/>
        </p:nvSpPr>
        <p:spPr>
          <a:xfrm>
            <a:off x="4937760" y="1097280"/>
            <a:ext cx="3703320" cy="3291840"/>
          </a:xfrm>
          <a:prstGeom prst="roundRect">
            <a:avLst>
              <a:gd name="adj" fmla="val 2222"/>
            </a:avLst>
          </a:prstGeom>
          <a:solidFill>
            <a:srgbClr val="16263A"/>
          </a:solidFill>
          <a:ln w="12700">
            <a:solidFill>
              <a:srgbClr val="16263A"/>
            </a:solidFill>
            <a:prstDash val="solid"/>
          </a:ln>
        </p:spPr>
      </p:sp>
      <p:sp>
        <p:nvSpPr>
          <p:cNvPr id="16" name="Text 14"/>
          <p:cNvSpPr txBox="1"/>
          <p:nvPr/>
        </p:nvSpPr>
        <p:spPr>
          <a:xfrm>
            <a:off x="5166360" y="1234440"/>
            <a:ext cx="3291840" cy="201168"/>
          </a:xfrm>
          <a:prstGeom prst="rect">
            <a:avLst/>
          </a:prstGeom>
          <a:noFill/>
          <a:ln/>
        </p:spPr>
        <p:txBody>
          <a:bodyPr wrap="square" lIns="0" tIns="0" rIns="0" bIns="0" rtlCol="0" anchor="t"/>
          <a:lstStyle/>
          <a:p>
            <a:pPr indent="0" marL="0">
              <a:buNone/>
            </a:pPr>
            <a:r>
              <a:rPr lang="en-US" sz="1000" b="1" spc="100" kern="0" dirty="0">
                <a:solidFill>
                  <a:srgbClr val="16A085"/>
                </a:solidFill>
                <a:latin typeface="Calibri" pitchFamily="34" charset="0"/>
                <a:ea typeface="Calibri" pitchFamily="34" charset="-122"/>
                <a:cs typeface="Calibri" pitchFamily="34" charset="-120"/>
              </a:rPr>
              <a:t>1D EXAMPLE</a:t>
            </a:r>
            <a:endParaRPr lang="en-US" sz="1000" dirty="0"/>
          </a:p>
        </p:txBody>
      </p:sp>
      <p:sp>
        <p:nvSpPr>
          <p:cNvPr id="17" name="Text 15"/>
          <p:cNvSpPr txBox="1"/>
          <p:nvPr/>
        </p:nvSpPr>
        <p:spPr>
          <a:xfrm>
            <a:off x="5166360" y="1481328"/>
            <a:ext cx="3291840" cy="50292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The robot is at x = 1 m with P = 0.25 m². Odometry reports it moved u = 1 m; Q = 0.1 m².</a:t>
            </a:r>
            <a:endParaRPr lang="en-US" sz="1150" dirty="0"/>
          </a:p>
        </p:txBody>
      </p:sp>
      <p:sp>
        <p:nvSpPr>
          <p:cNvPr id="18" name="Text 16"/>
          <p:cNvSpPr txBox="1"/>
          <p:nvPr/>
        </p:nvSpPr>
        <p:spPr>
          <a:xfrm>
            <a:off x="5166360" y="2011680"/>
            <a:ext cx="3291840" cy="22860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Here F = 1 and B = 1, so:</a:t>
            </a:r>
            <a:endParaRPr lang="en-US" sz="1150" dirty="0"/>
          </a:p>
        </p:txBody>
      </p:sp>
      <p:sp>
        <p:nvSpPr>
          <p:cNvPr id="19" name="Text 17"/>
          <p:cNvSpPr txBox="1"/>
          <p:nvPr/>
        </p:nvSpPr>
        <p:spPr>
          <a:xfrm>
            <a:off x="5166360" y="2322576"/>
            <a:ext cx="1621780" cy="292608"/>
          </a:xfrm>
          <a:prstGeom prst="rect">
            <a:avLst/>
          </a:prstGeom>
          <a:noFill/>
          <a:ln/>
        </p:spPr>
        <p:txBody>
          <a:bodyPr wrap="square" lIns="0" tIns="0" rIns="0" bIns="0" rtlCol="0" anchor="ctr"/>
          <a:lstStyle/>
          <a:p>
            <a:pPr indent="0" marL="0">
              <a:buNone/>
            </a:pPr>
            <a:r>
              <a:rPr lang="en-US" sz="1400" dirty="0">
                <a:solidFill>
                  <a:srgbClr val="FFFFFF"/>
                </a:solidFill>
                <a:latin typeface="Cambria Math" pitchFamily="34" charset="0"/>
                <a:ea typeface="Cambria Math" pitchFamily="34" charset="-122"/>
                <a:cs typeface="Cambria Math" pitchFamily="34" charset="-120"/>
              </a:rPr>
              <a:t>x̂⁻ = 1 + 1 = 2 m</a:t>
            </a:r>
            <a:endParaRPr lang="en-US" sz="1400" dirty="0"/>
          </a:p>
        </p:txBody>
      </p:sp>
      <p:sp>
        <p:nvSpPr>
          <p:cNvPr id="20" name="Text 18"/>
          <p:cNvSpPr txBox="1"/>
          <p:nvPr/>
        </p:nvSpPr>
        <p:spPr>
          <a:xfrm>
            <a:off x="5166360" y="2688336"/>
            <a:ext cx="2359152" cy="292608"/>
          </a:xfrm>
          <a:prstGeom prst="rect">
            <a:avLst/>
          </a:prstGeom>
          <a:noFill/>
          <a:ln/>
        </p:spPr>
        <p:txBody>
          <a:bodyPr wrap="square" lIns="0" tIns="0" rIns="0" bIns="0" rtlCol="0" anchor="ctr"/>
          <a:lstStyle/>
          <a:p>
            <a:pPr indent="0" marL="0">
              <a:buNone/>
            </a:pPr>
            <a:r>
              <a:rPr lang="en-US" sz="1400" dirty="0">
                <a:solidFill>
                  <a:srgbClr val="FFFFFF"/>
                </a:solidFill>
                <a:latin typeface="Cambria Math" pitchFamily="34" charset="0"/>
                <a:ea typeface="Cambria Math" pitchFamily="34" charset="-122"/>
                <a:cs typeface="Cambria Math" pitchFamily="34" charset="-120"/>
              </a:rPr>
              <a:t>P⁻ = 0.25 + 0.1 = 0.35 m²</a:t>
            </a:r>
            <a:endParaRPr lang="en-US" sz="1400" dirty="0"/>
          </a:p>
        </p:txBody>
      </p:sp>
      <p:sp>
        <p:nvSpPr>
          <p:cNvPr id="21" name="Text 19"/>
          <p:cNvSpPr txBox="1"/>
          <p:nvPr/>
        </p:nvSpPr>
        <p:spPr>
          <a:xfrm>
            <a:off x="5166360" y="3200400"/>
            <a:ext cx="3291840" cy="68580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Odometry alone: P only grows. </a:t>
            </a:r>
            <a:pPr indent="0" marL="0">
              <a:buNone/>
            </a:pPr>
            <a:r>
              <a:rPr lang="en-US" sz="1150" dirty="0">
                <a:solidFill>
                  <a:srgbClr val="E67E22"/>
                </a:solidFill>
                <a:latin typeface="Calibri" pitchFamily="34" charset="0"/>
                <a:ea typeface="Calibri" pitchFamily="34" charset="-122"/>
                <a:cs typeface="Calibri" pitchFamily="34" charset="-120"/>
              </a:rPr>
              <a:t>Over five laps of a 5 m circle, the error reaches 4.9 m: it drifts.</a:t>
            </a:r>
            <a:endParaRPr lang="en-US" sz="11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Sensing Alone: GPS</a:t>
            </a:r>
            <a:endParaRPr lang="en-US" sz="2400" dirty="0"/>
          </a:p>
        </p:txBody>
      </p:sp>
      <p:sp>
        <p:nvSpPr>
          <p:cNvPr id="3" name="Shape 1"/>
          <p:cNvSpPr/>
          <p:nvPr/>
        </p:nvSpPr>
        <p:spPr>
          <a:xfrm>
            <a:off x="502920" y="1097280"/>
            <a:ext cx="3931920" cy="3337560"/>
          </a:xfrm>
          <a:prstGeom prst="roundRect">
            <a:avLst>
              <a:gd name="adj" fmla="val 2192"/>
            </a:avLst>
          </a:prstGeom>
          <a:solidFill>
            <a:srgbClr val="16263A"/>
          </a:solidFill>
          <a:ln w="12700">
            <a:solidFill>
              <a:srgbClr val="16263A"/>
            </a:solidFill>
            <a:prstDash val="solid"/>
          </a:ln>
        </p:spPr>
      </p:sp>
      <p:pic>
        <p:nvPicPr>
          <p:cNvPr id="4" name="Image 0" descr="C:\Users\xion\AppData\Local\Temp\claude\d--prorfolio-source-portfolio-source\a0e35da0-4b5a-4408-8426-d30cd7a097a8\scratchpad\slides\assets\icon-satellite.png">    </p:cNvPr>
          <p:cNvPicPr>
            <a:picLocks noChangeAspect="1"/>
          </p:cNvPicPr>
          <p:nvPr/>
        </p:nvPicPr>
        <p:blipFill>
          <a:blip r:embed="rId1"/>
          <a:stretch>
            <a:fillRect/>
          </a:stretch>
        </p:blipFill>
        <p:spPr>
          <a:xfrm>
            <a:off x="2240280" y="1234440"/>
            <a:ext cx="457200" cy="457200"/>
          </a:xfrm>
          <a:prstGeom prst="rect">
            <a:avLst/>
          </a:prstGeom>
        </p:spPr>
      </p:pic>
      <p:sp>
        <p:nvSpPr>
          <p:cNvPr id="5" name="Text 2"/>
          <p:cNvSpPr txBox="1"/>
          <p:nvPr/>
        </p:nvSpPr>
        <p:spPr>
          <a:xfrm>
            <a:off x="502920" y="1737360"/>
            <a:ext cx="3931920" cy="29260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GPS</a:t>
            </a:r>
            <a:endParaRPr lang="en-US" sz="1600" dirty="0"/>
          </a:p>
        </p:txBody>
      </p:sp>
      <p:sp>
        <p:nvSpPr>
          <p:cNvPr id="6" name="Text 3"/>
          <p:cNvSpPr txBox="1"/>
          <p:nvPr/>
        </p:nvSpPr>
        <p:spPr>
          <a:xfrm>
            <a:off x="777240" y="2084832"/>
            <a:ext cx="3383280" cy="457200"/>
          </a:xfrm>
          <a:prstGeom prst="rect">
            <a:avLst/>
          </a:prstGeom>
          <a:noFill/>
          <a:ln/>
        </p:spPr>
        <p:txBody>
          <a:bodyPr wrap="square" lIns="0" tIns="0" rIns="0" bIns="0" rtlCol="0" anchor="t"/>
          <a:lstStyle/>
          <a:p>
            <a:pPr algn="ctr" indent="0" marL="0">
              <a:buNone/>
            </a:pPr>
            <a:r>
              <a:rPr lang="en-US" sz="1200" dirty="0">
                <a:solidFill>
                  <a:srgbClr val="C9D1DB"/>
                </a:solidFill>
                <a:latin typeface="Calibri" pitchFamily="34" charset="0"/>
                <a:ea typeface="Calibri" pitchFamily="34" charset="-122"/>
                <a:cs typeface="Calibri" pitchFamily="34" charset="-120"/>
              </a:rPr>
              <a:t>Measures the absolute position.</a:t>
            </a:r>
            <a:endParaRPr lang="en-US" sz="1200" dirty="0"/>
          </a:p>
          <a:p>
            <a:pPr algn="ctr" indent="0" marL="0">
              <a:buNone/>
            </a:pPr>
            <a:r>
              <a:rPr lang="en-US" sz="1200" dirty="0">
                <a:solidFill>
                  <a:srgbClr val="C9D1DB"/>
                </a:solidFill>
                <a:latin typeface="Calibri" pitchFamily="34" charset="0"/>
                <a:ea typeface="Calibri" pitchFamily="34" charset="-122"/>
                <a:cs typeface="Calibri" pitchFamily="34" charset="-120"/>
              </a:rPr>
              <a:t>It never drifts.</a:t>
            </a:r>
            <a:endParaRPr lang="en-US" sz="1200" dirty="0"/>
          </a:p>
        </p:txBody>
      </p:sp>
      <p:sp>
        <p:nvSpPr>
          <p:cNvPr id="7" name="Text 4"/>
          <p:cNvSpPr txBox="1"/>
          <p:nvPr/>
        </p:nvSpPr>
        <p:spPr>
          <a:xfrm>
            <a:off x="777240" y="2606040"/>
            <a:ext cx="3383280" cy="274320"/>
          </a:xfrm>
          <a:prstGeom prst="rect">
            <a:avLst/>
          </a:prstGeom>
          <a:noFill/>
          <a:ln/>
        </p:spPr>
        <p:txBody>
          <a:bodyPr wrap="square" lIns="0" tIns="0" rIns="0" bIns="0" rtlCol="0" anchor="t"/>
          <a:lstStyle/>
          <a:p>
            <a:pPr algn="ctr" indent="0" marL="0">
              <a:buNone/>
            </a:pPr>
            <a:r>
              <a:rPr lang="en-US" sz="1200" b="1" dirty="0">
                <a:solidFill>
                  <a:srgbClr val="E74C3C"/>
                </a:solidFill>
                <a:latin typeface="Calibri" pitchFamily="34" charset="0"/>
                <a:ea typeface="Calibri" pitchFamily="34" charset="-122"/>
                <a:cs typeface="Calibri" pitchFamily="34" charset="-120"/>
              </a:rPr>
              <a:t>Noisy and slow: about 3 m error, once a second.</a:t>
            </a:r>
            <a:endParaRPr lang="en-US" sz="1200" dirty="0"/>
          </a:p>
        </p:txBody>
      </p:sp>
      <p:sp>
        <p:nvSpPr>
          <p:cNvPr id="8" name="Text 5"/>
          <p:cNvSpPr txBox="1"/>
          <p:nvPr/>
        </p:nvSpPr>
        <p:spPr>
          <a:xfrm>
            <a:off x="777240" y="3017520"/>
            <a:ext cx="3383280" cy="228600"/>
          </a:xfrm>
          <a:prstGeom prst="rect">
            <a:avLst/>
          </a:prstGeom>
          <a:noFill/>
          <a:ln/>
        </p:spPr>
        <p:txBody>
          <a:bodyPr wrap="square" lIns="0" tIns="0" rIns="0" bIns="0" rtlCol="0" anchor="t"/>
          <a:lstStyle/>
          <a:p>
            <a:pPr algn="ctr" indent="0" marL="0">
              <a:buNone/>
            </a:pPr>
            <a:r>
              <a:rPr lang="en-US" sz="1150" dirty="0">
                <a:solidFill>
                  <a:srgbClr val="C9D1DB"/>
                </a:solidFill>
                <a:latin typeface="Calibri" pitchFamily="34" charset="0"/>
                <a:ea typeface="Calibri" pitchFamily="34" charset="-122"/>
                <a:cs typeface="Calibri" pitchFamily="34" charset="-120"/>
              </a:rPr>
              <a:t>In the filter it is a measurement:</a:t>
            </a:r>
            <a:endParaRPr lang="en-US" sz="1150" dirty="0"/>
          </a:p>
        </p:txBody>
      </p:sp>
      <p:sp>
        <p:nvSpPr>
          <p:cNvPr id="9" name="Text 6"/>
          <p:cNvSpPr txBox="1"/>
          <p:nvPr/>
        </p:nvSpPr>
        <p:spPr>
          <a:xfrm>
            <a:off x="777240" y="3291840"/>
            <a:ext cx="3383280" cy="274320"/>
          </a:xfrm>
          <a:prstGeom prst="rect">
            <a:avLst/>
          </a:prstGeom>
          <a:noFill/>
          <a:ln/>
        </p:spPr>
        <p:txBody>
          <a:bodyPr wrap="square" lIns="0" tIns="0" rIns="0" bIns="0" rtlCol="0" anchor="t"/>
          <a:lstStyle/>
          <a:p>
            <a:pPr algn="ctr" indent="0" marL="0">
              <a:buNone/>
            </a:pPr>
            <a:r>
              <a:rPr lang="en-US" sz="1300" dirty="0">
                <a:solidFill>
                  <a:srgbClr val="16A085"/>
                </a:solidFill>
                <a:latin typeface="Cambria Math" pitchFamily="34" charset="0"/>
                <a:ea typeface="Cambria Math" pitchFamily="34" charset="-122"/>
                <a:cs typeface="Cambria Math" pitchFamily="34" charset="-120"/>
              </a:rPr>
              <a:t>z = position,  H = 1,  R = 3² = 9 m²</a:t>
            </a:r>
            <a:endParaRPr lang="en-US" sz="1300" dirty="0"/>
          </a:p>
        </p:txBody>
      </p:sp>
      <p:sp>
        <p:nvSpPr>
          <p:cNvPr id="10" name="Text 7"/>
          <p:cNvSpPr txBox="1"/>
          <p:nvPr/>
        </p:nvSpPr>
        <p:spPr>
          <a:xfrm>
            <a:off x="777240" y="3703320"/>
            <a:ext cx="3383280" cy="548640"/>
          </a:xfrm>
          <a:prstGeom prst="rect">
            <a:avLst/>
          </a:prstGeom>
          <a:noFill/>
          <a:ln/>
        </p:spPr>
        <p:txBody>
          <a:bodyPr wrap="square" lIns="0" tIns="0" rIns="0" bIns="0" rtlCol="0" anchor="t"/>
          <a:lstStyle/>
          <a:p>
            <a:pPr algn="ctr" indent="0" marL="0">
              <a:buNone/>
            </a:pPr>
            <a:r>
              <a:rPr lang="en-US" sz="1100" dirty="0">
                <a:solidFill>
                  <a:srgbClr val="E67E22"/>
                </a:solidFill>
                <a:latin typeface="Calibri" pitchFamily="34" charset="0"/>
                <a:ea typeface="Calibri" pitchFamily="34" charset="-122"/>
                <a:cs typeface="Calibri" pitchFamily="34" charset="-120"/>
              </a:rPr>
              <a:t>GPS alone (hold the last fix): 4.4 m error, and the estimate jumps every second.</a:t>
            </a:r>
            <a:endParaRPr lang="en-US" sz="1100" dirty="0"/>
          </a:p>
        </p:txBody>
      </p:sp>
      <p:pic>
        <p:nvPicPr>
          <p:cNvPr id="11" name="Image 1" descr="C:\Users\xion\AppData\Local\Temp\claude\d--prorfolio-source-portfolio-source\a0e35da0-4b5a-4408-8426-d30cd7a097a8\scratchpad\slides\assets\sensor-fusion.png">    </p:cNvPr>
          <p:cNvPicPr>
            <a:picLocks noChangeAspect="1"/>
          </p:cNvPicPr>
          <p:nvPr/>
        </p:nvPicPr>
        <p:blipFill>
          <a:blip r:embed="rId2"/>
          <a:stretch>
            <a:fillRect/>
          </a:stretch>
        </p:blipFill>
        <p:spPr>
          <a:xfrm>
            <a:off x="4663440" y="1280160"/>
            <a:ext cx="3977640" cy="2239717"/>
          </a:xfrm>
          <a:prstGeom prst="rect">
            <a:avLst/>
          </a:prstGeom>
        </p:spPr>
      </p:pic>
      <p:sp>
        <p:nvSpPr>
          <p:cNvPr id="12" name="Text 8"/>
          <p:cNvSpPr txBox="1"/>
          <p:nvPr/>
        </p:nvSpPr>
        <p:spPr>
          <a:xfrm>
            <a:off x="4663440" y="3657600"/>
            <a:ext cx="3977640" cy="5486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Odometry is smooth but drifts; GPS is noisy but never drifts. They fail in opposite ways.</a:t>
            </a:r>
            <a:endParaRPr lang="en-US" sz="12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First Idea: The Gated Reset</a:t>
            </a:r>
            <a:endParaRPr lang="en-US" sz="2400" dirty="0"/>
          </a:p>
        </p:txBody>
      </p:sp>
      <p:sp>
        <p:nvSpPr>
          <p:cNvPr id="3" name="Text 1"/>
          <p:cNvSpPr txBox="1"/>
          <p:nvPr/>
        </p:nvSpPr>
        <p:spPr>
          <a:xfrm>
            <a:off x="502920" y="1051560"/>
            <a:ext cx="813816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natural first attempt: trust odometry, and let GPS stop the drift.</a:t>
            </a:r>
            <a:endParaRPr lang="en-US" sz="1300" dirty="0"/>
          </a:p>
        </p:txBody>
      </p:sp>
      <p:sp>
        <p:nvSpPr>
          <p:cNvPr id="4" name="Shape 2"/>
          <p:cNvSpPr/>
          <p:nvPr/>
        </p:nvSpPr>
        <p:spPr>
          <a:xfrm>
            <a:off x="548640" y="1508760"/>
            <a:ext cx="329184" cy="329184"/>
          </a:xfrm>
          <a:prstGeom prst="ellipse">
            <a:avLst/>
          </a:prstGeom>
          <a:solidFill>
            <a:srgbClr val="16A085"/>
          </a:solidFill>
          <a:ln w="12700">
            <a:solidFill>
              <a:srgbClr val="16A085"/>
            </a:solidFill>
            <a:prstDash val="solid"/>
          </a:ln>
        </p:spPr>
      </p:sp>
      <p:sp>
        <p:nvSpPr>
          <p:cNvPr id="5" name="Text 3"/>
          <p:cNvSpPr txBox="1"/>
          <p:nvPr/>
        </p:nvSpPr>
        <p:spPr>
          <a:xfrm>
            <a:off x="548640" y="1508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05840" y="1508760"/>
            <a:ext cx="3429000" cy="566928"/>
          </a:xfrm>
          <a:prstGeom prst="rect">
            <a:avLst/>
          </a:prstGeom>
          <a:noFill/>
          <a:ln/>
        </p:spPr>
        <p:txBody>
          <a:bodyPr wrap="square" lIns="0" tIns="0" rIns="0" bIns="0" rtlCol="0" anchor="t"/>
          <a:lstStyle/>
          <a:p>
            <a:pPr indent="0" marL="0">
              <a:buNone/>
            </a:pPr>
            <a:r>
              <a:rPr lang="en-US" sz="1200" dirty="0">
                <a:solidFill>
                  <a:srgbClr val="C9D1DB"/>
                </a:solidFill>
                <a:latin typeface="Calibri" pitchFamily="34" charset="0"/>
                <a:ea typeface="Calibri" pitchFamily="34" charset="-122"/>
                <a:cs typeface="Calibri" pitchFamily="34" charset="-120"/>
              </a:rPr>
              <a:t>Follow odometry between GPS fixes.</a:t>
            </a:r>
            <a:endParaRPr lang="en-US" sz="1200" dirty="0"/>
          </a:p>
        </p:txBody>
      </p:sp>
      <p:sp>
        <p:nvSpPr>
          <p:cNvPr id="7" name="Shape 5"/>
          <p:cNvSpPr/>
          <p:nvPr/>
        </p:nvSpPr>
        <p:spPr>
          <a:xfrm>
            <a:off x="548640" y="2167128"/>
            <a:ext cx="329184" cy="329184"/>
          </a:xfrm>
          <a:prstGeom prst="ellipse">
            <a:avLst/>
          </a:prstGeom>
          <a:solidFill>
            <a:srgbClr val="16A085"/>
          </a:solidFill>
          <a:ln w="12700">
            <a:solidFill>
              <a:srgbClr val="16A085"/>
            </a:solidFill>
            <a:prstDash val="solid"/>
          </a:ln>
        </p:spPr>
      </p:sp>
      <p:sp>
        <p:nvSpPr>
          <p:cNvPr id="8" name="Text 6"/>
          <p:cNvSpPr txBox="1"/>
          <p:nvPr/>
        </p:nvSpPr>
        <p:spPr>
          <a:xfrm>
            <a:off x="548640" y="21671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05840" y="2167128"/>
            <a:ext cx="3429000" cy="566928"/>
          </a:xfrm>
          <a:prstGeom prst="rect">
            <a:avLst/>
          </a:prstGeom>
          <a:noFill/>
          <a:ln/>
        </p:spPr>
        <p:txBody>
          <a:bodyPr wrap="square" lIns="0" tIns="0" rIns="0" bIns="0" rtlCol="0" anchor="t"/>
          <a:lstStyle/>
          <a:p>
            <a:pPr indent="0" marL="0">
              <a:buNone/>
            </a:pPr>
            <a:r>
              <a:rPr lang="en-US" sz="1200" dirty="0">
                <a:solidFill>
                  <a:srgbClr val="C9D1DB"/>
                </a:solidFill>
                <a:latin typeface="Calibri" pitchFamily="34" charset="0"/>
                <a:ea typeface="Calibri" pitchFamily="34" charset="-122"/>
                <a:cs typeface="Calibri" pitchFamily="34" charset="-120"/>
              </a:rPr>
              <a:t>When a GPS fix arrives, compare it with the odometry position.</a:t>
            </a:r>
            <a:endParaRPr lang="en-US" sz="1200" dirty="0"/>
          </a:p>
        </p:txBody>
      </p:sp>
      <p:sp>
        <p:nvSpPr>
          <p:cNvPr id="10" name="Shape 8"/>
          <p:cNvSpPr/>
          <p:nvPr/>
        </p:nvSpPr>
        <p:spPr>
          <a:xfrm>
            <a:off x="548640" y="2825496"/>
            <a:ext cx="329184" cy="329184"/>
          </a:xfrm>
          <a:prstGeom prst="ellipse">
            <a:avLst/>
          </a:prstGeom>
          <a:solidFill>
            <a:srgbClr val="16A085"/>
          </a:solidFill>
          <a:ln w="12700">
            <a:solidFill>
              <a:srgbClr val="16A085"/>
            </a:solidFill>
            <a:prstDash val="solid"/>
          </a:ln>
        </p:spPr>
      </p:sp>
      <p:sp>
        <p:nvSpPr>
          <p:cNvPr id="11" name="Text 9"/>
          <p:cNvSpPr txBox="1"/>
          <p:nvPr/>
        </p:nvSpPr>
        <p:spPr>
          <a:xfrm>
            <a:off x="548640" y="28254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005840" y="2825496"/>
            <a:ext cx="3429000" cy="566928"/>
          </a:xfrm>
          <a:prstGeom prst="rect">
            <a:avLst/>
          </a:prstGeom>
          <a:noFill/>
          <a:ln/>
        </p:spPr>
        <p:txBody>
          <a:bodyPr wrap="square" lIns="0" tIns="0" rIns="0" bIns="0" rtlCol="0" anchor="t"/>
          <a:lstStyle/>
          <a:p>
            <a:pPr indent="0" marL="0">
              <a:buNone/>
            </a:pPr>
            <a:r>
              <a:rPr lang="en-US" sz="1200" dirty="0">
                <a:solidFill>
                  <a:srgbClr val="C9D1DB"/>
                </a:solidFill>
                <a:latin typeface="Calibri" pitchFamily="34" charset="0"/>
                <a:ea typeface="Calibri" pitchFamily="34" charset="-122"/>
                <a:cs typeface="Calibri" pitchFamily="34" charset="-120"/>
              </a:rPr>
              <a:t>Within the gate (2σ = 6 m)? Keep odometry. Outside? Jump to the GPS fix and restart odometry from there.</a:t>
            </a:r>
            <a:endParaRPr lang="en-US" sz="1200" dirty="0"/>
          </a:p>
        </p:txBody>
      </p:sp>
      <p:sp>
        <p:nvSpPr>
          <p:cNvPr id="13" name="Text 11"/>
          <p:cNvSpPr txBox="1"/>
          <p:nvPr/>
        </p:nvSpPr>
        <p:spPr>
          <a:xfrm>
            <a:off x="502920" y="3566160"/>
            <a:ext cx="3931920" cy="274320"/>
          </a:xfrm>
          <a:prstGeom prst="rect">
            <a:avLst/>
          </a:prstGeom>
          <a:noFill/>
          <a:ln/>
        </p:spPr>
        <p:txBody>
          <a:bodyPr wrap="square" lIns="0" tIns="0" rIns="0" bIns="0" rtlCol="0" anchor="t"/>
          <a:lstStyle/>
          <a:p>
            <a:pPr indent="0" marL="0">
              <a:buNone/>
            </a:pPr>
            <a:r>
              <a:rPr lang="en-US" sz="1200" b="1" dirty="0">
                <a:solidFill>
                  <a:srgbClr val="16A085"/>
                </a:solidFill>
                <a:latin typeface="Calibri" pitchFamily="34" charset="0"/>
                <a:ea typeface="Calibri" pitchFamily="34" charset="-122"/>
                <a:cs typeface="Calibri" pitchFamily="34" charset="-120"/>
              </a:rPr>
              <a:t>Simple, and the drift can no longer grow forever.</a:t>
            </a:r>
            <a:endParaRPr lang="en-US" sz="1200" dirty="0"/>
          </a:p>
        </p:txBody>
      </p:sp>
      <p:sp>
        <p:nvSpPr>
          <p:cNvPr id="14" name="Shape 12"/>
          <p:cNvSpPr/>
          <p:nvPr/>
        </p:nvSpPr>
        <p:spPr>
          <a:xfrm>
            <a:off x="4709160" y="1463040"/>
            <a:ext cx="3931920" cy="2926080"/>
          </a:xfrm>
          <a:prstGeom prst="roundRect">
            <a:avLst>
              <a:gd name="adj" fmla="val 2500"/>
            </a:avLst>
          </a:prstGeom>
          <a:solidFill>
            <a:srgbClr val="16263A"/>
          </a:solidFill>
          <a:ln w="12700">
            <a:solidFill>
              <a:srgbClr val="16263A"/>
            </a:solidFill>
            <a:prstDash val="solid"/>
          </a:ln>
        </p:spPr>
      </p:sp>
      <p:sp>
        <p:nvSpPr>
          <p:cNvPr id="15" name="Text 13"/>
          <p:cNvSpPr txBox="1"/>
          <p:nvPr/>
        </p:nvSpPr>
        <p:spPr>
          <a:xfrm>
            <a:off x="4892040" y="1572768"/>
            <a:ext cx="3566160" cy="201168"/>
          </a:xfrm>
          <a:prstGeom prst="rect">
            <a:avLst/>
          </a:prstGeom>
          <a:noFill/>
          <a:ln/>
        </p:spPr>
        <p:txBody>
          <a:bodyPr wrap="square" lIns="0" tIns="0" rIns="0" bIns="0" rtlCol="0" anchor="t"/>
          <a:lstStyle/>
          <a:p>
            <a:pPr indent="0" marL="0">
              <a:buNone/>
            </a:pPr>
            <a:r>
              <a:rPr lang="en-US" sz="950" b="1" spc="100" kern="0" dirty="0">
                <a:solidFill>
                  <a:srgbClr val="16A085"/>
                </a:solidFill>
                <a:latin typeface="Calibri" pitchFamily="34" charset="0"/>
                <a:ea typeface="Calibri" pitchFamily="34" charset="-122"/>
                <a:cs typeface="Calibri" pitchFamily="34" charset="-120"/>
              </a:rPr>
              <a:t>RESULT: 5 LAPS, GPS σ = 3 m, 20 RUNS</a:t>
            </a:r>
            <a:endParaRPr lang="en-US" sz="950" dirty="0"/>
          </a:p>
        </p:txBody>
      </p:sp>
      <p:sp>
        <p:nvSpPr>
          <p:cNvPr id="16" name="Text 14"/>
          <p:cNvSpPr txBox="1"/>
          <p:nvPr/>
        </p:nvSpPr>
        <p:spPr>
          <a:xfrm>
            <a:off x="4892040" y="1901952"/>
            <a:ext cx="2194560" cy="292608"/>
          </a:xfrm>
          <a:prstGeom prst="rect">
            <a:avLst/>
          </a:prstGeom>
          <a:noFill/>
          <a:ln/>
        </p:spPr>
        <p:txBody>
          <a:bodyPr wrap="square" lIns="0" tIns="0" rIns="0" bIns="0" rtlCol="0" anchor="t"/>
          <a:lstStyle/>
          <a:p>
            <a:pPr indent="0" marL="0">
              <a:buNone/>
            </a:pPr>
            <a:r>
              <a:rPr lang="en-US" sz="1300" dirty="0">
                <a:solidFill>
                  <a:srgbClr val="C9D1DB"/>
                </a:solidFill>
                <a:latin typeface="Calibri" pitchFamily="34" charset="0"/>
                <a:ea typeface="Calibri" pitchFamily="34" charset="-122"/>
                <a:cs typeface="Calibri" pitchFamily="34" charset="-120"/>
              </a:rPr>
              <a:t>Odometry only</a:t>
            </a:r>
            <a:endParaRPr lang="en-US" sz="1300" dirty="0"/>
          </a:p>
        </p:txBody>
      </p:sp>
      <p:sp>
        <p:nvSpPr>
          <p:cNvPr id="17" name="Text 15"/>
          <p:cNvSpPr txBox="1"/>
          <p:nvPr/>
        </p:nvSpPr>
        <p:spPr>
          <a:xfrm>
            <a:off x="6949440" y="1901952"/>
            <a:ext cx="1463040" cy="292608"/>
          </a:xfrm>
          <a:prstGeom prst="rect">
            <a:avLst/>
          </a:prstGeom>
          <a:noFill/>
          <a:ln/>
        </p:spPr>
        <p:txBody>
          <a:bodyPr wrap="square" lIns="0" tIns="0" rIns="0" bIns="0" rtlCol="0" anchor="t"/>
          <a:lstStyle/>
          <a:p>
            <a:pPr algn="r" indent="0" marL="0">
              <a:buNone/>
            </a:pPr>
            <a:r>
              <a:rPr lang="en-US" sz="1400" b="1" dirty="0">
                <a:solidFill>
                  <a:srgbClr val="C9D1DB"/>
                </a:solidFill>
                <a:latin typeface="Cambria Math" pitchFamily="34" charset="0"/>
                <a:ea typeface="Cambria Math" pitchFamily="34" charset="-122"/>
                <a:cs typeface="Cambria Math" pitchFamily="34" charset="-120"/>
              </a:rPr>
              <a:t>4.85 m</a:t>
            </a:r>
            <a:endParaRPr lang="en-US" sz="1400" dirty="0"/>
          </a:p>
        </p:txBody>
      </p:sp>
      <p:sp>
        <p:nvSpPr>
          <p:cNvPr id="18" name="Text 16"/>
          <p:cNvSpPr txBox="1"/>
          <p:nvPr/>
        </p:nvSpPr>
        <p:spPr>
          <a:xfrm>
            <a:off x="4892040" y="2267712"/>
            <a:ext cx="2194560" cy="292608"/>
          </a:xfrm>
          <a:prstGeom prst="rect">
            <a:avLst/>
          </a:prstGeom>
          <a:noFill/>
          <a:ln/>
        </p:spPr>
        <p:txBody>
          <a:bodyPr wrap="square" lIns="0" tIns="0" rIns="0" bIns="0" rtlCol="0" anchor="t"/>
          <a:lstStyle/>
          <a:p>
            <a:pPr indent="0" marL="0">
              <a:buNone/>
            </a:pPr>
            <a:r>
              <a:rPr lang="en-US" sz="1300" dirty="0">
                <a:solidFill>
                  <a:srgbClr val="C9D1DB"/>
                </a:solidFill>
                <a:latin typeface="Calibri" pitchFamily="34" charset="0"/>
                <a:ea typeface="Calibri" pitchFamily="34" charset="-122"/>
                <a:cs typeface="Calibri" pitchFamily="34" charset="-120"/>
              </a:rPr>
              <a:t>GPS only</a:t>
            </a:r>
            <a:endParaRPr lang="en-US" sz="1300" dirty="0"/>
          </a:p>
        </p:txBody>
      </p:sp>
      <p:sp>
        <p:nvSpPr>
          <p:cNvPr id="19" name="Text 17"/>
          <p:cNvSpPr txBox="1"/>
          <p:nvPr/>
        </p:nvSpPr>
        <p:spPr>
          <a:xfrm>
            <a:off x="6949440" y="2267712"/>
            <a:ext cx="1463040" cy="292608"/>
          </a:xfrm>
          <a:prstGeom prst="rect">
            <a:avLst/>
          </a:prstGeom>
          <a:noFill/>
          <a:ln/>
        </p:spPr>
        <p:txBody>
          <a:bodyPr wrap="square" lIns="0" tIns="0" rIns="0" bIns="0" rtlCol="0" anchor="t"/>
          <a:lstStyle/>
          <a:p>
            <a:pPr algn="r" indent="0" marL="0">
              <a:buNone/>
            </a:pPr>
            <a:r>
              <a:rPr lang="en-US" sz="1400" b="1" dirty="0">
                <a:solidFill>
                  <a:srgbClr val="C9D1DB"/>
                </a:solidFill>
                <a:latin typeface="Cambria Math" pitchFamily="34" charset="0"/>
                <a:ea typeface="Cambria Math" pitchFamily="34" charset="-122"/>
                <a:cs typeface="Cambria Math" pitchFamily="34" charset="-120"/>
              </a:rPr>
              <a:t>4.43 m</a:t>
            </a:r>
            <a:endParaRPr lang="en-US" sz="1400" dirty="0"/>
          </a:p>
        </p:txBody>
      </p:sp>
      <p:sp>
        <p:nvSpPr>
          <p:cNvPr id="20" name="Text 18"/>
          <p:cNvSpPr txBox="1"/>
          <p:nvPr/>
        </p:nvSpPr>
        <p:spPr>
          <a:xfrm>
            <a:off x="4892040" y="2633472"/>
            <a:ext cx="2194560" cy="292608"/>
          </a:xfrm>
          <a:prstGeom prst="rect">
            <a:avLst/>
          </a:prstGeom>
          <a:noFill/>
          <a:ln/>
        </p:spPr>
        <p:txBody>
          <a:bodyPr wrap="square" lIns="0" tIns="0" rIns="0" bIns="0" rtlCol="0" anchor="t"/>
          <a:lstStyle/>
          <a:p>
            <a:pPr indent="0" marL="0">
              <a:buNone/>
            </a:pPr>
            <a:r>
              <a:rPr lang="en-US" sz="1300" dirty="0">
                <a:solidFill>
                  <a:srgbClr val="E67E22"/>
                </a:solidFill>
                <a:latin typeface="Calibri" pitchFamily="34" charset="0"/>
                <a:ea typeface="Calibri" pitchFamily="34" charset="-122"/>
                <a:cs typeface="Calibri" pitchFamily="34" charset="-120"/>
              </a:rPr>
              <a:t>Gated reset</a:t>
            </a:r>
            <a:endParaRPr lang="en-US" sz="1300" dirty="0"/>
          </a:p>
        </p:txBody>
      </p:sp>
      <p:sp>
        <p:nvSpPr>
          <p:cNvPr id="21" name="Text 19"/>
          <p:cNvSpPr txBox="1"/>
          <p:nvPr/>
        </p:nvSpPr>
        <p:spPr>
          <a:xfrm>
            <a:off x="6949440" y="2633472"/>
            <a:ext cx="1463040" cy="292608"/>
          </a:xfrm>
          <a:prstGeom prst="rect">
            <a:avLst/>
          </a:prstGeom>
          <a:noFill/>
          <a:ln/>
        </p:spPr>
        <p:txBody>
          <a:bodyPr wrap="square" lIns="0" tIns="0" rIns="0" bIns="0" rtlCol="0" anchor="t"/>
          <a:lstStyle/>
          <a:p>
            <a:pPr algn="r" indent="0" marL="0">
              <a:buNone/>
            </a:pPr>
            <a:r>
              <a:rPr lang="en-US" sz="1400" b="1" dirty="0">
                <a:solidFill>
                  <a:srgbClr val="E67E22"/>
                </a:solidFill>
                <a:latin typeface="Cambria Math" pitchFamily="34" charset="0"/>
                <a:ea typeface="Cambria Math" pitchFamily="34" charset="-122"/>
                <a:cs typeface="Cambria Math" pitchFamily="34" charset="-120"/>
              </a:rPr>
              <a:t>4.05 m</a:t>
            </a:r>
            <a:endParaRPr lang="en-US" sz="1400" dirty="0"/>
          </a:p>
        </p:txBody>
      </p:sp>
      <p:sp>
        <p:nvSpPr>
          <p:cNvPr id="22" name="Shape 20"/>
          <p:cNvSpPr/>
          <p:nvPr/>
        </p:nvSpPr>
        <p:spPr>
          <a:xfrm>
            <a:off x="4892040" y="3044952"/>
            <a:ext cx="3566160" cy="0"/>
          </a:xfrm>
          <a:prstGeom prst="line">
            <a:avLst/>
          </a:prstGeom>
          <a:noFill/>
          <a:ln w="12700">
            <a:solidFill>
              <a:srgbClr val="2A3A4E"/>
            </a:solidFill>
            <a:prstDash val="solid"/>
          </a:ln>
        </p:spPr>
      </p:sp>
      <p:sp>
        <p:nvSpPr>
          <p:cNvPr id="23" name="Text 21"/>
          <p:cNvSpPr txBox="1"/>
          <p:nvPr/>
        </p:nvSpPr>
        <p:spPr>
          <a:xfrm>
            <a:off x="4892040" y="3154680"/>
            <a:ext cx="2377440" cy="274320"/>
          </a:xfrm>
          <a:prstGeom prst="rect">
            <a:avLst/>
          </a:prstGeom>
          <a:noFill/>
          <a:ln/>
        </p:spPr>
        <p:txBody>
          <a:bodyPr wrap="square" lIns="0" tIns="0" rIns="0" bIns="0" rtlCol="0" anchor="t"/>
          <a:lstStyle/>
          <a:p>
            <a:pPr indent="0" marL="0">
              <a:buNone/>
            </a:pPr>
            <a:r>
              <a:rPr lang="en-US" sz="1200" dirty="0">
                <a:solidFill>
                  <a:srgbClr val="C9D1DB"/>
                </a:solidFill>
                <a:latin typeface="Calibri" pitchFamily="34" charset="0"/>
                <a:ea typeface="Calibri" pitchFamily="34" charset="-122"/>
                <a:cs typeface="Calibri" pitchFamily="34" charset="-120"/>
              </a:rPr>
              <a:t>Largest jump in one 0.1 s step</a:t>
            </a:r>
            <a:endParaRPr lang="en-US" sz="1200" dirty="0"/>
          </a:p>
        </p:txBody>
      </p:sp>
      <p:sp>
        <p:nvSpPr>
          <p:cNvPr id="24" name="Text 22"/>
          <p:cNvSpPr txBox="1"/>
          <p:nvPr/>
        </p:nvSpPr>
        <p:spPr>
          <a:xfrm>
            <a:off x="6949440" y="3154680"/>
            <a:ext cx="1463040" cy="274320"/>
          </a:xfrm>
          <a:prstGeom prst="rect">
            <a:avLst/>
          </a:prstGeom>
          <a:noFill/>
          <a:ln/>
        </p:spPr>
        <p:txBody>
          <a:bodyPr wrap="square" lIns="0" tIns="0" rIns="0" bIns="0" rtlCol="0" anchor="t"/>
          <a:lstStyle/>
          <a:p>
            <a:pPr algn="r" indent="0" marL="0">
              <a:buNone/>
            </a:pPr>
            <a:r>
              <a:rPr lang="en-US" sz="1400" b="1" dirty="0">
                <a:solidFill>
                  <a:srgbClr val="E74C3C"/>
                </a:solidFill>
                <a:latin typeface="Cambria Math" pitchFamily="34" charset="0"/>
                <a:ea typeface="Cambria Math" pitchFamily="34" charset="-122"/>
                <a:cs typeface="Cambria Math" pitchFamily="34" charset="-120"/>
              </a:rPr>
              <a:t>12.7 m</a:t>
            </a:r>
            <a:endParaRPr lang="en-US" sz="1400" dirty="0"/>
          </a:p>
        </p:txBody>
      </p:sp>
      <p:sp>
        <p:nvSpPr>
          <p:cNvPr id="25" name="Text 23"/>
          <p:cNvSpPr txBox="1"/>
          <p:nvPr/>
        </p:nvSpPr>
        <p:spPr>
          <a:xfrm>
            <a:off x="4892040" y="3456432"/>
            <a:ext cx="3566160" cy="228600"/>
          </a:xfrm>
          <a:prstGeom prst="rect">
            <a:avLst/>
          </a:prstGeom>
          <a:noFill/>
          <a:ln/>
        </p:spPr>
        <p:txBody>
          <a:bodyPr wrap="square" lIns="0" tIns="0" rIns="0" bIns="0" rtlCol="0" anchor="t"/>
          <a:lstStyle/>
          <a:p>
            <a:pPr indent="0" marL="0">
              <a:buNone/>
            </a:pPr>
            <a:r>
              <a:rPr lang="en-US" sz="1000" dirty="0">
                <a:solidFill>
                  <a:srgbClr val="8C99A8"/>
                </a:solidFill>
                <a:latin typeface="Calibri" pitchFamily="34" charset="0"/>
                <a:ea typeface="Calibri" pitchFamily="34" charset="-122"/>
                <a:cs typeface="Calibri" pitchFamily="34" charset="-120"/>
              </a:rPr>
              <a:t>(the robot really moves 0.26 m per step)</a:t>
            </a:r>
            <a:endParaRPr lang="en-US" sz="1000" dirty="0"/>
          </a:p>
        </p:txBody>
      </p:sp>
      <p:sp>
        <p:nvSpPr>
          <p:cNvPr id="26" name="Text 24"/>
          <p:cNvSpPr txBox="1"/>
          <p:nvPr/>
        </p:nvSpPr>
        <p:spPr>
          <a:xfrm>
            <a:off x="4892040" y="3840480"/>
            <a:ext cx="356616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Better than either sensor, but only a little. Why?</a:t>
            </a:r>
            <a:endParaRPr lang="en-US" sz="12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Why the Reset Fails</a:t>
            </a:r>
            <a:endParaRPr lang="en-US" sz="2400" dirty="0"/>
          </a:p>
        </p:txBody>
      </p:sp>
      <p:sp>
        <p:nvSpPr>
          <p:cNvPr id="3" name="Shape 1"/>
          <p:cNvSpPr/>
          <p:nvPr/>
        </p:nvSpPr>
        <p:spPr>
          <a:xfrm>
            <a:off x="502920" y="1097280"/>
            <a:ext cx="3977640" cy="1280160"/>
          </a:xfrm>
          <a:prstGeom prst="roundRect">
            <a:avLst>
              <a:gd name="adj" fmla="val 5714"/>
            </a:avLst>
          </a:prstGeom>
          <a:solidFill>
            <a:srgbClr val="16263A"/>
          </a:solidFill>
          <a:ln w="12700">
            <a:solidFill>
              <a:srgbClr val="16263A"/>
            </a:solidFill>
            <a:prstDash val="solid"/>
          </a:ln>
        </p:spPr>
      </p:sp>
      <p:sp>
        <p:nvSpPr>
          <p:cNvPr id="4" name="Text 2"/>
          <p:cNvSpPr txBox="1"/>
          <p:nvPr/>
        </p:nvSpPr>
        <p:spPr>
          <a:xfrm>
            <a:off x="685800" y="1234440"/>
            <a:ext cx="365760" cy="365760"/>
          </a:xfrm>
          <a:prstGeom prst="rect">
            <a:avLst/>
          </a:prstGeom>
          <a:noFill/>
          <a:ln/>
        </p:spPr>
        <p:txBody>
          <a:bodyPr wrap="square" lIns="0" tIns="0" rIns="0" bIns="0" rtlCol="0" anchor="t"/>
          <a:lstStyle/>
          <a:p>
            <a:pPr indent="0" marL="0">
              <a:buNone/>
            </a:pPr>
            <a:r>
              <a:rPr lang="en-US" sz="2000" b="1" dirty="0">
                <a:solidFill>
                  <a:srgbClr val="E67E22"/>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1097280" y="1252728"/>
            <a:ext cx="3246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It copies the GPS error</a:t>
            </a:r>
            <a:endParaRPr lang="en-US" sz="1300" dirty="0"/>
          </a:p>
        </p:txBody>
      </p:sp>
      <p:sp>
        <p:nvSpPr>
          <p:cNvPr id="6" name="Text 4"/>
          <p:cNvSpPr txBox="1"/>
          <p:nvPr/>
        </p:nvSpPr>
        <p:spPr>
          <a:xfrm>
            <a:off x="1097280" y="1554480"/>
            <a:ext cx="3246120" cy="77724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Right after a reset you are exactly as wrong as that one GPS fix, about 3 m. You can never beat GPS.</a:t>
            </a:r>
            <a:endParaRPr lang="en-US" sz="1150" dirty="0"/>
          </a:p>
        </p:txBody>
      </p:sp>
      <p:sp>
        <p:nvSpPr>
          <p:cNvPr id="7" name="Shape 5"/>
          <p:cNvSpPr/>
          <p:nvPr/>
        </p:nvSpPr>
        <p:spPr>
          <a:xfrm>
            <a:off x="4663440" y="1097280"/>
            <a:ext cx="3977640" cy="1280160"/>
          </a:xfrm>
          <a:prstGeom prst="roundRect">
            <a:avLst>
              <a:gd name="adj" fmla="val 5714"/>
            </a:avLst>
          </a:prstGeom>
          <a:solidFill>
            <a:srgbClr val="16263A"/>
          </a:solidFill>
          <a:ln w="12700">
            <a:solidFill>
              <a:srgbClr val="16263A"/>
            </a:solidFill>
            <a:prstDash val="solid"/>
          </a:ln>
        </p:spPr>
      </p:sp>
      <p:sp>
        <p:nvSpPr>
          <p:cNvPr id="8" name="Text 6"/>
          <p:cNvSpPr txBox="1"/>
          <p:nvPr/>
        </p:nvSpPr>
        <p:spPr>
          <a:xfrm>
            <a:off x="4846320" y="1234440"/>
            <a:ext cx="365760" cy="365760"/>
          </a:xfrm>
          <a:prstGeom prst="rect">
            <a:avLst/>
          </a:prstGeom>
          <a:noFill/>
          <a:ln/>
        </p:spPr>
        <p:txBody>
          <a:bodyPr wrap="square" lIns="0" tIns="0" rIns="0" bIns="0" rtlCol="0" anchor="t"/>
          <a:lstStyle/>
          <a:p>
            <a:pPr indent="0" marL="0">
              <a:buNone/>
            </a:pPr>
            <a:r>
              <a:rPr lang="en-US" sz="2000" b="1" dirty="0">
                <a:solidFill>
                  <a:srgbClr val="E67E22"/>
                </a:solidFill>
                <a:latin typeface="Arial" pitchFamily="34" charset="0"/>
                <a:ea typeface="Arial" pitchFamily="34" charset="-122"/>
                <a:cs typeface="Arial" pitchFamily="34" charset="-120"/>
              </a:rPr>
              <a:t>2</a:t>
            </a:r>
            <a:endParaRPr lang="en-US" sz="2000" dirty="0"/>
          </a:p>
        </p:txBody>
      </p:sp>
      <p:sp>
        <p:nvSpPr>
          <p:cNvPr id="9" name="Text 7"/>
          <p:cNvSpPr txBox="1"/>
          <p:nvPr/>
        </p:nvSpPr>
        <p:spPr>
          <a:xfrm>
            <a:off x="5257800" y="1252728"/>
            <a:ext cx="3246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It accepts drift up to the gate</a:t>
            </a:r>
            <a:endParaRPr lang="en-US" sz="1300" dirty="0"/>
          </a:p>
        </p:txBody>
      </p:sp>
      <p:sp>
        <p:nvSpPr>
          <p:cNvPr id="10" name="Text 8"/>
          <p:cNvSpPr txBox="1"/>
          <p:nvPr/>
        </p:nvSpPr>
        <p:spPr>
          <a:xfrm>
            <a:off x="5257800" y="1554480"/>
            <a:ext cx="3246120" cy="77724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Between resets, odometry may wander up to 6 m before anything happens.</a:t>
            </a:r>
            <a:endParaRPr lang="en-US" sz="1150" dirty="0"/>
          </a:p>
        </p:txBody>
      </p:sp>
      <p:sp>
        <p:nvSpPr>
          <p:cNvPr id="11" name="Shape 9"/>
          <p:cNvSpPr/>
          <p:nvPr/>
        </p:nvSpPr>
        <p:spPr>
          <a:xfrm>
            <a:off x="502920" y="2560320"/>
            <a:ext cx="3977640" cy="1280160"/>
          </a:xfrm>
          <a:prstGeom prst="roundRect">
            <a:avLst>
              <a:gd name="adj" fmla="val 5714"/>
            </a:avLst>
          </a:prstGeom>
          <a:solidFill>
            <a:srgbClr val="16263A"/>
          </a:solidFill>
          <a:ln w="12700">
            <a:solidFill>
              <a:srgbClr val="16263A"/>
            </a:solidFill>
            <a:prstDash val="solid"/>
          </a:ln>
        </p:spPr>
      </p:sp>
      <p:sp>
        <p:nvSpPr>
          <p:cNvPr id="12" name="Text 10"/>
          <p:cNvSpPr txBox="1"/>
          <p:nvPr/>
        </p:nvSpPr>
        <p:spPr>
          <a:xfrm>
            <a:off x="685800" y="2697480"/>
            <a:ext cx="365760" cy="365760"/>
          </a:xfrm>
          <a:prstGeom prst="rect">
            <a:avLst/>
          </a:prstGeom>
          <a:noFill/>
          <a:ln/>
        </p:spPr>
        <p:txBody>
          <a:bodyPr wrap="square" lIns="0" tIns="0" rIns="0" bIns="0" rtlCol="0" anchor="t"/>
          <a:lstStyle/>
          <a:p>
            <a:pPr indent="0" marL="0">
              <a:buNone/>
            </a:pPr>
            <a:r>
              <a:rPr lang="en-US" sz="2000" b="1" dirty="0">
                <a:solidFill>
                  <a:srgbClr val="E67E22"/>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1097280" y="2715768"/>
            <a:ext cx="3246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It throws information away</a:t>
            </a:r>
            <a:endParaRPr lang="en-US" sz="1300" dirty="0"/>
          </a:p>
        </p:txBody>
      </p:sp>
      <p:sp>
        <p:nvSpPr>
          <p:cNvPr id="14" name="Text 12"/>
          <p:cNvSpPr txBox="1"/>
          <p:nvPr/>
        </p:nvSpPr>
        <p:spPr>
          <a:xfrm>
            <a:off x="1097280" y="3017520"/>
            <a:ext cx="3246120" cy="77724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Fixes inside the gate are ignored; at each reset the odometry history is lost. Averaging many fixes would cancel their noise.</a:t>
            </a:r>
            <a:endParaRPr lang="en-US" sz="1150" dirty="0"/>
          </a:p>
        </p:txBody>
      </p:sp>
      <p:sp>
        <p:nvSpPr>
          <p:cNvPr id="15" name="Shape 13"/>
          <p:cNvSpPr/>
          <p:nvPr/>
        </p:nvSpPr>
        <p:spPr>
          <a:xfrm>
            <a:off x="4663440" y="2560320"/>
            <a:ext cx="3977640" cy="1280160"/>
          </a:xfrm>
          <a:prstGeom prst="roundRect">
            <a:avLst>
              <a:gd name="adj" fmla="val 5714"/>
            </a:avLst>
          </a:prstGeom>
          <a:solidFill>
            <a:srgbClr val="16263A"/>
          </a:solidFill>
          <a:ln w="12700">
            <a:solidFill>
              <a:srgbClr val="16263A"/>
            </a:solidFill>
            <a:prstDash val="solid"/>
          </a:ln>
        </p:spPr>
      </p:sp>
      <p:sp>
        <p:nvSpPr>
          <p:cNvPr id="16" name="Text 14"/>
          <p:cNvSpPr txBox="1"/>
          <p:nvPr/>
        </p:nvSpPr>
        <p:spPr>
          <a:xfrm>
            <a:off x="4846320" y="2697480"/>
            <a:ext cx="365760" cy="365760"/>
          </a:xfrm>
          <a:prstGeom prst="rect">
            <a:avLst/>
          </a:prstGeom>
          <a:noFill/>
          <a:ln/>
        </p:spPr>
        <p:txBody>
          <a:bodyPr wrap="square" lIns="0" tIns="0" rIns="0" bIns="0" rtlCol="0" anchor="t"/>
          <a:lstStyle/>
          <a:p>
            <a:pPr indent="0" marL="0">
              <a:buNone/>
            </a:pPr>
            <a:r>
              <a:rPr lang="en-US" sz="2000" b="1" dirty="0">
                <a:solidFill>
                  <a:srgbClr val="E67E22"/>
                </a:solidFill>
                <a:latin typeface="Arial" pitchFamily="34" charset="0"/>
                <a:ea typeface="Arial" pitchFamily="34" charset="-122"/>
                <a:cs typeface="Arial" pitchFamily="34" charset="-120"/>
              </a:rPr>
              <a:t>4</a:t>
            </a:r>
            <a:endParaRPr lang="en-US" sz="2000" dirty="0"/>
          </a:p>
        </p:txBody>
      </p:sp>
      <p:sp>
        <p:nvSpPr>
          <p:cNvPr id="17" name="Text 15"/>
          <p:cNvSpPr txBox="1"/>
          <p:nvPr/>
        </p:nvSpPr>
        <p:spPr>
          <a:xfrm>
            <a:off x="5257800" y="2715768"/>
            <a:ext cx="32461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Noise triggers false resets</a:t>
            </a:r>
            <a:endParaRPr lang="en-US" sz="1300" dirty="0"/>
          </a:p>
        </p:txBody>
      </p:sp>
      <p:sp>
        <p:nvSpPr>
          <p:cNvPr id="18" name="Text 16"/>
          <p:cNvSpPr txBox="1"/>
          <p:nvPr/>
        </p:nvSpPr>
        <p:spPr>
          <a:xfrm>
            <a:off x="5257800" y="3017520"/>
            <a:ext cx="3246120" cy="77724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One unlucky GPS fix can make good odometry jump: the 12.7 m jumps.</a:t>
            </a:r>
            <a:endParaRPr lang="en-US" sz="1150" dirty="0"/>
          </a:p>
        </p:txBody>
      </p:sp>
      <p:sp>
        <p:nvSpPr>
          <p:cNvPr id="19" name="Text 17"/>
          <p:cNvSpPr txBox="1"/>
          <p:nvPr/>
        </p:nvSpPr>
        <p:spPr>
          <a:xfrm>
            <a:off x="502920" y="4023360"/>
            <a:ext cx="8138160" cy="457200"/>
          </a:xfrm>
          <a:prstGeom prst="rect">
            <a:avLst/>
          </a:prstGeom>
          <a:noFill/>
          <a:ln/>
        </p:spPr>
        <p:txBody>
          <a:bodyPr wrap="square" lIns="0" tIns="0" rIns="0" bIns="0" rtlCol="0" anchor="t"/>
          <a:lstStyle/>
          <a:p>
            <a:pPr algn="ctr" indent="0" marL="0">
              <a:buNone/>
            </a:pPr>
            <a:r>
              <a:rPr lang="en-US" sz="1300" b="1" dirty="0">
                <a:solidFill>
                  <a:srgbClr val="16A085"/>
                </a:solidFill>
                <a:latin typeface="Calibri" pitchFamily="34" charset="0"/>
                <a:ea typeface="Calibri" pitchFamily="34" charset="-122"/>
                <a:cs typeface="Calibri" pitchFamily="34" charset="-120"/>
              </a:rPr>
              <a:t>The problem is all-or-nothing. What if each GPS fix moved the estimate only part of the way?</a:t>
            </a:r>
            <a:endParaRPr lang="en-US" sz="13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Better Idea: Weigh by Uncertainty</a:t>
            </a:r>
            <a:endParaRPr lang="en-US" sz="2400" dirty="0"/>
          </a:p>
        </p:txBody>
      </p:sp>
      <p:sp>
        <p:nvSpPr>
          <p:cNvPr id="3" name="Text 1"/>
          <p:cNvSpPr txBox="1"/>
          <p:nvPr/>
        </p:nvSpPr>
        <p:spPr>
          <a:xfrm>
            <a:off x="502920" y="1051560"/>
            <a:ext cx="813816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Two GPS units measure the same position. Trust each in proportion to 1 / σ².</a:t>
            </a:r>
            <a:endParaRPr lang="en-US" sz="1300" dirty="0"/>
          </a:p>
        </p:txBody>
      </p:sp>
      <p:sp>
        <p:nvSpPr>
          <p:cNvPr id="4" name="Shape 2"/>
          <p:cNvSpPr/>
          <p:nvPr/>
        </p:nvSpPr>
        <p:spPr>
          <a:xfrm>
            <a:off x="502920" y="1463040"/>
            <a:ext cx="3977640" cy="2331720"/>
          </a:xfrm>
          <a:prstGeom prst="roundRect">
            <a:avLst>
              <a:gd name="adj" fmla="val 3137"/>
            </a:avLst>
          </a:prstGeom>
          <a:solidFill>
            <a:srgbClr val="16263A"/>
          </a:solidFill>
          <a:ln w="12700">
            <a:solidFill>
              <a:srgbClr val="16263A"/>
            </a:solidFill>
            <a:prstDash val="solid"/>
          </a:ln>
        </p:spPr>
      </p:sp>
      <p:sp>
        <p:nvSpPr>
          <p:cNvPr id="5" name="Text 3"/>
          <p:cNvSpPr txBox="1"/>
          <p:nvPr/>
        </p:nvSpPr>
        <p:spPr>
          <a:xfrm>
            <a:off x="731520" y="1600200"/>
            <a:ext cx="356616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GPS A reads 10 m (σ = 1 m)</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GPS B reads 12 m (σ = 2 m)</a:t>
            </a:r>
            <a:endParaRPr lang="en-US" sz="1250" dirty="0"/>
          </a:p>
        </p:txBody>
      </p:sp>
      <p:sp>
        <p:nvSpPr>
          <p:cNvPr id="6" name="Text 4"/>
          <p:cNvSpPr txBox="1"/>
          <p:nvPr/>
        </p:nvSpPr>
        <p:spPr>
          <a:xfrm>
            <a:off x="731520" y="2322576"/>
            <a:ext cx="3478378"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x = (10/1 + 12/4) / (1/1 + 1/4) = 10.4 m</a:t>
            </a:r>
            <a:endParaRPr lang="en-US" sz="1300" dirty="0"/>
          </a:p>
        </p:txBody>
      </p:sp>
      <p:sp>
        <p:nvSpPr>
          <p:cNvPr id="7" name="Text 5"/>
          <p:cNvSpPr txBox="1"/>
          <p:nvPr/>
        </p:nvSpPr>
        <p:spPr>
          <a:xfrm>
            <a:off x="731520" y="2734056"/>
            <a:ext cx="2365736"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σ = 1 / √(1 + 1/4) = 0.89 m</a:t>
            </a:r>
            <a:endParaRPr lang="en-US" sz="1300" dirty="0"/>
          </a:p>
        </p:txBody>
      </p:sp>
      <p:sp>
        <p:nvSpPr>
          <p:cNvPr id="8" name="Text 6"/>
          <p:cNvSpPr txBox="1"/>
          <p:nvPr/>
        </p:nvSpPr>
        <p:spPr>
          <a:xfrm>
            <a:off x="731520" y="3200400"/>
            <a:ext cx="3566160" cy="274320"/>
          </a:xfrm>
          <a:prstGeom prst="rect">
            <a:avLst/>
          </a:prstGeom>
          <a:noFill/>
          <a:ln/>
        </p:spPr>
        <p:txBody>
          <a:bodyPr wrap="square" lIns="0" tIns="0" rIns="0" bIns="0" rtlCol="0" anchor="t"/>
          <a:lstStyle/>
          <a:p>
            <a:pPr indent="0" marL="0">
              <a:buNone/>
            </a:pPr>
            <a:r>
              <a:rPr lang="en-US" sz="1200" b="1" dirty="0">
                <a:solidFill>
                  <a:srgbClr val="E67E22"/>
                </a:solidFill>
                <a:latin typeface="Calibri" pitchFamily="34" charset="0"/>
                <a:ea typeface="Calibri" pitchFamily="34" charset="-122"/>
                <a:cs typeface="Calibri" pitchFamily="34" charset="-120"/>
              </a:rPr>
              <a:t>More certain than either unit alone.</a:t>
            </a:r>
            <a:endParaRPr lang="en-US" sz="1200" dirty="0"/>
          </a:p>
        </p:txBody>
      </p:sp>
      <p:sp>
        <p:nvSpPr>
          <p:cNvPr id="9" name="Shape 7"/>
          <p:cNvSpPr/>
          <p:nvPr/>
        </p:nvSpPr>
        <p:spPr>
          <a:xfrm>
            <a:off x="4663440" y="1463040"/>
            <a:ext cx="3977640" cy="2331720"/>
          </a:xfrm>
          <a:prstGeom prst="roundRect">
            <a:avLst>
              <a:gd name="adj" fmla="val 3137"/>
            </a:avLst>
          </a:prstGeom>
          <a:solidFill>
            <a:srgbClr val="16263A"/>
          </a:solidFill>
          <a:ln w="12700">
            <a:solidFill>
              <a:srgbClr val="2A3A4E"/>
            </a:solidFill>
            <a:prstDash val="solid"/>
          </a:ln>
        </p:spPr>
      </p:sp>
      <p:sp>
        <p:nvSpPr>
          <p:cNvPr id="10" name="Text 8"/>
          <p:cNvSpPr txBox="1"/>
          <p:nvPr/>
        </p:nvSpPr>
        <p:spPr>
          <a:xfrm>
            <a:off x="4892040" y="1572768"/>
            <a:ext cx="3566160" cy="201168"/>
          </a:xfrm>
          <a:prstGeom prst="rect">
            <a:avLst/>
          </a:prstGeom>
          <a:noFill/>
          <a:ln/>
        </p:spPr>
        <p:txBody>
          <a:bodyPr wrap="square" lIns="0" tIns="0" rIns="0" bIns="0" rtlCol="0" anchor="t"/>
          <a:lstStyle/>
          <a:p>
            <a:pPr indent="0" marL="0">
              <a:buNone/>
            </a:pPr>
            <a:r>
              <a:rPr lang="en-US" sz="1000" b="1" spc="100" kern="0" dirty="0">
                <a:solidFill>
                  <a:srgbClr val="16A085"/>
                </a:solidFill>
                <a:latin typeface="Calibri" pitchFamily="34" charset="0"/>
                <a:ea typeface="Calibri" pitchFamily="34" charset="-122"/>
                <a:cs typeface="Calibri" pitchFamily="34" charset="-120"/>
              </a:rPr>
              <a:t>THE SAME THING AS A CORRECTION</a:t>
            </a:r>
            <a:endParaRPr lang="en-US" sz="1000" dirty="0"/>
          </a:p>
        </p:txBody>
      </p:sp>
      <p:sp>
        <p:nvSpPr>
          <p:cNvPr id="11" name="Text 9"/>
          <p:cNvSpPr txBox="1"/>
          <p:nvPr/>
        </p:nvSpPr>
        <p:spPr>
          <a:xfrm>
            <a:off x="4892040" y="1847088"/>
            <a:ext cx="3566160" cy="457200"/>
          </a:xfrm>
          <a:prstGeom prst="rect">
            <a:avLst/>
          </a:prstGeom>
          <a:noFill/>
          <a:ln/>
        </p:spPr>
        <p:txBody>
          <a:bodyPr wrap="square" lIns="0" tIns="0" rIns="0" bIns="0" rtlCol="0" anchor="t"/>
          <a:lstStyle/>
          <a:p>
            <a:pPr indent="0" marL="0">
              <a:buNone/>
            </a:pPr>
            <a:r>
              <a:rPr lang="en-US" sz="1200" dirty="0">
                <a:solidFill>
                  <a:srgbClr val="C9D1DB"/>
                </a:solidFill>
                <a:latin typeface="Calibri" pitchFamily="34" charset="0"/>
                <a:ea typeface="Calibri" pitchFamily="34" charset="-122"/>
                <a:cs typeface="Calibri" pitchFamily="34" charset="-120"/>
              </a:rPr>
              <a:t>Start from A (P = 1 m²) and correct towards B (R = 4 m²):</a:t>
            </a:r>
            <a:endParaRPr lang="en-US" sz="1200" dirty="0"/>
          </a:p>
        </p:txBody>
      </p:sp>
      <p:sp>
        <p:nvSpPr>
          <p:cNvPr id="12" name="Text 10"/>
          <p:cNvSpPr txBox="1"/>
          <p:nvPr/>
        </p:nvSpPr>
        <p:spPr>
          <a:xfrm>
            <a:off x="4892040" y="2368296"/>
            <a:ext cx="3050438"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K = P / (P + R) = 1 / (1 + 4) = 0.2</a:t>
            </a:r>
            <a:endParaRPr lang="en-US" sz="1300" dirty="0"/>
          </a:p>
        </p:txBody>
      </p:sp>
      <p:sp>
        <p:nvSpPr>
          <p:cNvPr id="13" name="Text 11"/>
          <p:cNvSpPr txBox="1"/>
          <p:nvPr/>
        </p:nvSpPr>
        <p:spPr>
          <a:xfrm>
            <a:off x="4892040" y="2779776"/>
            <a:ext cx="2879263"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x = 10 + 0.2 × (12 − 10) = 10.4 m</a:t>
            </a:r>
            <a:endParaRPr lang="en-US" sz="1300" dirty="0"/>
          </a:p>
        </p:txBody>
      </p:sp>
      <p:sp>
        <p:nvSpPr>
          <p:cNvPr id="14" name="Text 12"/>
          <p:cNvSpPr txBox="1"/>
          <p:nvPr/>
        </p:nvSpPr>
        <p:spPr>
          <a:xfrm>
            <a:off x="4892040" y="3246120"/>
            <a:ext cx="3566160" cy="274320"/>
          </a:xfrm>
          <a:prstGeom prst="rect">
            <a:avLst/>
          </a:prstGeom>
          <a:noFill/>
          <a:ln/>
        </p:spPr>
        <p:txBody>
          <a:bodyPr wrap="square" lIns="0" tIns="0" rIns="0" bIns="0" rtlCol="0" anchor="t"/>
          <a:lstStyle/>
          <a:p>
            <a:pPr indent="0" marL="0">
              <a:buNone/>
            </a:pPr>
            <a:r>
              <a:rPr lang="en-US" sz="1200" b="1" dirty="0">
                <a:solidFill>
                  <a:srgbClr val="E67E22"/>
                </a:solidFill>
                <a:latin typeface="Calibri" pitchFamily="34" charset="0"/>
                <a:ea typeface="Calibri" pitchFamily="34" charset="-122"/>
                <a:cs typeface="Calibri" pitchFamily="34" charset="-120"/>
              </a:rPr>
              <a:t>K is the Kalman gain.</a:t>
            </a:r>
            <a:endParaRPr lang="en-US" sz="1200" dirty="0"/>
          </a:p>
        </p:txBody>
      </p:sp>
      <p:sp>
        <p:nvSpPr>
          <p:cNvPr id="15" name="Text 13"/>
          <p:cNvSpPr txBox="1"/>
          <p:nvPr/>
        </p:nvSpPr>
        <p:spPr>
          <a:xfrm>
            <a:off x="502920" y="4023360"/>
            <a:ext cx="8138160" cy="45720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A soft reset: </a:t>
            </a:r>
            <a:pPr algn="ctr" indent="0" marL="0">
              <a:buNone/>
            </a:pPr>
            <a:r>
              <a:rPr lang="en-US" sz="1300" dirty="0">
                <a:solidFill>
                  <a:srgbClr val="C9D1DB"/>
                </a:solidFill>
                <a:latin typeface="Calibri" pitchFamily="34" charset="0"/>
                <a:ea typeface="Calibri" pitchFamily="34" charset="-122"/>
                <a:cs typeface="Calibri" pitchFamily="34" charset="-120"/>
              </a:rPr>
              <a:t>the gated reset uses K = 0 or K = 1. The Kalman filter uses the K that the uncertainties call for.</a:t>
            </a:r>
            <a:endParaRPr lang="en-US" sz="13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The Update Step</a:t>
            </a:r>
            <a:endParaRPr lang="en-US" sz="2400" dirty="0"/>
          </a:p>
        </p:txBody>
      </p:sp>
      <p:sp>
        <p:nvSpPr>
          <p:cNvPr id="3" name="Shape 1"/>
          <p:cNvSpPr/>
          <p:nvPr/>
        </p:nvSpPr>
        <p:spPr>
          <a:xfrm>
            <a:off x="502920" y="1097280"/>
            <a:ext cx="4160520" cy="1325880"/>
          </a:xfrm>
          <a:prstGeom prst="roundRect">
            <a:avLst>
              <a:gd name="adj" fmla="val 5517"/>
            </a:avLst>
          </a:prstGeom>
          <a:solidFill>
            <a:srgbClr val="16263A"/>
          </a:solidFill>
          <a:ln w="12700">
            <a:solidFill>
              <a:srgbClr val="2A3A4E"/>
            </a:solidFill>
            <a:prstDash val="solid"/>
          </a:ln>
        </p:spPr>
      </p:sp>
      <p:sp>
        <p:nvSpPr>
          <p:cNvPr id="4" name="Text 2"/>
          <p:cNvSpPr txBox="1"/>
          <p:nvPr/>
        </p:nvSpPr>
        <p:spPr>
          <a:xfrm>
            <a:off x="731520" y="1207008"/>
            <a:ext cx="3313786" cy="292608"/>
          </a:xfrm>
          <a:prstGeom prst="rect">
            <a:avLst/>
          </a:prstGeom>
          <a:noFill/>
          <a:ln/>
        </p:spPr>
        <p:txBody>
          <a:bodyPr wrap="square" lIns="0" tIns="0" rIns="0" bIns="0" rtlCol="0" anchor="ctr"/>
          <a:lstStyle/>
          <a:p>
            <a:pPr indent="0" marL="0">
              <a:buNone/>
            </a:pPr>
            <a:r>
              <a:rPr lang="en-US" sz="1500" dirty="0">
                <a:solidFill>
                  <a:srgbClr val="FFFFFF"/>
                </a:solidFill>
                <a:latin typeface="Cambria Math" pitchFamily="34" charset="0"/>
                <a:ea typeface="Cambria Math" pitchFamily="34" charset="-122"/>
                <a:cs typeface="Cambria Math" pitchFamily="34" charset="-120"/>
              </a:rPr>
              <a:t>K = P⁻ · Hᵀ · (H · P⁻ · Hᵀ + R)⁻¹</a:t>
            </a:r>
            <a:endParaRPr lang="en-US" sz="1500" dirty="0"/>
          </a:p>
        </p:txBody>
      </p:sp>
      <p:sp>
        <p:nvSpPr>
          <p:cNvPr id="5" name="Text 3"/>
          <p:cNvSpPr txBox="1"/>
          <p:nvPr/>
        </p:nvSpPr>
        <p:spPr>
          <a:xfrm>
            <a:off x="731520" y="1572768"/>
            <a:ext cx="2820010" cy="292608"/>
          </a:xfrm>
          <a:prstGeom prst="rect">
            <a:avLst/>
          </a:prstGeom>
          <a:noFill/>
          <a:ln/>
        </p:spPr>
        <p:txBody>
          <a:bodyPr wrap="square" lIns="0" tIns="0" rIns="0" bIns="0" rtlCol="0" anchor="ctr"/>
          <a:lstStyle/>
          <a:p>
            <a:pPr indent="0" marL="0">
              <a:buNone/>
            </a:pPr>
            <a:r>
              <a:rPr lang="en-US" sz="1500" dirty="0">
                <a:solidFill>
                  <a:srgbClr val="FFFFFF"/>
                </a:solidFill>
                <a:latin typeface="Cambria Math" pitchFamily="34" charset="0"/>
                <a:ea typeface="Cambria Math" pitchFamily="34" charset="-122"/>
                <a:cs typeface="Cambria Math" pitchFamily="34" charset="-120"/>
              </a:rPr>
              <a:t>x̂ = x̂⁻ + K · (z − H · x̂⁻)</a:t>
            </a:r>
            <a:endParaRPr lang="en-US" sz="1500" dirty="0"/>
          </a:p>
        </p:txBody>
      </p:sp>
      <p:sp>
        <p:nvSpPr>
          <p:cNvPr id="6" name="Text 4"/>
          <p:cNvSpPr txBox="1"/>
          <p:nvPr/>
        </p:nvSpPr>
        <p:spPr>
          <a:xfrm>
            <a:off x="731520" y="1938528"/>
            <a:ext cx="2029968" cy="292608"/>
          </a:xfrm>
          <a:prstGeom prst="rect">
            <a:avLst/>
          </a:prstGeom>
          <a:noFill/>
          <a:ln/>
        </p:spPr>
        <p:txBody>
          <a:bodyPr wrap="square" lIns="0" tIns="0" rIns="0" bIns="0" rtlCol="0" anchor="ctr"/>
          <a:lstStyle/>
          <a:p>
            <a:pPr indent="0" marL="0">
              <a:buNone/>
            </a:pPr>
            <a:r>
              <a:rPr lang="en-US" sz="1500" dirty="0">
                <a:solidFill>
                  <a:srgbClr val="FFFFFF"/>
                </a:solidFill>
                <a:latin typeface="Cambria Math" pitchFamily="34" charset="0"/>
                <a:ea typeface="Cambria Math" pitchFamily="34" charset="-122"/>
                <a:cs typeface="Cambria Math" pitchFamily="34" charset="-120"/>
              </a:rPr>
              <a:t>P = (I − K · H) · P⁻</a:t>
            </a:r>
            <a:endParaRPr lang="en-US" sz="1500" dirty="0"/>
          </a:p>
        </p:txBody>
      </p:sp>
      <p:sp>
        <p:nvSpPr>
          <p:cNvPr id="7" name="Text 5"/>
          <p:cNvSpPr txBox="1"/>
          <p:nvPr/>
        </p:nvSpPr>
        <p:spPr>
          <a:xfrm>
            <a:off x="548640" y="2560320"/>
            <a:ext cx="1097280" cy="292608"/>
          </a:xfrm>
          <a:prstGeom prst="rect">
            <a:avLst/>
          </a:prstGeom>
          <a:noFill/>
          <a:ln/>
        </p:spPr>
        <p:txBody>
          <a:bodyPr wrap="square" lIns="0" tIns="0" rIns="0" bIns="0" rtlCol="0" anchor="t"/>
          <a:lstStyle/>
          <a:p>
            <a:pPr indent="0" marL="0">
              <a:buNone/>
            </a:pPr>
            <a:r>
              <a:rPr lang="en-US" sz="1250" dirty="0">
                <a:solidFill>
                  <a:srgbClr val="16A085"/>
                </a:solidFill>
                <a:latin typeface="Cambria Math" pitchFamily="34" charset="0"/>
                <a:ea typeface="Cambria Math" pitchFamily="34" charset="-122"/>
                <a:cs typeface="Cambria Math" pitchFamily="34" charset="-120"/>
              </a:rPr>
              <a:t>z</a:t>
            </a:r>
            <a:endParaRPr lang="en-US" sz="1250" dirty="0"/>
          </a:p>
        </p:txBody>
      </p:sp>
      <p:sp>
        <p:nvSpPr>
          <p:cNvPr id="8" name="Text 6"/>
          <p:cNvSpPr txBox="1"/>
          <p:nvPr/>
        </p:nvSpPr>
        <p:spPr>
          <a:xfrm>
            <a:off x="1645920" y="2560320"/>
            <a:ext cx="3063240" cy="310896"/>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The measurement: what the sensor reads</a:t>
            </a:r>
            <a:endParaRPr lang="en-US" sz="1150" dirty="0"/>
          </a:p>
        </p:txBody>
      </p:sp>
      <p:sp>
        <p:nvSpPr>
          <p:cNvPr id="9" name="Text 7"/>
          <p:cNvSpPr txBox="1"/>
          <p:nvPr/>
        </p:nvSpPr>
        <p:spPr>
          <a:xfrm>
            <a:off x="548640" y="2926080"/>
            <a:ext cx="1097280" cy="292608"/>
          </a:xfrm>
          <a:prstGeom prst="rect">
            <a:avLst/>
          </a:prstGeom>
          <a:noFill/>
          <a:ln/>
        </p:spPr>
        <p:txBody>
          <a:bodyPr wrap="square" lIns="0" tIns="0" rIns="0" bIns="0" rtlCol="0" anchor="t"/>
          <a:lstStyle/>
          <a:p>
            <a:pPr indent="0" marL="0">
              <a:buNone/>
            </a:pPr>
            <a:r>
              <a:rPr lang="en-US" sz="1250" dirty="0">
                <a:solidFill>
                  <a:srgbClr val="16A085"/>
                </a:solidFill>
                <a:latin typeface="Cambria Math" pitchFamily="34" charset="0"/>
                <a:ea typeface="Cambria Math" pitchFamily="34" charset="-122"/>
                <a:cs typeface="Cambria Math" pitchFamily="34" charset="-120"/>
              </a:rPr>
              <a:t>H</a:t>
            </a:r>
            <a:endParaRPr lang="en-US" sz="1250" dirty="0"/>
          </a:p>
        </p:txBody>
      </p:sp>
      <p:sp>
        <p:nvSpPr>
          <p:cNvPr id="10" name="Text 8"/>
          <p:cNvSpPr txBox="1"/>
          <p:nvPr/>
        </p:nvSpPr>
        <p:spPr>
          <a:xfrm>
            <a:off x="1645920" y="2926080"/>
            <a:ext cx="3063240" cy="310896"/>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Which part of the state the sensor measures</a:t>
            </a:r>
            <a:endParaRPr lang="en-US" sz="1150" dirty="0"/>
          </a:p>
        </p:txBody>
      </p:sp>
      <p:sp>
        <p:nvSpPr>
          <p:cNvPr id="11" name="Text 9"/>
          <p:cNvSpPr txBox="1"/>
          <p:nvPr/>
        </p:nvSpPr>
        <p:spPr>
          <a:xfrm>
            <a:off x="548640" y="3291840"/>
            <a:ext cx="1097280" cy="292608"/>
          </a:xfrm>
          <a:prstGeom prst="rect">
            <a:avLst/>
          </a:prstGeom>
          <a:noFill/>
          <a:ln/>
        </p:spPr>
        <p:txBody>
          <a:bodyPr wrap="square" lIns="0" tIns="0" rIns="0" bIns="0" rtlCol="0" anchor="t"/>
          <a:lstStyle/>
          <a:p>
            <a:pPr indent="0" marL="0">
              <a:buNone/>
            </a:pPr>
            <a:r>
              <a:rPr lang="en-US" sz="1250" dirty="0">
                <a:solidFill>
                  <a:srgbClr val="16A085"/>
                </a:solidFill>
                <a:latin typeface="Cambria Math" pitchFamily="34" charset="0"/>
                <a:ea typeface="Cambria Math" pitchFamily="34" charset="-122"/>
                <a:cs typeface="Cambria Math" pitchFamily="34" charset="-120"/>
              </a:rPr>
              <a:t>R</a:t>
            </a:r>
            <a:endParaRPr lang="en-US" sz="1250" dirty="0"/>
          </a:p>
        </p:txBody>
      </p:sp>
      <p:sp>
        <p:nvSpPr>
          <p:cNvPr id="12" name="Text 10"/>
          <p:cNvSpPr txBox="1"/>
          <p:nvPr/>
        </p:nvSpPr>
        <p:spPr>
          <a:xfrm>
            <a:off x="1645920" y="3291840"/>
            <a:ext cx="3063240" cy="310896"/>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Measurement noise: the sensor's variance</a:t>
            </a:r>
            <a:endParaRPr lang="en-US" sz="1150" dirty="0"/>
          </a:p>
        </p:txBody>
      </p:sp>
      <p:sp>
        <p:nvSpPr>
          <p:cNvPr id="13" name="Text 11"/>
          <p:cNvSpPr txBox="1"/>
          <p:nvPr/>
        </p:nvSpPr>
        <p:spPr>
          <a:xfrm>
            <a:off x="548640" y="3657600"/>
            <a:ext cx="1097280" cy="292608"/>
          </a:xfrm>
          <a:prstGeom prst="rect">
            <a:avLst/>
          </a:prstGeom>
          <a:noFill/>
          <a:ln/>
        </p:spPr>
        <p:txBody>
          <a:bodyPr wrap="square" lIns="0" tIns="0" rIns="0" bIns="0" rtlCol="0" anchor="t"/>
          <a:lstStyle/>
          <a:p>
            <a:pPr indent="0" marL="0">
              <a:buNone/>
            </a:pPr>
            <a:r>
              <a:rPr lang="en-US" sz="1250" dirty="0">
                <a:solidFill>
                  <a:srgbClr val="16A085"/>
                </a:solidFill>
                <a:latin typeface="Cambria Math" pitchFamily="34" charset="0"/>
                <a:ea typeface="Cambria Math" pitchFamily="34" charset="-122"/>
                <a:cs typeface="Cambria Math" pitchFamily="34" charset="-120"/>
              </a:rPr>
              <a:t>z − H · x̂⁻</a:t>
            </a:r>
            <a:endParaRPr lang="en-US" sz="1250" dirty="0"/>
          </a:p>
        </p:txBody>
      </p:sp>
      <p:sp>
        <p:nvSpPr>
          <p:cNvPr id="14" name="Text 12"/>
          <p:cNvSpPr txBox="1"/>
          <p:nvPr/>
        </p:nvSpPr>
        <p:spPr>
          <a:xfrm>
            <a:off x="1645920" y="3657600"/>
            <a:ext cx="3063240" cy="310896"/>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Innovation: reading minus prediction</a:t>
            </a:r>
            <a:endParaRPr lang="en-US" sz="1150" dirty="0"/>
          </a:p>
        </p:txBody>
      </p:sp>
      <p:sp>
        <p:nvSpPr>
          <p:cNvPr id="15" name="Text 13"/>
          <p:cNvSpPr txBox="1"/>
          <p:nvPr/>
        </p:nvSpPr>
        <p:spPr>
          <a:xfrm>
            <a:off x="548640" y="4023360"/>
            <a:ext cx="1097280" cy="292608"/>
          </a:xfrm>
          <a:prstGeom prst="rect">
            <a:avLst/>
          </a:prstGeom>
          <a:noFill/>
          <a:ln/>
        </p:spPr>
        <p:txBody>
          <a:bodyPr wrap="square" lIns="0" tIns="0" rIns="0" bIns="0" rtlCol="0" anchor="t"/>
          <a:lstStyle/>
          <a:p>
            <a:pPr indent="0" marL="0">
              <a:buNone/>
            </a:pPr>
            <a:r>
              <a:rPr lang="en-US" sz="1250" dirty="0">
                <a:solidFill>
                  <a:srgbClr val="16A085"/>
                </a:solidFill>
                <a:latin typeface="Cambria Math" pitchFamily="34" charset="0"/>
                <a:ea typeface="Cambria Math" pitchFamily="34" charset="-122"/>
                <a:cs typeface="Cambria Math" pitchFamily="34" charset="-120"/>
              </a:rPr>
              <a:t>K</a:t>
            </a:r>
            <a:endParaRPr lang="en-US" sz="1250" dirty="0"/>
          </a:p>
        </p:txBody>
      </p:sp>
      <p:sp>
        <p:nvSpPr>
          <p:cNvPr id="16" name="Text 14"/>
          <p:cNvSpPr txBox="1"/>
          <p:nvPr/>
        </p:nvSpPr>
        <p:spPr>
          <a:xfrm>
            <a:off x="1645920" y="4023360"/>
            <a:ext cx="3063240" cy="310896"/>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Kalman gain: 0 trusts the prediction, 1 the sensor</a:t>
            </a:r>
            <a:endParaRPr lang="en-US" sz="1150" dirty="0"/>
          </a:p>
        </p:txBody>
      </p:sp>
      <p:sp>
        <p:nvSpPr>
          <p:cNvPr id="17" name="Shape 15"/>
          <p:cNvSpPr/>
          <p:nvPr/>
        </p:nvSpPr>
        <p:spPr>
          <a:xfrm>
            <a:off x="4937760" y="1097280"/>
            <a:ext cx="3703320" cy="3337560"/>
          </a:xfrm>
          <a:prstGeom prst="roundRect">
            <a:avLst>
              <a:gd name="adj" fmla="val 2192"/>
            </a:avLst>
          </a:prstGeom>
          <a:solidFill>
            <a:srgbClr val="16263A"/>
          </a:solidFill>
          <a:ln w="12700">
            <a:solidFill>
              <a:srgbClr val="16263A"/>
            </a:solidFill>
            <a:prstDash val="solid"/>
          </a:ln>
        </p:spPr>
      </p:sp>
      <p:sp>
        <p:nvSpPr>
          <p:cNvPr id="18" name="Text 16"/>
          <p:cNvSpPr txBox="1"/>
          <p:nvPr/>
        </p:nvSpPr>
        <p:spPr>
          <a:xfrm>
            <a:off x="5166360" y="1234440"/>
            <a:ext cx="3291840" cy="201168"/>
          </a:xfrm>
          <a:prstGeom prst="rect">
            <a:avLst/>
          </a:prstGeom>
          <a:noFill/>
          <a:ln/>
        </p:spPr>
        <p:txBody>
          <a:bodyPr wrap="square" lIns="0" tIns="0" rIns="0" bIns="0" rtlCol="0" anchor="t"/>
          <a:lstStyle/>
          <a:p>
            <a:pPr indent="0" marL="0">
              <a:buNone/>
            </a:pPr>
            <a:r>
              <a:rPr lang="en-US" sz="1000" b="1" spc="100" kern="0" dirty="0">
                <a:solidFill>
                  <a:srgbClr val="16A085"/>
                </a:solidFill>
                <a:latin typeface="Calibri" pitchFamily="34" charset="0"/>
                <a:ea typeface="Calibri" pitchFamily="34" charset="-122"/>
                <a:cs typeface="Calibri" pitchFamily="34" charset="-120"/>
              </a:rPr>
              <a:t>1D EXAMPLE (H = 1)</a:t>
            </a:r>
            <a:endParaRPr lang="en-US" sz="1000" dirty="0"/>
          </a:p>
        </p:txBody>
      </p:sp>
      <p:sp>
        <p:nvSpPr>
          <p:cNvPr id="19" name="Text 17"/>
          <p:cNvSpPr txBox="1"/>
          <p:nvPr/>
        </p:nvSpPr>
        <p:spPr>
          <a:xfrm>
            <a:off x="5166360" y="1481328"/>
            <a:ext cx="3291840" cy="50292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Prediction x̂⁻ = 4 m, P⁻ = 1.5² = 2.25 m². GPS reads z = 6.5 m with R = 1 m².</a:t>
            </a:r>
            <a:endParaRPr lang="en-US" sz="1150" dirty="0"/>
          </a:p>
        </p:txBody>
      </p:sp>
      <p:sp>
        <p:nvSpPr>
          <p:cNvPr id="20" name="Text 18"/>
          <p:cNvSpPr txBox="1"/>
          <p:nvPr/>
        </p:nvSpPr>
        <p:spPr>
          <a:xfrm>
            <a:off x="5166360" y="2093976"/>
            <a:ext cx="2543495" cy="292608"/>
          </a:xfrm>
          <a:prstGeom prst="rect">
            <a:avLst/>
          </a:prstGeom>
          <a:noFill/>
          <a:ln/>
        </p:spPr>
        <p:txBody>
          <a:bodyPr wrap="square" lIns="0" tIns="0" rIns="0" bIns="0" rtlCol="0" anchor="ctr"/>
          <a:lstStyle/>
          <a:p>
            <a:pPr indent="0" marL="0">
              <a:buNone/>
            </a:pPr>
            <a:r>
              <a:rPr lang="en-US" sz="1350" dirty="0">
                <a:solidFill>
                  <a:srgbClr val="FFFFFF"/>
                </a:solidFill>
                <a:latin typeface="Cambria Math" pitchFamily="34" charset="0"/>
                <a:ea typeface="Cambria Math" pitchFamily="34" charset="-122"/>
                <a:cs typeface="Cambria Math" pitchFamily="34" charset="-120"/>
              </a:rPr>
              <a:t>K = 2.25 / (2.25 + 1) = 0.69</a:t>
            </a:r>
            <a:endParaRPr lang="en-US" sz="1350" dirty="0"/>
          </a:p>
        </p:txBody>
      </p:sp>
      <p:sp>
        <p:nvSpPr>
          <p:cNvPr id="21" name="Text 19"/>
          <p:cNvSpPr txBox="1"/>
          <p:nvPr/>
        </p:nvSpPr>
        <p:spPr>
          <a:xfrm>
            <a:off x="5166360" y="2459736"/>
            <a:ext cx="3076773" cy="292608"/>
          </a:xfrm>
          <a:prstGeom prst="rect">
            <a:avLst/>
          </a:prstGeom>
          <a:noFill/>
          <a:ln/>
        </p:spPr>
        <p:txBody>
          <a:bodyPr wrap="square" lIns="0" tIns="0" rIns="0" bIns="0" rtlCol="0" anchor="ctr"/>
          <a:lstStyle/>
          <a:p>
            <a:pPr indent="0" marL="0">
              <a:buNone/>
            </a:pPr>
            <a:r>
              <a:rPr lang="en-US" sz="1350" dirty="0">
                <a:solidFill>
                  <a:srgbClr val="FFFFFF"/>
                </a:solidFill>
                <a:latin typeface="Cambria Math" pitchFamily="34" charset="0"/>
                <a:ea typeface="Cambria Math" pitchFamily="34" charset="-122"/>
                <a:cs typeface="Cambria Math" pitchFamily="34" charset="-120"/>
              </a:rPr>
              <a:t>x̂ = 4 + 0.69 × (6.5 − 4) = 5.73 m</a:t>
            </a:r>
            <a:endParaRPr lang="en-US" sz="1350" dirty="0"/>
          </a:p>
        </p:txBody>
      </p:sp>
      <p:sp>
        <p:nvSpPr>
          <p:cNvPr id="22" name="Text 20"/>
          <p:cNvSpPr txBox="1"/>
          <p:nvPr/>
        </p:nvSpPr>
        <p:spPr>
          <a:xfrm>
            <a:off x="5166360" y="2825496"/>
            <a:ext cx="2810134" cy="292608"/>
          </a:xfrm>
          <a:prstGeom prst="rect">
            <a:avLst/>
          </a:prstGeom>
          <a:noFill/>
          <a:ln/>
        </p:spPr>
        <p:txBody>
          <a:bodyPr wrap="square" lIns="0" tIns="0" rIns="0" bIns="0" rtlCol="0" anchor="ctr"/>
          <a:lstStyle/>
          <a:p>
            <a:pPr indent="0" marL="0">
              <a:buNone/>
            </a:pPr>
            <a:r>
              <a:rPr lang="en-US" sz="1350" dirty="0">
                <a:solidFill>
                  <a:srgbClr val="FFFFFF"/>
                </a:solidFill>
                <a:latin typeface="Cambria Math" pitchFamily="34" charset="0"/>
                <a:ea typeface="Cambria Math" pitchFamily="34" charset="-122"/>
                <a:cs typeface="Cambria Math" pitchFamily="34" charset="-120"/>
              </a:rPr>
              <a:t>P = (1 − 0.69) × 2.25 = 0.69 m²</a:t>
            </a:r>
            <a:endParaRPr lang="en-US" sz="1350" dirty="0"/>
          </a:p>
        </p:txBody>
      </p:sp>
      <p:sp>
        <p:nvSpPr>
          <p:cNvPr id="23" name="Text 21"/>
          <p:cNvSpPr txBox="1"/>
          <p:nvPr/>
        </p:nvSpPr>
        <p:spPr>
          <a:xfrm>
            <a:off x="5166360" y="3291840"/>
            <a:ext cx="3291840" cy="6858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σ = 0.83 m: </a:t>
            </a:r>
            <a:pPr indent="0" marL="0">
              <a:buNone/>
            </a:pPr>
            <a:r>
              <a:rPr lang="en-US" sz="1150" dirty="0">
                <a:solidFill>
                  <a:srgbClr val="E67E22"/>
                </a:solidFill>
                <a:latin typeface="Calibri" pitchFamily="34" charset="0"/>
                <a:ea typeface="Calibri" pitchFamily="34" charset="-122"/>
                <a:cs typeface="Calibri" pitchFamily="34" charset="-120"/>
              </a:rPr>
              <a:t>smaller than both the prediction (1.5 m) and GPS (1 m).</a:t>
            </a:r>
            <a:endParaRPr lang="en-US" sz="11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Predict + Update over Time: The Kalman Filter</a:t>
            </a:r>
            <a:endParaRPr lang="en-US" sz="2400" dirty="0"/>
          </a:p>
        </p:txBody>
      </p:sp>
      <p:pic>
        <p:nvPicPr>
          <p:cNvPr id="3" name="Image 0" descr="C:\Users\xion\AppData\Local\Temp\claude\d--prorfolio-source-portfolio-source\a0e35da0-4b5a-4408-8426-d30cd7a097a8\scratchpad\slides\assets\kf-cycle.png">    </p:cNvPr>
          <p:cNvPicPr>
            <a:picLocks noChangeAspect="1"/>
          </p:cNvPicPr>
          <p:nvPr/>
        </p:nvPicPr>
        <p:blipFill>
          <a:blip r:embed="rId1"/>
          <a:stretch>
            <a:fillRect/>
          </a:stretch>
        </p:blipFill>
        <p:spPr>
          <a:xfrm>
            <a:off x="411480" y="1051560"/>
            <a:ext cx="4480560" cy="2515017"/>
          </a:xfrm>
          <a:prstGeom prst="rect">
            <a:avLst/>
          </a:prstGeom>
        </p:spPr>
      </p:pic>
      <p:sp>
        <p:nvSpPr>
          <p:cNvPr id="4" name="Text 1"/>
          <p:cNvSpPr txBox="1"/>
          <p:nvPr/>
        </p:nvSpPr>
        <p:spPr>
          <a:xfrm>
            <a:off x="5120640" y="1097280"/>
            <a:ext cx="3520440" cy="1463040"/>
          </a:xfrm>
          <a:prstGeom prst="rect">
            <a:avLst/>
          </a:prstGeom>
          <a:noFill/>
          <a:ln/>
        </p:spPr>
        <p:txBody>
          <a:bodyPr wrap="square" lIns="0" tIns="0" rIns="0" bIns="0" rtlCol="0" anchor="t"/>
          <a:lstStyle/>
          <a:p>
            <a:pPr indent="0" marL="0">
              <a:spcAft>
                <a:spcPts val="600"/>
              </a:spcAft>
              <a:buNone/>
            </a:pPr>
            <a:r>
              <a:rPr lang="en-US" sz="1200" b="1" dirty="0">
                <a:solidFill>
                  <a:srgbClr val="FFFFFF"/>
                </a:solidFill>
                <a:latin typeface="Calibri" pitchFamily="34" charset="0"/>
                <a:ea typeface="Calibri" pitchFamily="34" charset="-122"/>
                <a:cs typeface="Calibri" pitchFamily="34" charset="-120"/>
              </a:rPr>
              <a:t>Every step: </a:t>
            </a:r>
            <a:pPr indent="0" marL="0">
              <a:spcAft>
                <a:spcPts val="600"/>
              </a:spcAft>
              <a:buNone/>
            </a:pPr>
            <a:r>
              <a:rPr lang="en-US" sz="1200" dirty="0">
                <a:solidFill>
                  <a:srgbClr val="C9D1DB"/>
                </a:solidFill>
                <a:latin typeface="Calibri" pitchFamily="34" charset="0"/>
                <a:ea typeface="Calibri" pitchFamily="34" charset="-122"/>
                <a:cs typeface="Calibri" pitchFamily="34" charset="-120"/>
              </a:rPr>
              <a:t>predict with odometry. P grows.</a:t>
            </a:r>
            <a:endParaRPr lang="en-US" sz="1200" dirty="0"/>
          </a:p>
          <a:p>
            <a:pPr indent="0" marL="0">
              <a:spcAft>
                <a:spcPts val="600"/>
              </a:spcAft>
              <a:buNone/>
            </a:pPr>
            <a:r>
              <a:rPr lang="en-US" sz="1200" b="1" dirty="0">
                <a:solidFill>
                  <a:srgbClr val="FFFFFF"/>
                </a:solidFill>
                <a:latin typeface="Calibri" pitchFamily="34" charset="0"/>
                <a:ea typeface="Calibri" pitchFamily="34" charset="-122"/>
                <a:cs typeface="Calibri" pitchFamily="34" charset="-120"/>
              </a:rPr>
              <a:t>Every GPS fix: </a:t>
            </a:r>
            <a:pPr indent="0" marL="0">
              <a:spcAft>
                <a:spcPts val="600"/>
              </a:spcAft>
              <a:buNone/>
            </a:pPr>
            <a:r>
              <a:rPr lang="en-US" sz="1200" dirty="0">
                <a:solidFill>
                  <a:srgbClr val="C9D1DB"/>
                </a:solidFill>
                <a:latin typeface="Calibri" pitchFamily="34" charset="0"/>
                <a:ea typeface="Calibri" pitchFamily="34" charset="-122"/>
                <a:cs typeface="Calibri" pitchFamily="34" charset="-120"/>
              </a:rPr>
              <a:t>update. P shrinks.</a:t>
            </a:r>
            <a:endParaRPr lang="en-US" sz="1200" dirty="0"/>
          </a:p>
          <a:p>
            <a:pPr indent="0" marL="0">
              <a:spcAft>
                <a:spcPts val="600"/>
              </a:spcAft>
              <a:buNone/>
            </a:pPr>
            <a:r>
              <a:rPr lang="en-US" sz="1200" dirty="0">
                <a:solidFill>
                  <a:srgbClr val="C9D1DB"/>
                </a:solidFill>
                <a:latin typeface="Calibri" pitchFamily="34" charset="0"/>
                <a:ea typeface="Calibri" pitchFamily="34" charset="-122"/>
                <a:cs typeface="Calibri" pitchFamily="34" charset="-120"/>
              </a:rPr>
              <a:t>K is small while odometry is fresh, and grows with P: the longer since the last fix, the more GPS counts.</a:t>
            </a:r>
            <a:endParaRPr lang="en-US" sz="1200" dirty="0"/>
          </a:p>
        </p:txBody>
      </p:sp>
      <p:sp>
        <p:nvSpPr>
          <p:cNvPr id="5" name="Shape 2"/>
          <p:cNvSpPr/>
          <p:nvPr/>
        </p:nvSpPr>
        <p:spPr>
          <a:xfrm>
            <a:off x="5120640" y="2697480"/>
            <a:ext cx="3520440" cy="1783080"/>
          </a:xfrm>
          <a:prstGeom prst="roundRect">
            <a:avLst>
              <a:gd name="adj" fmla="val 4103"/>
            </a:avLst>
          </a:prstGeom>
          <a:solidFill>
            <a:srgbClr val="16263A"/>
          </a:solidFill>
          <a:ln w="12700">
            <a:solidFill>
              <a:srgbClr val="16263A"/>
            </a:solidFill>
            <a:prstDash val="solid"/>
          </a:ln>
        </p:spPr>
      </p:sp>
      <p:sp>
        <p:nvSpPr>
          <p:cNvPr id="6" name="Text 3"/>
          <p:cNvSpPr txBox="1"/>
          <p:nvPr/>
        </p:nvSpPr>
        <p:spPr>
          <a:xfrm>
            <a:off x="5303520" y="2816352"/>
            <a:ext cx="2011680" cy="292608"/>
          </a:xfrm>
          <a:prstGeom prst="rect">
            <a:avLst/>
          </a:prstGeom>
          <a:noFill/>
          <a:ln/>
        </p:spPr>
        <p:txBody>
          <a:bodyPr wrap="square" lIns="0" tIns="0" rIns="0" bIns="0" rtlCol="0" anchor="t"/>
          <a:lstStyle/>
          <a:p>
            <a:pPr indent="0" marL="0">
              <a:buNone/>
            </a:pPr>
            <a:r>
              <a:rPr lang="en-US" sz="1250" dirty="0">
                <a:solidFill>
                  <a:srgbClr val="C9D1DB"/>
                </a:solidFill>
                <a:latin typeface="Calibri" pitchFamily="34" charset="0"/>
                <a:ea typeface="Calibri" pitchFamily="34" charset="-122"/>
                <a:cs typeface="Calibri" pitchFamily="34" charset="-120"/>
              </a:rPr>
              <a:t>Odometry only</a:t>
            </a:r>
            <a:endParaRPr lang="en-US" sz="1250" dirty="0"/>
          </a:p>
        </p:txBody>
      </p:sp>
      <p:sp>
        <p:nvSpPr>
          <p:cNvPr id="7" name="Text 4"/>
          <p:cNvSpPr txBox="1"/>
          <p:nvPr/>
        </p:nvSpPr>
        <p:spPr>
          <a:xfrm>
            <a:off x="7086600" y="2816352"/>
            <a:ext cx="1371600" cy="292608"/>
          </a:xfrm>
          <a:prstGeom prst="rect">
            <a:avLst/>
          </a:prstGeom>
          <a:noFill/>
          <a:ln/>
        </p:spPr>
        <p:txBody>
          <a:bodyPr wrap="square" lIns="0" tIns="0" rIns="0" bIns="0" rtlCol="0" anchor="t"/>
          <a:lstStyle/>
          <a:p>
            <a:pPr algn="r" indent="0" marL="0">
              <a:buNone/>
            </a:pPr>
            <a:r>
              <a:rPr lang="en-US" sz="1350" b="1" dirty="0">
                <a:solidFill>
                  <a:srgbClr val="C9D1DB"/>
                </a:solidFill>
                <a:latin typeface="Cambria Math" pitchFamily="34" charset="0"/>
                <a:ea typeface="Cambria Math" pitchFamily="34" charset="-122"/>
                <a:cs typeface="Cambria Math" pitchFamily="34" charset="-120"/>
              </a:rPr>
              <a:t>4.85 m</a:t>
            </a:r>
            <a:endParaRPr lang="en-US" sz="1350" dirty="0"/>
          </a:p>
        </p:txBody>
      </p:sp>
      <p:sp>
        <p:nvSpPr>
          <p:cNvPr id="8" name="Text 5"/>
          <p:cNvSpPr txBox="1"/>
          <p:nvPr/>
        </p:nvSpPr>
        <p:spPr>
          <a:xfrm>
            <a:off x="5303520" y="3200400"/>
            <a:ext cx="2011680" cy="292608"/>
          </a:xfrm>
          <a:prstGeom prst="rect">
            <a:avLst/>
          </a:prstGeom>
          <a:noFill/>
          <a:ln/>
        </p:spPr>
        <p:txBody>
          <a:bodyPr wrap="square" lIns="0" tIns="0" rIns="0" bIns="0" rtlCol="0" anchor="t"/>
          <a:lstStyle/>
          <a:p>
            <a:pPr indent="0" marL="0">
              <a:buNone/>
            </a:pPr>
            <a:r>
              <a:rPr lang="en-US" sz="1250" dirty="0">
                <a:solidFill>
                  <a:srgbClr val="C9D1DB"/>
                </a:solidFill>
                <a:latin typeface="Calibri" pitchFamily="34" charset="0"/>
                <a:ea typeface="Calibri" pitchFamily="34" charset="-122"/>
                <a:cs typeface="Calibri" pitchFamily="34" charset="-120"/>
              </a:rPr>
              <a:t>GPS only</a:t>
            </a:r>
            <a:endParaRPr lang="en-US" sz="1250" dirty="0"/>
          </a:p>
        </p:txBody>
      </p:sp>
      <p:sp>
        <p:nvSpPr>
          <p:cNvPr id="9" name="Text 6"/>
          <p:cNvSpPr txBox="1"/>
          <p:nvPr/>
        </p:nvSpPr>
        <p:spPr>
          <a:xfrm>
            <a:off x="7086600" y="3200400"/>
            <a:ext cx="1371600" cy="292608"/>
          </a:xfrm>
          <a:prstGeom prst="rect">
            <a:avLst/>
          </a:prstGeom>
          <a:noFill/>
          <a:ln/>
        </p:spPr>
        <p:txBody>
          <a:bodyPr wrap="square" lIns="0" tIns="0" rIns="0" bIns="0" rtlCol="0" anchor="t"/>
          <a:lstStyle/>
          <a:p>
            <a:pPr algn="r" indent="0" marL="0">
              <a:buNone/>
            </a:pPr>
            <a:r>
              <a:rPr lang="en-US" sz="1350" b="1" dirty="0">
                <a:solidFill>
                  <a:srgbClr val="C9D1DB"/>
                </a:solidFill>
                <a:latin typeface="Cambria Math" pitchFamily="34" charset="0"/>
                <a:ea typeface="Cambria Math" pitchFamily="34" charset="-122"/>
                <a:cs typeface="Cambria Math" pitchFamily="34" charset="-120"/>
              </a:rPr>
              <a:t>4.43 m</a:t>
            </a:r>
            <a:endParaRPr lang="en-US" sz="1350" dirty="0"/>
          </a:p>
        </p:txBody>
      </p:sp>
      <p:sp>
        <p:nvSpPr>
          <p:cNvPr id="10" name="Text 7"/>
          <p:cNvSpPr txBox="1"/>
          <p:nvPr/>
        </p:nvSpPr>
        <p:spPr>
          <a:xfrm>
            <a:off x="5303520" y="3584448"/>
            <a:ext cx="2011680" cy="292608"/>
          </a:xfrm>
          <a:prstGeom prst="rect">
            <a:avLst/>
          </a:prstGeom>
          <a:noFill/>
          <a:ln/>
        </p:spPr>
        <p:txBody>
          <a:bodyPr wrap="square" lIns="0" tIns="0" rIns="0" bIns="0" rtlCol="0" anchor="t"/>
          <a:lstStyle/>
          <a:p>
            <a:pPr indent="0" marL="0">
              <a:buNone/>
            </a:pPr>
            <a:r>
              <a:rPr lang="en-US" sz="1250" dirty="0">
                <a:solidFill>
                  <a:srgbClr val="C9D1DB"/>
                </a:solidFill>
                <a:latin typeface="Calibri" pitchFamily="34" charset="0"/>
                <a:ea typeface="Calibri" pitchFamily="34" charset="-122"/>
                <a:cs typeface="Calibri" pitchFamily="34" charset="-120"/>
              </a:rPr>
              <a:t>Gated reset</a:t>
            </a:r>
            <a:endParaRPr lang="en-US" sz="1250" dirty="0"/>
          </a:p>
        </p:txBody>
      </p:sp>
      <p:sp>
        <p:nvSpPr>
          <p:cNvPr id="11" name="Text 8"/>
          <p:cNvSpPr txBox="1"/>
          <p:nvPr/>
        </p:nvSpPr>
        <p:spPr>
          <a:xfrm>
            <a:off x="7086600" y="3584448"/>
            <a:ext cx="1371600" cy="292608"/>
          </a:xfrm>
          <a:prstGeom prst="rect">
            <a:avLst/>
          </a:prstGeom>
          <a:noFill/>
          <a:ln/>
        </p:spPr>
        <p:txBody>
          <a:bodyPr wrap="square" lIns="0" tIns="0" rIns="0" bIns="0" rtlCol="0" anchor="t"/>
          <a:lstStyle/>
          <a:p>
            <a:pPr algn="r" indent="0" marL="0">
              <a:buNone/>
            </a:pPr>
            <a:r>
              <a:rPr lang="en-US" sz="1350" b="1" dirty="0">
                <a:solidFill>
                  <a:srgbClr val="C9D1DB"/>
                </a:solidFill>
                <a:latin typeface="Cambria Math" pitchFamily="34" charset="0"/>
                <a:ea typeface="Cambria Math" pitchFamily="34" charset="-122"/>
                <a:cs typeface="Cambria Math" pitchFamily="34" charset="-120"/>
              </a:rPr>
              <a:t>4.05 m</a:t>
            </a:r>
            <a:endParaRPr lang="en-US" sz="1350" dirty="0"/>
          </a:p>
        </p:txBody>
      </p:sp>
      <p:sp>
        <p:nvSpPr>
          <p:cNvPr id="12" name="Text 9"/>
          <p:cNvSpPr txBox="1"/>
          <p:nvPr/>
        </p:nvSpPr>
        <p:spPr>
          <a:xfrm>
            <a:off x="5303520" y="3968496"/>
            <a:ext cx="2011680" cy="292608"/>
          </a:xfrm>
          <a:prstGeom prst="rect">
            <a:avLst/>
          </a:prstGeom>
          <a:noFill/>
          <a:ln/>
        </p:spPr>
        <p:txBody>
          <a:bodyPr wrap="square" lIns="0" tIns="0" rIns="0" bIns="0" rtlCol="0" anchor="t"/>
          <a:lstStyle/>
          <a:p>
            <a:pPr indent="0" marL="0">
              <a:buNone/>
            </a:pPr>
            <a:r>
              <a:rPr lang="en-US" sz="1250" b="1" dirty="0">
                <a:solidFill>
                  <a:srgbClr val="16A085"/>
                </a:solidFill>
                <a:latin typeface="Calibri" pitchFamily="34" charset="0"/>
                <a:ea typeface="Calibri" pitchFamily="34" charset="-122"/>
                <a:cs typeface="Calibri" pitchFamily="34" charset="-120"/>
              </a:rPr>
              <a:t>Kalman filter</a:t>
            </a:r>
            <a:endParaRPr lang="en-US" sz="1250" dirty="0"/>
          </a:p>
        </p:txBody>
      </p:sp>
      <p:sp>
        <p:nvSpPr>
          <p:cNvPr id="13" name="Text 10"/>
          <p:cNvSpPr txBox="1"/>
          <p:nvPr/>
        </p:nvSpPr>
        <p:spPr>
          <a:xfrm>
            <a:off x="7086600" y="3968496"/>
            <a:ext cx="1371600" cy="292608"/>
          </a:xfrm>
          <a:prstGeom prst="rect">
            <a:avLst/>
          </a:prstGeom>
          <a:noFill/>
          <a:ln/>
        </p:spPr>
        <p:txBody>
          <a:bodyPr wrap="square" lIns="0" tIns="0" rIns="0" bIns="0" rtlCol="0" anchor="t"/>
          <a:lstStyle/>
          <a:p>
            <a:pPr algn="r" indent="0" marL="0">
              <a:buNone/>
            </a:pPr>
            <a:r>
              <a:rPr lang="en-US" sz="1350" b="1" dirty="0">
                <a:solidFill>
                  <a:srgbClr val="16A085"/>
                </a:solidFill>
                <a:latin typeface="Cambria Math" pitchFamily="34" charset="0"/>
                <a:ea typeface="Cambria Math" pitchFamily="34" charset="-122"/>
                <a:cs typeface="Cambria Math" pitchFamily="34" charset="-120"/>
              </a:rPr>
              <a:t>1.35 m</a:t>
            </a:r>
            <a:endParaRPr lang="en-US" sz="13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Sensor Fusion vs the Kalman Filter</a:t>
            </a:r>
            <a:endParaRPr lang="en-US" sz="2400" dirty="0"/>
          </a:p>
        </p:txBody>
      </p:sp>
      <p:sp>
        <p:nvSpPr>
          <p:cNvPr id="3" name="Text 1"/>
          <p:cNvSpPr txBox="1"/>
          <p:nvPr/>
        </p:nvSpPr>
        <p:spPr>
          <a:xfrm>
            <a:off x="502920" y="1051560"/>
            <a:ext cx="8138160" cy="640080"/>
          </a:xfrm>
          <a:prstGeom prst="rect">
            <a:avLst/>
          </a:prstGeom>
          <a:noFill/>
          <a:ln/>
        </p:spPr>
        <p:txBody>
          <a:bodyPr wrap="square" lIns="0" tIns="0" rIns="0" bIns="0" rtlCol="0" anchor="t"/>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Sensor fusion is the goal: </a:t>
            </a:r>
            <a:pPr indent="0" marL="0">
              <a:spcAft>
                <a:spcPts val="400"/>
              </a:spcAft>
              <a:buNone/>
            </a:pPr>
            <a:r>
              <a:rPr lang="en-US" sz="1300" dirty="0">
                <a:solidFill>
                  <a:srgbClr val="C9D1DB"/>
                </a:solidFill>
                <a:latin typeface="Calibri" pitchFamily="34" charset="0"/>
                <a:ea typeface="Calibri" pitchFamily="34" charset="-122"/>
                <a:cs typeface="Calibri" pitchFamily="34" charset="-120"/>
              </a:rPr>
              <a:t>combine several sensors into one estimate better than any of them.</a:t>
            </a:r>
            <a:endParaRPr lang="en-US" sz="1300" dirty="0"/>
          </a:p>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The Kalman filter is one method: </a:t>
            </a:r>
            <a:pPr indent="0" marL="0">
              <a:spcAft>
                <a:spcPts val="400"/>
              </a:spcAft>
              <a:buNone/>
            </a:pPr>
            <a:r>
              <a:rPr lang="en-US" sz="1300" dirty="0">
                <a:solidFill>
                  <a:srgbClr val="C9D1DB"/>
                </a:solidFill>
                <a:latin typeface="Calibri" pitchFamily="34" charset="0"/>
                <a:ea typeface="Calibri" pitchFamily="34" charset="-122"/>
                <a:cs typeface="Calibri" pitchFamily="34" charset="-120"/>
              </a:rPr>
              <a:t>the best one when the models are linear and the noise is Gaussian.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8138160" cy="914400"/>
        </p:xfrm>
        <a:graphic>
          <a:graphicData uri="http://schemas.openxmlformats.org/drawingml/2006/table">
            <a:tbl>
              <a:tblPr/>
              <a:tblGrid>
                <a:gridCol w="1554480"/>
                <a:gridCol w="3017520"/>
                <a:gridCol w="3566160"/>
              </a:tblGrid>
              <a:tr h="347472">
                <a:tc>
                  <a:txBody>
                    <a:bodyPr/>
                    <a:lstStyle/>
                    <a:p>
                      <a:pPr indent="0" marL="0">
                        <a:buNone/>
                      </a:pPr>
                      <a:endParaRPr lang="en-US" sz="110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3293D"/>
                    </a:solidFill>
                  </a:tcPr>
                </a:tc>
                <a:tc>
                  <a:txBody>
                    <a:bodyPr/>
                    <a:lstStyle/>
                    <a:p>
                      <a:pPr indent="0" marL="0">
                        <a:buNone/>
                      </a:pPr>
                      <a:r>
                        <a:rPr lang="en-US" sz="1100" b="1" dirty="0">
                          <a:solidFill>
                            <a:srgbClr val="16A085"/>
                          </a:solidFill>
                          <a:latin typeface="Calibri" pitchFamily="34" charset="0"/>
                          <a:ea typeface="Calibri" pitchFamily="34" charset="-122"/>
                          <a:cs typeface="Calibri" pitchFamily="34" charset="-120"/>
                        </a:rPr>
                        <a:t>Uses a Kalman filter</a:t>
                      </a:r>
                      <a:endParaRPr lang="en-US" sz="110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3293D"/>
                    </a:solidFill>
                  </a:tcPr>
                </a:tc>
                <a:tc>
                  <a:txBody>
                    <a:bodyPr/>
                    <a:lstStyle/>
                    <a:p>
                      <a:pPr indent="0" marL="0">
                        <a:buNone/>
                      </a:pPr>
                      <a:r>
                        <a:rPr lang="en-US" sz="1100" b="1" dirty="0">
                          <a:solidFill>
                            <a:srgbClr val="16A085"/>
                          </a:solidFill>
                          <a:latin typeface="Calibri" pitchFamily="34" charset="0"/>
                          <a:ea typeface="Calibri" pitchFamily="34" charset="-122"/>
                          <a:cs typeface="Calibri" pitchFamily="34" charset="-120"/>
                        </a:rPr>
                        <a:t>No Kalman filter</a:t>
                      </a:r>
                      <a:endParaRPr lang="en-US" sz="110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3293D"/>
                    </a:solidFill>
                  </a:tcPr>
                </a:tc>
              </a:tr>
              <a:tr h="6858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Fuses sensors</a:t>
                      </a:r>
                      <a:endParaRPr lang="en-US" sz="115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150" dirty="0">
                          <a:solidFill>
                            <a:srgbClr val="C9D1DB"/>
                          </a:solidFill>
                          <a:latin typeface="Calibri" pitchFamily="34" charset="0"/>
                          <a:ea typeface="Calibri" pitchFamily="34" charset="-122"/>
                          <a:cs typeface="Calibri" pitchFamily="34" charset="-120"/>
                        </a:rPr>
                        <a:t>Lab 3 Activity 3: odometry + GPS</a:t>
                      </a:r>
                      <a:endParaRPr lang="en-US" sz="115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150" dirty="0">
                          <a:solidFill>
                            <a:srgbClr val="C9D1DB"/>
                          </a:solidFill>
                          <a:latin typeface="Calibri" pitchFamily="34" charset="0"/>
                          <a:ea typeface="Calibri" pitchFamily="34" charset="-122"/>
                          <a:cs typeface="Calibri" pitchFamily="34" charset="-120"/>
                        </a:rPr>
                        <a:t>Two GPS units averaged by 1/σ²; Lecture 4's occupancy grid fuses LiDAR beams with Bayes' rule</a:t>
                      </a:r>
                      <a:endParaRPr lang="en-US" sz="115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r>
              <a:tr h="5486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One sensor only</a:t>
                      </a:r>
                      <a:endParaRPr lang="en-US" sz="115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150" dirty="0">
                          <a:solidFill>
                            <a:srgbClr val="C9D1DB"/>
                          </a:solidFill>
                          <a:latin typeface="Calibri" pitchFamily="34" charset="0"/>
                          <a:ea typeface="Calibri" pitchFamily="34" charset="-122"/>
                          <a:cs typeface="Calibri" pitchFamily="34" charset="-120"/>
                        </a:rPr>
                        <a:t>Lab 3 Activity 1: one noisy sensor + a motion model</a:t>
                      </a:r>
                      <a:endParaRPr lang="en-US" sz="115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150" dirty="0">
                          <a:solidFill>
                            <a:srgbClr val="C9D1DB"/>
                          </a:solidFill>
                          <a:latin typeface="Calibri" pitchFamily="34" charset="0"/>
                          <a:ea typeface="Calibri" pitchFamily="34" charset="-122"/>
                          <a:cs typeface="Calibri" pitchFamily="34" charset="-120"/>
                        </a:rPr>
                        <a:t>Dead reckoning: just add up odometry</a:t>
                      </a:r>
                      <a:endParaRPr lang="en-US" sz="1150" dirty="0">
                        <a:latin typeface="Calibri" charset="0"/>
                        <a:ea typeface="Calibri" charset="0"/>
                        <a:cs typeface="Calibri" charset="0"/>
                      </a:endParaRPr>
                    </a:p>
                  </a:txBody>
                  <a:tcPr marL="73152" marR="73152" marT="73152" marB="73152"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r>
            </a:tbl>
          </a:graphicData>
        </a:graphic>
      </p:graphicFrame>
      <p:sp>
        <p:nvSpPr>
          <p:cNvPr id="5" name="Text 2"/>
          <p:cNvSpPr txBox="1"/>
          <p:nvPr/>
        </p:nvSpPr>
        <p:spPr>
          <a:xfrm>
            <a:off x="502920" y="3703320"/>
            <a:ext cx="8138160" cy="457200"/>
          </a:xfrm>
          <a:prstGeom prst="rect">
            <a:avLst/>
          </a:prstGeom>
          <a:noFill/>
          <a:ln/>
        </p:spPr>
        <p:txBody>
          <a:bodyPr wrap="square" lIns="0" tIns="0" rIns="0" bIns="0" rtlCol="0" anchor="t"/>
          <a:lstStyle/>
          <a:p>
            <a:pPr indent="0" marL="0">
              <a:buNone/>
            </a:pPr>
            <a:r>
              <a:rPr lang="en-US" sz="1150" i="1" dirty="0">
                <a:solidFill>
                  <a:srgbClr val="8C99A8"/>
                </a:solidFill>
                <a:latin typeface="Calibri" pitchFamily="34" charset="0"/>
                <a:ea typeface="Calibri" pitchFamily="34" charset="-122"/>
                <a:cs typeface="Calibri" pitchFamily="34" charset="-120"/>
              </a:rPr>
              <a:t>Other fusion methods: complementary filters (common for IMUs), extended and unscented Kalman filters (Lecture 3), particle filters, learned fusion.</a:t>
            </a:r>
            <a:endParaRPr lang="en-US" sz="11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From Numbers to Matrices</a:t>
            </a:r>
            <a:endParaRPr lang="en-US" sz="2400" dirty="0"/>
          </a:p>
        </p:txBody>
      </p:sp>
      <p:sp>
        <p:nvSpPr>
          <p:cNvPr id="3" name="Text 1"/>
          <p:cNvSpPr txBox="1"/>
          <p:nvPr/>
        </p:nvSpPr>
        <p:spPr>
          <a:xfrm>
            <a:off x="502920" y="1051560"/>
            <a:ext cx="813816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 2D the equations stay exactly the same. Every number becomes a vector or a matrix.</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4846320" cy="914400"/>
        </p:xfrm>
        <a:graphic>
          <a:graphicData uri="http://schemas.openxmlformats.org/drawingml/2006/table">
            <a:tbl>
              <a:tblPr/>
              <a:tblGrid>
                <a:gridCol w="960120"/>
                <a:gridCol w="1417320"/>
                <a:gridCol w="2468880"/>
              </a:tblGrid>
              <a:tr h="384048">
                <a:tc>
                  <a:txBody>
                    <a:bodyPr/>
                    <a:lstStyle/>
                    <a:p>
                      <a:pPr indent="0" marL="0">
                        <a:buNone/>
                      </a:pPr>
                      <a:endParaRPr lang="en-US" sz="1100" dirty="0">
                        <a:latin typeface="Calibri" charset="0"/>
                        <a:ea typeface="Calibri" charset="0"/>
                        <a:cs typeface="Calibri"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3293D"/>
                    </a:solidFill>
                  </a:tcPr>
                </a:tc>
                <a:tc>
                  <a:txBody>
                    <a:bodyPr/>
                    <a:lstStyle/>
                    <a:p>
                      <a:pPr indent="0" marL="0">
                        <a:buNone/>
                      </a:pPr>
                      <a:r>
                        <a:rPr lang="en-US" sz="1100" b="1" dirty="0">
                          <a:solidFill>
                            <a:srgbClr val="16A085"/>
                          </a:solidFill>
                          <a:latin typeface="Calibri" pitchFamily="34" charset="0"/>
                          <a:ea typeface="Calibri" pitchFamily="34" charset="-122"/>
                          <a:cs typeface="Calibri" pitchFamily="34" charset="-120"/>
                        </a:rPr>
                        <a:t>1D (one number)</a:t>
                      </a:r>
                      <a:endParaRPr lang="en-US" sz="1100" dirty="0">
                        <a:latin typeface="Calibri" charset="0"/>
                        <a:ea typeface="Calibri" charset="0"/>
                        <a:cs typeface="Calibri"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3293D"/>
                    </a:solidFill>
                  </a:tcPr>
                </a:tc>
                <a:tc>
                  <a:txBody>
                    <a:bodyPr/>
                    <a:lstStyle/>
                    <a:p>
                      <a:pPr indent="0" marL="0">
                        <a:buNone/>
                      </a:pPr>
                      <a:r>
                        <a:rPr lang="en-US" sz="1100" b="1" dirty="0">
                          <a:solidFill>
                            <a:srgbClr val="16A085"/>
                          </a:solidFill>
                          <a:latin typeface="Calibri" pitchFamily="34" charset="0"/>
                          <a:ea typeface="Calibri" pitchFamily="34" charset="-122"/>
                          <a:cs typeface="Calibri" pitchFamily="34" charset="-120"/>
                        </a:rPr>
                        <a:t>2D (the robot in the plane)</a:t>
                      </a:r>
                      <a:endParaRPr lang="en-US" sz="1100" dirty="0">
                        <a:latin typeface="Calibri" charset="0"/>
                        <a:ea typeface="Calibri" charset="0"/>
                        <a:cs typeface="Calibri"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3293D"/>
                    </a:solidFill>
                  </a:tcPr>
                </a:tc>
              </a:tr>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x</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x = [x, y]ᵀ   a column vector</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r>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Uncertainty</a:t>
                      </a:r>
                      <a:endParaRPr lang="en-US" sz="1200" dirty="0">
                        <a:latin typeface="Calibri" charset="0"/>
                        <a:ea typeface="Calibri" charset="0"/>
                        <a:cs typeface="Calibri"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P   a variance</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P = [[P₁₁, P₁₂], [P₂₁, P₂₂]]   a covariance matrix</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r>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Gain</a:t>
                      </a:r>
                      <a:endParaRPr lang="en-US" sz="1200" dirty="0">
                        <a:latin typeface="Calibri" charset="0"/>
                        <a:ea typeface="Calibri" charset="0"/>
                        <a:cs typeface="Calibri"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K = P / (P + R)</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K = P · Hᵀ · (H · P · Hᵀ + R)⁻¹</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r>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Picture</a:t>
                      </a:r>
                      <a:endParaRPr lang="en-US" sz="1200" dirty="0">
                        <a:latin typeface="Calibri" charset="0"/>
                        <a:ea typeface="Calibri" charset="0"/>
                        <a:cs typeface="Calibri"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a bell curve</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c>
                  <a:txBody>
                    <a:bodyPr/>
                    <a:lstStyle/>
                    <a:p>
                      <a:pPr indent="0" marL="0">
                        <a:buNone/>
                      </a:pPr>
                      <a:r>
                        <a:rPr lang="en-US" sz="1200" dirty="0">
                          <a:solidFill>
                            <a:srgbClr val="C9D1DB"/>
                          </a:solidFill>
                          <a:latin typeface="Cambria Math" pitchFamily="34" charset="0"/>
                          <a:ea typeface="Cambria Math" pitchFamily="34" charset="-122"/>
                          <a:cs typeface="Cambria Math" pitchFamily="34" charset="-120"/>
                        </a:rPr>
                        <a:t>an ellipse</a:t>
                      </a:r>
                      <a:endParaRPr lang="en-US" sz="1200" dirty="0">
                        <a:latin typeface="Cambria Math" charset="0"/>
                        <a:ea typeface="Cambria Math" charset="0"/>
                        <a:cs typeface="Cambria Math" charset="0"/>
                      </a:endParaRPr>
                    </a:p>
                  </a:txBody>
                  <a:tcPr marL="54864" marR="54864" marT="54864" marB="54864" anchor="ctr">
                    <a:lnL w="19050" cap="flat" cmpd="sng" algn="ctr">
                      <a:solidFill>
                        <a:srgbClr val="0E1B2B"/>
                      </a:solidFill>
                      <a:prstDash val="solid"/>
                      <a:round/>
                      <a:headEnd type="none" w="med" len="med"/>
                      <a:tailEnd type="none" w="med" len="med"/>
                    </a:lnL>
                    <a:lnR w="19050" cap="flat" cmpd="sng" algn="ctr">
                      <a:solidFill>
                        <a:srgbClr val="0E1B2B"/>
                      </a:solidFill>
                      <a:prstDash val="solid"/>
                      <a:round/>
                      <a:headEnd type="none" w="med" len="med"/>
                      <a:tailEnd type="none" w="med" len="med"/>
                    </a:lnR>
                    <a:lnT w="19050" cap="flat" cmpd="sng" algn="ctr">
                      <a:solidFill>
                        <a:srgbClr val="0E1B2B"/>
                      </a:solidFill>
                      <a:prstDash val="solid"/>
                      <a:round/>
                      <a:headEnd type="none" w="med" len="med"/>
                      <a:tailEnd type="none" w="med" len="med"/>
                    </a:lnT>
                    <a:lnB w="19050" cap="flat" cmpd="sng" algn="ctr">
                      <a:solidFill>
                        <a:srgbClr val="0E1B2B"/>
                      </a:solidFill>
                      <a:prstDash val="solid"/>
                      <a:round/>
                      <a:headEnd type="none" w="med" len="med"/>
                      <a:tailEnd type="none" w="med" len="med"/>
                    </a:lnB>
                    <a:solidFill>
                      <a:srgbClr val="16263A"/>
                    </a:solidFill>
                  </a:tcPr>
                </a:tc>
              </a:tr>
            </a:tbl>
          </a:graphicData>
        </a:graphic>
      </p:graphicFrame>
      <p:sp>
        <p:nvSpPr>
          <p:cNvPr id="5" name="Shape 2"/>
          <p:cNvSpPr/>
          <p:nvPr/>
        </p:nvSpPr>
        <p:spPr>
          <a:xfrm>
            <a:off x="5806440" y="1417320"/>
            <a:ext cx="2834640" cy="1920240"/>
          </a:xfrm>
          <a:prstGeom prst="rect">
            <a:avLst/>
          </a:prstGeom>
          <a:solidFill>
            <a:srgbClr val="0A1522"/>
          </a:solidFill>
          <a:ln w="9525">
            <a:solidFill>
              <a:srgbClr val="2A3A4E"/>
            </a:solidFill>
            <a:prstDash val="solid"/>
          </a:ln>
        </p:spPr>
      </p:sp>
      <p:sp>
        <p:nvSpPr>
          <p:cNvPr id="6" name="Shape 3"/>
          <p:cNvSpPr/>
          <p:nvPr/>
        </p:nvSpPr>
        <p:spPr>
          <a:xfrm>
            <a:off x="5806440" y="1417320"/>
            <a:ext cx="0" cy="1920240"/>
          </a:xfrm>
          <a:prstGeom prst="line">
            <a:avLst/>
          </a:prstGeom>
          <a:noFill/>
          <a:ln w="6350">
            <a:solidFill>
              <a:srgbClr val="1E2E42"/>
            </a:solidFill>
            <a:prstDash val="solid"/>
          </a:ln>
        </p:spPr>
      </p:sp>
      <p:sp>
        <p:nvSpPr>
          <p:cNvPr id="7" name="Text 4"/>
          <p:cNvSpPr txBox="1"/>
          <p:nvPr/>
        </p:nvSpPr>
        <p:spPr>
          <a:xfrm>
            <a:off x="5715000" y="3355848"/>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8" name="Shape 5"/>
          <p:cNvSpPr/>
          <p:nvPr/>
        </p:nvSpPr>
        <p:spPr>
          <a:xfrm>
            <a:off x="6278880" y="1417320"/>
            <a:ext cx="0" cy="1920240"/>
          </a:xfrm>
          <a:prstGeom prst="line">
            <a:avLst/>
          </a:prstGeom>
          <a:noFill/>
          <a:ln w="6350">
            <a:solidFill>
              <a:srgbClr val="1E2E42"/>
            </a:solidFill>
            <a:prstDash val="solid"/>
          </a:ln>
        </p:spPr>
      </p:sp>
      <p:sp>
        <p:nvSpPr>
          <p:cNvPr id="9" name="Text 6"/>
          <p:cNvSpPr txBox="1"/>
          <p:nvPr/>
        </p:nvSpPr>
        <p:spPr>
          <a:xfrm>
            <a:off x="6187440" y="3355848"/>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10" name="Shape 7"/>
          <p:cNvSpPr/>
          <p:nvPr/>
        </p:nvSpPr>
        <p:spPr>
          <a:xfrm>
            <a:off x="6751320" y="1417320"/>
            <a:ext cx="0" cy="1920240"/>
          </a:xfrm>
          <a:prstGeom prst="line">
            <a:avLst/>
          </a:prstGeom>
          <a:noFill/>
          <a:ln w="6350">
            <a:solidFill>
              <a:srgbClr val="1E2E42"/>
            </a:solidFill>
            <a:prstDash val="solid"/>
          </a:ln>
        </p:spPr>
      </p:sp>
      <p:sp>
        <p:nvSpPr>
          <p:cNvPr id="11" name="Text 8"/>
          <p:cNvSpPr txBox="1"/>
          <p:nvPr/>
        </p:nvSpPr>
        <p:spPr>
          <a:xfrm>
            <a:off x="6659880" y="3355848"/>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12" name="Shape 9"/>
          <p:cNvSpPr/>
          <p:nvPr/>
        </p:nvSpPr>
        <p:spPr>
          <a:xfrm>
            <a:off x="7223760" y="1417320"/>
            <a:ext cx="0" cy="1920240"/>
          </a:xfrm>
          <a:prstGeom prst="line">
            <a:avLst/>
          </a:prstGeom>
          <a:noFill/>
          <a:ln w="6350">
            <a:solidFill>
              <a:srgbClr val="1E2E42"/>
            </a:solidFill>
            <a:prstDash val="solid"/>
          </a:ln>
        </p:spPr>
      </p:sp>
      <p:sp>
        <p:nvSpPr>
          <p:cNvPr id="13" name="Text 10"/>
          <p:cNvSpPr txBox="1"/>
          <p:nvPr/>
        </p:nvSpPr>
        <p:spPr>
          <a:xfrm>
            <a:off x="7132320" y="3355848"/>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14" name="Shape 11"/>
          <p:cNvSpPr/>
          <p:nvPr/>
        </p:nvSpPr>
        <p:spPr>
          <a:xfrm>
            <a:off x="7696200" y="1417320"/>
            <a:ext cx="0" cy="1920240"/>
          </a:xfrm>
          <a:prstGeom prst="line">
            <a:avLst/>
          </a:prstGeom>
          <a:noFill/>
          <a:ln w="6350">
            <a:solidFill>
              <a:srgbClr val="1E2E42"/>
            </a:solidFill>
            <a:prstDash val="solid"/>
          </a:ln>
        </p:spPr>
      </p:sp>
      <p:sp>
        <p:nvSpPr>
          <p:cNvPr id="15" name="Text 12"/>
          <p:cNvSpPr txBox="1"/>
          <p:nvPr/>
        </p:nvSpPr>
        <p:spPr>
          <a:xfrm>
            <a:off x="7604760" y="3355848"/>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16" name="Shape 13"/>
          <p:cNvSpPr/>
          <p:nvPr/>
        </p:nvSpPr>
        <p:spPr>
          <a:xfrm>
            <a:off x="8168640" y="1417320"/>
            <a:ext cx="0" cy="1920240"/>
          </a:xfrm>
          <a:prstGeom prst="line">
            <a:avLst/>
          </a:prstGeom>
          <a:noFill/>
          <a:ln w="6350">
            <a:solidFill>
              <a:srgbClr val="1E2E42"/>
            </a:solidFill>
            <a:prstDash val="solid"/>
          </a:ln>
        </p:spPr>
      </p:sp>
      <p:sp>
        <p:nvSpPr>
          <p:cNvPr id="17" name="Text 14"/>
          <p:cNvSpPr txBox="1"/>
          <p:nvPr/>
        </p:nvSpPr>
        <p:spPr>
          <a:xfrm>
            <a:off x="8077200" y="3355848"/>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5</a:t>
            </a:r>
            <a:endParaRPr lang="en-US" sz="700" dirty="0"/>
          </a:p>
        </p:txBody>
      </p:sp>
      <p:sp>
        <p:nvSpPr>
          <p:cNvPr id="18" name="Shape 15"/>
          <p:cNvSpPr/>
          <p:nvPr/>
        </p:nvSpPr>
        <p:spPr>
          <a:xfrm>
            <a:off x="8641080" y="1417320"/>
            <a:ext cx="0" cy="1920240"/>
          </a:xfrm>
          <a:prstGeom prst="line">
            <a:avLst/>
          </a:prstGeom>
          <a:noFill/>
          <a:ln w="6350">
            <a:solidFill>
              <a:srgbClr val="1E2E42"/>
            </a:solidFill>
            <a:prstDash val="solid"/>
          </a:ln>
        </p:spPr>
      </p:sp>
      <p:sp>
        <p:nvSpPr>
          <p:cNvPr id="19" name="Text 16"/>
          <p:cNvSpPr txBox="1"/>
          <p:nvPr/>
        </p:nvSpPr>
        <p:spPr>
          <a:xfrm>
            <a:off x="8549640" y="3355848"/>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6</a:t>
            </a:r>
            <a:endParaRPr lang="en-US" sz="700" dirty="0"/>
          </a:p>
        </p:txBody>
      </p:sp>
      <p:sp>
        <p:nvSpPr>
          <p:cNvPr id="20" name="Shape 17"/>
          <p:cNvSpPr/>
          <p:nvPr/>
        </p:nvSpPr>
        <p:spPr>
          <a:xfrm>
            <a:off x="5806440" y="3337560"/>
            <a:ext cx="2834640" cy="0"/>
          </a:xfrm>
          <a:prstGeom prst="line">
            <a:avLst/>
          </a:prstGeom>
          <a:noFill/>
          <a:ln w="6350">
            <a:solidFill>
              <a:srgbClr val="1E2E42"/>
            </a:solidFill>
            <a:prstDash val="solid"/>
          </a:ln>
        </p:spPr>
      </p:sp>
      <p:sp>
        <p:nvSpPr>
          <p:cNvPr id="21" name="Text 18"/>
          <p:cNvSpPr txBox="1"/>
          <p:nvPr/>
        </p:nvSpPr>
        <p:spPr>
          <a:xfrm>
            <a:off x="5623560" y="326440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22" name="Shape 19"/>
          <p:cNvSpPr/>
          <p:nvPr/>
        </p:nvSpPr>
        <p:spPr>
          <a:xfrm>
            <a:off x="5806440" y="2857500"/>
            <a:ext cx="2834640" cy="0"/>
          </a:xfrm>
          <a:prstGeom prst="line">
            <a:avLst/>
          </a:prstGeom>
          <a:noFill/>
          <a:ln w="6350">
            <a:solidFill>
              <a:srgbClr val="1E2E42"/>
            </a:solidFill>
            <a:prstDash val="solid"/>
          </a:ln>
        </p:spPr>
      </p:sp>
      <p:sp>
        <p:nvSpPr>
          <p:cNvPr id="23" name="Text 20"/>
          <p:cNvSpPr txBox="1"/>
          <p:nvPr/>
        </p:nvSpPr>
        <p:spPr>
          <a:xfrm>
            <a:off x="5623560" y="278434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24" name="Shape 21"/>
          <p:cNvSpPr/>
          <p:nvPr/>
        </p:nvSpPr>
        <p:spPr>
          <a:xfrm>
            <a:off x="5806440" y="2377440"/>
            <a:ext cx="2834640" cy="0"/>
          </a:xfrm>
          <a:prstGeom prst="line">
            <a:avLst/>
          </a:prstGeom>
          <a:noFill/>
          <a:ln w="6350">
            <a:solidFill>
              <a:srgbClr val="1E2E42"/>
            </a:solidFill>
            <a:prstDash val="solid"/>
          </a:ln>
        </p:spPr>
      </p:sp>
      <p:sp>
        <p:nvSpPr>
          <p:cNvPr id="25" name="Text 22"/>
          <p:cNvSpPr txBox="1"/>
          <p:nvPr/>
        </p:nvSpPr>
        <p:spPr>
          <a:xfrm>
            <a:off x="5623560" y="230428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26" name="Shape 23"/>
          <p:cNvSpPr/>
          <p:nvPr/>
        </p:nvSpPr>
        <p:spPr>
          <a:xfrm>
            <a:off x="5806440" y="1897380"/>
            <a:ext cx="2834640" cy="0"/>
          </a:xfrm>
          <a:prstGeom prst="line">
            <a:avLst/>
          </a:prstGeom>
          <a:noFill/>
          <a:ln w="6350">
            <a:solidFill>
              <a:srgbClr val="1E2E42"/>
            </a:solidFill>
            <a:prstDash val="solid"/>
          </a:ln>
        </p:spPr>
      </p:sp>
      <p:sp>
        <p:nvSpPr>
          <p:cNvPr id="27" name="Text 24"/>
          <p:cNvSpPr txBox="1"/>
          <p:nvPr/>
        </p:nvSpPr>
        <p:spPr>
          <a:xfrm>
            <a:off x="5623560" y="182422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28" name="Shape 25"/>
          <p:cNvSpPr/>
          <p:nvPr/>
        </p:nvSpPr>
        <p:spPr>
          <a:xfrm>
            <a:off x="5806440" y="1417320"/>
            <a:ext cx="2834640" cy="0"/>
          </a:xfrm>
          <a:prstGeom prst="line">
            <a:avLst/>
          </a:prstGeom>
          <a:noFill/>
          <a:ln w="6350">
            <a:solidFill>
              <a:srgbClr val="1E2E42"/>
            </a:solidFill>
            <a:prstDash val="solid"/>
          </a:ln>
        </p:spPr>
      </p:sp>
      <p:sp>
        <p:nvSpPr>
          <p:cNvPr id="29" name="Text 26"/>
          <p:cNvSpPr txBox="1"/>
          <p:nvPr/>
        </p:nvSpPr>
        <p:spPr>
          <a:xfrm>
            <a:off x="5623560" y="134416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30" name="Shape 27"/>
          <p:cNvSpPr/>
          <p:nvPr/>
        </p:nvSpPr>
        <p:spPr>
          <a:xfrm>
            <a:off x="5894213" y="2044845"/>
            <a:ext cx="1336262" cy="665191"/>
          </a:xfrm>
          <a:prstGeom prst="ellipse">
            <a:avLst/>
          </a:prstGeom>
          <a:solidFill>
            <a:srgbClr val="3498DB">
              <a:alpha val="20000"/>
            </a:srgbClr>
          </a:solidFill>
          <a:ln w="22225">
            <a:solidFill>
              <a:srgbClr val="3498DB"/>
            </a:solidFill>
            <a:prstDash val="solid"/>
          </a:ln>
        </p:spPr>
      </p:sp>
      <p:sp>
        <p:nvSpPr>
          <p:cNvPr id="31" name="Shape 28"/>
          <p:cNvSpPr/>
          <p:nvPr/>
        </p:nvSpPr>
        <p:spPr>
          <a:xfrm rot="-2700000">
            <a:off x="6966796" y="2005587"/>
            <a:ext cx="1742273" cy="743706"/>
          </a:xfrm>
          <a:prstGeom prst="ellipse">
            <a:avLst/>
          </a:prstGeom>
          <a:solidFill>
            <a:srgbClr val="E67E22">
              <a:alpha val="20000"/>
            </a:srgbClr>
          </a:solidFill>
          <a:ln w="22225">
            <a:solidFill>
              <a:srgbClr val="E67E22"/>
            </a:solidFill>
            <a:prstDash val="solid"/>
          </a:ln>
        </p:spPr>
      </p:sp>
      <p:sp>
        <p:nvSpPr>
          <p:cNvPr id="32" name="Text 29"/>
          <p:cNvSpPr txBox="1"/>
          <p:nvPr/>
        </p:nvSpPr>
        <p:spPr>
          <a:xfrm>
            <a:off x="6035040" y="2852928"/>
            <a:ext cx="914400" cy="182880"/>
          </a:xfrm>
          <a:prstGeom prst="rect">
            <a:avLst/>
          </a:prstGeom>
          <a:noFill/>
          <a:ln/>
        </p:spPr>
        <p:txBody>
          <a:bodyPr wrap="square" lIns="0" tIns="0" rIns="0" bIns="0" rtlCol="0" anchor="t"/>
          <a:lstStyle/>
          <a:p>
            <a:pPr algn="ctr" indent="0" marL="0">
              <a:buNone/>
            </a:pPr>
            <a:r>
              <a:rPr lang="en-US" sz="1000" dirty="0">
                <a:solidFill>
                  <a:srgbClr val="3498DB"/>
                </a:solidFill>
                <a:latin typeface="Cambria Math" pitchFamily="34" charset="0"/>
                <a:ea typeface="Cambria Math" pitchFamily="34" charset="-122"/>
                <a:cs typeface="Cambria Math" pitchFamily="34" charset="-120"/>
              </a:rPr>
              <a:t>P₁₂ = 0</a:t>
            </a:r>
            <a:endParaRPr lang="en-US" sz="1000" dirty="0"/>
          </a:p>
        </p:txBody>
      </p:sp>
      <p:sp>
        <p:nvSpPr>
          <p:cNvPr id="33" name="Text 30"/>
          <p:cNvSpPr txBox="1"/>
          <p:nvPr/>
        </p:nvSpPr>
        <p:spPr>
          <a:xfrm>
            <a:off x="7315200" y="3017520"/>
            <a:ext cx="914400" cy="182880"/>
          </a:xfrm>
          <a:prstGeom prst="rect">
            <a:avLst/>
          </a:prstGeom>
          <a:noFill/>
          <a:ln/>
        </p:spPr>
        <p:txBody>
          <a:bodyPr wrap="square" lIns="0" tIns="0" rIns="0" bIns="0" rtlCol="0" anchor="t"/>
          <a:lstStyle/>
          <a:p>
            <a:pPr algn="ctr" indent="0" marL="0">
              <a:buNone/>
            </a:pPr>
            <a:r>
              <a:rPr lang="en-US" sz="1000" dirty="0">
                <a:solidFill>
                  <a:srgbClr val="E67E22"/>
                </a:solidFill>
                <a:latin typeface="Cambria Math" pitchFamily="34" charset="0"/>
                <a:ea typeface="Cambria Math" pitchFamily="34" charset="-122"/>
                <a:cs typeface="Cambria Math" pitchFamily="34" charset="-120"/>
              </a:rPr>
              <a:t>P₁₂ &gt; 0</a:t>
            </a:r>
            <a:endParaRPr lang="en-US" sz="1000" dirty="0"/>
          </a:p>
        </p:txBody>
      </p:sp>
      <p:sp>
        <p:nvSpPr>
          <p:cNvPr id="34" name="Text 31"/>
          <p:cNvSpPr txBox="1"/>
          <p:nvPr/>
        </p:nvSpPr>
        <p:spPr>
          <a:xfrm>
            <a:off x="502920" y="3520440"/>
            <a:ext cx="8138160" cy="59436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Calibri" pitchFamily="34" charset="0"/>
                <a:ea typeface="Calibri" pitchFamily="34" charset="-122"/>
                <a:cs typeface="Calibri" pitchFamily="34" charset="-120"/>
              </a:rPr>
              <a:t>Diagonal </a:t>
            </a:r>
            <a:pPr indent="0" marL="0">
              <a:spcAft>
                <a:spcPts val="400"/>
              </a:spcAft>
              <a:buNone/>
            </a:pPr>
            <a:r>
              <a:rPr lang="en-US" sz="1200" dirty="0">
                <a:solidFill>
                  <a:srgbClr val="C9D1DB"/>
                </a:solidFill>
                <a:latin typeface="Calibri" pitchFamily="34" charset="0"/>
                <a:ea typeface="Calibri" pitchFamily="34" charset="-122"/>
                <a:cs typeface="Calibri" pitchFamily="34" charset="-120"/>
              </a:rPr>
              <a:t>P₁₁, P₂₂: the variances in x and in y.</a:t>
            </a:r>
            <a:endParaRPr lang="en-US" sz="1200" dirty="0"/>
          </a:p>
          <a:p>
            <a:pPr indent="0" marL="0">
              <a:spcAft>
                <a:spcPts val="400"/>
              </a:spcAft>
              <a:buNone/>
            </a:pPr>
            <a:r>
              <a:rPr lang="en-US" sz="1200" b="1" dirty="0">
                <a:solidFill>
                  <a:srgbClr val="FFFFFF"/>
                </a:solidFill>
                <a:latin typeface="Calibri" pitchFamily="34" charset="0"/>
                <a:ea typeface="Calibri" pitchFamily="34" charset="-122"/>
                <a:cs typeface="Calibri" pitchFamily="34" charset="-120"/>
              </a:rPr>
              <a:t>Off-diagonal </a:t>
            </a:r>
            <a:pPr indent="0" marL="0">
              <a:spcAft>
                <a:spcPts val="400"/>
              </a:spcAft>
              <a:buNone/>
            </a:pPr>
            <a:r>
              <a:rPr lang="en-US" sz="1200" dirty="0">
                <a:solidFill>
                  <a:srgbClr val="C9D1DB"/>
                </a:solidFill>
                <a:latin typeface="Calibri" pitchFamily="34" charset="0"/>
                <a:ea typeface="Calibri" pitchFamily="34" charset="-122"/>
                <a:cs typeface="Calibri" pitchFamily="34" charset="-120"/>
              </a:rPr>
              <a:t>P₁₂ = P₂₁: how the errors in x and y move together. It tilts the ellipse.</a:t>
            </a:r>
            <a:endParaRPr lang="en-US" sz="1200" dirty="0"/>
          </a:p>
        </p:txBody>
      </p:sp>
      <p:sp>
        <p:nvSpPr>
          <p:cNvPr id="35" name="Text 32"/>
          <p:cNvSpPr txBox="1"/>
          <p:nvPr/>
        </p:nvSpPr>
        <p:spPr>
          <a:xfrm>
            <a:off x="502920" y="4251960"/>
            <a:ext cx="8138160" cy="256032"/>
          </a:xfrm>
          <a:prstGeom prst="rect">
            <a:avLst/>
          </a:prstGeom>
          <a:noFill/>
          <a:ln/>
        </p:spPr>
        <p:txBody>
          <a:bodyPr wrap="square" lIns="0" tIns="0" rIns="0" bIns="0" rtlCol="0" anchor="t"/>
          <a:lstStyle/>
          <a:p>
            <a:pPr indent="0" marL="0">
              <a:buNone/>
            </a:pPr>
            <a:r>
              <a:rPr lang="en-US" sz="1100" i="1" dirty="0">
                <a:solidFill>
                  <a:srgbClr val="8C99A8"/>
                </a:solidFill>
                <a:latin typeface="Calibri" pitchFamily="34" charset="0"/>
                <a:ea typeface="Calibri" pitchFamily="34" charset="-122"/>
                <a:cs typeface="Calibri" pitchFamily="34" charset="-120"/>
              </a:rPr>
              <a:t>Lab 3 Activity 2 tracks x = [x, y, vx, vy]ᵀ: the same equations with 4×4 matrices.</a:t>
            </a:r>
            <a:endParaRPr lang="en-US" sz="11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The Matrix Toolkit You Need</a:t>
            </a:r>
            <a:endParaRPr lang="en-US" sz="2400" dirty="0"/>
          </a:p>
        </p:txBody>
      </p:sp>
      <p:sp>
        <p:nvSpPr>
          <p:cNvPr id="3" name="Shape 1"/>
          <p:cNvSpPr/>
          <p:nvPr/>
        </p:nvSpPr>
        <p:spPr>
          <a:xfrm>
            <a:off x="502920" y="1097280"/>
            <a:ext cx="3977640" cy="1508760"/>
          </a:xfrm>
          <a:prstGeom prst="roundRect">
            <a:avLst>
              <a:gd name="adj" fmla="val 4848"/>
            </a:avLst>
          </a:prstGeom>
          <a:solidFill>
            <a:srgbClr val="16263A"/>
          </a:solidFill>
          <a:ln w="12700">
            <a:solidFill>
              <a:srgbClr val="16263A"/>
            </a:solidFill>
            <a:prstDash val="solid"/>
          </a:ln>
        </p:spPr>
      </p:sp>
      <p:sp>
        <p:nvSpPr>
          <p:cNvPr id="4" name="Text 2"/>
          <p:cNvSpPr txBox="1"/>
          <p:nvPr/>
        </p:nvSpPr>
        <p:spPr>
          <a:xfrm>
            <a:off x="685800" y="1207008"/>
            <a:ext cx="3657600" cy="228600"/>
          </a:xfrm>
          <a:prstGeom prst="rect">
            <a:avLst/>
          </a:prstGeom>
          <a:noFill/>
          <a:ln/>
        </p:spPr>
        <p:txBody>
          <a:bodyPr wrap="square" lIns="0" tIns="0" rIns="0" bIns="0" rtlCol="0" anchor="t"/>
          <a:lstStyle/>
          <a:p>
            <a:pPr indent="0" marL="0">
              <a:buNone/>
            </a:pPr>
            <a:r>
              <a:rPr lang="en-US" sz="1250" b="1" dirty="0">
                <a:solidFill>
                  <a:srgbClr val="16A085"/>
                </a:solidFill>
                <a:latin typeface="Calibri" pitchFamily="34" charset="0"/>
                <a:ea typeface="Calibri" pitchFamily="34" charset="-122"/>
                <a:cs typeface="Calibri" pitchFamily="34" charset="-120"/>
              </a:rPr>
              <a:t>Add: entry by entry</a:t>
            </a:r>
            <a:endParaRPr lang="en-US" sz="1250" dirty="0"/>
          </a:p>
        </p:txBody>
      </p:sp>
      <p:sp>
        <p:nvSpPr>
          <p:cNvPr id="5" name="Text 3"/>
          <p:cNvSpPr txBox="1"/>
          <p:nvPr/>
        </p:nvSpPr>
        <p:spPr>
          <a:xfrm>
            <a:off x="777240" y="1600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1.5</a:t>
            </a:r>
            <a:endParaRPr lang="en-US" sz="1200" dirty="0"/>
          </a:p>
        </p:txBody>
      </p:sp>
      <p:sp>
        <p:nvSpPr>
          <p:cNvPr id="6" name="Text 4"/>
          <p:cNvSpPr txBox="1"/>
          <p:nvPr/>
        </p:nvSpPr>
        <p:spPr>
          <a:xfrm>
            <a:off x="1161288" y="1600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0.75</a:t>
            </a:r>
            <a:endParaRPr lang="en-US" sz="1200" dirty="0"/>
          </a:p>
        </p:txBody>
      </p:sp>
      <p:sp>
        <p:nvSpPr>
          <p:cNvPr id="7" name="Text 5"/>
          <p:cNvSpPr txBox="1"/>
          <p:nvPr/>
        </p:nvSpPr>
        <p:spPr>
          <a:xfrm>
            <a:off x="777240" y="1847088"/>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0.75</a:t>
            </a:r>
            <a:endParaRPr lang="en-US" sz="1200" dirty="0"/>
          </a:p>
        </p:txBody>
      </p:sp>
      <p:sp>
        <p:nvSpPr>
          <p:cNvPr id="8" name="Text 6"/>
          <p:cNvSpPr txBox="1"/>
          <p:nvPr/>
        </p:nvSpPr>
        <p:spPr>
          <a:xfrm>
            <a:off x="1161288" y="1847088"/>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1.5</a:t>
            </a:r>
            <a:endParaRPr lang="en-US" sz="1200" dirty="0"/>
          </a:p>
        </p:txBody>
      </p:sp>
      <p:sp>
        <p:nvSpPr>
          <p:cNvPr id="9" name="Shape 7"/>
          <p:cNvSpPr/>
          <p:nvPr/>
        </p:nvSpPr>
        <p:spPr>
          <a:xfrm>
            <a:off x="713232" y="1563624"/>
            <a:ext cx="0" cy="566928"/>
          </a:xfrm>
          <a:prstGeom prst="line">
            <a:avLst/>
          </a:prstGeom>
          <a:noFill/>
          <a:ln w="15875">
            <a:solidFill>
              <a:srgbClr val="8C99A8"/>
            </a:solidFill>
            <a:prstDash val="solid"/>
          </a:ln>
        </p:spPr>
      </p:sp>
      <p:sp>
        <p:nvSpPr>
          <p:cNvPr id="10" name="Shape 8"/>
          <p:cNvSpPr/>
          <p:nvPr/>
        </p:nvSpPr>
        <p:spPr>
          <a:xfrm>
            <a:off x="713232" y="1563624"/>
            <a:ext cx="64008" cy="0"/>
          </a:xfrm>
          <a:prstGeom prst="line">
            <a:avLst/>
          </a:prstGeom>
          <a:noFill/>
          <a:ln w="15875">
            <a:solidFill>
              <a:srgbClr val="8C99A8"/>
            </a:solidFill>
            <a:prstDash val="solid"/>
          </a:ln>
        </p:spPr>
      </p:sp>
      <p:sp>
        <p:nvSpPr>
          <p:cNvPr id="11" name="Shape 9"/>
          <p:cNvSpPr/>
          <p:nvPr/>
        </p:nvSpPr>
        <p:spPr>
          <a:xfrm>
            <a:off x="713232" y="2130552"/>
            <a:ext cx="64008" cy="0"/>
          </a:xfrm>
          <a:prstGeom prst="line">
            <a:avLst/>
          </a:prstGeom>
          <a:noFill/>
          <a:ln w="15875">
            <a:solidFill>
              <a:srgbClr val="8C99A8"/>
            </a:solidFill>
            <a:prstDash val="solid"/>
          </a:ln>
        </p:spPr>
      </p:sp>
      <p:sp>
        <p:nvSpPr>
          <p:cNvPr id="12" name="Shape 10"/>
          <p:cNvSpPr/>
          <p:nvPr/>
        </p:nvSpPr>
        <p:spPr>
          <a:xfrm>
            <a:off x="1609344" y="1563624"/>
            <a:ext cx="0" cy="566928"/>
          </a:xfrm>
          <a:prstGeom prst="line">
            <a:avLst/>
          </a:prstGeom>
          <a:noFill/>
          <a:ln w="15875">
            <a:solidFill>
              <a:srgbClr val="8C99A8"/>
            </a:solidFill>
            <a:prstDash val="solid"/>
          </a:ln>
        </p:spPr>
      </p:sp>
      <p:sp>
        <p:nvSpPr>
          <p:cNvPr id="13" name="Shape 11"/>
          <p:cNvSpPr/>
          <p:nvPr/>
        </p:nvSpPr>
        <p:spPr>
          <a:xfrm>
            <a:off x="1545336" y="1563624"/>
            <a:ext cx="64008" cy="0"/>
          </a:xfrm>
          <a:prstGeom prst="line">
            <a:avLst/>
          </a:prstGeom>
          <a:noFill/>
          <a:ln w="15875">
            <a:solidFill>
              <a:srgbClr val="8C99A8"/>
            </a:solidFill>
            <a:prstDash val="solid"/>
          </a:ln>
        </p:spPr>
      </p:sp>
      <p:sp>
        <p:nvSpPr>
          <p:cNvPr id="14" name="Shape 12"/>
          <p:cNvSpPr/>
          <p:nvPr/>
        </p:nvSpPr>
        <p:spPr>
          <a:xfrm>
            <a:off x="1545336" y="2130552"/>
            <a:ext cx="64008" cy="0"/>
          </a:xfrm>
          <a:prstGeom prst="line">
            <a:avLst/>
          </a:prstGeom>
          <a:noFill/>
          <a:ln w="15875">
            <a:solidFill>
              <a:srgbClr val="8C99A8"/>
            </a:solidFill>
            <a:prstDash val="solid"/>
          </a:ln>
        </p:spPr>
      </p:sp>
      <p:sp>
        <p:nvSpPr>
          <p:cNvPr id="15" name="Text 13"/>
          <p:cNvSpPr txBox="1"/>
          <p:nvPr/>
        </p:nvSpPr>
        <p:spPr>
          <a:xfrm>
            <a:off x="1673352" y="1700784"/>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16" name="Text 14"/>
          <p:cNvSpPr txBox="1"/>
          <p:nvPr/>
        </p:nvSpPr>
        <p:spPr>
          <a:xfrm>
            <a:off x="1905244" y="1600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17" name="Text 15"/>
          <p:cNvSpPr txBox="1"/>
          <p:nvPr/>
        </p:nvSpPr>
        <p:spPr>
          <a:xfrm>
            <a:off x="2289292" y="1600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0.25</a:t>
            </a:r>
            <a:endParaRPr lang="en-US" sz="1200" dirty="0"/>
          </a:p>
        </p:txBody>
      </p:sp>
      <p:sp>
        <p:nvSpPr>
          <p:cNvPr id="18" name="Text 16"/>
          <p:cNvSpPr txBox="1"/>
          <p:nvPr/>
        </p:nvSpPr>
        <p:spPr>
          <a:xfrm>
            <a:off x="1905244" y="1847088"/>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0.25</a:t>
            </a:r>
            <a:endParaRPr lang="en-US" sz="1200" dirty="0"/>
          </a:p>
        </p:txBody>
      </p:sp>
      <p:sp>
        <p:nvSpPr>
          <p:cNvPr id="19" name="Text 17"/>
          <p:cNvSpPr txBox="1"/>
          <p:nvPr/>
        </p:nvSpPr>
        <p:spPr>
          <a:xfrm>
            <a:off x="2289292" y="1847088"/>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20" name="Shape 18"/>
          <p:cNvSpPr/>
          <p:nvPr/>
        </p:nvSpPr>
        <p:spPr>
          <a:xfrm>
            <a:off x="1841236" y="1563624"/>
            <a:ext cx="0" cy="566928"/>
          </a:xfrm>
          <a:prstGeom prst="line">
            <a:avLst/>
          </a:prstGeom>
          <a:noFill/>
          <a:ln w="15875">
            <a:solidFill>
              <a:srgbClr val="8C99A8"/>
            </a:solidFill>
            <a:prstDash val="solid"/>
          </a:ln>
        </p:spPr>
      </p:sp>
      <p:sp>
        <p:nvSpPr>
          <p:cNvPr id="21" name="Shape 19"/>
          <p:cNvSpPr/>
          <p:nvPr/>
        </p:nvSpPr>
        <p:spPr>
          <a:xfrm>
            <a:off x="1841236" y="1563624"/>
            <a:ext cx="64008" cy="0"/>
          </a:xfrm>
          <a:prstGeom prst="line">
            <a:avLst/>
          </a:prstGeom>
          <a:noFill/>
          <a:ln w="15875">
            <a:solidFill>
              <a:srgbClr val="8C99A8"/>
            </a:solidFill>
            <a:prstDash val="solid"/>
          </a:ln>
        </p:spPr>
      </p:sp>
      <p:sp>
        <p:nvSpPr>
          <p:cNvPr id="22" name="Shape 20"/>
          <p:cNvSpPr/>
          <p:nvPr/>
        </p:nvSpPr>
        <p:spPr>
          <a:xfrm>
            <a:off x="1841236" y="2130552"/>
            <a:ext cx="64008" cy="0"/>
          </a:xfrm>
          <a:prstGeom prst="line">
            <a:avLst/>
          </a:prstGeom>
          <a:noFill/>
          <a:ln w="15875">
            <a:solidFill>
              <a:srgbClr val="8C99A8"/>
            </a:solidFill>
            <a:prstDash val="solid"/>
          </a:ln>
        </p:spPr>
      </p:sp>
      <p:sp>
        <p:nvSpPr>
          <p:cNvPr id="23" name="Shape 21"/>
          <p:cNvSpPr/>
          <p:nvPr/>
        </p:nvSpPr>
        <p:spPr>
          <a:xfrm>
            <a:off x="2737348" y="1563624"/>
            <a:ext cx="0" cy="566928"/>
          </a:xfrm>
          <a:prstGeom prst="line">
            <a:avLst/>
          </a:prstGeom>
          <a:noFill/>
          <a:ln w="15875">
            <a:solidFill>
              <a:srgbClr val="8C99A8"/>
            </a:solidFill>
            <a:prstDash val="solid"/>
          </a:ln>
        </p:spPr>
      </p:sp>
      <p:sp>
        <p:nvSpPr>
          <p:cNvPr id="24" name="Shape 22"/>
          <p:cNvSpPr/>
          <p:nvPr/>
        </p:nvSpPr>
        <p:spPr>
          <a:xfrm>
            <a:off x="2673340" y="1563624"/>
            <a:ext cx="64008" cy="0"/>
          </a:xfrm>
          <a:prstGeom prst="line">
            <a:avLst/>
          </a:prstGeom>
          <a:noFill/>
          <a:ln w="15875">
            <a:solidFill>
              <a:srgbClr val="8C99A8"/>
            </a:solidFill>
            <a:prstDash val="solid"/>
          </a:ln>
        </p:spPr>
      </p:sp>
      <p:sp>
        <p:nvSpPr>
          <p:cNvPr id="25" name="Shape 23"/>
          <p:cNvSpPr/>
          <p:nvPr/>
        </p:nvSpPr>
        <p:spPr>
          <a:xfrm>
            <a:off x="2673340" y="2130552"/>
            <a:ext cx="64008" cy="0"/>
          </a:xfrm>
          <a:prstGeom prst="line">
            <a:avLst/>
          </a:prstGeom>
          <a:noFill/>
          <a:ln w="15875">
            <a:solidFill>
              <a:srgbClr val="8C99A8"/>
            </a:solidFill>
            <a:prstDash val="solid"/>
          </a:ln>
        </p:spPr>
      </p:sp>
      <p:sp>
        <p:nvSpPr>
          <p:cNvPr id="26" name="Text 24"/>
          <p:cNvSpPr txBox="1"/>
          <p:nvPr/>
        </p:nvSpPr>
        <p:spPr>
          <a:xfrm>
            <a:off x="2801356" y="1700784"/>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27" name="Text 25"/>
          <p:cNvSpPr txBox="1"/>
          <p:nvPr/>
        </p:nvSpPr>
        <p:spPr>
          <a:xfrm>
            <a:off x="3033248" y="16002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28" name="Text 26"/>
          <p:cNvSpPr txBox="1"/>
          <p:nvPr/>
        </p:nvSpPr>
        <p:spPr>
          <a:xfrm>
            <a:off x="3307568" y="16002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29" name="Text 27"/>
          <p:cNvSpPr txBox="1"/>
          <p:nvPr/>
        </p:nvSpPr>
        <p:spPr>
          <a:xfrm>
            <a:off x="3033248" y="1847088"/>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30" name="Text 28"/>
          <p:cNvSpPr txBox="1"/>
          <p:nvPr/>
        </p:nvSpPr>
        <p:spPr>
          <a:xfrm>
            <a:off x="3307568" y="1847088"/>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31" name="Shape 29"/>
          <p:cNvSpPr/>
          <p:nvPr/>
        </p:nvSpPr>
        <p:spPr>
          <a:xfrm>
            <a:off x="2969240" y="1563624"/>
            <a:ext cx="0" cy="566928"/>
          </a:xfrm>
          <a:prstGeom prst="line">
            <a:avLst/>
          </a:prstGeom>
          <a:noFill/>
          <a:ln w="15875">
            <a:solidFill>
              <a:srgbClr val="8C99A8"/>
            </a:solidFill>
            <a:prstDash val="solid"/>
          </a:ln>
        </p:spPr>
      </p:sp>
      <p:sp>
        <p:nvSpPr>
          <p:cNvPr id="32" name="Shape 30"/>
          <p:cNvSpPr/>
          <p:nvPr/>
        </p:nvSpPr>
        <p:spPr>
          <a:xfrm>
            <a:off x="2969240" y="1563624"/>
            <a:ext cx="64008" cy="0"/>
          </a:xfrm>
          <a:prstGeom prst="line">
            <a:avLst/>
          </a:prstGeom>
          <a:noFill/>
          <a:ln w="15875">
            <a:solidFill>
              <a:srgbClr val="8C99A8"/>
            </a:solidFill>
            <a:prstDash val="solid"/>
          </a:ln>
        </p:spPr>
      </p:sp>
      <p:sp>
        <p:nvSpPr>
          <p:cNvPr id="33" name="Shape 31"/>
          <p:cNvSpPr/>
          <p:nvPr/>
        </p:nvSpPr>
        <p:spPr>
          <a:xfrm>
            <a:off x="2969240" y="2130552"/>
            <a:ext cx="64008" cy="0"/>
          </a:xfrm>
          <a:prstGeom prst="line">
            <a:avLst/>
          </a:prstGeom>
          <a:noFill/>
          <a:ln w="15875">
            <a:solidFill>
              <a:srgbClr val="8C99A8"/>
            </a:solidFill>
            <a:prstDash val="solid"/>
          </a:ln>
        </p:spPr>
      </p:sp>
      <p:sp>
        <p:nvSpPr>
          <p:cNvPr id="34" name="Shape 32"/>
          <p:cNvSpPr/>
          <p:nvPr/>
        </p:nvSpPr>
        <p:spPr>
          <a:xfrm>
            <a:off x="3645896" y="1563624"/>
            <a:ext cx="0" cy="566928"/>
          </a:xfrm>
          <a:prstGeom prst="line">
            <a:avLst/>
          </a:prstGeom>
          <a:noFill/>
          <a:ln w="15875">
            <a:solidFill>
              <a:srgbClr val="8C99A8"/>
            </a:solidFill>
            <a:prstDash val="solid"/>
          </a:ln>
        </p:spPr>
      </p:sp>
      <p:sp>
        <p:nvSpPr>
          <p:cNvPr id="35" name="Shape 33"/>
          <p:cNvSpPr/>
          <p:nvPr/>
        </p:nvSpPr>
        <p:spPr>
          <a:xfrm>
            <a:off x="3581888" y="1563624"/>
            <a:ext cx="64008" cy="0"/>
          </a:xfrm>
          <a:prstGeom prst="line">
            <a:avLst/>
          </a:prstGeom>
          <a:noFill/>
          <a:ln w="15875">
            <a:solidFill>
              <a:srgbClr val="8C99A8"/>
            </a:solidFill>
            <a:prstDash val="solid"/>
          </a:ln>
        </p:spPr>
      </p:sp>
      <p:sp>
        <p:nvSpPr>
          <p:cNvPr id="36" name="Shape 34"/>
          <p:cNvSpPr/>
          <p:nvPr/>
        </p:nvSpPr>
        <p:spPr>
          <a:xfrm>
            <a:off x="3581888" y="2130552"/>
            <a:ext cx="64008" cy="0"/>
          </a:xfrm>
          <a:prstGeom prst="line">
            <a:avLst/>
          </a:prstGeom>
          <a:noFill/>
          <a:ln w="15875">
            <a:solidFill>
              <a:srgbClr val="8C99A8"/>
            </a:solidFill>
            <a:prstDash val="solid"/>
          </a:ln>
        </p:spPr>
      </p:sp>
      <p:sp>
        <p:nvSpPr>
          <p:cNvPr id="37" name="Text 35"/>
          <p:cNvSpPr txBox="1"/>
          <p:nvPr/>
        </p:nvSpPr>
        <p:spPr>
          <a:xfrm>
            <a:off x="685800" y="2240280"/>
            <a:ext cx="3657600" cy="292608"/>
          </a:xfrm>
          <a:prstGeom prst="rect">
            <a:avLst/>
          </a:prstGeom>
          <a:noFill/>
          <a:ln/>
        </p:spPr>
        <p:txBody>
          <a:bodyPr wrap="square" lIns="0" tIns="0" rIns="0" bIns="0" rtlCol="0" anchor="t"/>
          <a:lstStyle/>
          <a:p>
            <a:pPr indent="0" marL="0">
              <a:buNone/>
            </a:pPr>
            <a:r>
              <a:rPr lang="en-US" sz="1050" dirty="0">
                <a:solidFill>
                  <a:srgbClr val="8C99A8"/>
                </a:solidFill>
                <a:latin typeface="Calibri" pitchFamily="34" charset="0"/>
                <a:ea typeface="Calibri" pitchFamily="34" charset="-122"/>
                <a:cs typeface="Calibri" pitchFamily="34" charset="-120"/>
              </a:rPr>
              <a:t>Used in P⁻ = P + Q and S = P⁻ + R</a:t>
            </a:r>
            <a:endParaRPr lang="en-US" sz="1050" dirty="0"/>
          </a:p>
        </p:txBody>
      </p:sp>
      <p:sp>
        <p:nvSpPr>
          <p:cNvPr id="38" name="Shape 36"/>
          <p:cNvSpPr/>
          <p:nvPr/>
        </p:nvSpPr>
        <p:spPr>
          <a:xfrm>
            <a:off x="4663440" y="1097280"/>
            <a:ext cx="3977640" cy="1508760"/>
          </a:xfrm>
          <a:prstGeom prst="roundRect">
            <a:avLst>
              <a:gd name="adj" fmla="val 4848"/>
            </a:avLst>
          </a:prstGeom>
          <a:solidFill>
            <a:srgbClr val="16263A"/>
          </a:solidFill>
          <a:ln w="12700">
            <a:solidFill>
              <a:srgbClr val="16263A"/>
            </a:solidFill>
            <a:prstDash val="solid"/>
          </a:ln>
        </p:spPr>
      </p:sp>
      <p:sp>
        <p:nvSpPr>
          <p:cNvPr id="39" name="Text 37"/>
          <p:cNvSpPr txBox="1"/>
          <p:nvPr/>
        </p:nvSpPr>
        <p:spPr>
          <a:xfrm>
            <a:off x="4846320" y="1207008"/>
            <a:ext cx="3657600" cy="228600"/>
          </a:xfrm>
          <a:prstGeom prst="rect">
            <a:avLst/>
          </a:prstGeom>
          <a:noFill/>
          <a:ln/>
        </p:spPr>
        <p:txBody>
          <a:bodyPr wrap="square" lIns="0" tIns="0" rIns="0" bIns="0" rtlCol="0" anchor="t"/>
          <a:lstStyle/>
          <a:p>
            <a:pPr indent="0" marL="0">
              <a:buNone/>
            </a:pPr>
            <a:r>
              <a:rPr lang="en-US" sz="1250" b="1" dirty="0">
                <a:solidFill>
                  <a:srgbClr val="16A085"/>
                </a:solidFill>
                <a:latin typeface="Calibri" pitchFamily="34" charset="0"/>
                <a:ea typeface="Calibri" pitchFamily="34" charset="-122"/>
                <a:cs typeface="Calibri" pitchFamily="34" charset="-120"/>
              </a:rPr>
              <a:t>Multiply: row × column</a:t>
            </a:r>
            <a:endParaRPr lang="en-US" sz="1250" dirty="0"/>
          </a:p>
        </p:txBody>
      </p:sp>
      <p:sp>
        <p:nvSpPr>
          <p:cNvPr id="40" name="Text 38"/>
          <p:cNvSpPr txBox="1"/>
          <p:nvPr/>
        </p:nvSpPr>
        <p:spPr>
          <a:xfrm>
            <a:off x="4937760" y="16002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41" name="Text 39"/>
          <p:cNvSpPr txBox="1"/>
          <p:nvPr/>
        </p:nvSpPr>
        <p:spPr>
          <a:xfrm>
            <a:off x="5212080" y="16002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42" name="Text 40"/>
          <p:cNvSpPr txBox="1"/>
          <p:nvPr/>
        </p:nvSpPr>
        <p:spPr>
          <a:xfrm>
            <a:off x="4937760" y="1847088"/>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43" name="Text 41"/>
          <p:cNvSpPr txBox="1"/>
          <p:nvPr/>
        </p:nvSpPr>
        <p:spPr>
          <a:xfrm>
            <a:off x="5212080" y="1847088"/>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44" name="Shape 42"/>
          <p:cNvSpPr/>
          <p:nvPr/>
        </p:nvSpPr>
        <p:spPr>
          <a:xfrm>
            <a:off x="4873752" y="1563624"/>
            <a:ext cx="0" cy="566928"/>
          </a:xfrm>
          <a:prstGeom prst="line">
            <a:avLst/>
          </a:prstGeom>
          <a:noFill/>
          <a:ln w="15875">
            <a:solidFill>
              <a:srgbClr val="8C99A8"/>
            </a:solidFill>
            <a:prstDash val="solid"/>
          </a:ln>
        </p:spPr>
      </p:sp>
      <p:sp>
        <p:nvSpPr>
          <p:cNvPr id="45" name="Shape 43"/>
          <p:cNvSpPr/>
          <p:nvPr/>
        </p:nvSpPr>
        <p:spPr>
          <a:xfrm>
            <a:off x="4873752" y="1563624"/>
            <a:ext cx="64008" cy="0"/>
          </a:xfrm>
          <a:prstGeom prst="line">
            <a:avLst/>
          </a:prstGeom>
          <a:noFill/>
          <a:ln w="15875">
            <a:solidFill>
              <a:srgbClr val="8C99A8"/>
            </a:solidFill>
            <a:prstDash val="solid"/>
          </a:ln>
        </p:spPr>
      </p:sp>
      <p:sp>
        <p:nvSpPr>
          <p:cNvPr id="46" name="Shape 44"/>
          <p:cNvSpPr/>
          <p:nvPr/>
        </p:nvSpPr>
        <p:spPr>
          <a:xfrm>
            <a:off x="4873752" y="2130552"/>
            <a:ext cx="64008" cy="0"/>
          </a:xfrm>
          <a:prstGeom prst="line">
            <a:avLst/>
          </a:prstGeom>
          <a:noFill/>
          <a:ln w="15875">
            <a:solidFill>
              <a:srgbClr val="8C99A8"/>
            </a:solidFill>
            <a:prstDash val="solid"/>
          </a:ln>
        </p:spPr>
      </p:sp>
      <p:sp>
        <p:nvSpPr>
          <p:cNvPr id="47" name="Shape 45"/>
          <p:cNvSpPr/>
          <p:nvPr/>
        </p:nvSpPr>
        <p:spPr>
          <a:xfrm>
            <a:off x="5550408" y="1563624"/>
            <a:ext cx="0" cy="566928"/>
          </a:xfrm>
          <a:prstGeom prst="line">
            <a:avLst/>
          </a:prstGeom>
          <a:noFill/>
          <a:ln w="15875">
            <a:solidFill>
              <a:srgbClr val="8C99A8"/>
            </a:solidFill>
            <a:prstDash val="solid"/>
          </a:ln>
        </p:spPr>
      </p:sp>
      <p:sp>
        <p:nvSpPr>
          <p:cNvPr id="48" name="Shape 46"/>
          <p:cNvSpPr/>
          <p:nvPr/>
        </p:nvSpPr>
        <p:spPr>
          <a:xfrm>
            <a:off x="5486400" y="1563624"/>
            <a:ext cx="64008" cy="0"/>
          </a:xfrm>
          <a:prstGeom prst="line">
            <a:avLst/>
          </a:prstGeom>
          <a:noFill/>
          <a:ln w="15875">
            <a:solidFill>
              <a:srgbClr val="8C99A8"/>
            </a:solidFill>
            <a:prstDash val="solid"/>
          </a:ln>
        </p:spPr>
      </p:sp>
      <p:sp>
        <p:nvSpPr>
          <p:cNvPr id="49" name="Shape 47"/>
          <p:cNvSpPr/>
          <p:nvPr/>
        </p:nvSpPr>
        <p:spPr>
          <a:xfrm>
            <a:off x="5486400" y="2130552"/>
            <a:ext cx="64008" cy="0"/>
          </a:xfrm>
          <a:prstGeom prst="line">
            <a:avLst/>
          </a:prstGeom>
          <a:noFill/>
          <a:ln w="15875">
            <a:solidFill>
              <a:srgbClr val="8C99A8"/>
            </a:solidFill>
            <a:prstDash val="solid"/>
          </a:ln>
        </p:spPr>
      </p:sp>
      <p:sp>
        <p:nvSpPr>
          <p:cNvPr id="50" name="Text 48"/>
          <p:cNvSpPr txBox="1"/>
          <p:nvPr/>
        </p:nvSpPr>
        <p:spPr>
          <a:xfrm>
            <a:off x="5614416" y="1700784"/>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51" name="Text 49"/>
          <p:cNvSpPr txBox="1"/>
          <p:nvPr/>
        </p:nvSpPr>
        <p:spPr>
          <a:xfrm>
            <a:off x="5846308" y="1600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52" name="Text 50"/>
          <p:cNvSpPr txBox="1"/>
          <p:nvPr/>
        </p:nvSpPr>
        <p:spPr>
          <a:xfrm>
            <a:off x="5846308" y="1847088"/>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53" name="Shape 51"/>
          <p:cNvSpPr/>
          <p:nvPr/>
        </p:nvSpPr>
        <p:spPr>
          <a:xfrm>
            <a:off x="5782300" y="1563624"/>
            <a:ext cx="0" cy="566928"/>
          </a:xfrm>
          <a:prstGeom prst="line">
            <a:avLst/>
          </a:prstGeom>
          <a:noFill/>
          <a:ln w="15875">
            <a:solidFill>
              <a:srgbClr val="8C99A8"/>
            </a:solidFill>
            <a:prstDash val="solid"/>
          </a:ln>
        </p:spPr>
      </p:sp>
      <p:sp>
        <p:nvSpPr>
          <p:cNvPr id="54" name="Shape 52"/>
          <p:cNvSpPr/>
          <p:nvPr/>
        </p:nvSpPr>
        <p:spPr>
          <a:xfrm>
            <a:off x="5782300" y="1563624"/>
            <a:ext cx="64008" cy="0"/>
          </a:xfrm>
          <a:prstGeom prst="line">
            <a:avLst/>
          </a:prstGeom>
          <a:noFill/>
          <a:ln w="15875">
            <a:solidFill>
              <a:srgbClr val="8C99A8"/>
            </a:solidFill>
            <a:prstDash val="solid"/>
          </a:ln>
        </p:spPr>
      </p:sp>
      <p:sp>
        <p:nvSpPr>
          <p:cNvPr id="55" name="Shape 53"/>
          <p:cNvSpPr/>
          <p:nvPr/>
        </p:nvSpPr>
        <p:spPr>
          <a:xfrm>
            <a:off x="5782300" y="2130552"/>
            <a:ext cx="64008" cy="0"/>
          </a:xfrm>
          <a:prstGeom prst="line">
            <a:avLst/>
          </a:prstGeom>
          <a:noFill/>
          <a:ln w="15875">
            <a:solidFill>
              <a:srgbClr val="8C99A8"/>
            </a:solidFill>
            <a:prstDash val="solid"/>
          </a:ln>
        </p:spPr>
      </p:sp>
      <p:sp>
        <p:nvSpPr>
          <p:cNvPr id="56" name="Shape 54"/>
          <p:cNvSpPr/>
          <p:nvPr/>
        </p:nvSpPr>
        <p:spPr>
          <a:xfrm>
            <a:off x="6294364" y="1563624"/>
            <a:ext cx="0" cy="566928"/>
          </a:xfrm>
          <a:prstGeom prst="line">
            <a:avLst/>
          </a:prstGeom>
          <a:noFill/>
          <a:ln w="15875">
            <a:solidFill>
              <a:srgbClr val="8C99A8"/>
            </a:solidFill>
            <a:prstDash val="solid"/>
          </a:ln>
        </p:spPr>
      </p:sp>
      <p:sp>
        <p:nvSpPr>
          <p:cNvPr id="57" name="Shape 55"/>
          <p:cNvSpPr/>
          <p:nvPr/>
        </p:nvSpPr>
        <p:spPr>
          <a:xfrm>
            <a:off x="6230356" y="1563624"/>
            <a:ext cx="64008" cy="0"/>
          </a:xfrm>
          <a:prstGeom prst="line">
            <a:avLst/>
          </a:prstGeom>
          <a:noFill/>
          <a:ln w="15875">
            <a:solidFill>
              <a:srgbClr val="8C99A8"/>
            </a:solidFill>
            <a:prstDash val="solid"/>
          </a:ln>
        </p:spPr>
      </p:sp>
      <p:sp>
        <p:nvSpPr>
          <p:cNvPr id="58" name="Shape 56"/>
          <p:cNvSpPr/>
          <p:nvPr/>
        </p:nvSpPr>
        <p:spPr>
          <a:xfrm>
            <a:off x="6230356" y="2130552"/>
            <a:ext cx="64008" cy="0"/>
          </a:xfrm>
          <a:prstGeom prst="line">
            <a:avLst/>
          </a:prstGeom>
          <a:noFill/>
          <a:ln w="15875">
            <a:solidFill>
              <a:srgbClr val="8C99A8"/>
            </a:solidFill>
            <a:prstDash val="solid"/>
          </a:ln>
        </p:spPr>
      </p:sp>
      <p:sp>
        <p:nvSpPr>
          <p:cNvPr id="59" name="Text 57"/>
          <p:cNvSpPr txBox="1"/>
          <p:nvPr/>
        </p:nvSpPr>
        <p:spPr>
          <a:xfrm>
            <a:off x="6358372" y="1700784"/>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60" name="Text 58"/>
          <p:cNvSpPr txBox="1"/>
          <p:nvPr/>
        </p:nvSpPr>
        <p:spPr>
          <a:xfrm>
            <a:off x="6590264" y="1600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1.5</a:t>
            </a:r>
            <a:endParaRPr lang="en-US" sz="1200" dirty="0"/>
          </a:p>
        </p:txBody>
      </p:sp>
      <p:sp>
        <p:nvSpPr>
          <p:cNvPr id="61" name="Text 59"/>
          <p:cNvSpPr txBox="1"/>
          <p:nvPr/>
        </p:nvSpPr>
        <p:spPr>
          <a:xfrm>
            <a:off x="6590264" y="1847088"/>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a:t>
            </a:r>
            <a:endParaRPr lang="en-US" sz="1200" dirty="0"/>
          </a:p>
        </p:txBody>
      </p:sp>
      <p:sp>
        <p:nvSpPr>
          <p:cNvPr id="62" name="Shape 60"/>
          <p:cNvSpPr/>
          <p:nvPr/>
        </p:nvSpPr>
        <p:spPr>
          <a:xfrm>
            <a:off x="6526256" y="1563624"/>
            <a:ext cx="0" cy="566928"/>
          </a:xfrm>
          <a:prstGeom prst="line">
            <a:avLst/>
          </a:prstGeom>
          <a:noFill/>
          <a:ln w="15875">
            <a:solidFill>
              <a:srgbClr val="8C99A8"/>
            </a:solidFill>
            <a:prstDash val="solid"/>
          </a:ln>
        </p:spPr>
      </p:sp>
      <p:sp>
        <p:nvSpPr>
          <p:cNvPr id="63" name="Shape 61"/>
          <p:cNvSpPr/>
          <p:nvPr/>
        </p:nvSpPr>
        <p:spPr>
          <a:xfrm>
            <a:off x="6526256" y="1563624"/>
            <a:ext cx="64008" cy="0"/>
          </a:xfrm>
          <a:prstGeom prst="line">
            <a:avLst/>
          </a:prstGeom>
          <a:noFill/>
          <a:ln w="15875">
            <a:solidFill>
              <a:srgbClr val="8C99A8"/>
            </a:solidFill>
            <a:prstDash val="solid"/>
          </a:ln>
        </p:spPr>
      </p:sp>
      <p:sp>
        <p:nvSpPr>
          <p:cNvPr id="64" name="Shape 62"/>
          <p:cNvSpPr/>
          <p:nvPr/>
        </p:nvSpPr>
        <p:spPr>
          <a:xfrm>
            <a:off x="6526256" y="2130552"/>
            <a:ext cx="64008" cy="0"/>
          </a:xfrm>
          <a:prstGeom prst="line">
            <a:avLst/>
          </a:prstGeom>
          <a:noFill/>
          <a:ln w="15875">
            <a:solidFill>
              <a:srgbClr val="8C99A8"/>
            </a:solidFill>
            <a:prstDash val="solid"/>
          </a:ln>
        </p:spPr>
      </p:sp>
      <p:sp>
        <p:nvSpPr>
          <p:cNvPr id="65" name="Shape 63"/>
          <p:cNvSpPr/>
          <p:nvPr/>
        </p:nvSpPr>
        <p:spPr>
          <a:xfrm>
            <a:off x="7038320" y="1563624"/>
            <a:ext cx="0" cy="566928"/>
          </a:xfrm>
          <a:prstGeom prst="line">
            <a:avLst/>
          </a:prstGeom>
          <a:noFill/>
          <a:ln w="15875">
            <a:solidFill>
              <a:srgbClr val="8C99A8"/>
            </a:solidFill>
            <a:prstDash val="solid"/>
          </a:ln>
        </p:spPr>
      </p:sp>
      <p:sp>
        <p:nvSpPr>
          <p:cNvPr id="66" name="Shape 64"/>
          <p:cNvSpPr/>
          <p:nvPr/>
        </p:nvSpPr>
        <p:spPr>
          <a:xfrm>
            <a:off x="6974312" y="1563624"/>
            <a:ext cx="64008" cy="0"/>
          </a:xfrm>
          <a:prstGeom prst="line">
            <a:avLst/>
          </a:prstGeom>
          <a:noFill/>
          <a:ln w="15875">
            <a:solidFill>
              <a:srgbClr val="8C99A8"/>
            </a:solidFill>
            <a:prstDash val="solid"/>
          </a:ln>
        </p:spPr>
      </p:sp>
      <p:sp>
        <p:nvSpPr>
          <p:cNvPr id="67" name="Shape 65"/>
          <p:cNvSpPr/>
          <p:nvPr/>
        </p:nvSpPr>
        <p:spPr>
          <a:xfrm>
            <a:off x="6974312" y="2130552"/>
            <a:ext cx="64008" cy="0"/>
          </a:xfrm>
          <a:prstGeom prst="line">
            <a:avLst/>
          </a:prstGeom>
          <a:noFill/>
          <a:ln w="15875">
            <a:solidFill>
              <a:srgbClr val="8C99A8"/>
            </a:solidFill>
            <a:prstDash val="solid"/>
          </a:ln>
        </p:spPr>
      </p:sp>
      <p:sp>
        <p:nvSpPr>
          <p:cNvPr id="68" name="Text 66"/>
          <p:cNvSpPr txBox="1"/>
          <p:nvPr/>
        </p:nvSpPr>
        <p:spPr>
          <a:xfrm>
            <a:off x="4846320" y="2240280"/>
            <a:ext cx="3657600" cy="292608"/>
          </a:xfrm>
          <a:prstGeom prst="rect">
            <a:avLst/>
          </a:prstGeom>
          <a:noFill/>
          <a:ln/>
        </p:spPr>
        <p:txBody>
          <a:bodyPr wrap="square" lIns="0" tIns="0" rIns="0" bIns="0" rtlCol="0" anchor="t"/>
          <a:lstStyle/>
          <a:p>
            <a:pPr indent="0" marL="0">
              <a:buNone/>
            </a:pPr>
            <a:r>
              <a:rPr lang="en-US" sz="1050" dirty="0">
                <a:solidFill>
                  <a:srgbClr val="8C99A8"/>
                </a:solidFill>
                <a:latin typeface="Calibri" pitchFamily="34" charset="0"/>
                <a:ea typeface="Calibri" pitchFamily="34" charset="-122"/>
                <a:cs typeface="Calibri" pitchFamily="34" charset="-120"/>
              </a:rPr>
              <a:t>Each entry: a row on the left times a column on the right</a:t>
            </a:r>
            <a:endParaRPr lang="en-US" sz="1050" dirty="0"/>
          </a:p>
        </p:txBody>
      </p:sp>
      <p:sp>
        <p:nvSpPr>
          <p:cNvPr id="69" name="Shape 67"/>
          <p:cNvSpPr/>
          <p:nvPr/>
        </p:nvSpPr>
        <p:spPr>
          <a:xfrm>
            <a:off x="502920" y="2743200"/>
            <a:ext cx="3977640" cy="1508760"/>
          </a:xfrm>
          <a:prstGeom prst="roundRect">
            <a:avLst>
              <a:gd name="adj" fmla="val 4848"/>
            </a:avLst>
          </a:prstGeom>
          <a:solidFill>
            <a:srgbClr val="16263A"/>
          </a:solidFill>
          <a:ln w="12700">
            <a:solidFill>
              <a:srgbClr val="16263A"/>
            </a:solidFill>
            <a:prstDash val="solid"/>
          </a:ln>
        </p:spPr>
      </p:sp>
      <p:sp>
        <p:nvSpPr>
          <p:cNvPr id="70" name="Text 68"/>
          <p:cNvSpPr txBox="1"/>
          <p:nvPr/>
        </p:nvSpPr>
        <p:spPr>
          <a:xfrm>
            <a:off x="685800" y="2852928"/>
            <a:ext cx="3657600" cy="228600"/>
          </a:xfrm>
          <a:prstGeom prst="rect">
            <a:avLst/>
          </a:prstGeom>
          <a:noFill/>
          <a:ln/>
        </p:spPr>
        <p:txBody>
          <a:bodyPr wrap="square" lIns="0" tIns="0" rIns="0" bIns="0" rtlCol="0" anchor="t"/>
          <a:lstStyle/>
          <a:p>
            <a:pPr indent="0" marL="0">
              <a:buNone/>
            </a:pPr>
            <a:r>
              <a:rPr lang="en-US" sz="1250" b="1" dirty="0">
                <a:solidFill>
                  <a:srgbClr val="16A085"/>
                </a:solidFill>
                <a:latin typeface="Calibri" pitchFamily="34" charset="0"/>
                <a:ea typeface="Calibri" pitchFamily="34" charset="-122"/>
                <a:cs typeface="Calibri" pitchFamily="34" charset="-120"/>
              </a:rPr>
              <a:t>Transpose: rows become columns</a:t>
            </a:r>
            <a:endParaRPr lang="en-US" sz="1250" dirty="0"/>
          </a:p>
        </p:txBody>
      </p:sp>
      <p:sp>
        <p:nvSpPr>
          <p:cNvPr id="71" name="Text 69"/>
          <p:cNvSpPr txBox="1"/>
          <p:nvPr/>
        </p:nvSpPr>
        <p:spPr>
          <a:xfrm>
            <a:off x="685800" y="3346704"/>
            <a:ext cx="996330"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[1   0]ᵀ  =</a:t>
            </a:r>
            <a:endParaRPr lang="en-US" sz="1300" dirty="0"/>
          </a:p>
        </p:txBody>
      </p:sp>
      <p:sp>
        <p:nvSpPr>
          <p:cNvPr id="72" name="Text 70"/>
          <p:cNvSpPr txBox="1"/>
          <p:nvPr/>
        </p:nvSpPr>
        <p:spPr>
          <a:xfrm>
            <a:off x="1773570" y="324612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73" name="Text 71"/>
          <p:cNvSpPr txBox="1"/>
          <p:nvPr/>
        </p:nvSpPr>
        <p:spPr>
          <a:xfrm>
            <a:off x="1773570" y="3493008"/>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a:t>
            </a:r>
            <a:endParaRPr lang="en-US" sz="1200" dirty="0"/>
          </a:p>
        </p:txBody>
      </p:sp>
      <p:sp>
        <p:nvSpPr>
          <p:cNvPr id="74" name="Shape 72"/>
          <p:cNvSpPr/>
          <p:nvPr/>
        </p:nvSpPr>
        <p:spPr>
          <a:xfrm>
            <a:off x="1709562" y="3209544"/>
            <a:ext cx="0" cy="566928"/>
          </a:xfrm>
          <a:prstGeom prst="line">
            <a:avLst/>
          </a:prstGeom>
          <a:noFill/>
          <a:ln w="15875">
            <a:solidFill>
              <a:srgbClr val="8C99A8"/>
            </a:solidFill>
            <a:prstDash val="solid"/>
          </a:ln>
        </p:spPr>
      </p:sp>
      <p:sp>
        <p:nvSpPr>
          <p:cNvPr id="75" name="Shape 73"/>
          <p:cNvSpPr/>
          <p:nvPr/>
        </p:nvSpPr>
        <p:spPr>
          <a:xfrm>
            <a:off x="1709562" y="3209544"/>
            <a:ext cx="64008" cy="0"/>
          </a:xfrm>
          <a:prstGeom prst="line">
            <a:avLst/>
          </a:prstGeom>
          <a:noFill/>
          <a:ln w="15875">
            <a:solidFill>
              <a:srgbClr val="8C99A8"/>
            </a:solidFill>
            <a:prstDash val="solid"/>
          </a:ln>
        </p:spPr>
      </p:sp>
      <p:sp>
        <p:nvSpPr>
          <p:cNvPr id="76" name="Shape 74"/>
          <p:cNvSpPr/>
          <p:nvPr/>
        </p:nvSpPr>
        <p:spPr>
          <a:xfrm>
            <a:off x="1709562" y="3776472"/>
            <a:ext cx="64008" cy="0"/>
          </a:xfrm>
          <a:prstGeom prst="line">
            <a:avLst/>
          </a:prstGeom>
          <a:noFill/>
          <a:ln w="15875">
            <a:solidFill>
              <a:srgbClr val="8C99A8"/>
            </a:solidFill>
            <a:prstDash val="solid"/>
          </a:ln>
        </p:spPr>
      </p:sp>
      <p:sp>
        <p:nvSpPr>
          <p:cNvPr id="77" name="Shape 75"/>
          <p:cNvSpPr/>
          <p:nvPr/>
        </p:nvSpPr>
        <p:spPr>
          <a:xfrm>
            <a:off x="2111898" y="3209544"/>
            <a:ext cx="0" cy="566928"/>
          </a:xfrm>
          <a:prstGeom prst="line">
            <a:avLst/>
          </a:prstGeom>
          <a:noFill/>
          <a:ln w="15875">
            <a:solidFill>
              <a:srgbClr val="8C99A8"/>
            </a:solidFill>
            <a:prstDash val="solid"/>
          </a:ln>
        </p:spPr>
      </p:sp>
      <p:sp>
        <p:nvSpPr>
          <p:cNvPr id="78" name="Shape 76"/>
          <p:cNvSpPr/>
          <p:nvPr/>
        </p:nvSpPr>
        <p:spPr>
          <a:xfrm>
            <a:off x="2047890" y="3209544"/>
            <a:ext cx="64008" cy="0"/>
          </a:xfrm>
          <a:prstGeom prst="line">
            <a:avLst/>
          </a:prstGeom>
          <a:noFill/>
          <a:ln w="15875">
            <a:solidFill>
              <a:srgbClr val="8C99A8"/>
            </a:solidFill>
            <a:prstDash val="solid"/>
          </a:ln>
        </p:spPr>
      </p:sp>
      <p:sp>
        <p:nvSpPr>
          <p:cNvPr id="79" name="Shape 77"/>
          <p:cNvSpPr/>
          <p:nvPr/>
        </p:nvSpPr>
        <p:spPr>
          <a:xfrm>
            <a:off x="2047890" y="3776472"/>
            <a:ext cx="64008" cy="0"/>
          </a:xfrm>
          <a:prstGeom prst="line">
            <a:avLst/>
          </a:prstGeom>
          <a:noFill/>
          <a:ln w="15875">
            <a:solidFill>
              <a:srgbClr val="8C99A8"/>
            </a:solidFill>
            <a:prstDash val="solid"/>
          </a:ln>
        </p:spPr>
      </p:sp>
      <p:sp>
        <p:nvSpPr>
          <p:cNvPr id="80" name="Text 78"/>
          <p:cNvSpPr txBox="1"/>
          <p:nvPr/>
        </p:nvSpPr>
        <p:spPr>
          <a:xfrm>
            <a:off x="685800" y="3886200"/>
            <a:ext cx="3657600" cy="292608"/>
          </a:xfrm>
          <a:prstGeom prst="rect">
            <a:avLst/>
          </a:prstGeom>
          <a:noFill/>
          <a:ln/>
        </p:spPr>
        <p:txBody>
          <a:bodyPr wrap="square" lIns="0" tIns="0" rIns="0" bIns="0" rtlCol="0" anchor="t"/>
          <a:lstStyle/>
          <a:p>
            <a:pPr indent="0" marL="0">
              <a:buNone/>
            </a:pPr>
            <a:r>
              <a:rPr lang="en-US" sz="1050" dirty="0">
                <a:solidFill>
                  <a:srgbClr val="8C99A8"/>
                </a:solidFill>
                <a:latin typeface="Calibri" pitchFamily="34" charset="0"/>
                <a:ea typeface="Calibri" pitchFamily="34" charset="-122"/>
                <a:cs typeface="Calibri" pitchFamily="34" charset="-120"/>
              </a:rPr>
              <a:t>H = [1, 0] gives Hᵀ = [1, 0]ᵀ, a column</a:t>
            </a:r>
            <a:endParaRPr lang="en-US" sz="1050" dirty="0"/>
          </a:p>
        </p:txBody>
      </p:sp>
      <p:sp>
        <p:nvSpPr>
          <p:cNvPr id="81" name="Shape 79"/>
          <p:cNvSpPr/>
          <p:nvPr/>
        </p:nvSpPr>
        <p:spPr>
          <a:xfrm>
            <a:off x="4663440" y="2743200"/>
            <a:ext cx="3977640" cy="1508760"/>
          </a:xfrm>
          <a:prstGeom prst="roundRect">
            <a:avLst>
              <a:gd name="adj" fmla="val 4848"/>
            </a:avLst>
          </a:prstGeom>
          <a:solidFill>
            <a:srgbClr val="16263A"/>
          </a:solidFill>
          <a:ln w="12700">
            <a:solidFill>
              <a:srgbClr val="16263A"/>
            </a:solidFill>
            <a:prstDash val="solid"/>
          </a:ln>
        </p:spPr>
      </p:sp>
      <p:sp>
        <p:nvSpPr>
          <p:cNvPr id="82" name="Text 80"/>
          <p:cNvSpPr txBox="1"/>
          <p:nvPr/>
        </p:nvSpPr>
        <p:spPr>
          <a:xfrm>
            <a:off x="4846320" y="2852928"/>
            <a:ext cx="3657600" cy="228600"/>
          </a:xfrm>
          <a:prstGeom prst="rect">
            <a:avLst/>
          </a:prstGeom>
          <a:noFill/>
          <a:ln/>
        </p:spPr>
        <p:txBody>
          <a:bodyPr wrap="square" lIns="0" tIns="0" rIns="0" bIns="0" rtlCol="0" anchor="t"/>
          <a:lstStyle/>
          <a:p>
            <a:pPr indent="0" marL="0">
              <a:buNone/>
            </a:pPr>
            <a:r>
              <a:rPr lang="en-US" sz="1250" b="1" dirty="0">
                <a:solidFill>
                  <a:srgbClr val="16A085"/>
                </a:solidFill>
                <a:latin typeface="Calibri" pitchFamily="34" charset="0"/>
                <a:ea typeface="Calibri" pitchFamily="34" charset="-122"/>
                <a:cs typeface="Calibri" pitchFamily="34" charset="-120"/>
              </a:rPr>
              <a:t>Inverse of a 2×2 matrix</a:t>
            </a:r>
            <a:endParaRPr lang="en-US" sz="1250" dirty="0"/>
          </a:p>
        </p:txBody>
      </p:sp>
      <p:sp>
        <p:nvSpPr>
          <p:cNvPr id="83" name="Text 81"/>
          <p:cNvSpPr txBox="1"/>
          <p:nvPr/>
        </p:nvSpPr>
        <p:spPr>
          <a:xfrm>
            <a:off x="4937760" y="324612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a</a:t>
            </a:r>
            <a:endParaRPr lang="en-US" sz="1200" dirty="0"/>
          </a:p>
        </p:txBody>
      </p:sp>
      <p:sp>
        <p:nvSpPr>
          <p:cNvPr id="84" name="Text 82"/>
          <p:cNvSpPr txBox="1"/>
          <p:nvPr/>
        </p:nvSpPr>
        <p:spPr>
          <a:xfrm>
            <a:off x="5212080" y="324612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b</a:t>
            </a:r>
            <a:endParaRPr lang="en-US" sz="1200" dirty="0"/>
          </a:p>
        </p:txBody>
      </p:sp>
      <p:sp>
        <p:nvSpPr>
          <p:cNvPr id="85" name="Text 83"/>
          <p:cNvSpPr txBox="1"/>
          <p:nvPr/>
        </p:nvSpPr>
        <p:spPr>
          <a:xfrm>
            <a:off x="4937760" y="3493008"/>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c</a:t>
            </a:r>
            <a:endParaRPr lang="en-US" sz="1200" dirty="0"/>
          </a:p>
        </p:txBody>
      </p:sp>
      <p:sp>
        <p:nvSpPr>
          <p:cNvPr id="86" name="Text 84"/>
          <p:cNvSpPr txBox="1"/>
          <p:nvPr/>
        </p:nvSpPr>
        <p:spPr>
          <a:xfrm>
            <a:off x="5212080" y="3493008"/>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d</a:t>
            </a:r>
            <a:endParaRPr lang="en-US" sz="1200" dirty="0"/>
          </a:p>
        </p:txBody>
      </p:sp>
      <p:sp>
        <p:nvSpPr>
          <p:cNvPr id="87" name="Shape 85"/>
          <p:cNvSpPr/>
          <p:nvPr/>
        </p:nvSpPr>
        <p:spPr>
          <a:xfrm>
            <a:off x="4873752" y="3209544"/>
            <a:ext cx="0" cy="566928"/>
          </a:xfrm>
          <a:prstGeom prst="line">
            <a:avLst/>
          </a:prstGeom>
          <a:noFill/>
          <a:ln w="15875">
            <a:solidFill>
              <a:srgbClr val="8C99A8"/>
            </a:solidFill>
            <a:prstDash val="solid"/>
          </a:ln>
        </p:spPr>
      </p:sp>
      <p:sp>
        <p:nvSpPr>
          <p:cNvPr id="88" name="Shape 86"/>
          <p:cNvSpPr/>
          <p:nvPr/>
        </p:nvSpPr>
        <p:spPr>
          <a:xfrm>
            <a:off x="4873752" y="3209544"/>
            <a:ext cx="64008" cy="0"/>
          </a:xfrm>
          <a:prstGeom prst="line">
            <a:avLst/>
          </a:prstGeom>
          <a:noFill/>
          <a:ln w="15875">
            <a:solidFill>
              <a:srgbClr val="8C99A8"/>
            </a:solidFill>
            <a:prstDash val="solid"/>
          </a:ln>
        </p:spPr>
      </p:sp>
      <p:sp>
        <p:nvSpPr>
          <p:cNvPr id="89" name="Shape 87"/>
          <p:cNvSpPr/>
          <p:nvPr/>
        </p:nvSpPr>
        <p:spPr>
          <a:xfrm>
            <a:off x="4873752" y="3776472"/>
            <a:ext cx="64008" cy="0"/>
          </a:xfrm>
          <a:prstGeom prst="line">
            <a:avLst/>
          </a:prstGeom>
          <a:noFill/>
          <a:ln w="15875">
            <a:solidFill>
              <a:srgbClr val="8C99A8"/>
            </a:solidFill>
            <a:prstDash val="solid"/>
          </a:ln>
        </p:spPr>
      </p:sp>
      <p:sp>
        <p:nvSpPr>
          <p:cNvPr id="90" name="Shape 88"/>
          <p:cNvSpPr/>
          <p:nvPr/>
        </p:nvSpPr>
        <p:spPr>
          <a:xfrm>
            <a:off x="5550408" y="3209544"/>
            <a:ext cx="0" cy="566928"/>
          </a:xfrm>
          <a:prstGeom prst="line">
            <a:avLst/>
          </a:prstGeom>
          <a:noFill/>
          <a:ln w="15875">
            <a:solidFill>
              <a:srgbClr val="8C99A8"/>
            </a:solidFill>
            <a:prstDash val="solid"/>
          </a:ln>
        </p:spPr>
      </p:sp>
      <p:sp>
        <p:nvSpPr>
          <p:cNvPr id="91" name="Shape 89"/>
          <p:cNvSpPr/>
          <p:nvPr/>
        </p:nvSpPr>
        <p:spPr>
          <a:xfrm>
            <a:off x="5486400" y="3209544"/>
            <a:ext cx="64008" cy="0"/>
          </a:xfrm>
          <a:prstGeom prst="line">
            <a:avLst/>
          </a:prstGeom>
          <a:noFill/>
          <a:ln w="15875">
            <a:solidFill>
              <a:srgbClr val="8C99A8"/>
            </a:solidFill>
            <a:prstDash val="solid"/>
          </a:ln>
        </p:spPr>
      </p:sp>
      <p:sp>
        <p:nvSpPr>
          <p:cNvPr id="92" name="Shape 90"/>
          <p:cNvSpPr/>
          <p:nvPr/>
        </p:nvSpPr>
        <p:spPr>
          <a:xfrm>
            <a:off x="5486400" y="3776472"/>
            <a:ext cx="64008" cy="0"/>
          </a:xfrm>
          <a:prstGeom prst="line">
            <a:avLst/>
          </a:prstGeom>
          <a:noFill/>
          <a:ln w="15875">
            <a:solidFill>
              <a:srgbClr val="8C99A8"/>
            </a:solidFill>
            <a:prstDash val="solid"/>
          </a:ln>
        </p:spPr>
      </p:sp>
      <p:sp>
        <p:nvSpPr>
          <p:cNvPr id="93" name="Text 91"/>
          <p:cNvSpPr txBox="1"/>
          <p:nvPr/>
        </p:nvSpPr>
        <p:spPr>
          <a:xfrm>
            <a:off x="5614416" y="3346704"/>
            <a:ext cx="1595445"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⁻¹ = 1/(ad − bc) ·</a:t>
            </a:r>
            <a:endParaRPr lang="en-US" sz="1300" dirty="0"/>
          </a:p>
        </p:txBody>
      </p:sp>
      <p:sp>
        <p:nvSpPr>
          <p:cNvPr id="94" name="Text 92"/>
          <p:cNvSpPr txBox="1"/>
          <p:nvPr/>
        </p:nvSpPr>
        <p:spPr>
          <a:xfrm>
            <a:off x="7301301" y="3246120"/>
            <a:ext cx="34747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d</a:t>
            </a:r>
            <a:endParaRPr lang="en-US" sz="1200" dirty="0"/>
          </a:p>
        </p:txBody>
      </p:sp>
      <p:sp>
        <p:nvSpPr>
          <p:cNvPr id="95" name="Text 93"/>
          <p:cNvSpPr txBox="1"/>
          <p:nvPr/>
        </p:nvSpPr>
        <p:spPr>
          <a:xfrm>
            <a:off x="7648773" y="3246120"/>
            <a:ext cx="34747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−b</a:t>
            </a:r>
            <a:endParaRPr lang="en-US" sz="1200" dirty="0"/>
          </a:p>
        </p:txBody>
      </p:sp>
      <p:sp>
        <p:nvSpPr>
          <p:cNvPr id="96" name="Text 94"/>
          <p:cNvSpPr txBox="1"/>
          <p:nvPr/>
        </p:nvSpPr>
        <p:spPr>
          <a:xfrm>
            <a:off x="7301301" y="3493008"/>
            <a:ext cx="34747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−c</a:t>
            </a:r>
            <a:endParaRPr lang="en-US" sz="1200" dirty="0"/>
          </a:p>
        </p:txBody>
      </p:sp>
      <p:sp>
        <p:nvSpPr>
          <p:cNvPr id="97" name="Text 95"/>
          <p:cNvSpPr txBox="1"/>
          <p:nvPr/>
        </p:nvSpPr>
        <p:spPr>
          <a:xfrm>
            <a:off x="7648773" y="3493008"/>
            <a:ext cx="34747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a</a:t>
            </a:r>
            <a:endParaRPr lang="en-US" sz="1200" dirty="0"/>
          </a:p>
        </p:txBody>
      </p:sp>
      <p:sp>
        <p:nvSpPr>
          <p:cNvPr id="98" name="Shape 96"/>
          <p:cNvSpPr/>
          <p:nvPr/>
        </p:nvSpPr>
        <p:spPr>
          <a:xfrm>
            <a:off x="7237293" y="3209544"/>
            <a:ext cx="0" cy="566928"/>
          </a:xfrm>
          <a:prstGeom prst="line">
            <a:avLst/>
          </a:prstGeom>
          <a:noFill/>
          <a:ln w="15875">
            <a:solidFill>
              <a:srgbClr val="8C99A8"/>
            </a:solidFill>
            <a:prstDash val="solid"/>
          </a:ln>
        </p:spPr>
      </p:sp>
      <p:sp>
        <p:nvSpPr>
          <p:cNvPr id="99" name="Shape 97"/>
          <p:cNvSpPr/>
          <p:nvPr/>
        </p:nvSpPr>
        <p:spPr>
          <a:xfrm>
            <a:off x="7237293" y="3209544"/>
            <a:ext cx="64008" cy="0"/>
          </a:xfrm>
          <a:prstGeom prst="line">
            <a:avLst/>
          </a:prstGeom>
          <a:noFill/>
          <a:ln w="15875">
            <a:solidFill>
              <a:srgbClr val="8C99A8"/>
            </a:solidFill>
            <a:prstDash val="solid"/>
          </a:ln>
        </p:spPr>
      </p:sp>
      <p:sp>
        <p:nvSpPr>
          <p:cNvPr id="100" name="Shape 98"/>
          <p:cNvSpPr/>
          <p:nvPr/>
        </p:nvSpPr>
        <p:spPr>
          <a:xfrm>
            <a:off x="7237293" y="3776472"/>
            <a:ext cx="64008" cy="0"/>
          </a:xfrm>
          <a:prstGeom prst="line">
            <a:avLst/>
          </a:prstGeom>
          <a:noFill/>
          <a:ln w="15875">
            <a:solidFill>
              <a:srgbClr val="8C99A8"/>
            </a:solidFill>
            <a:prstDash val="solid"/>
          </a:ln>
        </p:spPr>
      </p:sp>
      <p:sp>
        <p:nvSpPr>
          <p:cNvPr id="101" name="Shape 99"/>
          <p:cNvSpPr/>
          <p:nvPr/>
        </p:nvSpPr>
        <p:spPr>
          <a:xfrm>
            <a:off x="8060253" y="3209544"/>
            <a:ext cx="0" cy="566928"/>
          </a:xfrm>
          <a:prstGeom prst="line">
            <a:avLst/>
          </a:prstGeom>
          <a:noFill/>
          <a:ln w="15875">
            <a:solidFill>
              <a:srgbClr val="8C99A8"/>
            </a:solidFill>
            <a:prstDash val="solid"/>
          </a:ln>
        </p:spPr>
      </p:sp>
      <p:sp>
        <p:nvSpPr>
          <p:cNvPr id="102" name="Shape 100"/>
          <p:cNvSpPr/>
          <p:nvPr/>
        </p:nvSpPr>
        <p:spPr>
          <a:xfrm>
            <a:off x="7996245" y="3209544"/>
            <a:ext cx="64008" cy="0"/>
          </a:xfrm>
          <a:prstGeom prst="line">
            <a:avLst/>
          </a:prstGeom>
          <a:noFill/>
          <a:ln w="15875">
            <a:solidFill>
              <a:srgbClr val="8C99A8"/>
            </a:solidFill>
            <a:prstDash val="solid"/>
          </a:ln>
        </p:spPr>
      </p:sp>
      <p:sp>
        <p:nvSpPr>
          <p:cNvPr id="103" name="Shape 101"/>
          <p:cNvSpPr/>
          <p:nvPr/>
        </p:nvSpPr>
        <p:spPr>
          <a:xfrm>
            <a:off x="7996245" y="3776472"/>
            <a:ext cx="64008" cy="0"/>
          </a:xfrm>
          <a:prstGeom prst="line">
            <a:avLst/>
          </a:prstGeom>
          <a:noFill/>
          <a:ln w="15875">
            <a:solidFill>
              <a:srgbClr val="8C99A8"/>
            </a:solidFill>
            <a:prstDash val="solid"/>
          </a:ln>
        </p:spPr>
      </p:sp>
      <p:sp>
        <p:nvSpPr>
          <p:cNvPr id="104" name="Text 102"/>
          <p:cNvSpPr txBox="1"/>
          <p:nvPr/>
        </p:nvSpPr>
        <p:spPr>
          <a:xfrm>
            <a:off x="4846320" y="3886200"/>
            <a:ext cx="3657600" cy="292608"/>
          </a:xfrm>
          <a:prstGeom prst="rect">
            <a:avLst/>
          </a:prstGeom>
          <a:noFill/>
          <a:ln/>
        </p:spPr>
        <p:txBody>
          <a:bodyPr wrap="square" lIns="0" tIns="0" rIns="0" bIns="0" rtlCol="0" anchor="t"/>
          <a:lstStyle/>
          <a:p>
            <a:pPr indent="0" marL="0">
              <a:buNone/>
            </a:pPr>
            <a:r>
              <a:rPr lang="en-US" sz="1050" dirty="0">
                <a:solidFill>
                  <a:srgbClr val="8C99A8"/>
                </a:solidFill>
                <a:latin typeface="Calibri" pitchFamily="34" charset="0"/>
                <a:ea typeface="Calibri" pitchFamily="34" charset="-122"/>
                <a:cs typeface="Calibri" pitchFamily="34" charset="-120"/>
              </a:rPr>
              <a:t>Divide by det = ad − bc; swap a and d; negate b and c</a:t>
            </a:r>
            <a:endParaRPr lang="en-US" sz="10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2D Example, Step 1: Predict</a:t>
            </a:r>
            <a:endParaRPr lang="en-US" sz="2400" dirty="0"/>
          </a:p>
        </p:txBody>
      </p:sp>
      <p:sp>
        <p:nvSpPr>
          <p:cNvPr id="3" name="Text 1"/>
          <p:cNvSpPr txBox="1"/>
          <p:nvPr/>
        </p:nvSpPr>
        <p:spPr>
          <a:xfrm>
            <a:off x="502920" y="1051560"/>
            <a:ext cx="4937760" cy="5029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robot was at [3, 2.5] m. Odometry reports it moved u = [1, 0.5] m since the last step, so F = I and B = I.</a:t>
            </a:r>
            <a:endParaRPr lang="en-US" sz="1200" dirty="0"/>
          </a:p>
        </p:txBody>
      </p:sp>
      <p:sp>
        <p:nvSpPr>
          <p:cNvPr id="4" name="Text 2"/>
          <p:cNvSpPr txBox="1"/>
          <p:nvPr/>
        </p:nvSpPr>
        <p:spPr>
          <a:xfrm>
            <a:off x="502920" y="1819656"/>
            <a:ext cx="1509857"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x̂⁻ = F·x + B·u =</a:t>
            </a:r>
            <a:endParaRPr lang="en-US" sz="1300" dirty="0"/>
          </a:p>
        </p:txBody>
      </p:sp>
      <p:sp>
        <p:nvSpPr>
          <p:cNvPr id="5" name="Text 3"/>
          <p:cNvSpPr txBox="1"/>
          <p:nvPr/>
        </p:nvSpPr>
        <p:spPr>
          <a:xfrm>
            <a:off x="2104217" y="171907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6" name="Text 4"/>
          <p:cNvSpPr txBox="1"/>
          <p:nvPr/>
        </p:nvSpPr>
        <p:spPr>
          <a:xfrm>
            <a:off x="2104217" y="196596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2.5</a:t>
            </a:r>
            <a:endParaRPr lang="en-US" sz="1200" dirty="0"/>
          </a:p>
        </p:txBody>
      </p:sp>
      <p:sp>
        <p:nvSpPr>
          <p:cNvPr id="7" name="Shape 5"/>
          <p:cNvSpPr/>
          <p:nvPr/>
        </p:nvSpPr>
        <p:spPr>
          <a:xfrm>
            <a:off x="2040209" y="1682496"/>
            <a:ext cx="0" cy="566928"/>
          </a:xfrm>
          <a:prstGeom prst="line">
            <a:avLst/>
          </a:prstGeom>
          <a:noFill/>
          <a:ln w="15875">
            <a:solidFill>
              <a:srgbClr val="8C99A8"/>
            </a:solidFill>
            <a:prstDash val="solid"/>
          </a:ln>
        </p:spPr>
      </p:sp>
      <p:sp>
        <p:nvSpPr>
          <p:cNvPr id="8" name="Shape 6"/>
          <p:cNvSpPr/>
          <p:nvPr/>
        </p:nvSpPr>
        <p:spPr>
          <a:xfrm>
            <a:off x="2040209" y="1682496"/>
            <a:ext cx="64008" cy="0"/>
          </a:xfrm>
          <a:prstGeom prst="line">
            <a:avLst/>
          </a:prstGeom>
          <a:noFill/>
          <a:ln w="15875">
            <a:solidFill>
              <a:srgbClr val="8C99A8"/>
            </a:solidFill>
            <a:prstDash val="solid"/>
          </a:ln>
        </p:spPr>
      </p:sp>
      <p:sp>
        <p:nvSpPr>
          <p:cNvPr id="9" name="Shape 7"/>
          <p:cNvSpPr/>
          <p:nvPr/>
        </p:nvSpPr>
        <p:spPr>
          <a:xfrm>
            <a:off x="2040209" y="2249424"/>
            <a:ext cx="64008" cy="0"/>
          </a:xfrm>
          <a:prstGeom prst="line">
            <a:avLst/>
          </a:prstGeom>
          <a:noFill/>
          <a:ln w="15875">
            <a:solidFill>
              <a:srgbClr val="8C99A8"/>
            </a:solidFill>
            <a:prstDash val="solid"/>
          </a:ln>
        </p:spPr>
      </p:sp>
      <p:sp>
        <p:nvSpPr>
          <p:cNvPr id="10" name="Shape 8"/>
          <p:cNvSpPr/>
          <p:nvPr/>
        </p:nvSpPr>
        <p:spPr>
          <a:xfrm>
            <a:off x="2552273" y="1682496"/>
            <a:ext cx="0" cy="566928"/>
          </a:xfrm>
          <a:prstGeom prst="line">
            <a:avLst/>
          </a:prstGeom>
          <a:noFill/>
          <a:ln w="15875">
            <a:solidFill>
              <a:srgbClr val="8C99A8"/>
            </a:solidFill>
            <a:prstDash val="solid"/>
          </a:ln>
        </p:spPr>
      </p:sp>
      <p:sp>
        <p:nvSpPr>
          <p:cNvPr id="11" name="Shape 9"/>
          <p:cNvSpPr/>
          <p:nvPr/>
        </p:nvSpPr>
        <p:spPr>
          <a:xfrm>
            <a:off x="2488265" y="1682496"/>
            <a:ext cx="64008" cy="0"/>
          </a:xfrm>
          <a:prstGeom prst="line">
            <a:avLst/>
          </a:prstGeom>
          <a:noFill/>
          <a:ln w="15875">
            <a:solidFill>
              <a:srgbClr val="8C99A8"/>
            </a:solidFill>
            <a:prstDash val="solid"/>
          </a:ln>
        </p:spPr>
      </p:sp>
      <p:sp>
        <p:nvSpPr>
          <p:cNvPr id="12" name="Shape 10"/>
          <p:cNvSpPr/>
          <p:nvPr/>
        </p:nvSpPr>
        <p:spPr>
          <a:xfrm>
            <a:off x="2488265" y="2249424"/>
            <a:ext cx="64008" cy="0"/>
          </a:xfrm>
          <a:prstGeom prst="line">
            <a:avLst/>
          </a:prstGeom>
          <a:noFill/>
          <a:ln w="15875">
            <a:solidFill>
              <a:srgbClr val="8C99A8"/>
            </a:solidFill>
            <a:prstDash val="solid"/>
          </a:ln>
        </p:spPr>
      </p:sp>
      <p:sp>
        <p:nvSpPr>
          <p:cNvPr id="13" name="Text 11"/>
          <p:cNvSpPr txBox="1"/>
          <p:nvPr/>
        </p:nvSpPr>
        <p:spPr>
          <a:xfrm>
            <a:off x="2616281" y="181965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14" name="Text 12"/>
          <p:cNvSpPr txBox="1"/>
          <p:nvPr/>
        </p:nvSpPr>
        <p:spPr>
          <a:xfrm>
            <a:off x="2848173" y="171907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15" name="Text 13"/>
          <p:cNvSpPr txBox="1"/>
          <p:nvPr/>
        </p:nvSpPr>
        <p:spPr>
          <a:xfrm>
            <a:off x="2848173" y="196596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16" name="Shape 14"/>
          <p:cNvSpPr/>
          <p:nvPr/>
        </p:nvSpPr>
        <p:spPr>
          <a:xfrm>
            <a:off x="2784165" y="1682496"/>
            <a:ext cx="0" cy="566928"/>
          </a:xfrm>
          <a:prstGeom prst="line">
            <a:avLst/>
          </a:prstGeom>
          <a:noFill/>
          <a:ln w="15875">
            <a:solidFill>
              <a:srgbClr val="8C99A8"/>
            </a:solidFill>
            <a:prstDash val="solid"/>
          </a:ln>
        </p:spPr>
      </p:sp>
      <p:sp>
        <p:nvSpPr>
          <p:cNvPr id="17" name="Shape 15"/>
          <p:cNvSpPr/>
          <p:nvPr/>
        </p:nvSpPr>
        <p:spPr>
          <a:xfrm>
            <a:off x="2784165" y="1682496"/>
            <a:ext cx="64008" cy="0"/>
          </a:xfrm>
          <a:prstGeom prst="line">
            <a:avLst/>
          </a:prstGeom>
          <a:noFill/>
          <a:ln w="15875">
            <a:solidFill>
              <a:srgbClr val="8C99A8"/>
            </a:solidFill>
            <a:prstDash val="solid"/>
          </a:ln>
        </p:spPr>
      </p:sp>
      <p:sp>
        <p:nvSpPr>
          <p:cNvPr id="18" name="Shape 16"/>
          <p:cNvSpPr/>
          <p:nvPr/>
        </p:nvSpPr>
        <p:spPr>
          <a:xfrm>
            <a:off x="2784165" y="2249424"/>
            <a:ext cx="64008" cy="0"/>
          </a:xfrm>
          <a:prstGeom prst="line">
            <a:avLst/>
          </a:prstGeom>
          <a:noFill/>
          <a:ln w="15875">
            <a:solidFill>
              <a:srgbClr val="8C99A8"/>
            </a:solidFill>
            <a:prstDash val="solid"/>
          </a:ln>
        </p:spPr>
      </p:sp>
      <p:sp>
        <p:nvSpPr>
          <p:cNvPr id="19" name="Shape 17"/>
          <p:cNvSpPr/>
          <p:nvPr/>
        </p:nvSpPr>
        <p:spPr>
          <a:xfrm>
            <a:off x="3296229" y="1682496"/>
            <a:ext cx="0" cy="566928"/>
          </a:xfrm>
          <a:prstGeom prst="line">
            <a:avLst/>
          </a:prstGeom>
          <a:noFill/>
          <a:ln w="15875">
            <a:solidFill>
              <a:srgbClr val="8C99A8"/>
            </a:solidFill>
            <a:prstDash val="solid"/>
          </a:ln>
        </p:spPr>
      </p:sp>
      <p:sp>
        <p:nvSpPr>
          <p:cNvPr id="20" name="Shape 18"/>
          <p:cNvSpPr/>
          <p:nvPr/>
        </p:nvSpPr>
        <p:spPr>
          <a:xfrm>
            <a:off x="3232221" y="1682496"/>
            <a:ext cx="64008" cy="0"/>
          </a:xfrm>
          <a:prstGeom prst="line">
            <a:avLst/>
          </a:prstGeom>
          <a:noFill/>
          <a:ln w="15875">
            <a:solidFill>
              <a:srgbClr val="8C99A8"/>
            </a:solidFill>
            <a:prstDash val="solid"/>
          </a:ln>
        </p:spPr>
      </p:sp>
      <p:sp>
        <p:nvSpPr>
          <p:cNvPr id="21" name="Shape 19"/>
          <p:cNvSpPr/>
          <p:nvPr/>
        </p:nvSpPr>
        <p:spPr>
          <a:xfrm>
            <a:off x="3232221" y="2249424"/>
            <a:ext cx="64008" cy="0"/>
          </a:xfrm>
          <a:prstGeom prst="line">
            <a:avLst/>
          </a:prstGeom>
          <a:noFill/>
          <a:ln w="15875">
            <a:solidFill>
              <a:srgbClr val="8C99A8"/>
            </a:solidFill>
            <a:prstDash val="solid"/>
          </a:ln>
        </p:spPr>
      </p:sp>
      <p:sp>
        <p:nvSpPr>
          <p:cNvPr id="22" name="Text 20"/>
          <p:cNvSpPr txBox="1"/>
          <p:nvPr/>
        </p:nvSpPr>
        <p:spPr>
          <a:xfrm>
            <a:off x="3360237" y="181965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23" name="Text 21"/>
          <p:cNvSpPr txBox="1"/>
          <p:nvPr/>
        </p:nvSpPr>
        <p:spPr>
          <a:xfrm>
            <a:off x="3592129" y="171907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4</a:t>
            </a:r>
            <a:endParaRPr lang="en-US" sz="1200" dirty="0"/>
          </a:p>
        </p:txBody>
      </p:sp>
      <p:sp>
        <p:nvSpPr>
          <p:cNvPr id="24" name="Text 22"/>
          <p:cNvSpPr txBox="1"/>
          <p:nvPr/>
        </p:nvSpPr>
        <p:spPr>
          <a:xfrm>
            <a:off x="3592129" y="196596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25" name="Shape 23"/>
          <p:cNvSpPr/>
          <p:nvPr/>
        </p:nvSpPr>
        <p:spPr>
          <a:xfrm>
            <a:off x="3528121" y="1682496"/>
            <a:ext cx="0" cy="566928"/>
          </a:xfrm>
          <a:prstGeom prst="line">
            <a:avLst/>
          </a:prstGeom>
          <a:noFill/>
          <a:ln w="15875">
            <a:solidFill>
              <a:srgbClr val="8C99A8"/>
            </a:solidFill>
            <a:prstDash val="solid"/>
          </a:ln>
        </p:spPr>
      </p:sp>
      <p:sp>
        <p:nvSpPr>
          <p:cNvPr id="26" name="Shape 24"/>
          <p:cNvSpPr/>
          <p:nvPr/>
        </p:nvSpPr>
        <p:spPr>
          <a:xfrm>
            <a:off x="3528121" y="1682496"/>
            <a:ext cx="64008" cy="0"/>
          </a:xfrm>
          <a:prstGeom prst="line">
            <a:avLst/>
          </a:prstGeom>
          <a:noFill/>
          <a:ln w="15875">
            <a:solidFill>
              <a:srgbClr val="8C99A8"/>
            </a:solidFill>
            <a:prstDash val="solid"/>
          </a:ln>
        </p:spPr>
      </p:sp>
      <p:sp>
        <p:nvSpPr>
          <p:cNvPr id="27" name="Shape 25"/>
          <p:cNvSpPr/>
          <p:nvPr/>
        </p:nvSpPr>
        <p:spPr>
          <a:xfrm>
            <a:off x="3528121" y="2249424"/>
            <a:ext cx="64008" cy="0"/>
          </a:xfrm>
          <a:prstGeom prst="line">
            <a:avLst/>
          </a:prstGeom>
          <a:noFill/>
          <a:ln w="15875">
            <a:solidFill>
              <a:srgbClr val="8C99A8"/>
            </a:solidFill>
            <a:prstDash val="solid"/>
          </a:ln>
        </p:spPr>
      </p:sp>
      <p:sp>
        <p:nvSpPr>
          <p:cNvPr id="28" name="Shape 26"/>
          <p:cNvSpPr/>
          <p:nvPr/>
        </p:nvSpPr>
        <p:spPr>
          <a:xfrm>
            <a:off x="3930457" y="1682496"/>
            <a:ext cx="0" cy="566928"/>
          </a:xfrm>
          <a:prstGeom prst="line">
            <a:avLst/>
          </a:prstGeom>
          <a:noFill/>
          <a:ln w="15875">
            <a:solidFill>
              <a:srgbClr val="8C99A8"/>
            </a:solidFill>
            <a:prstDash val="solid"/>
          </a:ln>
        </p:spPr>
      </p:sp>
      <p:sp>
        <p:nvSpPr>
          <p:cNvPr id="29" name="Shape 27"/>
          <p:cNvSpPr/>
          <p:nvPr/>
        </p:nvSpPr>
        <p:spPr>
          <a:xfrm>
            <a:off x="3866449" y="1682496"/>
            <a:ext cx="64008" cy="0"/>
          </a:xfrm>
          <a:prstGeom prst="line">
            <a:avLst/>
          </a:prstGeom>
          <a:noFill/>
          <a:ln w="15875">
            <a:solidFill>
              <a:srgbClr val="8C99A8"/>
            </a:solidFill>
            <a:prstDash val="solid"/>
          </a:ln>
        </p:spPr>
      </p:sp>
      <p:sp>
        <p:nvSpPr>
          <p:cNvPr id="30" name="Shape 28"/>
          <p:cNvSpPr/>
          <p:nvPr/>
        </p:nvSpPr>
        <p:spPr>
          <a:xfrm>
            <a:off x="3866449" y="2249424"/>
            <a:ext cx="64008" cy="0"/>
          </a:xfrm>
          <a:prstGeom prst="line">
            <a:avLst/>
          </a:prstGeom>
          <a:noFill/>
          <a:ln w="15875">
            <a:solidFill>
              <a:srgbClr val="8C99A8"/>
            </a:solidFill>
            <a:prstDash val="solid"/>
          </a:ln>
        </p:spPr>
      </p:sp>
      <p:sp>
        <p:nvSpPr>
          <p:cNvPr id="31" name="Text 29"/>
          <p:cNvSpPr txBox="1"/>
          <p:nvPr/>
        </p:nvSpPr>
        <p:spPr>
          <a:xfrm>
            <a:off x="502920" y="2596896"/>
            <a:ext cx="1509857"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P⁻ = F·P·Fᵀ + Q =</a:t>
            </a:r>
            <a:endParaRPr lang="en-US" sz="1300" dirty="0"/>
          </a:p>
        </p:txBody>
      </p:sp>
      <p:sp>
        <p:nvSpPr>
          <p:cNvPr id="32" name="Text 30"/>
          <p:cNvSpPr txBox="1"/>
          <p:nvPr/>
        </p:nvSpPr>
        <p:spPr>
          <a:xfrm>
            <a:off x="2104217" y="249631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1.5</a:t>
            </a:r>
            <a:endParaRPr lang="en-US" sz="1200" dirty="0"/>
          </a:p>
        </p:txBody>
      </p:sp>
      <p:sp>
        <p:nvSpPr>
          <p:cNvPr id="33" name="Text 31"/>
          <p:cNvSpPr txBox="1"/>
          <p:nvPr/>
        </p:nvSpPr>
        <p:spPr>
          <a:xfrm>
            <a:off x="2488265" y="249631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0.75</a:t>
            </a:r>
            <a:endParaRPr lang="en-US" sz="1200" dirty="0"/>
          </a:p>
        </p:txBody>
      </p:sp>
      <p:sp>
        <p:nvSpPr>
          <p:cNvPr id="34" name="Text 32"/>
          <p:cNvSpPr txBox="1"/>
          <p:nvPr/>
        </p:nvSpPr>
        <p:spPr>
          <a:xfrm>
            <a:off x="2104217" y="2743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0.75</a:t>
            </a:r>
            <a:endParaRPr lang="en-US" sz="1200" dirty="0"/>
          </a:p>
        </p:txBody>
      </p:sp>
      <p:sp>
        <p:nvSpPr>
          <p:cNvPr id="35" name="Text 33"/>
          <p:cNvSpPr txBox="1"/>
          <p:nvPr/>
        </p:nvSpPr>
        <p:spPr>
          <a:xfrm>
            <a:off x="2488265" y="2743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1.5</a:t>
            </a:r>
            <a:endParaRPr lang="en-US" sz="1200" dirty="0"/>
          </a:p>
        </p:txBody>
      </p:sp>
      <p:sp>
        <p:nvSpPr>
          <p:cNvPr id="36" name="Shape 34"/>
          <p:cNvSpPr/>
          <p:nvPr/>
        </p:nvSpPr>
        <p:spPr>
          <a:xfrm>
            <a:off x="2040209" y="2459736"/>
            <a:ext cx="0" cy="566928"/>
          </a:xfrm>
          <a:prstGeom prst="line">
            <a:avLst/>
          </a:prstGeom>
          <a:noFill/>
          <a:ln w="15875">
            <a:solidFill>
              <a:srgbClr val="8C99A8"/>
            </a:solidFill>
            <a:prstDash val="solid"/>
          </a:ln>
        </p:spPr>
      </p:sp>
      <p:sp>
        <p:nvSpPr>
          <p:cNvPr id="37" name="Shape 35"/>
          <p:cNvSpPr/>
          <p:nvPr/>
        </p:nvSpPr>
        <p:spPr>
          <a:xfrm>
            <a:off x="2040209" y="2459736"/>
            <a:ext cx="64008" cy="0"/>
          </a:xfrm>
          <a:prstGeom prst="line">
            <a:avLst/>
          </a:prstGeom>
          <a:noFill/>
          <a:ln w="15875">
            <a:solidFill>
              <a:srgbClr val="8C99A8"/>
            </a:solidFill>
            <a:prstDash val="solid"/>
          </a:ln>
        </p:spPr>
      </p:sp>
      <p:sp>
        <p:nvSpPr>
          <p:cNvPr id="38" name="Shape 36"/>
          <p:cNvSpPr/>
          <p:nvPr/>
        </p:nvSpPr>
        <p:spPr>
          <a:xfrm>
            <a:off x="2040209" y="3026664"/>
            <a:ext cx="64008" cy="0"/>
          </a:xfrm>
          <a:prstGeom prst="line">
            <a:avLst/>
          </a:prstGeom>
          <a:noFill/>
          <a:ln w="15875">
            <a:solidFill>
              <a:srgbClr val="8C99A8"/>
            </a:solidFill>
            <a:prstDash val="solid"/>
          </a:ln>
        </p:spPr>
      </p:sp>
      <p:sp>
        <p:nvSpPr>
          <p:cNvPr id="39" name="Shape 37"/>
          <p:cNvSpPr/>
          <p:nvPr/>
        </p:nvSpPr>
        <p:spPr>
          <a:xfrm>
            <a:off x="2936321" y="2459736"/>
            <a:ext cx="0" cy="566928"/>
          </a:xfrm>
          <a:prstGeom prst="line">
            <a:avLst/>
          </a:prstGeom>
          <a:noFill/>
          <a:ln w="15875">
            <a:solidFill>
              <a:srgbClr val="8C99A8"/>
            </a:solidFill>
            <a:prstDash val="solid"/>
          </a:ln>
        </p:spPr>
      </p:sp>
      <p:sp>
        <p:nvSpPr>
          <p:cNvPr id="40" name="Shape 38"/>
          <p:cNvSpPr/>
          <p:nvPr/>
        </p:nvSpPr>
        <p:spPr>
          <a:xfrm>
            <a:off x="2872313" y="2459736"/>
            <a:ext cx="64008" cy="0"/>
          </a:xfrm>
          <a:prstGeom prst="line">
            <a:avLst/>
          </a:prstGeom>
          <a:noFill/>
          <a:ln w="15875">
            <a:solidFill>
              <a:srgbClr val="8C99A8"/>
            </a:solidFill>
            <a:prstDash val="solid"/>
          </a:ln>
        </p:spPr>
      </p:sp>
      <p:sp>
        <p:nvSpPr>
          <p:cNvPr id="41" name="Shape 39"/>
          <p:cNvSpPr/>
          <p:nvPr/>
        </p:nvSpPr>
        <p:spPr>
          <a:xfrm>
            <a:off x="2872313" y="3026664"/>
            <a:ext cx="64008" cy="0"/>
          </a:xfrm>
          <a:prstGeom prst="line">
            <a:avLst/>
          </a:prstGeom>
          <a:noFill/>
          <a:ln w="15875">
            <a:solidFill>
              <a:srgbClr val="8C99A8"/>
            </a:solidFill>
            <a:prstDash val="solid"/>
          </a:ln>
        </p:spPr>
      </p:sp>
      <p:sp>
        <p:nvSpPr>
          <p:cNvPr id="42" name="Text 40"/>
          <p:cNvSpPr txBox="1"/>
          <p:nvPr/>
        </p:nvSpPr>
        <p:spPr>
          <a:xfrm>
            <a:off x="3000329" y="259689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43" name="Text 41"/>
          <p:cNvSpPr txBox="1"/>
          <p:nvPr/>
        </p:nvSpPr>
        <p:spPr>
          <a:xfrm>
            <a:off x="3232221" y="249631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44" name="Text 42"/>
          <p:cNvSpPr txBox="1"/>
          <p:nvPr/>
        </p:nvSpPr>
        <p:spPr>
          <a:xfrm>
            <a:off x="3616269" y="249631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0.25</a:t>
            </a:r>
            <a:endParaRPr lang="en-US" sz="1200" dirty="0"/>
          </a:p>
        </p:txBody>
      </p:sp>
      <p:sp>
        <p:nvSpPr>
          <p:cNvPr id="45" name="Text 43"/>
          <p:cNvSpPr txBox="1"/>
          <p:nvPr/>
        </p:nvSpPr>
        <p:spPr>
          <a:xfrm>
            <a:off x="3232221" y="2743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0.25</a:t>
            </a:r>
            <a:endParaRPr lang="en-US" sz="1200" dirty="0"/>
          </a:p>
        </p:txBody>
      </p:sp>
      <p:sp>
        <p:nvSpPr>
          <p:cNvPr id="46" name="Text 44"/>
          <p:cNvSpPr txBox="1"/>
          <p:nvPr/>
        </p:nvSpPr>
        <p:spPr>
          <a:xfrm>
            <a:off x="3616269" y="274320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47" name="Shape 45"/>
          <p:cNvSpPr/>
          <p:nvPr/>
        </p:nvSpPr>
        <p:spPr>
          <a:xfrm>
            <a:off x="3168213" y="2459736"/>
            <a:ext cx="0" cy="566928"/>
          </a:xfrm>
          <a:prstGeom prst="line">
            <a:avLst/>
          </a:prstGeom>
          <a:noFill/>
          <a:ln w="15875">
            <a:solidFill>
              <a:srgbClr val="8C99A8"/>
            </a:solidFill>
            <a:prstDash val="solid"/>
          </a:ln>
        </p:spPr>
      </p:sp>
      <p:sp>
        <p:nvSpPr>
          <p:cNvPr id="48" name="Shape 46"/>
          <p:cNvSpPr/>
          <p:nvPr/>
        </p:nvSpPr>
        <p:spPr>
          <a:xfrm>
            <a:off x="3168213" y="2459736"/>
            <a:ext cx="64008" cy="0"/>
          </a:xfrm>
          <a:prstGeom prst="line">
            <a:avLst/>
          </a:prstGeom>
          <a:noFill/>
          <a:ln w="15875">
            <a:solidFill>
              <a:srgbClr val="8C99A8"/>
            </a:solidFill>
            <a:prstDash val="solid"/>
          </a:ln>
        </p:spPr>
      </p:sp>
      <p:sp>
        <p:nvSpPr>
          <p:cNvPr id="49" name="Shape 47"/>
          <p:cNvSpPr/>
          <p:nvPr/>
        </p:nvSpPr>
        <p:spPr>
          <a:xfrm>
            <a:off x="3168213" y="3026664"/>
            <a:ext cx="64008" cy="0"/>
          </a:xfrm>
          <a:prstGeom prst="line">
            <a:avLst/>
          </a:prstGeom>
          <a:noFill/>
          <a:ln w="15875">
            <a:solidFill>
              <a:srgbClr val="8C99A8"/>
            </a:solidFill>
            <a:prstDash val="solid"/>
          </a:ln>
        </p:spPr>
      </p:sp>
      <p:sp>
        <p:nvSpPr>
          <p:cNvPr id="50" name="Shape 48"/>
          <p:cNvSpPr/>
          <p:nvPr/>
        </p:nvSpPr>
        <p:spPr>
          <a:xfrm>
            <a:off x="4064325" y="2459736"/>
            <a:ext cx="0" cy="566928"/>
          </a:xfrm>
          <a:prstGeom prst="line">
            <a:avLst/>
          </a:prstGeom>
          <a:noFill/>
          <a:ln w="15875">
            <a:solidFill>
              <a:srgbClr val="8C99A8"/>
            </a:solidFill>
            <a:prstDash val="solid"/>
          </a:ln>
        </p:spPr>
      </p:sp>
      <p:sp>
        <p:nvSpPr>
          <p:cNvPr id="51" name="Shape 49"/>
          <p:cNvSpPr/>
          <p:nvPr/>
        </p:nvSpPr>
        <p:spPr>
          <a:xfrm>
            <a:off x="4000317" y="2459736"/>
            <a:ext cx="64008" cy="0"/>
          </a:xfrm>
          <a:prstGeom prst="line">
            <a:avLst/>
          </a:prstGeom>
          <a:noFill/>
          <a:ln w="15875">
            <a:solidFill>
              <a:srgbClr val="8C99A8"/>
            </a:solidFill>
            <a:prstDash val="solid"/>
          </a:ln>
        </p:spPr>
      </p:sp>
      <p:sp>
        <p:nvSpPr>
          <p:cNvPr id="52" name="Shape 50"/>
          <p:cNvSpPr/>
          <p:nvPr/>
        </p:nvSpPr>
        <p:spPr>
          <a:xfrm>
            <a:off x="4000317" y="3026664"/>
            <a:ext cx="64008" cy="0"/>
          </a:xfrm>
          <a:prstGeom prst="line">
            <a:avLst/>
          </a:prstGeom>
          <a:noFill/>
          <a:ln w="15875">
            <a:solidFill>
              <a:srgbClr val="8C99A8"/>
            </a:solidFill>
            <a:prstDash val="solid"/>
          </a:ln>
        </p:spPr>
      </p:sp>
      <p:sp>
        <p:nvSpPr>
          <p:cNvPr id="53" name="Text 51"/>
          <p:cNvSpPr txBox="1"/>
          <p:nvPr/>
        </p:nvSpPr>
        <p:spPr>
          <a:xfrm>
            <a:off x="4128333" y="259689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54" name="Text 52"/>
          <p:cNvSpPr txBox="1"/>
          <p:nvPr/>
        </p:nvSpPr>
        <p:spPr>
          <a:xfrm>
            <a:off x="4360225" y="2496312"/>
            <a:ext cx="25603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55" name="Text 53"/>
          <p:cNvSpPr txBox="1"/>
          <p:nvPr/>
        </p:nvSpPr>
        <p:spPr>
          <a:xfrm>
            <a:off x="4616257" y="2496312"/>
            <a:ext cx="25603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56" name="Text 54"/>
          <p:cNvSpPr txBox="1"/>
          <p:nvPr/>
        </p:nvSpPr>
        <p:spPr>
          <a:xfrm>
            <a:off x="4360225" y="2743200"/>
            <a:ext cx="25603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57" name="Text 55"/>
          <p:cNvSpPr txBox="1"/>
          <p:nvPr/>
        </p:nvSpPr>
        <p:spPr>
          <a:xfrm>
            <a:off x="4616257" y="2743200"/>
            <a:ext cx="25603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58" name="Shape 56"/>
          <p:cNvSpPr/>
          <p:nvPr/>
        </p:nvSpPr>
        <p:spPr>
          <a:xfrm>
            <a:off x="4296217" y="2459736"/>
            <a:ext cx="0" cy="566928"/>
          </a:xfrm>
          <a:prstGeom prst="line">
            <a:avLst/>
          </a:prstGeom>
          <a:noFill/>
          <a:ln w="15875">
            <a:solidFill>
              <a:srgbClr val="8C99A8"/>
            </a:solidFill>
            <a:prstDash val="solid"/>
          </a:ln>
        </p:spPr>
      </p:sp>
      <p:sp>
        <p:nvSpPr>
          <p:cNvPr id="59" name="Shape 57"/>
          <p:cNvSpPr/>
          <p:nvPr/>
        </p:nvSpPr>
        <p:spPr>
          <a:xfrm>
            <a:off x="4296217" y="2459736"/>
            <a:ext cx="64008" cy="0"/>
          </a:xfrm>
          <a:prstGeom prst="line">
            <a:avLst/>
          </a:prstGeom>
          <a:noFill/>
          <a:ln w="15875">
            <a:solidFill>
              <a:srgbClr val="8C99A8"/>
            </a:solidFill>
            <a:prstDash val="solid"/>
          </a:ln>
        </p:spPr>
      </p:sp>
      <p:sp>
        <p:nvSpPr>
          <p:cNvPr id="60" name="Shape 58"/>
          <p:cNvSpPr/>
          <p:nvPr/>
        </p:nvSpPr>
        <p:spPr>
          <a:xfrm>
            <a:off x="4296217" y="3026664"/>
            <a:ext cx="64008" cy="0"/>
          </a:xfrm>
          <a:prstGeom prst="line">
            <a:avLst/>
          </a:prstGeom>
          <a:noFill/>
          <a:ln w="15875">
            <a:solidFill>
              <a:srgbClr val="8C99A8"/>
            </a:solidFill>
            <a:prstDash val="solid"/>
          </a:ln>
        </p:spPr>
      </p:sp>
      <p:sp>
        <p:nvSpPr>
          <p:cNvPr id="61" name="Shape 59"/>
          <p:cNvSpPr/>
          <p:nvPr/>
        </p:nvSpPr>
        <p:spPr>
          <a:xfrm>
            <a:off x="4936297" y="2459736"/>
            <a:ext cx="0" cy="566928"/>
          </a:xfrm>
          <a:prstGeom prst="line">
            <a:avLst/>
          </a:prstGeom>
          <a:noFill/>
          <a:ln w="15875">
            <a:solidFill>
              <a:srgbClr val="8C99A8"/>
            </a:solidFill>
            <a:prstDash val="solid"/>
          </a:ln>
        </p:spPr>
      </p:sp>
      <p:sp>
        <p:nvSpPr>
          <p:cNvPr id="62" name="Shape 60"/>
          <p:cNvSpPr/>
          <p:nvPr/>
        </p:nvSpPr>
        <p:spPr>
          <a:xfrm>
            <a:off x="4872289" y="2459736"/>
            <a:ext cx="64008" cy="0"/>
          </a:xfrm>
          <a:prstGeom prst="line">
            <a:avLst/>
          </a:prstGeom>
          <a:noFill/>
          <a:ln w="15875">
            <a:solidFill>
              <a:srgbClr val="8C99A8"/>
            </a:solidFill>
            <a:prstDash val="solid"/>
          </a:ln>
        </p:spPr>
      </p:sp>
      <p:sp>
        <p:nvSpPr>
          <p:cNvPr id="63" name="Shape 61"/>
          <p:cNvSpPr/>
          <p:nvPr/>
        </p:nvSpPr>
        <p:spPr>
          <a:xfrm>
            <a:off x="4872289" y="3026664"/>
            <a:ext cx="64008" cy="0"/>
          </a:xfrm>
          <a:prstGeom prst="line">
            <a:avLst/>
          </a:prstGeom>
          <a:noFill/>
          <a:ln w="15875">
            <a:solidFill>
              <a:srgbClr val="8C99A8"/>
            </a:solidFill>
            <a:prstDash val="solid"/>
          </a:ln>
        </p:spPr>
      </p:sp>
      <p:sp>
        <p:nvSpPr>
          <p:cNvPr id="64" name="Text 62"/>
          <p:cNvSpPr txBox="1"/>
          <p:nvPr/>
        </p:nvSpPr>
        <p:spPr>
          <a:xfrm>
            <a:off x="502920" y="3291840"/>
            <a:ext cx="4937760" cy="68580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With F = I, F·P·Fᵀ is just P. Q has an off-diagonal term because wheel slip happens mostly along the direction of travel, so the uncertainty grows along it.</a:t>
            </a:r>
            <a:endParaRPr lang="en-US" sz="1150" dirty="0"/>
          </a:p>
        </p:txBody>
      </p:sp>
      <p:sp>
        <p:nvSpPr>
          <p:cNvPr id="65" name="Shape 63"/>
          <p:cNvSpPr/>
          <p:nvPr/>
        </p:nvSpPr>
        <p:spPr>
          <a:xfrm>
            <a:off x="5806440" y="1097280"/>
            <a:ext cx="2834640" cy="2130552"/>
          </a:xfrm>
          <a:prstGeom prst="rect">
            <a:avLst/>
          </a:prstGeom>
          <a:solidFill>
            <a:srgbClr val="0A1522"/>
          </a:solidFill>
          <a:ln w="9525">
            <a:solidFill>
              <a:srgbClr val="2A3A4E"/>
            </a:solidFill>
            <a:prstDash val="solid"/>
          </a:ln>
        </p:spPr>
      </p:sp>
      <p:sp>
        <p:nvSpPr>
          <p:cNvPr id="66" name="Shape 64"/>
          <p:cNvSpPr/>
          <p:nvPr/>
        </p:nvSpPr>
        <p:spPr>
          <a:xfrm>
            <a:off x="5806440" y="1097280"/>
            <a:ext cx="0" cy="2130552"/>
          </a:xfrm>
          <a:prstGeom prst="line">
            <a:avLst/>
          </a:prstGeom>
          <a:noFill/>
          <a:ln w="6350">
            <a:solidFill>
              <a:srgbClr val="1E2E42"/>
            </a:solidFill>
            <a:prstDash val="solid"/>
          </a:ln>
        </p:spPr>
      </p:sp>
      <p:sp>
        <p:nvSpPr>
          <p:cNvPr id="67" name="Text 65"/>
          <p:cNvSpPr txBox="1"/>
          <p:nvPr/>
        </p:nvSpPr>
        <p:spPr>
          <a:xfrm>
            <a:off x="571500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68" name="Shape 66"/>
          <p:cNvSpPr/>
          <p:nvPr/>
        </p:nvSpPr>
        <p:spPr>
          <a:xfrm>
            <a:off x="6160770" y="1097280"/>
            <a:ext cx="0" cy="2130552"/>
          </a:xfrm>
          <a:prstGeom prst="line">
            <a:avLst/>
          </a:prstGeom>
          <a:noFill/>
          <a:ln w="6350">
            <a:solidFill>
              <a:srgbClr val="1E2E42"/>
            </a:solidFill>
            <a:prstDash val="solid"/>
          </a:ln>
        </p:spPr>
      </p:sp>
      <p:sp>
        <p:nvSpPr>
          <p:cNvPr id="69" name="Text 67"/>
          <p:cNvSpPr txBox="1"/>
          <p:nvPr/>
        </p:nvSpPr>
        <p:spPr>
          <a:xfrm>
            <a:off x="606933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70" name="Shape 68"/>
          <p:cNvSpPr/>
          <p:nvPr/>
        </p:nvSpPr>
        <p:spPr>
          <a:xfrm>
            <a:off x="6515100" y="1097280"/>
            <a:ext cx="0" cy="2130552"/>
          </a:xfrm>
          <a:prstGeom prst="line">
            <a:avLst/>
          </a:prstGeom>
          <a:noFill/>
          <a:ln w="6350">
            <a:solidFill>
              <a:srgbClr val="1E2E42"/>
            </a:solidFill>
            <a:prstDash val="solid"/>
          </a:ln>
        </p:spPr>
      </p:sp>
      <p:sp>
        <p:nvSpPr>
          <p:cNvPr id="71" name="Text 69"/>
          <p:cNvSpPr txBox="1"/>
          <p:nvPr/>
        </p:nvSpPr>
        <p:spPr>
          <a:xfrm>
            <a:off x="642366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72" name="Shape 70"/>
          <p:cNvSpPr/>
          <p:nvPr/>
        </p:nvSpPr>
        <p:spPr>
          <a:xfrm>
            <a:off x="6869430" y="1097280"/>
            <a:ext cx="0" cy="2130552"/>
          </a:xfrm>
          <a:prstGeom prst="line">
            <a:avLst/>
          </a:prstGeom>
          <a:noFill/>
          <a:ln w="6350">
            <a:solidFill>
              <a:srgbClr val="1E2E42"/>
            </a:solidFill>
            <a:prstDash val="solid"/>
          </a:ln>
        </p:spPr>
      </p:sp>
      <p:sp>
        <p:nvSpPr>
          <p:cNvPr id="73" name="Text 71"/>
          <p:cNvSpPr txBox="1"/>
          <p:nvPr/>
        </p:nvSpPr>
        <p:spPr>
          <a:xfrm>
            <a:off x="677799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74" name="Shape 72"/>
          <p:cNvSpPr/>
          <p:nvPr/>
        </p:nvSpPr>
        <p:spPr>
          <a:xfrm>
            <a:off x="7223760" y="1097280"/>
            <a:ext cx="0" cy="2130552"/>
          </a:xfrm>
          <a:prstGeom prst="line">
            <a:avLst/>
          </a:prstGeom>
          <a:noFill/>
          <a:ln w="6350">
            <a:solidFill>
              <a:srgbClr val="1E2E42"/>
            </a:solidFill>
            <a:prstDash val="solid"/>
          </a:ln>
        </p:spPr>
      </p:sp>
      <p:sp>
        <p:nvSpPr>
          <p:cNvPr id="75" name="Text 73"/>
          <p:cNvSpPr txBox="1"/>
          <p:nvPr/>
        </p:nvSpPr>
        <p:spPr>
          <a:xfrm>
            <a:off x="713232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76" name="Shape 74"/>
          <p:cNvSpPr/>
          <p:nvPr/>
        </p:nvSpPr>
        <p:spPr>
          <a:xfrm>
            <a:off x="7578090" y="1097280"/>
            <a:ext cx="0" cy="2130552"/>
          </a:xfrm>
          <a:prstGeom prst="line">
            <a:avLst/>
          </a:prstGeom>
          <a:noFill/>
          <a:ln w="6350">
            <a:solidFill>
              <a:srgbClr val="1E2E42"/>
            </a:solidFill>
            <a:prstDash val="solid"/>
          </a:ln>
        </p:spPr>
      </p:sp>
      <p:sp>
        <p:nvSpPr>
          <p:cNvPr id="77" name="Text 75"/>
          <p:cNvSpPr txBox="1"/>
          <p:nvPr/>
        </p:nvSpPr>
        <p:spPr>
          <a:xfrm>
            <a:off x="748665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5</a:t>
            </a:r>
            <a:endParaRPr lang="en-US" sz="700" dirty="0"/>
          </a:p>
        </p:txBody>
      </p:sp>
      <p:sp>
        <p:nvSpPr>
          <p:cNvPr id="78" name="Shape 76"/>
          <p:cNvSpPr/>
          <p:nvPr/>
        </p:nvSpPr>
        <p:spPr>
          <a:xfrm>
            <a:off x="7932420" y="1097280"/>
            <a:ext cx="0" cy="2130552"/>
          </a:xfrm>
          <a:prstGeom prst="line">
            <a:avLst/>
          </a:prstGeom>
          <a:noFill/>
          <a:ln w="6350">
            <a:solidFill>
              <a:srgbClr val="1E2E42"/>
            </a:solidFill>
            <a:prstDash val="solid"/>
          </a:ln>
        </p:spPr>
      </p:sp>
      <p:sp>
        <p:nvSpPr>
          <p:cNvPr id="79" name="Text 77"/>
          <p:cNvSpPr txBox="1"/>
          <p:nvPr/>
        </p:nvSpPr>
        <p:spPr>
          <a:xfrm>
            <a:off x="784098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6</a:t>
            </a:r>
            <a:endParaRPr lang="en-US" sz="700" dirty="0"/>
          </a:p>
        </p:txBody>
      </p:sp>
      <p:sp>
        <p:nvSpPr>
          <p:cNvPr id="80" name="Shape 78"/>
          <p:cNvSpPr/>
          <p:nvPr/>
        </p:nvSpPr>
        <p:spPr>
          <a:xfrm>
            <a:off x="8286750" y="1097280"/>
            <a:ext cx="0" cy="2130552"/>
          </a:xfrm>
          <a:prstGeom prst="line">
            <a:avLst/>
          </a:prstGeom>
          <a:noFill/>
          <a:ln w="6350">
            <a:solidFill>
              <a:srgbClr val="1E2E42"/>
            </a:solidFill>
            <a:prstDash val="solid"/>
          </a:ln>
        </p:spPr>
      </p:sp>
      <p:sp>
        <p:nvSpPr>
          <p:cNvPr id="81" name="Text 79"/>
          <p:cNvSpPr txBox="1"/>
          <p:nvPr/>
        </p:nvSpPr>
        <p:spPr>
          <a:xfrm>
            <a:off x="819531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7</a:t>
            </a:r>
            <a:endParaRPr lang="en-US" sz="700" dirty="0"/>
          </a:p>
        </p:txBody>
      </p:sp>
      <p:sp>
        <p:nvSpPr>
          <p:cNvPr id="82" name="Shape 80"/>
          <p:cNvSpPr/>
          <p:nvPr/>
        </p:nvSpPr>
        <p:spPr>
          <a:xfrm>
            <a:off x="8641080" y="1097280"/>
            <a:ext cx="0" cy="2130552"/>
          </a:xfrm>
          <a:prstGeom prst="line">
            <a:avLst/>
          </a:prstGeom>
          <a:noFill/>
          <a:ln w="6350">
            <a:solidFill>
              <a:srgbClr val="1E2E42"/>
            </a:solidFill>
            <a:prstDash val="solid"/>
          </a:ln>
        </p:spPr>
      </p:sp>
      <p:sp>
        <p:nvSpPr>
          <p:cNvPr id="83" name="Text 81"/>
          <p:cNvSpPr txBox="1"/>
          <p:nvPr/>
        </p:nvSpPr>
        <p:spPr>
          <a:xfrm>
            <a:off x="854964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8</a:t>
            </a:r>
            <a:endParaRPr lang="en-US" sz="700" dirty="0"/>
          </a:p>
        </p:txBody>
      </p:sp>
      <p:sp>
        <p:nvSpPr>
          <p:cNvPr id="84" name="Shape 82"/>
          <p:cNvSpPr/>
          <p:nvPr/>
        </p:nvSpPr>
        <p:spPr>
          <a:xfrm>
            <a:off x="5806440" y="3227832"/>
            <a:ext cx="2834640" cy="0"/>
          </a:xfrm>
          <a:prstGeom prst="line">
            <a:avLst/>
          </a:prstGeom>
          <a:noFill/>
          <a:ln w="6350">
            <a:solidFill>
              <a:srgbClr val="1E2E42"/>
            </a:solidFill>
            <a:prstDash val="solid"/>
          </a:ln>
        </p:spPr>
      </p:sp>
      <p:sp>
        <p:nvSpPr>
          <p:cNvPr id="85" name="Text 83"/>
          <p:cNvSpPr txBox="1"/>
          <p:nvPr/>
        </p:nvSpPr>
        <p:spPr>
          <a:xfrm>
            <a:off x="5623560" y="3154680"/>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86" name="Shape 84"/>
          <p:cNvSpPr/>
          <p:nvPr/>
        </p:nvSpPr>
        <p:spPr>
          <a:xfrm>
            <a:off x="5806440" y="2872740"/>
            <a:ext cx="2834640" cy="0"/>
          </a:xfrm>
          <a:prstGeom prst="line">
            <a:avLst/>
          </a:prstGeom>
          <a:noFill/>
          <a:ln w="6350">
            <a:solidFill>
              <a:srgbClr val="1E2E42"/>
            </a:solidFill>
            <a:prstDash val="solid"/>
          </a:ln>
        </p:spPr>
      </p:sp>
      <p:sp>
        <p:nvSpPr>
          <p:cNvPr id="87" name="Text 85"/>
          <p:cNvSpPr txBox="1"/>
          <p:nvPr/>
        </p:nvSpPr>
        <p:spPr>
          <a:xfrm>
            <a:off x="5623560" y="279958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88" name="Shape 86"/>
          <p:cNvSpPr/>
          <p:nvPr/>
        </p:nvSpPr>
        <p:spPr>
          <a:xfrm>
            <a:off x="5806440" y="2517648"/>
            <a:ext cx="2834640" cy="0"/>
          </a:xfrm>
          <a:prstGeom prst="line">
            <a:avLst/>
          </a:prstGeom>
          <a:noFill/>
          <a:ln w="6350">
            <a:solidFill>
              <a:srgbClr val="1E2E42"/>
            </a:solidFill>
            <a:prstDash val="solid"/>
          </a:ln>
        </p:spPr>
      </p:sp>
      <p:sp>
        <p:nvSpPr>
          <p:cNvPr id="89" name="Text 87"/>
          <p:cNvSpPr txBox="1"/>
          <p:nvPr/>
        </p:nvSpPr>
        <p:spPr>
          <a:xfrm>
            <a:off x="5623560" y="2444496"/>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90" name="Shape 88"/>
          <p:cNvSpPr/>
          <p:nvPr/>
        </p:nvSpPr>
        <p:spPr>
          <a:xfrm>
            <a:off x="5806440" y="2162556"/>
            <a:ext cx="2834640" cy="0"/>
          </a:xfrm>
          <a:prstGeom prst="line">
            <a:avLst/>
          </a:prstGeom>
          <a:noFill/>
          <a:ln w="6350">
            <a:solidFill>
              <a:srgbClr val="1E2E42"/>
            </a:solidFill>
            <a:prstDash val="solid"/>
          </a:ln>
        </p:spPr>
      </p:sp>
      <p:sp>
        <p:nvSpPr>
          <p:cNvPr id="91" name="Text 89"/>
          <p:cNvSpPr txBox="1"/>
          <p:nvPr/>
        </p:nvSpPr>
        <p:spPr>
          <a:xfrm>
            <a:off x="5623560" y="2089404"/>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92" name="Shape 90"/>
          <p:cNvSpPr/>
          <p:nvPr/>
        </p:nvSpPr>
        <p:spPr>
          <a:xfrm>
            <a:off x="5806440" y="1807464"/>
            <a:ext cx="2834640" cy="0"/>
          </a:xfrm>
          <a:prstGeom prst="line">
            <a:avLst/>
          </a:prstGeom>
          <a:noFill/>
          <a:ln w="6350">
            <a:solidFill>
              <a:srgbClr val="1E2E42"/>
            </a:solidFill>
            <a:prstDash val="solid"/>
          </a:ln>
        </p:spPr>
      </p:sp>
      <p:sp>
        <p:nvSpPr>
          <p:cNvPr id="93" name="Text 91"/>
          <p:cNvSpPr txBox="1"/>
          <p:nvPr/>
        </p:nvSpPr>
        <p:spPr>
          <a:xfrm>
            <a:off x="5623560" y="1734312"/>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94" name="Shape 92"/>
          <p:cNvSpPr/>
          <p:nvPr/>
        </p:nvSpPr>
        <p:spPr>
          <a:xfrm>
            <a:off x="5806440" y="1452372"/>
            <a:ext cx="2834640" cy="0"/>
          </a:xfrm>
          <a:prstGeom prst="line">
            <a:avLst/>
          </a:prstGeom>
          <a:noFill/>
          <a:ln w="6350">
            <a:solidFill>
              <a:srgbClr val="1E2E42"/>
            </a:solidFill>
            <a:prstDash val="solid"/>
          </a:ln>
        </p:spPr>
      </p:sp>
      <p:sp>
        <p:nvSpPr>
          <p:cNvPr id="95" name="Text 93"/>
          <p:cNvSpPr txBox="1"/>
          <p:nvPr/>
        </p:nvSpPr>
        <p:spPr>
          <a:xfrm>
            <a:off x="5623560" y="1379220"/>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5</a:t>
            </a:r>
            <a:endParaRPr lang="en-US" sz="700" dirty="0"/>
          </a:p>
        </p:txBody>
      </p:sp>
      <p:sp>
        <p:nvSpPr>
          <p:cNvPr id="96" name="Shape 94"/>
          <p:cNvSpPr/>
          <p:nvPr/>
        </p:nvSpPr>
        <p:spPr>
          <a:xfrm>
            <a:off x="5806440" y="1097280"/>
            <a:ext cx="2834640" cy="0"/>
          </a:xfrm>
          <a:prstGeom prst="line">
            <a:avLst/>
          </a:prstGeom>
          <a:noFill/>
          <a:ln w="6350">
            <a:solidFill>
              <a:srgbClr val="1E2E42"/>
            </a:solidFill>
            <a:prstDash val="solid"/>
          </a:ln>
        </p:spPr>
      </p:sp>
      <p:sp>
        <p:nvSpPr>
          <p:cNvPr id="97" name="Text 95"/>
          <p:cNvSpPr txBox="1"/>
          <p:nvPr/>
        </p:nvSpPr>
        <p:spPr>
          <a:xfrm>
            <a:off x="5623560" y="102412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6</a:t>
            </a:r>
            <a:endParaRPr lang="en-US" sz="700" dirty="0"/>
          </a:p>
        </p:txBody>
      </p:sp>
      <p:sp>
        <p:nvSpPr>
          <p:cNvPr id="98" name="Shape 96"/>
          <p:cNvSpPr/>
          <p:nvPr/>
        </p:nvSpPr>
        <p:spPr>
          <a:xfrm rot="-2700000">
            <a:off x="5996325" y="1452372"/>
            <a:ext cx="2454870" cy="1420368"/>
          </a:xfrm>
          <a:prstGeom prst="ellipse">
            <a:avLst/>
          </a:prstGeom>
          <a:solidFill>
            <a:srgbClr val="E67E22">
              <a:alpha val="15000"/>
            </a:srgbClr>
          </a:solidFill>
          <a:ln w="22225">
            <a:solidFill>
              <a:srgbClr val="E67E22"/>
            </a:solidFill>
            <a:prstDash val="solid"/>
          </a:ln>
        </p:spPr>
      </p:sp>
      <p:sp>
        <p:nvSpPr>
          <p:cNvPr id="99" name="Shape 97"/>
          <p:cNvSpPr/>
          <p:nvPr/>
        </p:nvSpPr>
        <p:spPr>
          <a:xfrm flipV="1">
            <a:off x="6869430" y="2162556"/>
            <a:ext cx="354330" cy="177546"/>
          </a:xfrm>
          <a:prstGeom prst="line">
            <a:avLst/>
          </a:prstGeom>
          <a:noFill/>
          <a:ln w="19050">
            <a:solidFill>
              <a:srgbClr val="E67E22"/>
            </a:solidFill>
            <a:prstDash val="dash"/>
            <a:tailEnd type="triangle"/>
          </a:ln>
        </p:spPr>
      </p:sp>
      <p:sp>
        <p:nvSpPr>
          <p:cNvPr id="100" name="Shape 98"/>
          <p:cNvSpPr/>
          <p:nvPr/>
        </p:nvSpPr>
        <p:spPr>
          <a:xfrm>
            <a:off x="6823710" y="2294382"/>
            <a:ext cx="91440" cy="91440"/>
          </a:xfrm>
          <a:prstGeom prst="ellipse">
            <a:avLst/>
          </a:prstGeom>
          <a:solidFill>
            <a:srgbClr val="C9D1DB"/>
          </a:solidFill>
          <a:ln w="12700">
            <a:solidFill>
              <a:srgbClr val="C9D1DB"/>
            </a:solidFill>
            <a:prstDash val="solid"/>
          </a:ln>
        </p:spPr>
      </p:sp>
      <p:sp>
        <p:nvSpPr>
          <p:cNvPr id="101" name="Shape 99"/>
          <p:cNvSpPr/>
          <p:nvPr/>
        </p:nvSpPr>
        <p:spPr>
          <a:xfrm>
            <a:off x="7178040" y="2116836"/>
            <a:ext cx="91440" cy="91440"/>
          </a:xfrm>
          <a:prstGeom prst="ellipse">
            <a:avLst/>
          </a:prstGeom>
          <a:solidFill>
            <a:srgbClr val="E67E22"/>
          </a:solidFill>
          <a:ln w="12700">
            <a:solidFill>
              <a:srgbClr val="E67E22"/>
            </a:solidFill>
            <a:prstDash val="solid"/>
          </a:ln>
        </p:spPr>
      </p:sp>
      <p:sp>
        <p:nvSpPr>
          <p:cNvPr id="102" name="Shape 100"/>
          <p:cNvSpPr/>
          <p:nvPr/>
        </p:nvSpPr>
        <p:spPr>
          <a:xfrm>
            <a:off x="5806440" y="3566160"/>
            <a:ext cx="109728" cy="109728"/>
          </a:xfrm>
          <a:prstGeom prst="ellipse">
            <a:avLst/>
          </a:prstGeom>
          <a:solidFill>
            <a:srgbClr val="C9D1DB">
              <a:alpha val="60000"/>
            </a:srgbClr>
          </a:solidFill>
          <a:ln w="15875">
            <a:solidFill>
              <a:srgbClr val="C9D1DB"/>
            </a:solidFill>
            <a:prstDash val="solid"/>
          </a:ln>
        </p:spPr>
      </p:sp>
      <p:sp>
        <p:nvSpPr>
          <p:cNvPr id="103" name="Text 101"/>
          <p:cNvSpPr txBox="1"/>
          <p:nvPr/>
        </p:nvSpPr>
        <p:spPr>
          <a:xfrm>
            <a:off x="5989320" y="3520440"/>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Previous position</a:t>
            </a:r>
            <a:endParaRPr lang="en-US" sz="1000" dirty="0"/>
          </a:p>
        </p:txBody>
      </p:sp>
      <p:sp>
        <p:nvSpPr>
          <p:cNvPr id="104" name="Shape 102"/>
          <p:cNvSpPr/>
          <p:nvPr/>
        </p:nvSpPr>
        <p:spPr>
          <a:xfrm>
            <a:off x="5806440" y="3785616"/>
            <a:ext cx="109728" cy="109728"/>
          </a:xfrm>
          <a:prstGeom prst="ellipse">
            <a:avLst/>
          </a:prstGeom>
          <a:solidFill>
            <a:srgbClr val="E67E22">
              <a:alpha val="60000"/>
            </a:srgbClr>
          </a:solidFill>
          <a:ln w="15875">
            <a:solidFill>
              <a:srgbClr val="E67E22"/>
            </a:solidFill>
            <a:prstDash val="solid"/>
          </a:ln>
        </p:spPr>
      </p:sp>
      <p:sp>
        <p:nvSpPr>
          <p:cNvPr id="105" name="Text 103"/>
          <p:cNvSpPr txBox="1"/>
          <p:nvPr/>
        </p:nvSpPr>
        <p:spPr>
          <a:xfrm>
            <a:off x="5989320" y="3739896"/>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Prediction x̂⁻ with its 2σ ellipse</a:t>
            </a:r>
            <a:endParaRPr lang="en-US" sz="10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2D Example, Step 2: The Kalman Gain</a:t>
            </a:r>
            <a:endParaRPr lang="en-US" sz="2400" dirty="0"/>
          </a:p>
        </p:txBody>
      </p:sp>
      <p:sp>
        <p:nvSpPr>
          <p:cNvPr id="3" name="Text 1"/>
          <p:cNvSpPr txBox="1"/>
          <p:nvPr/>
        </p:nvSpPr>
        <p:spPr>
          <a:xfrm>
            <a:off x="502920" y="1051560"/>
            <a:ext cx="813816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GPS fix arrives: z = [5, 2.5] m. GPS measures both x and y, so H = I, with R = I (σ = 1 m in each axis).</a:t>
            </a:r>
            <a:endParaRPr lang="en-US" sz="1200" dirty="0"/>
          </a:p>
        </p:txBody>
      </p:sp>
      <p:sp>
        <p:nvSpPr>
          <p:cNvPr id="4" name="Text 2"/>
          <p:cNvSpPr txBox="1"/>
          <p:nvPr/>
        </p:nvSpPr>
        <p:spPr>
          <a:xfrm>
            <a:off x="502920" y="1682496"/>
            <a:ext cx="1509857"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S = H·P⁻·Hᵀ + R =</a:t>
            </a:r>
            <a:endParaRPr lang="en-US" sz="1300" dirty="0"/>
          </a:p>
        </p:txBody>
      </p:sp>
      <p:sp>
        <p:nvSpPr>
          <p:cNvPr id="5" name="Text 3"/>
          <p:cNvSpPr txBox="1"/>
          <p:nvPr/>
        </p:nvSpPr>
        <p:spPr>
          <a:xfrm>
            <a:off x="2104217" y="158191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6" name="Text 4"/>
          <p:cNvSpPr txBox="1"/>
          <p:nvPr/>
        </p:nvSpPr>
        <p:spPr>
          <a:xfrm>
            <a:off x="2378537" y="158191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7" name="Text 5"/>
          <p:cNvSpPr txBox="1"/>
          <p:nvPr/>
        </p:nvSpPr>
        <p:spPr>
          <a:xfrm>
            <a:off x="2104217" y="18288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8" name="Text 6"/>
          <p:cNvSpPr txBox="1"/>
          <p:nvPr/>
        </p:nvSpPr>
        <p:spPr>
          <a:xfrm>
            <a:off x="2378537" y="18288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9" name="Shape 7"/>
          <p:cNvSpPr/>
          <p:nvPr/>
        </p:nvSpPr>
        <p:spPr>
          <a:xfrm>
            <a:off x="2040209" y="1545336"/>
            <a:ext cx="0" cy="566928"/>
          </a:xfrm>
          <a:prstGeom prst="line">
            <a:avLst/>
          </a:prstGeom>
          <a:noFill/>
          <a:ln w="15875">
            <a:solidFill>
              <a:srgbClr val="8C99A8"/>
            </a:solidFill>
            <a:prstDash val="solid"/>
          </a:ln>
        </p:spPr>
      </p:sp>
      <p:sp>
        <p:nvSpPr>
          <p:cNvPr id="10" name="Shape 8"/>
          <p:cNvSpPr/>
          <p:nvPr/>
        </p:nvSpPr>
        <p:spPr>
          <a:xfrm>
            <a:off x="2040209" y="1545336"/>
            <a:ext cx="64008" cy="0"/>
          </a:xfrm>
          <a:prstGeom prst="line">
            <a:avLst/>
          </a:prstGeom>
          <a:noFill/>
          <a:ln w="15875">
            <a:solidFill>
              <a:srgbClr val="8C99A8"/>
            </a:solidFill>
            <a:prstDash val="solid"/>
          </a:ln>
        </p:spPr>
      </p:sp>
      <p:sp>
        <p:nvSpPr>
          <p:cNvPr id="11" name="Shape 9"/>
          <p:cNvSpPr/>
          <p:nvPr/>
        </p:nvSpPr>
        <p:spPr>
          <a:xfrm>
            <a:off x="2040209" y="2112264"/>
            <a:ext cx="64008" cy="0"/>
          </a:xfrm>
          <a:prstGeom prst="line">
            <a:avLst/>
          </a:prstGeom>
          <a:noFill/>
          <a:ln w="15875">
            <a:solidFill>
              <a:srgbClr val="8C99A8"/>
            </a:solidFill>
            <a:prstDash val="solid"/>
          </a:ln>
        </p:spPr>
      </p:sp>
      <p:sp>
        <p:nvSpPr>
          <p:cNvPr id="12" name="Shape 10"/>
          <p:cNvSpPr/>
          <p:nvPr/>
        </p:nvSpPr>
        <p:spPr>
          <a:xfrm>
            <a:off x="2716865" y="1545336"/>
            <a:ext cx="0" cy="566928"/>
          </a:xfrm>
          <a:prstGeom prst="line">
            <a:avLst/>
          </a:prstGeom>
          <a:noFill/>
          <a:ln w="15875">
            <a:solidFill>
              <a:srgbClr val="8C99A8"/>
            </a:solidFill>
            <a:prstDash val="solid"/>
          </a:ln>
        </p:spPr>
      </p:sp>
      <p:sp>
        <p:nvSpPr>
          <p:cNvPr id="13" name="Shape 11"/>
          <p:cNvSpPr/>
          <p:nvPr/>
        </p:nvSpPr>
        <p:spPr>
          <a:xfrm>
            <a:off x="2652857" y="1545336"/>
            <a:ext cx="64008" cy="0"/>
          </a:xfrm>
          <a:prstGeom prst="line">
            <a:avLst/>
          </a:prstGeom>
          <a:noFill/>
          <a:ln w="15875">
            <a:solidFill>
              <a:srgbClr val="8C99A8"/>
            </a:solidFill>
            <a:prstDash val="solid"/>
          </a:ln>
        </p:spPr>
      </p:sp>
      <p:sp>
        <p:nvSpPr>
          <p:cNvPr id="14" name="Shape 12"/>
          <p:cNvSpPr/>
          <p:nvPr/>
        </p:nvSpPr>
        <p:spPr>
          <a:xfrm>
            <a:off x="2652857" y="2112264"/>
            <a:ext cx="64008" cy="0"/>
          </a:xfrm>
          <a:prstGeom prst="line">
            <a:avLst/>
          </a:prstGeom>
          <a:noFill/>
          <a:ln w="15875">
            <a:solidFill>
              <a:srgbClr val="8C99A8"/>
            </a:solidFill>
            <a:prstDash val="solid"/>
          </a:ln>
        </p:spPr>
      </p:sp>
      <p:sp>
        <p:nvSpPr>
          <p:cNvPr id="15" name="Text 13"/>
          <p:cNvSpPr txBox="1"/>
          <p:nvPr/>
        </p:nvSpPr>
        <p:spPr>
          <a:xfrm>
            <a:off x="2780873" y="168249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16" name="Text 14"/>
          <p:cNvSpPr txBox="1"/>
          <p:nvPr/>
        </p:nvSpPr>
        <p:spPr>
          <a:xfrm>
            <a:off x="3012765" y="158191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17" name="Text 15"/>
          <p:cNvSpPr txBox="1"/>
          <p:nvPr/>
        </p:nvSpPr>
        <p:spPr>
          <a:xfrm>
            <a:off x="3287085" y="158191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a:t>
            </a:r>
            <a:endParaRPr lang="en-US" sz="1200" dirty="0"/>
          </a:p>
        </p:txBody>
      </p:sp>
      <p:sp>
        <p:nvSpPr>
          <p:cNvPr id="18" name="Text 16"/>
          <p:cNvSpPr txBox="1"/>
          <p:nvPr/>
        </p:nvSpPr>
        <p:spPr>
          <a:xfrm>
            <a:off x="3012765" y="18288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a:t>
            </a:r>
            <a:endParaRPr lang="en-US" sz="1200" dirty="0"/>
          </a:p>
        </p:txBody>
      </p:sp>
      <p:sp>
        <p:nvSpPr>
          <p:cNvPr id="19" name="Text 17"/>
          <p:cNvSpPr txBox="1"/>
          <p:nvPr/>
        </p:nvSpPr>
        <p:spPr>
          <a:xfrm>
            <a:off x="3287085" y="18288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20" name="Shape 18"/>
          <p:cNvSpPr/>
          <p:nvPr/>
        </p:nvSpPr>
        <p:spPr>
          <a:xfrm>
            <a:off x="2948757" y="1545336"/>
            <a:ext cx="0" cy="566928"/>
          </a:xfrm>
          <a:prstGeom prst="line">
            <a:avLst/>
          </a:prstGeom>
          <a:noFill/>
          <a:ln w="15875">
            <a:solidFill>
              <a:srgbClr val="8C99A8"/>
            </a:solidFill>
            <a:prstDash val="solid"/>
          </a:ln>
        </p:spPr>
      </p:sp>
      <p:sp>
        <p:nvSpPr>
          <p:cNvPr id="21" name="Shape 19"/>
          <p:cNvSpPr/>
          <p:nvPr/>
        </p:nvSpPr>
        <p:spPr>
          <a:xfrm>
            <a:off x="2948757" y="1545336"/>
            <a:ext cx="64008" cy="0"/>
          </a:xfrm>
          <a:prstGeom prst="line">
            <a:avLst/>
          </a:prstGeom>
          <a:noFill/>
          <a:ln w="15875">
            <a:solidFill>
              <a:srgbClr val="8C99A8"/>
            </a:solidFill>
            <a:prstDash val="solid"/>
          </a:ln>
        </p:spPr>
      </p:sp>
      <p:sp>
        <p:nvSpPr>
          <p:cNvPr id="22" name="Shape 20"/>
          <p:cNvSpPr/>
          <p:nvPr/>
        </p:nvSpPr>
        <p:spPr>
          <a:xfrm>
            <a:off x="2948757" y="2112264"/>
            <a:ext cx="64008" cy="0"/>
          </a:xfrm>
          <a:prstGeom prst="line">
            <a:avLst/>
          </a:prstGeom>
          <a:noFill/>
          <a:ln w="15875">
            <a:solidFill>
              <a:srgbClr val="8C99A8"/>
            </a:solidFill>
            <a:prstDash val="solid"/>
          </a:ln>
        </p:spPr>
      </p:sp>
      <p:sp>
        <p:nvSpPr>
          <p:cNvPr id="23" name="Shape 21"/>
          <p:cNvSpPr/>
          <p:nvPr/>
        </p:nvSpPr>
        <p:spPr>
          <a:xfrm>
            <a:off x="3625413" y="1545336"/>
            <a:ext cx="0" cy="566928"/>
          </a:xfrm>
          <a:prstGeom prst="line">
            <a:avLst/>
          </a:prstGeom>
          <a:noFill/>
          <a:ln w="15875">
            <a:solidFill>
              <a:srgbClr val="8C99A8"/>
            </a:solidFill>
            <a:prstDash val="solid"/>
          </a:ln>
        </p:spPr>
      </p:sp>
      <p:sp>
        <p:nvSpPr>
          <p:cNvPr id="24" name="Shape 22"/>
          <p:cNvSpPr/>
          <p:nvPr/>
        </p:nvSpPr>
        <p:spPr>
          <a:xfrm>
            <a:off x="3561405" y="1545336"/>
            <a:ext cx="64008" cy="0"/>
          </a:xfrm>
          <a:prstGeom prst="line">
            <a:avLst/>
          </a:prstGeom>
          <a:noFill/>
          <a:ln w="15875">
            <a:solidFill>
              <a:srgbClr val="8C99A8"/>
            </a:solidFill>
            <a:prstDash val="solid"/>
          </a:ln>
        </p:spPr>
      </p:sp>
      <p:sp>
        <p:nvSpPr>
          <p:cNvPr id="25" name="Shape 23"/>
          <p:cNvSpPr/>
          <p:nvPr/>
        </p:nvSpPr>
        <p:spPr>
          <a:xfrm>
            <a:off x="3561405" y="2112264"/>
            <a:ext cx="64008" cy="0"/>
          </a:xfrm>
          <a:prstGeom prst="line">
            <a:avLst/>
          </a:prstGeom>
          <a:noFill/>
          <a:ln w="15875">
            <a:solidFill>
              <a:srgbClr val="8C99A8"/>
            </a:solidFill>
            <a:prstDash val="solid"/>
          </a:ln>
        </p:spPr>
      </p:sp>
      <p:sp>
        <p:nvSpPr>
          <p:cNvPr id="26" name="Text 24"/>
          <p:cNvSpPr txBox="1"/>
          <p:nvPr/>
        </p:nvSpPr>
        <p:spPr>
          <a:xfrm>
            <a:off x="3689421" y="168249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27" name="Text 25"/>
          <p:cNvSpPr txBox="1"/>
          <p:nvPr/>
        </p:nvSpPr>
        <p:spPr>
          <a:xfrm>
            <a:off x="3921313" y="158191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28" name="Text 26"/>
          <p:cNvSpPr txBox="1"/>
          <p:nvPr/>
        </p:nvSpPr>
        <p:spPr>
          <a:xfrm>
            <a:off x="4195633" y="158191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29" name="Text 27"/>
          <p:cNvSpPr txBox="1"/>
          <p:nvPr/>
        </p:nvSpPr>
        <p:spPr>
          <a:xfrm>
            <a:off x="3921313" y="18288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30" name="Text 28"/>
          <p:cNvSpPr txBox="1"/>
          <p:nvPr/>
        </p:nvSpPr>
        <p:spPr>
          <a:xfrm>
            <a:off x="4195633" y="182880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31" name="Shape 29"/>
          <p:cNvSpPr/>
          <p:nvPr/>
        </p:nvSpPr>
        <p:spPr>
          <a:xfrm>
            <a:off x="3857305" y="1545336"/>
            <a:ext cx="0" cy="566928"/>
          </a:xfrm>
          <a:prstGeom prst="line">
            <a:avLst/>
          </a:prstGeom>
          <a:noFill/>
          <a:ln w="15875">
            <a:solidFill>
              <a:srgbClr val="8C99A8"/>
            </a:solidFill>
            <a:prstDash val="solid"/>
          </a:ln>
        </p:spPr>
      </p:sp>
      <p:sp>
        <p:nvSpPr>
          <p:cNvPr id="32" name="Shape 30"/>
          <p:cNvSpPr/>
          <p:nvPr/>
        </p:nvSpPr>
        <p:spPr>
          <a:xfrm>
            <a:off x="3857305" y="1545336"/>
            <a:ext cx="64008" cy="0"/>
          </a:xfrm>
          <a:prstGeom prst="line">
            <a:avLst/>
          </a:prstGeom>
          <a:noFill/>
          <a:ln w="15875">
            <a:solidFill>
              <a:srgbClr val="8C99A8"/>
            </a:solidFill>
            <a:prstDash val="solid"/>
          </a:ln>
        </p:spPr>
      </p:sp>
      <p:sp>
        <p:nvSpPr>
          <p:cNvPr id="33" name="Shape 31"/>
          <p:cNvSpPr/>
          <p:nvPr/>
        </p:nvSpPr>
        <p:spPr>
          <a:xfrm>
            <a:off x="3857305" y="2112264"/>
            <a:ext cx="64008" cy="0"/>
          </a:xfrm>
          <a:prstGeom prst="line">
            <a:avLst/>
          </a:prstGeom>
          <a:noFill/>
          <a:ln w="15875">
            <a:solidFill>
              <a:srgbClr val="8C99A8"/>
            </a:solidFill>
            <a:prstDash val="solid"/>
          </a:ln>
        </p:spPr>
      </p:sp>
      <p:sp>
        <p:nvSpPr>
          <p:cNvPr id="34" name="Shape 32"/>
          <p:cNvSpPr/>
          <p:nvPr/>
        </p:nvSpPr>
        <p:spPr>
          <a:xfrm>
            <a:off x="4533961" y="1545336"/>
            <a:ext cx="0" cy="566928"/>
          </a:xfrm>
          <a:prstGeom prst="line">
            <a:avLst/>
          </a:prstGeom>
          <a:noFill/>
          <a:ln w="15875">
            <a:solidFill>
              <a:srgbClr val="8C99A8"/>
            </a:solidFill>
            <a:prstDash val="solid"/>
          </a:ln>
        </p:spPr>
      </p:sp>
      <p:sp>
        <p:nvSpPr>
          <p:cNvPr id="35" name="Shape 33"/>
          <p:cNvSpPr/>
          <p:nvPr/>
        </p:nvSpPr>
        <p:spPr>
          <a:xfrm>
            <a:off x="4469953" y="1545336"/>
            <a:ext cx="64008" cy="0"/>
          </a:xfrm>
          <a:prstGeom prst="line">
            <a:avLst/>
          </a:prstGeom>
          <a:noFill/>
          <a:ln w="15875">
            <a:solidFill>
              <a:srgbClr val="8C99A8"/>
            </a:solidFill>
            <a:prstDash val="solid"/>
          </a:ln>
        </p:spPr>
      </p:sp>
      <p:sp>
        <p:nvSpPr>
          <p:cNvPr id="36" name="Shape 34"/>
          <p:cNvSpPr/>
          <p:nvPr/>
        </p:nvSpPr>
        <p:spPr>
          <a:xfrm>
            <a:off x="4469953" y="2112264"/>
            <a:ext cx="64008" cy="0"/>
          </a:xfrm>
          <a:prstGeom prst="line">
            <a:avLst/>
          </a:prstGeom>
          <a:noFill/>
          <a:ln w="15875">
            <a:solidFill>
              <a:srgbClr val="8C99A8"/>
            </a:solidFill>
            <a:prstDash val="solid"/>
          </a:ln>
        </p:spPr>
      </p:sp>
      <p:sp>
        <p:nvSpPr>
          <p:cNvPr id="37" name="Text 35"/>
          <p:cNvSpPr txBox="1"/>
          <p:nvPr/>
        </p:nvSpPr>
        <p:spPr>
          <a:xfrm>
            <a:off x="4597969" y="1682496"/>
            <a:ext cx="210897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   det S = 3·3 − 1·1 = 8</a:t>
            </a:r>
            <a:endParaRPr lang="en-US" sz="1300" dirty="0"/>
          </a:p>
        </p:txBody>
      </p:sp>
      <p:sp>
        <p:nvSpPr>
          <p:cNvPr id="38" name="Text 36"/>
          <p:cNvSpPr txBox="1"/>
          <p:nvPr/>
        </p:nvSpPr>
        <p:spPr>
          <a:xfrm>
            <a:off x="502920" y="2459736"/>
            <a:ext cx="996330"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S⁻¹ = 1/8 ·</a:t>
            </a:r>
            <a:endParaRPr lang="en-US" sz="1300" dirty="0"/>
          </a:p>
        </p:txBody>
      </p:sp>
      <p:sp>
        <p:nvSpPr>
          <p:cNvPr id="39" name="Text 37"/>
          <p:cNvSpPr txBox="1"/>
          <p:nvPr/>
        </p:nvSpPr>
        <p:spPr>
          <a:xfrm>
            <a:off x="1590690" y="2359152"/>
            <a:ext cx="329184"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40" name="Text 38"/>
          <p:cNvSpPr txBox="1"/>
          <p:nvPr/>
        </p:nvSpPr>
        <p:spPr>
          <a:xfrm>
            <a:off x="1919874" y="2359152"/>
            <a:ext cx="329184"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41" name="Text 39"/>
          <p:cNvSpPr txBox="1"/>
          <p:nvPr/>
        </p:nvSpPr>
        <p:spPr>
          <a:xfrm>
            <a:off x="1590690" y="2606040"/>
            <a:ext cx="329184"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42" name="Text 40"/>
          <p:cNvSpPr txBox="1"/>
          <p:nvPr/>
        </p:nvSpPr>
        <p:spPr>
          <a:xfrm>
            <a:off x="1919874" y="2606040"/>
            <a:ext cx="329184"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43" name="Shape 41"/>
          <p:cNvSpPr/>
          <p:nvPr/>
        </p:nvSpPr>
        <p:spPr>
          <a:xfrm>
            <a:off x="1526682" y="2322576"/>
            <a:ext cx="0" cy="566928"/>
          </a:xfrm>
          <a:prstGeom prst="line">
            <a:avLst/>
          </a:prstGeom>
          <a:noFill/>
          <a:ln w="15875">
            <a:solidFill>
              <a:srgbClr val="8C99A8"/>
            </a:solidFill>
            <a:prstDash val="solid"/>
          </a:ln>
        </p:spPr>
      </p:sp>
      <p:sp>
        <p:nvSpPr>
          <p:cNvPr id="44" name="Shape 42"/>
          <p:cNvSpPr/>
          <p:nvPr/>
        </p:nvSpPr>
        <p:spPr>
          <a:xfrm>
            <a:off x="1526682" y="2322576"/>
            <a:ext cx="64008" cy="0"/>
          </a:xfrm>
          <a:prstGeom prst="line">
            <a:avLst/>
          </a:prstGeom>
          <a:noFill/>
          <a:ln w="15875">
            <a:solidFill>
              <a:srgbClr val="8C99A8"/>
            </a:solidFill>
            <a:prstDash val="solid"/>
          </a:ln>
        </p:spPr>
      </p:sp>
      <p:sp>
        <p:nvSpPr>
          <p:cNvPr id="45" name="Shape 43"/>
          <p:cNvSpPr/>
          <p:nvPr/>
        </p:nvSpPr>
        <p:spPr>
          <a:xfrm>
            <a:off x="1526682" y="2889504"/>
            <a:ext cx="64008" cy="0"/>
          </a:xfrm>
          <a:prstGeom prst="line">
            <a:avLst/>
          </a:prstGeom>
          <a:noFill/>
          <a:ln w="15875">
            <a:solidFill>
              <a:srgbClr val="8C99A8"/>
            </a:solidFill>
            <a:prstDash val="solid"/>
          </a:ln>
        </p:spPr>
      </p:sp>
      <p:sp>
        <p:nvSpPr>
          <p:cNvPr id="46" name="Shape 44"/>
          <p:cNvSpPr/>
          <p:nvPr/>
        </p:nvSpPr>
        <p:spPr>
          <a:xfrm>
            <a:off x="2313066" y="2322576"/>
            <a:ext cx="0" cy="566928"/>
          </a:xfrm>
          <a:prstGeom prst="line">
            <a:avLst/>
          </a:prstGeom>
          <a:noFill/>
          <a:ln w="15875">
            <a:solidFill>
              <a:srgbClr val="8C99A8"/>
            </a:solidFill>
            <a:prstDash val="solid"/>
          </a:ln>
        </p:spPr>
      </p:sp>
      <p:sp>
        <p:nvSpPr>
          <p:cNvPr id="47" name="Shape 45"/>
          <p:cNvSpPr/>
          <p:nvPr/>
        </p:nvSpPr>
        <p:spPr>
          <a:xfrm>
            <a:off x="2249058" y="2322576"/>
            <a:ext cx="64008" cy="0"/>
          </a:xfrm>
          <a:prstGeom prst="line">
            <a:avLst/>
          </a:prstGeom>
          <a:noFill/>
          <a:ln w="15875">
            <a:solidFill>
              <a:srgbClr val="8C99A8"/>
            </a:solidFill>
            <a:prstDash val="solid"/>
          </a:ln>
        </p:spPr>
      </p:sp>
      <p:sp>
        <p:nvSpPr>
          <p:cNvPr id="48" name="Shape 46"/>
          <p:cNvSpPr/>
          <p:nvPr/>
        </p:nvSpPr>
        <p:spPr>
          <a:xfrm>
            <a:off x="2249058" y="2889504"/>
            <a:ext cx="64008" cy="0"/>
          </a:xfrm>
          <a:prstGeom prst="line">
            <a:avLst/>
          </a:prstGeom>
          <a:noFill/>
          <a:ln w="15875">
            <a:solidFill>
              <a:srgbClr val="8C99A8"/>
            </a:solidFill>
            <a:prstDash val="solid"/>
          </a:ln>
        </p:spPr>
      </p:sp>
      <p:sp>
        <p:nvSpPr>
          <p:cNvPr id="49" name="Text 47"/>
          <p:cNvSpPr txBox="1"/>
          <p:nvPr/>
        </p:nvSpPr>
        <p:spPr>
          <a:xfrm>
            <a:off x="2377074" y="245973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50" name="Text 48"/>
          <p:cNvSpPr txBox="1"/>
          <p:nvPr/>
        </p:nvSpPr>
        <p:spPr>
          <a:xfrm>
            <a:off x="2608966" y="2359152"/>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0.375</a:t>
            </a:r>
            <a:endParaRPr lang="en-US" sz="1200" dirty="0"/>
          </a:p>
        </p:txBody>
      </p:sp>
      <p:sp>
        <p:nvSpPr>
          <p:cNvPr id="51" name="Text 49"/>
          <p:cNvSpPr txBox="1"/>
          <p:nvPr/>
        </p:nvSpPr>
        <p:spPr>
          <a:xfrm>
            <a:off x="3175894" y="2359152"/>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52" name="Text 50"/>
          <p:cNvSpPr txBox="1"/>
          <p:nvPr/>
        </p:nvSpPr>
        <p:spPr>
          <a:xfrm>
            <a:off x="2608966" y="2606040"/>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53" name="Text 51"/>
          <p:cNvSpPr txBox="1"/>
          <p:nvPr/>
        </p:nvSpPr>
        <p:spPr>
          <a:xfrm>
            <a:off x="3175894" y="2606040"/>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0.375</a:t>
            </a:r>
            <a:endParaRPr lang="en-US" sz="1200" dirty="0"/>
          </a:p>
        </p:txBody>
      </p:sp>
      <p:sp>
        <p:nvSpPr>
          <p:cNvPr id="54" name="Shape 52"/>
          <p:cNvSpPr/>
          <p:nvPr/>
        </p:nvSpPr>
        <p:spPr>
          <a:xfrm>
            <a:off x="2544958" y="2322576"/>
            <a:ext cx="0" cy="566928"/>
          </a:xfrm>
          <a:prstGeom prst="line">
            <a:avLst/>
          </a:prstGeom>
          <a:noFill/>
          <a:ln w="15875">
            <a:solidFill>
              <a:srgbClr val="8C99A8"/>
            </a:solidFill>
            <a:prstDash val="solid"/>
          </a:ln>
        </p:spPr>
      </p:sp>
      <p:sp>
        <p:nvSpPr>
          <p:cNvPr id="55" name="Shape 53"/>
          <p:cNvSpPr/>
          <p:nvPr/>
        </p:nvSpPr>
        <p:spPr>
          <a:xfrm>
            <a:off x="2544958" y="2322576"/>
            <a:ext cx="64008" cy="0"/>
          </a:xfrm>
          <a:prstGeom prst="line">
            <a:avLst/>
          </a:prstGeom>
          <a:noFill/>
          <a:ln w="15875">
            <a:solidFill>
              <a:srgbClr val="8C99A8"/>
            </a:solidFill>
            <a:prstDash val="solid"/>
          </a:ln>
        </p:spPr>
      </p:sp>
      <p:sp>
        <p:nvSpPr>
          <p:cNvPr id="56" name="Shape 54"/>
          <p:cNvSpPr/>
          <p:nvPr/>
        </p:nvSpPr>
        <p:spPr>
          <a:xfrm>
            <a:off x="2544958" y="2889504"/>
            <a:ext cx="64008" cy="0"/>
          </a:xfrm>
          <a:prstGeom prst="line">
            <a:avLst/>
          </a:prstGeom>
          <a:noFill/>
          <a:ln w="15875">
            <a:solidFill>
              <a:srgbClr val="8C99A8"/>
            </a:solidFill>
            <a:prstDash val="solid"/>
          </a:ln>
        </p:spPr>
      </p:sp>
      <p:sp>
        <p:nvSpPr>
          <p:cNvPr id="57" name="Shape 55"/>
          <p:cNvSpPr/>
          <p:nvPr/>
        </p:nvSpPr>
        <p:spPr>
          <a:xfrm>
            <a:off x="3806830" y="2322576"/>
            <a:ext cx="0" cy="566928"/>
          </a:xfrm>
          <a:prstGeom prst="line">
            <a:avLst/>
          </a:prstGeom>
          <a:noFill/>
          <a:ln w="15875">
            <a:solidFill>
              <a:srgbClr val="8C99A8"/>
            </a:solidFill>
            <a:prstDash val="solid"/>
          </a:ln>
        </p:spPr>
      </p:sp>
      <p:sp>
        <p:nvSpPr>
          <p:cNvPr id="58" name="Shape 56"/>
          <p:cNvSpPr/>
          <p:nvPr/>
        </p:nvSpPr>
        <p:spPr>
          <a:xfrm>
            <a:off x="3742822" y="2322576"/>
            <a:ext cx="64008" cy="0"/>
          </a:xfrm>
          <a:prstGeom prst="line">
            <a:avLst/>
          </a:prstGeom>
          <a:noFill/>
          <a:ln w="15875">
            <a:solidFill>
              <a:srgbClr val="8C99A8"/>
            </a:solidFill>
            <a:prstDash val="solid"/>
          </a:ln>
        </p:spPr>
      </p:sp>
      <p:sp>
        <p:nvSpPr>
          <p:cNvPr id="59" name="Shape 57"/>
          <p:cNvSpPr/>
          <p:nvPr/>
        </p:nvSpPr>
        <p:spPr>
          <a:xfrm>
            <a:off x="3742822" y="2889504"/>
            <a:ext cx="64008" cy="0"/>
          </a:xfrm>
          <a:prstGeom prst="line">
            <a:avLst/>
          </a:prstGeom>
          <a:noFill/>
          <a:ln w="15875">
            <a:solidFill>
              <a:srgbClr val="8C99A8"/>
            </a:solidFill>
            <a:prstDash val="solid"/>
          </a:ln>
        </p:spPr>
      </p:sp>
      <p:sp>
        <p:nvSpPr>
          <p:cNvPr id="60" name="Text 58"/>
          <p:cNvSpPr txBox="1"/>
          <p:nvPr/>
        </p:nvSpPr>
        <p:spPr>
          <a:xfrm>
            <a:off x="502920" y="3236976"/>
            <a:ext cx="133868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K = P⁻·Hᵀ·S⁻¹ =</a:t>
            </a:r>
            <a:endParaRPr lang="en-US" sz="1300" dirty="0"/>
          </a:p>
        </p:txBody>
      </p:sp>
      <p:sp>
        <p:nvSpPr>
          <p:cNvPr id="61" name="Text 59"/>
          <p:cNvSpPr txBox="1"/>
          <p:nvPr/>
        </p:nvSpPr>
        <p:spPr>
          <a:xfrm>
            <a:off x="1933042" y="313639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62" name="Text 60"/>
          <p:cNvSpPr txBox="1"/>
          <p:nvPr/>
        </p:nvSpPr>
        <p:spPr>
          <a:xfrm>
            <a:off x="2207362" y="313639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63" name="Text 61"/>
          <p:cNvSpPr txBox="1"/>
          <p:nvPr/>
        </p:nvSpPr>
        <p:spPr>
          <a:xfrm>
            <a:off x="1933042" y="338328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64" name="Text 62"/>
          <p:cNvSpPr txBox="1"/>
          <p:nvPr/>
        </p:nvSpPr>
        <p:spPr>
          <a:xfrm>
            <a:off x="2207362" y="338328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65" name="Shape 63"/>
          <p:cNvSpPr/>
          <p:nvPr/>
        </p:nvSpPr>
        <p:spPr>
          <a:xfrm>
            <a:off x="1869034" y="3099816"/>
            <a:ext cx="0" cy="566928"/>
          </a:xfrm>
          <a:prstGeom prst="line">
            <a:avLst/>
          </a:prstGeom>
          <a:noFill/>
          <a:ln w="15875">
            <a:solidFill>
              <a:srgbClr val="8C99A8"/>
            </a:solidFill>
            <a:prstDash val="solid"/>
          </a:ln>
        </p:spPr>
      </p:sp>
      <p:sp>
        <p:nvSpPr>
          <p:cNvPr id="66" name="Shape 64"/>
          <p:cNvSpPr/>
          <p:nvPr/>
        </p:nvSpPr>
        <p:spPr>
          <a:xfrm>
            <a:off x="1869034" y="3099816"/>
            <a:ext cx="64008" cy="0"/>
          </a:xfrm>
          <a:prstGeom prst="line">
            <a:avLst/>
          </a:prstGeom>
          <a:noFill/>
          <a:ln w="15875">
            <a:solidFill>
              <a:srgbClr val="8C99A8"/>
            </a:solidFill>
            <a:prstDash val="solid"/>
          </a:ln>
        </p:spPr>
      </p:sp>
      <p:sp>
        <p:nvSpPr>
          <p:cNvPr id="67" name="Shape 65"/>
          <p:cNvSpPr/>
          <p:nvPr/>
        </p:nvSpPr>
        <p:spPr>
          <a:xfrm>
            <a:off x="1869034" y="3666744"/>
            <a:ext cx="64008" cy="0"/>
          </a:xfrm>
          <a:prstGeom prst="line">
            <a:avLst/>
          </a:prstGeom>
          <a:noFill/>
          <a:ln w="15875">
            <a:solidFill>
              <a:srgbClr val="8C99A8"/>
            </a:solidFill>
            <a:prstDash val="solid"/>
          </a:ln>
        </p:spPr>
      </p:sp>
      <p:sp>
        <p:nvSpPr>
          <p:cNvPr id="68" name="Shape 66"/>
          <p:cNvSpPr/>
          <p:nvPr/>
        </p:nvSpPr>
        <p:spPr>
          <a:xfrm>
            <a:off x="2545690" y="3099816"/>
            <a:ext cx="0" cy="566928"/>
          </a:xfrm>
          <a:prstGeom prst="line">
            <a:avLst/>
          </a:prstGeom>
          <a:noFill/>
          <a:ln w="15875">
            <a:solidFill>
              <a:srgbClr val="8C99A8"/>
            </a:solidFill>
            <a:prstDash val="solid"/>
          </a:ln>
        </p:spPr>
      </p:sp>
      <p:sp>
        <p:nvSpPr>
          <p:cNvPr id="69" name="Shape 67"/>
          <p:cNvSpPr/>
          <p:nvPr/>
        </p:nvSpPr>
        <p:spPr>
          <a:xfrm>
            <a:off x="2481682" y="3099816"/>
            <a:ext cx="64008" cy="0"/>
          </a:xfrm>
          <a:prstGeom prst="line">
            <a:avLst/>
          </a:prstGeom>
          <a:noFill/>
          <a:ln w="15875">
            <a:solidFill>
              <a:srgbClr val="8C99A8"/>
            </a:solidFill>
            <a:prstDash val="solid"/>
          </a:ln>
        </p:spPr>
      </p:sp>
      <p:sp>
        <p:nvSpPr>
          <p:cNvPr id="70" name="Shape 68"/>
          <p:cNvSpPr/>
          <p:nvPr/>
        </p:nvSpPr>
        <p:spPr>
          <a:xfrm>
            <a:off x="2481682" y="3666744"/>
            <a:ext cx="64008" cy="0"/>
          </a:xfrm>
          <a:prstGeom prst="line">
            <a:avLst/>
          </a:prstGeom>
          <a:noFill/>
          <a:ln w="15875">
            <a:solidFill>
              <a:srgbClr val="8C99A8"/>
            </a:solidFill>
            <a:prstDash val="solid"/>
          </a:ln>
        </p:spPr>
      </p:sp>
      <p:sp>
        <p:nvSpPr>
          <p:cNvPr id="71" name="Text 69"/>
          <p:cNvSpPr txBox="1"/>
          <p:nvPr/>
        </p:nvSpPr>
        <p:spPr>
          <a:xfrm>
            <a:off x="2609698" y="323697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72" name="Text 70"/>
          <p:cNvSpPr txBox="1"/>
          <p:nvPr/>
        </p:nvSpPr>
        <p:spPr>
          <a:xfrm>
            <a:off x="2841589" y="3136392"/>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0.375</a:t>
            </a:r>
            <a:endParaRPr lang="en-US" sz="1200" dirty="0"/>
          </a:p>
        </p:txBody>
      </p:sp>
      <p:sp>
        <p:nvSpPr>
          <p:cNvPr id="73" name="Text 71"/>
          <p:cNvSpPr txBox="1"/>
          <p:nvPr/>
        </p:nvSpPr>
        <p:spPr>
          <a:xfrm>
            <a:off x="3408517" y="3136392"/>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74" name="Text 72"/>
          <p:cNvSpPr txBox="1"/>
          <p:nvPr/>
        </p:nvSpPr>
        <p:spPr>
          <a:xfrm>
            <a:off x="2841589" y="3383280"/>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75" name="Text 73"/>
          <p:cNvSpPr txBox="1"/>
          <p:nvPr/>
        </p:nvSpPr>
        <p:spPr>
          <a:xfrm>
            <a:off x="3408517" y="3383280"/>
            <a:ext cx="56692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0.375</a:t>
            </a:r>
            <a:endParaRPr lang="en-US" sz="1200" dirty="0"/>
          </a:p>
        </p:txBody>
      </p:sp>
      <p:sp>
        <p:nvSpPr>
          <p:cNvPr id="76" name="Shape 74"/>
          <p:cNvSpPr/>
          <p:nvPr/>
        </p:nvSpPr>
        <p:spPr>
          <a:xfrm>
            <a:off x="2777581" y="3099816"/>
            <a:ext cx="0" cy="566928"/>
          </a:xfrm>
          <a:prstGeom prst="line">
            <a:avLst/>
          </a:prstGeom>
          <a:noFill/>
          <a:ln w="15875">
            <a:solidFill>
              <a:srgbClr val="8C99A8"/>
            </a:solidFill>
            <a:prstDash val="solid"/>
          </a:ln>
        </p:spPr>
      </p:sp>
      <p:sp>
        <p:nvSpPr>
          <p:cNvPr id="77" name="Shape 75"/>
          <p:cNvSpPr/>
          <p:nvPr/>
        </p:nvSpPr>
        <p:spPr>
          <a:xfrm>
            <a:off x="2777581" y="3099816"/>
            <a:ext cx="64008" cy="0"/>
          </a:xfrm>
          <a:prstGeom prst="line">
            <a:avLst/>
          </a:prstGeom>
          <a:noFill/>
          <a:ln w="15875">
            <a:solidFill>
              <a:srgbClr val="8C99A8"/>
            </a:solidFill>
            <a:prstDash val="solid"/>
          </a:ln>
        </p:spPr>
      </p:sp>
      <p:sp>
        <p:nvSpPr>
          <p:cNvPr id="78" name="Shape 76"/>
          <p:cNvSpPr/>
          <p:nvPr/>
        </p:nvSpPr>
        <p:spPr>
          <a:xfrm>
            <a:off x="2777581" y="3666744"/>
            <a:ext cx="64008" cy="0"/>
          </a:xfrm>
          <a:prstGeom prst="line">
            <a:avLst/>
          </a:prstGeom>
          <a:noFill/>
          <a:ln w="15875">
            <a:solidFill>
              <a:srgbClr val="8C99A8"/>
            </a:solidFill>
            <a:prstDash val="solid"/>
          </a:ln>
        </p:spPr>
      </p:sp>
      <p:sp>
        <p:nvSpPr>
          <p:cNvPr id="79" name="Shape 77"/>
          <p:cNvSpPr/>
          <p:nvPr/>
        </p:nvSpPr>
        <p:spPr>
          <a:xfrm>
            <a:off x="4039453" y="3099816"/>
            <a:ext cx="0" cy="566928"/>
          </a:xfrm>
          <a:prstGeom prst="line">
            <a:avLst/>
          </a:prstGeom>
          <a:noFill/>
          <a:ln w="15875">
            <a:solidFill>
              <a:srgbClr val="8C99A8"/>
            </a:solidFill>
            <a:prstDash val="solid"/>
          </a:ln>
        </p:spPr>
      </p:sp>
      <p:sp>
        <p:nvSpPr>
          <p:cNvPr id="80" name="Shape 78"/>
          <p:cNvSpPr/>
          <p:nvPr/>
        </p:nvSpPr>
        <p:spPr>
          <a:xfrm>
            <a:off x="3975445" y="3099816"/>
            <a:ext cx="64008" cy="0"/>
          </a:xfrm>
          <a:prstGeom prst="line">
            <a:avLst/>
          </a:prstGeom>
          <a:noFill/>
          <a:ln w="15875">
            <a:solidFill>
              <a:srgbClr val="8C99A8"/>
            </a:solidFill>
            <a:prstDash val="solid"/>
          </a:ln>
        </p:spPr>
      </p:sp>
      <p:sp>
        <p:nvSpPr>
          <p:cNvPr id="81" name="Shape 79"/>
          <p:cNvSpPr/>
          <p:nvPr/>
        </p:nvSpPr>
        <p:spPr>
          <a:xfrm>
            <a:off x="3975445" y="3666744"/>
            <a:ext cx="64008" cy="0"/>
          </a:xfrm>
          <a:prstGeom prst="line">
            <a:avLst/>
          </a:prstGeom>
          <a:noFill/>
          <a:ln w="15875">
            <a:solidFill>
              <a:srgbClr val="8C99A8"/>
            </a:solidFill>
            <a:prstDash val="solid"/>
          </a:ln>
        </p:spPr>
      </p:sp>
      <p:sp>
        <p:nvSpPr>
          <p:cNvPr id="82" name="Text 80"/>
          <p:cNvSpPr txBox="1"/>
          <p:nvPr/>
        </p:nvSpPr>
        <p:spPr>
          <a:xfrm>
            <a:off x="4103461" y="323697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83" name="Text 81"/>
          <p:cNvSpPr txBox="1"/>
          <p:nvPr/>
        </p:nvSpPr>
        <p:spPr>
          <a:xfrm>
            <a:off x="4335353" y="3136392"/>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0.625</a:t>
            </a:r>
            <a:endParaRPr lang="en-US" sz="1200" dirty="0"/>
          </a:p>
        </p:txBody>
      </p:sp>
      <p:sp>
        <p:nvSpPr>
          <p:cNvPr id="84" name="Text 82"/>
          <p:cNvSpPr txBox="1"/>
          <p:nvPr/>
        </p:nvSpPr>
        <p:spPr>
          <a:xfrm>
            <a:off x="4838273" y="3136392"/>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85" name="Text 83"/>
          <p:cNvSpPr txBox="1"/>
          <p:nvPr/>
        </p:nvSpPr>
        <p:spPr>
          <a:xfrm>
            <a:off x="4335353" y="3383280"/>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86" name="Text 84"/>
          <p:cNvSpPr txBox="1"/>
          <p:nvPr/>
        </p:nvSpPr>
        <p:spPr>
          <a:xfrm>
            <a:off x="4838273" y="3383280"/>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0.625</a:t>
            </a:r>
            <a:endParaRPr lang="en-US" sz="1200" dirty="0"/>
          </a:p>
        </p:txBody>
      </p:sp>
      <p:sp>
        <p:nvSpPr>
          <p:cNvPr id="87" name="Shape 85"/>
          <p:cNvSpPr/>
          <p:nvPr/>
        </p:nvSpPr>
        <p:spPr>
          <a:xfrm>
            <a:off x="4271345" y="3099816"/>
            <a:ext cx="0" cy="566928"/>
          </a:xfrm>
          <a:prstGeom prst="line">
            <a:avLst/>
          </a:prstGeom>
          <a:noFill/>
          <a:ln w="15875">
            <a:solidFill>
              <a:srgbClr val="8C99A8"/>
            </a:solidFill>
            <a:prstDash val="solid"/>
          </a:ln>
        </p:spPr>
      </p:sp>
      <p:sp>
        <p:nvSpPr>
          <p:cNvPr id="88" name="Shape 86"/>
          <p:cNvSpPr/>
          <p:nvPr/>
        </p:nvSpPr>
        <p:spPr>
          <a:xfrm>
            <a:off x="4271345" y="3099816"/>
            <a:ext cx="64008" cy="0"/>
          </a:xfrm>
          <a:prstGeom prst="line">
            <a:avLst/>
          </a:prstGeom>
          <a:noFill/>
          <a:ln w="15875">
            <a:solidFill>
              <a:srgbClr val="8C99A8"/>
            </a:solidFill>
            <a:prstDash val="solid"/>
          </a:ln>
        </p:spPr>
      </p:sp>
      <p:sp>
        <p:nvSpPr>
          <p:cNvPr id="89" name="Shape 87"/>
          <p:cNvSpPr/>
          <p:nvPr/>
        </p:nvSpPr>
        <p:spPr>
          <a:xfrm>
            <a:off x="4271345" y="3666744"/>
            <a:ext cx="64008" cy="0"/>
          </a:xfrm>
          <a:prstGeom prst="line">
            <a:avLst/>
          </a:prstGeom>
          <a:noFill/>
          <a:ln w="15875">
            <a:solidFill>
              <a:srgbClr val="8C99A8"/>
            </a:solidFill>
            <a:prstDash val="solid"/>
          </a:ln>
        </p:spPr>
      </p:sp>
      <p:sp>
        <p:nvSpPr>
          <p:cNvPr id="90" name="Shape 88"/>
          <p:cNvSpPr/>
          <p:nvPr/>
        </p:nvSpPr>
        <p:spPr>
          <a:xfrm>
            <a:off x="5405201" y="3099816"/>
            <a:ext cx="0" cy="566928"/>
          </a:xfrm>
          <a:prstGeom prst="line">
            <a:avLst/>
          </a:prstGeom>
          <a:noFill/>
          <a:ln w="15875">
            <a:solidFill>
              <a:srgbClr val="8C99A8"/>
            </a:solidFill>
            <a:prstDash val="solid"/>
          </a:ln>
        </p:spPr>
      </p:sp>
      <p:sp>
        <p:nvSpPr>
          <p:cNvPr id="91" name="Shape 89"/>
          <p:cNvSpPr/>
          <p:nvPr/>
        </p:nvSpPr>
        <p:spPr>
          <a:xfrm>
            <a:off x="5341193" y="3099816"/>
            <a:ext cx="64008" cy="0"/>
          </a:xfrm>
          <a:prstGeom prst="line">
            <a:avLst/>
          </a:prstGeom>
          <a:noFill/>
          <a:ln w="15875">
            <a:solidFill>
              <a:srgbClr val="8C99A8"/>
            </a:solidFill>
            <a:prstDash val="solid"/>
          </a:ln>
        </p:spPr>
      </p:sp>
      <p:sp>
        <p:nvSpPr>
          <p:cNvPr id="92" name="Shape 90"/>
          <p:cNvSpPr/>
          <p:nvPr/>
        </p:nvSpPr>
        <p:spPr>
          <a:xfrm>
            <a:off x="5341193" y="3666744"/>
            <a:ext cx="64008" cy="0"/>
          </a:xfrm>
          <a:prstGeom prst="line">
            <a:avLst/>
          </a:prstGeom>
          <a:noFill/>
          <a:ln w="15875">
            <a:solidFill>
              <a:srgbClr val="8C99A8"/>
            </a:solidFill>
            <a:prstDash val="solid"/>
          </a:ln>
        </p:spPr>
      </p:sp>
      <p:sp>
        <p:nvSpPr>
          <p:cNvPr id="93" name="Text 91"/>
          <p:cNvSpPr txBox="1"/>
          <p:nvPr/>
        </p:nvSpPr>
        <p:spPr>
          <a:xfrm>
            <a:off x="502920" y="3931920"/>
            <a:ext cx="8138160" cy="54864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Check the top-left entry: 2 × 0.375 + 1 × (−0.125) = 0.625. The diagonal of K says how much to trust GPS in x and in y; the off-diagonal lets a correction in one axis move the other.</a:t>
            </a:r>
            <a:endParaRPr lang="en-US" sz="11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2D Example, Step 3: The New Estimate</a:t>
            </a:r>
            <a:endParaRPr lang="en-US" sz="2400" dirty="0"/>
          </a:p>
        </p:txBody>
      </p:sp>
      <p:sp>
        <p:nvSpPr>
          <p:cNvPr id="3" name="Text 1"/>
          <p:cNvSpPr txBox="1"/>
          <p:nvPr/>
        </p:nvSpPr>
        <p:spPr>
          <a:xfrm>
            <a:off x="502920" y="1179576"/>
            <a:ext cx="996330"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z − H·x̂⁻ =</a:t>
            </a:r>
            <a:endParaRPr lang="en-US" sz="1300" dirty="0"/>
          </a:p>
        </p:txBody>
      </p:sp>
      <p:sp>
        <p:nvSpPr>
          <p:cNvPr id="4" name="Text 2"/>
          <p:cNvSpPr txBox="1"/>
          <p:nvPr/>
        </p:nvSpPr>
        <p:spPr>
          <a:xfrm>
            <a:off x="1590690" y="107899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5</a:t>
            </a:r>
            <a:endParaRPr lang="en-US" sz="1200" dirty="0"/>
          </a:p>
        </p:txBody>
      </p:sp>
      <p:sp>
        <p:nvSpPr>
          <p:cNvPr id="5" name="Text 3"/>
          <p:cNvSpPr txBox="1"/>
          <p:nvPr/>
        </p:nvSpPr>
        <p:spPr>
          <a:xfrm>
            <a:off x="1590690" y="132588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2.5</a:t>
            </a:r>
            <a:endParaRPr lang="en-US" sz="1200" dirty="0"/>
          </a:p>
        </p:txBody>
      </p:sp>
      <p:sp>
        <p:nvSpPr>
          <p:cNvPr id="6" name="Shape 4"/>
          <p:cNvSpPr/>
          <p:nvPr/>
        </p:nvSpPr>
        <p:spPr>
          <a:xfrm>
            <a:off x="1526682" y="1042416"/>
            <a:ext cx="0" cy="566928"/>
          </a:xfrm>
          <a:prstGeom prst="line">
            <a:avLst/>
          </a:prstGeom>
          <a:noFill/>
          <a:ln w="15875">
            <a:solidFill>
              <a:srgbClr val="8C99A8"/>
            </a:solidFill>
            <a:prstDash val="solid"/>
          </a:ln>
        </p:spPr>
      </p:sp>
      <p:sp>
        <p:nvSpPr>
          <p:cNvPr id="7" name="Shape 5"/>
          <p:cNvSpPr/>
          <p:nvPr/>
        </p:nvSpPr>
        <p:spPr>
          <a:xfrm>
            <a:off x="1526682" y="1042416"/>
            <a:ext cx="64008" cy="0"/>
          </a:xfrm>
          <a:prstGeom prst="line">
            <a:avLst/>
          </a:prstGeom>
          <a:noFill/>
          <a:ln w="15875">
            <a:solidFill>
              <a:srgbClr val="8C99A8"/>
            </a:solidFill>
            <a:prstDash val="solid"/>
          </a:ln>
        </p:spPr>
      </p:sp>
      <p:sp>
        <p:nvSpPr>
          <p:cNvPr id="8" name="Shape 6"/>
          <p:cNvSpPr/>
          <p:nvPr/>
        </p:nvSpPr>
        <p:spPr>
          <a:xfrm>
            <a:off x="1526682" y="1609344"/>
            <a:ext cx="64008" cy="0"/>
          </a:xfrm>
          <a:prstGeom prst="line">
            <a:avLst/>
          </a:prstGeom>
          <a:noFill/>
          <a:ln w="15875">
            <a:solidFill>
              <a:srgbClr val="8C99A8"/>
            </a:solidFill>
            <a:prstDash val="solid"/>
          </a:ln>
        </p:spPr>
      </p:sp>
      <p:sp>
        <p:nvSpPr>
          <p:cNvPr id="9" name="Shape 7"/>
          <p:cNvSpPr/>
          <p:nvPr/>
        </p:nvSpPr>
        <p:spPr>
          <a:xfrm>
            <a:off x="2038746" y="1042416"/>
            <a:ext cx="0" cy="566928"/>
          </a:xfrm>
          <a:prstGeom prst="line">
            <a:avLst/>
          </a:prstGeom>
          <a:noFill/>
          <a:ln w="15875">
            <a:solidFill>
              <a:srgbClr val="8C99A8"/>
            </a:solidFill>
            <a:prstDash val="solid"/>
          </a:ln>
        </p:spPr>
      </p:sp>
      <p:sp>
        <p:nvSpPr>
          <p:cNvPr id="10" name="Shape 8"/>
          <p:cNvSpPr/>
          <p:nvPr/>
        </p:nvSpPr>
        <p:spPr>
          <a:xfrm>
            <a:off x="1974738" y="1042416"/>
            <a:ext cx="64008" cy="0"/>
          </a:xfrm>
          <a:prstGeom prst="line">
            <a:avLst/>
          </a:prstGeom>
          <a:noFill/>
          <a:ln w="15875">
            <a:solidFill>
              <a:srgbClr val="8C99A8"/>
            </a:solidFill>
            <a:prstDash val="solid"/>
          </a:ln>
        </p:spPr>
      </p:sp>
      <p:sp>
        <p:nvSpPr>
          <p:cNvPr id="11" name="Shape 9"/>
          <p:cNvSpPr/>
          <p:nvPr/>
        </p:nvSpPr>
        <p:spPr>
          <a:xfrm>
            <a:off x="1974738" y="1609344"/>
            <a:ext cx="64008" cy="0"/>
          </a:xfrm>
          <a:prstGeom prst="line">
            <a:avLst/>
          </a:prstGeom>
          <a:noFill/>
          <a:ln w="15875">
            <a:solidFill>
              <a:srgbClr val="8C99A8"/>
            </a:solidFill>
            <a:prstDash val="solid"/>
          </a:ln>
        </p:spPr>
      </p:sp>
      <p:sp>
        <p:nvSpPr>
          <p:cNvPr id="12" name="Text 10"/>
          <p:cNvSpPr txBox="1"/>
          <p:nvPr/>
        </p:nvSpPr>
        <p:spPr>
          <a:xfrm>
            <a:off x="2102754" y="117957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13" name="Text 11"/>
          <p:cNvSpPr txBox="1"/>
          <p:nvPr/>
        </p:nvSpPr>
        <p:spPr>
          <a:xfrm>
            <a:off x="2334646" y="107899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4</a:t>
            </a:r>
            <a:endParaRPr lang="en-US" sz="1200" dirty="0"/>
          </a:p>
        </p:txBody>
      </p:sp>
      <p:sp>
        <p:nvSpPr>
          <p:cNvPr id="14" name="Text 12"/>
          <p:cNvSpPr txBox="1"/>
          <p:nvPr/>
        </p:nvSpPr>
        <p:spPr>
          <a:xfrm>
            <a:off x="2334646" y="132588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15" name="Shape 13"/>
          <p:cNvSpPr/>
          <p:nvPr/>
        </p:nvSpPr>
        <p:spPr>
          <a:xfrm>
            <a:off x="2270638" y="1042416"/>
            <a:ext cx="0" cy="566928"/>
          </a:xfrm>
          <a:prstGeom prst="line">
            <a:avLst/>
          </a:prstGeom>
          <a:noFill/>
          <a:ln w="15875">
            <a:solidFill>
              <a:srgbClr val="8C99A8"/>
            </a:solidFill>
            <a:prstDash val="solid"/>
          </a:ln>
        </p:spPr>
      </p:sp>
      <p:sp>
        <p:nvSpPr>
          <p:cNvPr id="16" name="Shape 14"/>
          <p:cNvSpPr/>
          <p:nvPr/>
        </p:nvSpPr>
        <p:spPr>
          <a:xfrm>
            <a:off x="2270638" y="1042416"/>
            <a:ext cx="64008" cy="0"/>
          </a:xfrm>
          <a:prstGeom prst="line">
            <a:avLst/>
          </a:prstGeom>
          <a:noFill/>
          <a:ln w="15875">
            <a:solidFill>
              <a:srgbClr val="8C99A8"/>
            </a:solidFill>
            <a:prstDash val="solid"/>
          </a:ln>
        </p:spPr>
      </p:sp>
      <p:sp>
        <p:nvSpPr>
          <p:cNvPr id="17" name="Shape 15"/>
          <p:cNvSpPr/>
          <p:nvPr/>
        </p:nvSpPr>
        <p:spPr>
          <a:xfrm>
            <a:off x="2270638" y="1609344"/>
            <a:ext cx="64008" cy="0"/>
          </a:xfrm>
          <a:prstGeom prst="line">
            <a:avLst/>
          </a:prstGeom>
          <a:noFill/>
          <a:ln w="15875">
            <a:solidFill>
              <a:srgbClr val="8C99A8"/>
            </a:solidFill>
            <a:prstDash val="solid"/>
          </a:ln>
        </p:spPr>
      </p:sp>
      <p:sp>
        <p:nvSpPr>
          <p:cNvPr id="18" name="Shape 16"/>
          <p:cNvSpPr/>
          <p:nvPr/>
        </p:nvSpPr>
        <p:spPr>
          <a:xfrm>
            <a:off x="2672974" y="1042416"/>
            <a:ext cx="0" cy="566928"/>
          </a:xfrm>
          <a:prstGeom prst="line">
            <a:avLst/>
          </a:prstGeom>
          <a:noFill/>
          <a:ln w="15875">
            <a:solidFill>
              <a:srgbClr val="8C99A8"/>
            </a:solidFill>
            <a:prstDash val="solid"/>
          </a:ln>
        </p:spPr>
      </p:sp>
      <p:sp>
        <p:nvSpPr>
          <p:cNvPr id="19" name="Shape 17"/>
          <p:cNvSpPr/>
          <p:nvPr/>
        </p:nvSpPr>
        <p:spPr>
          <a:xfrm>
            <a:off x="2608966" y="1042416"/>
            <a:ext cx="64008" cy="0"/>
          </a:xfrm>
          <a:prstGeom prst="line">
            <a:avLst/>
          </a:prstGeom>
          <a:noFill/>
          <a:ln w="15875">
            <a:solidFill>
              <a:srgbClr val="8C99A8"/>
            </a:solidFill>
            <a:prstDash val="solid"/>
          </a:ln>
        </p:spPr>
      </p:sp>
      <p:sp>
        <p:nvSpPr>
          <p:cNvPr id="20" name="Shape 18"/>
          <p:cNvSpPr/>
          <p:nvPr/>
        </p:nvSpPr>
        <p:spPr>
          <a:xfrm>
            <a:off x="2608966" y="1609344"/>
            <a:ext cx="64008" cy="0"/>
          </a:xfrm>
          <a:prstGeom prst="line">
            <a:avLst/>
          </a:prstGeom>
          <a:noFill/>
          <a:ln w="15875">
            <a:solidFill>
              <a:srgbClr val="8C99A8"/>
            </a:solidFill>
            <a:prstDash val="solid"/>
          </a:ln>
        </p:spPr>
      </p:sp>
      <p:sp>
        <p:nvSpPr>
          <p:cNvPr id="21" name="Text 19"/>
          <p:cNvSpPr txBox="1"/>
          <p:nvPr/>
        </p:nvSpPr>
        <p:spPr>
          <a:xfrm>
            <a:off x="2736982" y="117957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22" name="Text 20"/>
          <p:cNvSpPr txBox="1"/>
          <p:nvPr/>
        </p:nvSpPr>
        <p:spPr>
          <a:xfrm>
            <a:off x="2968874" y="107899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23" name="Text 21"/>
          <p:cNvSpPr txBox="1"/>
          <p:nvPr/>
        </p:nvSpPr>
        <p:spPr>
          <a:xfrm>
            <a:off x="2968874" y="132588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24" name="Shape 22"/>
          <p:cNvSpPr/>
          <p:nvPr/>
        </p:nvSpPr>
        <p:spPr>
          <a:xfrm>
            <a:off x="2904866" y="1042416"/>
            <a:ext cx="0" cy="566928"/>
          </a:xfrm>
          <a:prstGeom prst="line">
            <a:avLst/>
          </a:prstGeom>
          <a:noFill/>
          <a:ln w="15875">
            <a:solidFill>
              <a:srgbClr val="8C99A8"/>
            </a:solidFill>
            <a:prstDash val="solid"/>
          </a:ln>
        </p:spPr>
      </p:sp>
      <p:sp>
        <p:nvSpPr>
          <p:cNvPr id="25" name="Shape 23"/>
          <p:cNvSpPr/>
          <p:nvPr/>
        </p:nvSpPr>
        <p:spPr>
          <a:xfrm>
            <a:off x="2904866" y="1042416"/>
            <a:ext cx="64008" cy="0"/>
          </a:xfrm>
          <a:prstGeom prst="line">
            <a:avLst/>
          </a:prstGeom>
          <a:noFill/>
          <a:ln w="15875">
            <a:solidFill>
              <a:srgbClr val="8C99A8"/>
            </a:solidFill>
            <a:prstDash val="solid"/>
          </a:ln>
        </p:spPr>
      </p:sp>
      <p:sp>
        <p:nvSpPr>
          <p:cNvPr id="26" name="Shape 24"/>
          <p:cNvSpPr/>
          <p:nvPr/>
        </p:nvSpPr>
        <p:spPr>
          <a:xfrm>
            <a:off x="2904866" y="1609344"/>
            <a:ext cx="64008" cy="0"/>
          </a:xfrm>
          <a:prstGeom prst="line">
            <a:avLst/>
          </a:prstGeom>
          <a:noFill/>
          <a:ln w="15875">
            <a:solidFill>
              <a:srgbClr val="8C99A8"/>
            </a:solidFill>
            <a:prstDash val="solid"/>
          </a:ln>
        </p:spPr>
      </p:sp>
      <p:sp>
        <p:nvSpPr>
          <p:cNvPr id="27" name="Shape 25"/>
          <p:cNvSpPr/>
          <p:nvPr/>
        </p:nvSpPr>
        <p:spPr>
          <a:xfrm>
            <a:off x="3416930" y="1042416"/>
            <a:ext cx="0" cy="566928"/>
          </a:xfrm>
          <a:prstGeom prst="line">
            <a:avLst/>
          </a:prstGeom>
          <a:noFill/>
          <a:ln w="15875">
            <a:solidFill>
              <a:srgbClr val="8C99A8"/>
            </a:solidFill>
            <a:prstDash val="solid"/>
          </a:ln>
        </p:spPr>
      </p:sp>
      <p:sp>
        <p:nvSpPr>
          <p:cNvPr id="28" name="Shape 26"/>
          <p:cNvSpPr/>
          <p:nvPr/>
        </p:nvSpPr>
        <p:spPr>
          <a:xfrm>
            <a:off x="3352922" y="1042416"/>
            <a:ext cx="64008" cy="0"/>
          </a:xfrm>
          <a:prstGeom prst="line">
            <a:avLst/>
          </a:prstGeom>
          <a:noFill/>
          <a:ln w="15875">
            <a:solidFill>
              <a:srgbClr val="8C99A8"/>
            </a:solidFill>
            <a:prstDash val="solid"/>
          </a:ln>
        </p:spPr>
      </p:sp>
      <p:sp>
        <p:nvSpPr>
          <p:cNvPr id="29" name="Shape 27"/>
          <p:cNvSpPr/>
          <p:nvPr/>
        </p:nvSpPr>
        <p:spPr>
          <a:xfrm>
            <a:off x="3352922" y="1609344"/>
            <a:ext cx="64008" cy="0"/>
          </a:xfrm>
          <a:prstGeom prst="line">
            <a:avLst/>
          </a:prstGeom>
          <a:noFill/>
          <a:ln w="15875">
            <a:solidFill>
              <a:srgbClr val="8C99A8"/>
            </a:solidFill>
            <a:prstDash val="solid"/>
          </a:ln>
        </p:spPr>
      </p:sp>
      <p:sp>
        <p:nvSpPr>
          <p:cNvPr id="30" name="Text 28"/>
          <p:cNvSpPr txBox="1"/>
          <p:nvPr/>
        </p:nvSpPr>
        <p:spPr>
          <a:xfrm>
            <a:off x="502920" y="2002536"/>
            <a:ext cx="397215"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x̂ =</a:t>
            </a:r>
            <a:endParaRPr lang="en-US" sz="1300" dirty="0"/>
          </a:p>
        </p:txBody>
      </p:sp>
      <p:sp>
        <p:nvSpPr>
          <p:cNvPr id="31" name="Text 29"/>
          <p:cNvSpPr txBox="1"/>
          <p:nvPr/>
        </p:nvSpPr>
        <p:spPr>
          <a:xfrm>
            <a:off x="991575" y="190195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4</a:t>
            </a:r>
            <a:endParaRPr lang="en-US" sz="1200" dirty="0"/>
          </a:p>
        </p:txBody>
      </p:sp>
      <p:sp>
        <p:nvSpPr>
          <p:cNvPr id="32" name="Text 30"/>
          <p:cNvSpPr txBox="1"/>
          <p:nvPr/>
        </p:nvSpPr>
        <p:spPr>
          <a:xfrm>
            <a:off x="991575" y="214884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33" name="Shape 31"/>
          <p:cNvSpPr/>
          <p:nvPr/>
        </p:nvSpPr>
        <p:spPr>
          <a:xfrm>
            <a:off x="927567" y="1865376"/>
            <a:ext cx="0" cy="566928"/>
          </a:xfrm>
          <a:prstGeom prst="line">
            <a:avLst/>
          </a:prstGeom>
          <a:noFill/>
          <a:ln w="15875">
            <a:solidFill>
              <a:srgbClr val="8C99A8"/>
            </a:solidFill>
            <a:prstDash val="solid"/>
          </a:ln>
        </p:spPr>
      </p:sp>
      <p:sp>
        <p:nvSpPr>
          <p:cNvPr id="34" name="Shape 32"/>
          <p:cNvSpPr/>
          <p:nvPr/>
        </p:nvSpPr>
        <p:spPr>
          <a:xfrm>
            <a:off x="927567" y="1865376"/>
            <a:ext cx="64008" cy="0"/>
          </a:xfrm>
          <a:prstGeom prst="line">
            <a:avLst/>
          </a:prstGeom>
          <a:noFill/>
          <a:ln w="15875">
            <a:solidFill>
              <a:srgbClr val="8C99A8"/>
            </a:solidFill>
            <a:prstDash val="solid"/>
          </a:ln>
        </p:spPr>
      </p:sp>
      <p:sp>
        <p:nvSpPr>
          <p:cNvPr id="35" name="Shape 33"/>
          <p:cNvSpPr/>
          <p:nvPr/>
        </p:nvSpPr>
        <p:spPr>
          <a:xfrm>
            <a:off x="927567" y="2432304"/>
            <a:ext cx="64008" cy="0"/>
          </a:xfrm>
          <a:prstGeom prst="line">
            <a:avLst/>
          </a:prstGeom>
          <a:noFill/>
          <a:ln w="15875">
            <a:solidFill>
              <a:srgbClr val="8C99A8"/>
            </a:solidFill>
            <a:prstDash val="solid"/>
          </a:ln>
        </p:spPr>
      </p:sp>
      <p:sp>
        <p:nvSpPr>
          <p:cNvPr id="36" name="Shape 34"/>
          <p:cNvSpPr/>
          <p:nvPr/>
        </p:nvSpPr>
        <p:spPr>
          <a:xfrm>
            <a:off x="1329903" y="1865376"/>
            <a:ext cx="0" cy="566928"/>
          </a:xfrm>
          <a:prstGeom prst="line">
            <a:avLst/>
          </a:prstGeom>
          <a:noFill/>
          <a:ln w="15875">
            <a:solidFill>
              <a:srgbClr val="8C99A8"/>
            </a:solidFill>
            <a:prstDash val="solid"/>
          </a:ln>
        </p:spPr>
      </p:sp>
      <p:sp>
        <p:nvSpPr>
          <p:cNvPr id="37" name="Shape 35"/>
          <p:cNvSpPr/>
          <p:nvPr/>
        </p:nvSpPr>
        <p:spPr>
          <a:xfrm>
            <a:off x="1265895" y="1865376"/>
            <a:ext cx="64008" cy="0"/>
          </a:xfrm>
          <a:prstGeom prst="line">
            <a:avLst/>
          </a:prstGeom>
          <a:noFill/>
          <a:ln w="15875">
            <a:solidFill>
              <a:srgbClr val="8C99A8"/>
            </a:solidFill>
            <a:prstDash val="solid"/>
          </a:ln>
        </p:spPr>
      </p:sp>
      <p:sp>
        <p:nvSpPr>
          <p:cNvPr id="38" name="Shape 36"/>
          <p:cNvSpPr/>
          <p:nvPr/>
        </p:nvSpPr>
        <p:spPr>
          <a:xfrm>
            <a:off x="1265895" y="2432304"/>
            <a:ext cx="64008" cy="0"/>
          </a:xfrm>
          <a:prstGeom prst="line">
            <a:avLst/>
          </a:prstGeom>
          <a:noFill/>
          <a:ln w="15875">
            <a:solidFill>
              <a:srgbClr val="8C99A8"/>
            </a:solidFill>
            <a:prstDash val="solid"/>
          </a:ln>
        </p:spPr>
      </p:sp>
      <p:sp>
        <p:nvSpPr>
          <p:cNvPr id="39" name="Text 37"/>
          <p:cNvSpPr txBox="1"/>
          <p:nvPr/>
        </p:nvSpPr>
        <p:spPr>
          <a:xfrm>
            <a:off x="1393911" y="200253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40" name="Text 38"/>
          <p:cNvSpPr txBox="1"/>
          <p:nvPr/>
        </p:nvSpPr>
        <p:spPr>
          <a:xfrm>
            <a:off x="1625803" y="1901952"/>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0.625</a:t>
            </a:r>
            <a:endParaRPr lang="en-US" sz="1200" dirty="0"/>
          </a:p>
        </p:txBody>
      </p:sp>
      <p:sp>
        <p:nvSpPr>
          <p:cNvPr id="41" name="Text 39"/>
          <p:cNvSpPr txBox="1"/>
          <p:nvPr/>
        </p:nvSpPr>
        <p:spPr>
          <a:xfrm>
            <a:off x="2128723" y="1901952"/>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42" name="Text 40"/>
          <p:cNvSpPr txBox="1"/>
          <p:nvPr/>
        </p:nvSpPr>
        <p:spPr>
          <a:xfrm>
            <a:off x="1625803" y="2148840"/>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0.125</a:t>
            </a:r>
            <a:endParaRPr lang="en-US" sz="1200" dirty="0"/>
          </a:p>
        </p:txBody>
      </p:sp>
      <p:sp>
        <p:nvSpPr>
          <p:cNvPr id="43" name="Text 41"/>
          <p:cNvSpPr txBox="1"/>
          <p:nvPr/>
        </p:nvSpPr>
        <p:spPr>
          <a:xfrm>
            <a:off x="2128723" y="2148840"/>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0.625</a:t>
            </a:r>
            <a:endParaRPr lang="en-US" sz="1200" dirty="0"/>
          </a:p>
        </p:txBody>
      </p:sp>
      <p:sp>
        <p:nvSpPr>
          <p:cNvPr id="44" name="Shape 42"/>
          <p:cNvSpPr/>
          <p:nvPr/>
        </p:nvSpPr>
        <p:spPr>
          <a:xfrm>
            <a:off x="1561795" y="1865376"/>
            <a:ext cx="0" cy="566928"/>
          </a:xfrm>
          <a:prstGeom prst="line">
            <a:avLst/>
          </a:prstGeom>
          <a:noFill/>
          <a:ln w="15875">
            <a:solidFill>
              <a:srgbClr val="8C99A8"/>
            </a:solidFill>
            <a:prstDash val="solid"/>
          </a:ln>
        </p:spPr>
      </p:sp>
      <p:sp>
        <p:nvSpPr>
          <p:cNvPr id="45" name="Shape 43"/>
          <p:cNvSpPr/>
          <p:nvPr/>
        </p:nvSpPr>
        <p:spPr>
          <a:xfrm>
            <a:off x="1561795" y="1865376"/>
            <a:ext cx="64008" cy="0"/>
          </a:xfrm>
          <a:prstGeom prst="line">
            <a:avLst/>
          </a:prstGeom>
          <a:noFill/>
          <a:ln w="15875">
            <a:solidFill>
              <a:srgbClr val="8C99A8"/>
            </a:solidFill>
            <a:prstDash val="solid"/>
          </a:ln>
        </p:spPr>
      </p:sp>
      <p:sp>
        <p:nvSpPr>
          <p:cNvPr id="46" name="Shape 44"/>
          <p:cNvSpPr/>
          <p:nvPr/>
        </p:nvSpPr>
        <p:spPr>
          <a:xfrm>
            <a:off x="1561795" y="2432304"/>
            <a:ext cx="64008" cy="0"/>
          </a:xfrm>
          <a:prstGeom prst="line">
            <a:avLst/>
          </a:prstGeom>
          <a:noFill/>
          <a:ln w="15875">
            <a:solidFill>
              <a:srgbClr val="8C99A8"/>
            </a:solidFill>
            <a:prstDash val="solid"/>
          </a:ln>
        </p:spPr>
      </p:sp>
      <p:sp>
        <p:nvSpPr>
          <p:cNvPr id="47" name="Shape 45"/>
          <p:cNvSpPr/>
          <p:nvPr/>
        </p:nvSpPr>
        <p:spPr>
          <a:xfrm>
            <a:off x="2695651" y="1865376"/>
            <a:ext cx="0" cy="566928"/>
          </a:xfrm>
          <a:prstGeom prst="line">
            <a:avLst/>
          </a:prstGeom>
          <a:noFill/>
          <a:ln w="15875">
            <a:solidFill>
              <a:srgbClr val="8C99A8"/>
            </a:solidFill>
            <a:prstDash val="solid"/>
          </a:ln>
        </p:spPr>
      </p:sp>
      <p:sp>
        <p:nvSpPr>
          <p:cNvPr id="48" name="Shape 46"/>
          <p:cNvSpPr/>
          <p:nvPr/>
        </p:nvSpPr>
        <p:spPr>
          <a:xfrm>
            <a:off x="2631643" y="1865376"/>
            <a:ext cx="64008" cy="0"/>
          </a:xfrm>
          <a:prstGeom prst="line">
            <a:avLst/>
          </a:prstGeom>
          <a:noFill/>
          <a:ln w="15875">
            <a:solidFill>
              <a:srgbClr val="8C99A8"/>
            </a:solidFill>
            <a:prstDash val="solid"/>
          </a:ln>
        </p:spPr>
      </p:sp>
      <p:sp>
        <p:nvSpPr>
          <p:cNvPr id="49" name="Shape 47"/>
          <p:cNvSpPr/>
          <p:nvPr/>
        </p:nvSpPr>
        <p:spPr>
          <a:xfrm>
            <a:off x="2631643" y="2432304"/>
            <a:ext cx="64008" cy="0"/>
          </a:xfrm>
          <a:prstGeom prst="line">
            <a:avLst/>
          </a:prstGeom>
          <a:noFill/>
          <a:ln w="15875">
            <a:solidFill>
              <a:srgbClr val="8C99A8"/>
            </a:solidFill>
            <a:prstDash val="solid"/>
          </a:ln>
        </p:spPr>
      </p:sp>
      <p:sp>
        <p:nvSpPr>
          <p:cNvPr id="50" name="Text 48"/>
          <p:cNvSpPr txBox="1"/>
          <p:nvPr/>
        </p:nvSpPr>
        <p:spPr>
          <a:xfrm>
            <a:off x="2759659" y="200253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51" name="Text 49"/>
          <p:cNvSpPr txBox="1"/>
          <p:nvPr/>
        </p:nvSpPr>
        <p:spPr>
          <a:xfrm>
            <a:off x="2991551" y="1901952"/>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52" name="Text 50"/>
          <p:cNvSpPr txBox="1"/>
          <p:nvPr/>
        </p:nvSpPr>
        <p:spPr>
          <a:xfrm>
            <a:off x="2991551" y="2148840"/>
            <a:ext cx="384048"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-0.5</a:t>
            </a:r>
            <a:endParaRPr lang="en-US" sz="1200" dirty="0"/>
          </a:p>
        </p:txBody>
      </p:sp>
      <p:sp>
        <p:nvSpPr>
          <p:cNvPr id="53" name="Shape 51"/>
          <p:cNvSpPr/>
          <p:nvPr/>
        </p:nvSpPr>
        <p:spPr>
          <a:xfrm>
            <a:off x="2927543" y="1865376"/>
            <a:ext cx="0" cy="566928"/>
          </a:xfrm>
          <a:prstGeom prst="line">
            <a:avLst/>
          </a:prstGeom>
          <a:noFill/>
          <a:ln w="15875">
            <a:solidFill>
              <a:srgbClr val="8C99A8"/>
            </a:solidFill>
            <a:prstDash val="solid"/>
          </a:ln>
        </p:spPr>
      </p:sp>
      <p:sp>
        <p:nvSpPr>
          <p:cNvPr id="54" name="Shape 52"/>
          <p:cNvSpPr/>
          <p:nvPr/>
        </p:nvSpPr>
        <p:spPr>
          <a:xfrm>
            <a:off x="2927543" y="1865376"/>
            <a:ext cx="64008" cy="0"/>
          </a:xfrm>
          <a:prstGeom prst="line">
            <a:avLst/>
          </a:prstGeom>
          <a:noFill/>
          <a:ln w="15875">
            <a:solidFill>
              <a:srgbClr val="8C99A8"/>
            </a:solidFill>
            <a:prstDash val="solid"/>
          </a:ln>
        </p:spPr>
      </p:sp>
      <p:sp>
        <p:nvSpPr>
          <p:cNvPr id="55" name="Shape 53"/>
          <p:cNvSpPr/>
          <p:nvPr/>
        </p:nvSpPr>
        <p:spPr>
          <a:xfrm>
            <a:off x="2927543" y="2432304"/>
            <a:ext cx="64008" cy="0"/>
          </a:xfrm>
          <a:prstGeom prst="line">
            <a:avLst/>
          </a:prstGeom>
          <a:noFill/>
          <a:ln w="15875">
            <a:solidFill>
              <a:srgbClr val="8C99A8"/>
            </a:solidFill>
            <a:prstDash val="solid"/>
          </a:ln>
        </p:spPr>
      </p:sp>
      <p:sp>
        <p:nvSpPr>
          <p:cNvPr id="56" name="Shape 54"/>
          <p:cNvSpPr/>
          <p:nvPr/>
        </p:nvSpPr>
        <p:spPr>
          <a:xfrm>
            <a:off x="3439607" y="1865376"/>
            <a:ext cx="0" cy="566928"/>
          </a:xfrm>
          <a:prstGeom prst="line">
            <a:avLst/>
          </a:prstGeom>
          <a:noFill/>
          <a:ln w="15875">
            <a:solidFill>
              <a:srgbClr val="8C99A8"/>
            </a:solidFill>
            <a:prstDash val="solid"/>
          </a:ln>
        </p:spPr>
      </p:sp>
      <p:sp>
        <p:nvSpPr>
          <p:cNvPr id="57" name="Shape 55"/>
          <p:cNvSpPr/>
          <p:nvPr/>
        </p:nvSpPr>
        <p:spPr>
          <a:xfrm>
            <a:off x="3375599" y="1865376"/>
            <a:ext cx="64008" cy="0"/>
          </a:xfrm>
          <a:prstGeom prst="line">
            <a:avLst/>
          </a:prstGeom>
          <a:noFill/>
          <a:ln w="15875">
            <a:solidFill>
              <a:srgbClr val="8C99A8"/>
            </a:solidFill>
            <a:prstDash val="solid"/>
          </a:ln>
        </p:spPr>
      </p:sp>
      <p:sp>
        <p:nvSpPr>
          <p:cNvPr id="58" name="Shape 56"/>
          <p:cNvSpPr/>
          <p:nvPr/>
        </p:nvSpPr>
        <p:spPr>
          <a:xfrm>
            <a:off x="3375599" y="2432304"/>
            <a:ext cx="64008" cy="0"/>
          </a:xfrm>
          <a:prstGeom prst="line">
            <a:avLst/>
          </a:prstGeom>
          <a:noFill/>
          <a:ln w="15875">
            <a:solidFill>
              <a:srgbClr val="8C99A8"/>
            </a:solidFill>
            <a:prstDash val="solid"/>
          </a:ln>
        </p:spPr>
      </p:sp>
      <p:sp>
        <p:nvSpPr>
          <p:cNvPr id="59" name="Text 57"/>
          <p:cNvSpPr txBox="1"/>
          <p:nvPr/>
        </p:nvSpPr>
        <p:spPr>
          <a:xfrm>
            <a:off x="3503615" y="200253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60" name="Text 58"/>
          <p:cNvSpPr txBox="1"/>
          <p:nvPr/>
        </p:nvSpPr>
        <p:spPr>
          <a:xfrm>
            <a:off x="3735507" y="1901952"/>
            <a:ext cx="43891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4.56</a:t>
            </a:r>
            <a:endParaRPr lang="en-US" sz="1200" dirty="0"/>
          </a:p>
        </p:txBody>
      </p:sp>
      <p:sp>
        <p:nvSpPr>
          <p:cNvPr id="61" name="Text 59"/>
          <p:cNvSpPr txBox="1"/>
          <p:nvPr/>
        </p:nvSpPr>
        <p:spPr>
          <a:xfrm>
            <a:off x="3735507" y="2148840"/>
            <a:ext cx="43891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2.81</a:t>
            </a:r>
            <a:endParaRPr lang="en-US" sz="1200" dirty="0"/>
          </a:p>
        </p:txBody>
      </p:sp>
      <p:sp>
        <p:nvSpPr>
          <p:cNvPr id="62" name="Shape 60"/>
          <p:cNvSpPr/>
          <p:nvPr/>
        </p:nvSpPr>
        <p:spPr>
          <a:xfrm>
            <a:off x="3671499" y="1865376"/>
            <a:ext cx="0" cy="566928"/>
          </a:xfrm>
          <a:prstGeom prst="line">
            <a:avLst/>
          </a:prstGeom>
          <a:noFill/>
          <a:ln w="15875">
            <a:solidFill>
              <a:srgbClr val="8C99A8"/>
            </a:solidFill>
            <a:prstDash val="solid"/>
          </a:ln>
        </p:spPr>
      </p:sp>
      <p:sp>
        <p:nvSpPr>
          <p:cNvPr id="63" name="Shape 61"/>
          <p:cNvSpPr/>
          <p:nvPr/>
        </p:nvSpPr>
        <p:spPr>
          <a:xfrm>
            <a:off x="3671499" y="1865376"/>
            <a:ext cx="64008" cy="0"/>
          </a:xfrm>
          <a:prstGeom prst="line">
            <a:avLst/>
          </a:prstGeom>
          <a:noFill/>
          <a:ln w="15875">
            <a:solidFill>
              <a:srgbClr val="8C99A8"/>
            </a:solidFill>
            <a:prstDash val="solid"/>
          </a:ln>
        </p:spPr>
      </p:sp>
      <p:sp>
        <p:nvSpPr>
          <p:cNvPr id="64" name="Shape 62"/>
          <p:cNvSpPr/>
          <p:nvPr/>
        </p:nvSpPr>
        <p:spPr>
          <a:xfrm>
            <a:off x="3671499" y="2432304"/>
            <a:ext cx="64008" cy="0"/>
          </a:xfrm>
          <a:prstGeom prst="line">
            <a:avLst/>
          </a:prstGeom>
          <a:noFill/>
          <a:ln w="15875">
            <a:solidFill>
              <a:srgbClr val="8C99A8"/>
            </a:solidFill>
            <a:prstDash val="solid"/>
          </a:ln>
        </p:spPr>
      </p:sp>
      <p:sp>
        <p:nvSpPr>
          <p:cNvPr id="65" name="Shape 63"/>
          <p:cNvSpPr/>
          <p:nvPr/>
        </p:nvSpPr>
        <p:spPr>
          <a:xfrm>
            <a:off x="4238427" y="1865376"/>
            <a:ext cx="0" cy="566928"/>
          </a:xfrm>
          <a:prstGeom prst="line">
            <a:avLst/>
          </a:prstGeom>
          <a:noFill/>
          <a:ln w="15875">
            <a:solidFill>
              <a:srgbClr val="8C99A8"/>
            </a:solidFill>
            <a:prstDash val="solid"/>
          </a:ln>
        </p:spPr>
      </p:sp>
      <p:sp>
        <p:nvSpPr>
          <p:cNvPr id="66" name="Shape 64"/>
          <p:cNvSpPr/>
          <p:nvPr/>
        </p:nvSpPr>
        <p:spPr>
          <a:xfrm>
            <a:off x="4174419" y="1865376"/>
            <a:ext cx="64008" cy="0"/>
          </a:xfrm>
          <a:prstGeom prst="line">
            <a:avLst/>
          </a:prstGeom>
          <a:noFill/>
          <a:ln w="15875">
            <a:solidFill>
              <a:srgbClr val="8C99A8"/>
            </a:solidFill>
            <a:prstDash val="solid"/>
          </a:ln>
        </p:spPr>
      </p:sp>
      <p:sp>
        <p:nvSpPr>
          <p:cNvPr id="67" name="Shape 65"/>
          <p:cNvSpPr/>
          <p:nvPr/>
        </p:nvSpPr>
        <p:spPr>
          <a:xfrm>
            <a:off x="4174419" y="2432304"/>
            <a:ext cx="64008" cy="0"/>
          </a:xfrm>
          <a:prstGeom prst="line">
            <a:avLst/>
          </a:prstGeom>
          <a:noFill/>
          <a:ln w="15875">
            <a:solidFill>
              <a:srgbClr val="8C99A8"/>
            </a:solidFill>
            <a:prstDash val="solid"/>
          </a:ln>
        </p:spPr>
      </p:sp>
      <p:sp>
        <p:nvSpPr>
          <p:cNvPr id="68" name="Text 66"/>
          <p:cNvSpPr txBox="1"/>
          <p:nvPr/>
        </p:nvSpPr>
        <p:spPr>
          <a:xfrm>
            <a:off x="502920" y="2871216"/>
            <a:ext cx="1536192" cy="292608"/>
          </a:xfrm>
          <a:prstGeom prst="rect">
            <a:avLst/>
          </a:prstGeom>
          <a:noFill/>
          <a:ln/>
        </p:spPr>
        <p:txBody>
          <a:bodyPr wrap="square" lIns="0" tIns="0" rIns="0" bIns="0" rtlCol="0" anchor="ctr"/>
          <a:lstStyle/>
          <a:p>
            <a:pPr indent="0" marL="0">
              <a:buNone/>
            </a:pPr>
            <a:r>
              <a:rPr lang="en-US" sz="1250" dirty="0">
                <a:solidFill>
                  <a:srgbClr val="FFFFFF"/>
                </a:solidFill>
                <a:latin typeface="Cambria Math" pitchFamily="34" charset="0"/>
                <a:ea typeface="Cambria Math" pitchFamily="34" charset="-122"/>
                <a:cs typeface="Cambria Math" pitchFamily="34" charset="-120"/>
              </a:rPr>
              <a:t>P = (I − K·H)·P⁻ =</a:t>
            </a:r>
            <a:endParaRPr lang="en-US" sz="1250" dirty="0"/>
          </a:p>
        </p:txBody>
      </p:sp>
      <p:sp>
        <p:nvSpPr>
          <p:cNvPr id="69" name="Text 67"/>
          <p:cNvSpPr txBox="1"/>
          <p:nvPr/>
        </p:nvSpPr>
        <p:spPr>
          <a:xfrm>
            <a:off x="2130552" y="2770632"/>
            <a:ext cx="566928"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0.375</a:t>
            </a:r>
            <a:endParaRPr lang="en-US" sz="1150" dirty="0"/>
          </a:p>
        </p:txBody>
      </p:sp>
      <p:sp>
        <p:nvSpPr>
          <p:cNvPr id="70" name="Text 68"/>
          <p:cNvSpPr txBox="1"/>
          <p:nvPr/>
        </p:nvSpPr>
        <p:spPr>
          <a:xfrm>
            <a:off x="2697480" y="2770632"/>
            <a:ext cx="566928"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-0.125</a:t>
            </a:r>
            <a:endParaRPr lang="en-US" sz="1150" dirty="0"/>
          </a:p>
        </p:txBody>
      </p:sp>
      <p:sp>
        <p:nvSpPr>
          <p:cNvPr id="71" name="Text 69"/>
          <p:cNvSpPr txBox="1"/>
          <p:nvPr/>
        </p:nvSpPr>
        <p:spPr>
          <a:xfrm>
            <a:off x="2130552" y="3017520"/>
            <a:ext cx="566928"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-0.125</a:t>
            </a:r>
            <a:endParaRPr lang="en-US" sz="1150" dirty="0"/>
          </a:p>
        </p:txBody>
      </p:sp>
      <p:sp>
        <p:nvSpPr>
          <p:cNvPr id="72" name="Text 70"/>
          <p:cNvSpPr txBox="1"/>
          <p:nvPr/>
        </p:nvSpPr>
        <p:spPr>
          <a:xfrm>
            <a:off x="2697480" y="3017520"/>
            <a:ext cx="566928"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0.375</a:t>
            </a:r>
            <a:endParaRPr lang="en-US" sz="1150" dirty="0"/>
          </a:p>
        </p:txBody>
      </p:sp>
      <p:sp>
        <p:nvSpPr>
          <p:cNvPr id="73" name="Shape 71"/>
          <p:cNvSpPr/>
          <p:nvPr/>
        </p:nvSpPr>
        <p:spPr>
          <a:xfrm>
            <a:off x="2066544" y="2734056"/>
            <a:ext cx="0" cy="566928"/>
          </a:xfrm>
          <a:prstGeom prst="line">
            <a:avLst/>
          </a:prstGeom>
          <a:noFill/>
          <a:ln w="15875">
            <a:solidFill>
              <a:srgbClr val="8C99A8"/>
            </a:solidFill>
            <a:prstDash val="solid"/>
          </a:ln>
        </p:spPr>
      </p:sp>
      <p:sp>
        <p:nvSpPr>
          <p:cNvPr id="74" name="Shape 72"/>
          <p:cNvSpPr/>
          <p:nvPr/>
        </p:nvSpPr>
        <p:spPr>
          <a:xfrm>
            <a:off x="2066544" y="2734056"/>
            <a:ext cx="64008" cy="0"/>
          </a:xfrm>
          <a:prstGeom prst="line">
            <a:avLst/>
          </a:prstGeom>
          <a:noFill/>
          <a:ln w="15875">
            <a:solidFill>
              <a:srgbClr val="8C99A8"/>
            </a:solidFill>
            <a:prstDash val="solid"/>
          </a:ln>
        </p:spPr>
      </p:sp>
      <p:sp>
        <p:nvSpPr>
          <p:cNvPr id="75" name="Shape 73"/>
          <p:cNvSpPr/>
          <p:nvPr/>
        </p:nvSpPr>
        <p:spPr>
          <a:xfrm>
            <a:off x="2066544" y="3300984"/>
            <a:ext cx="64008" cy="0"/>
          </a:xfrm>
          <a:prstGeom prst="line">
            <a:avLst/>
          </a:prstGeom>
          <a:noFill/>
          <a:ln w="15875">
            <a:solidFill>
              <a:srgbClr val="8C99A8"/>
            </a:solidFill>
            <a:prstDash val="solid"/>
          </a:ln>
        </p:spPr>
      </p:sp>
      <p:sp>
        <p:nvSpPr>
          <p:cNvPr id="76" name="Shape 74"/>
          <p:cNvSpPr/>
          <p:nvPr/>
        </p:nvSpPr>
        <p:spPr>
          <a:xfrm>
            <a:off x="3328416" y="2734056"/>
            <a:ext cx="0" cy="566928"/>
          </a:xfrm>
          <a:prstGeom prst="line">
            <a:avLst/>
          </a:prstGeom>
          <a:noFill/>
          <a:ln w="15875">
            <a:solidFill>
              <a:srgbClr val="8C99A8"/>
            </a:solidFill>
            <a:prstDash val="solid"/>
          </a:ln>
        </p:spPr>
      </p:sp>
      <p:sp>
        <p:nvSpPr>
          <p:cNvPr id="77" name="Shape 75"/>
          <p:cNvSpPr/>
          <p:nvPr/>
        </p:nvSpPr>
        <p:spPr>
          <a:xfrm>
            <a:off x="3264408" y="2734056"/>
            <a:ext cx="64008" cy="0"/>
          </a:xfrm>
          <a:prstGeom prst="line">
            <a:avLst/>
          </a:prstGeom>
          <a:noFill/>
          <a:ln w="15875">
            <a:solidFill>
              <a:srgbClr val="8C99A8"/>
            </a:solidFill>
            <a:prstDash val="solid"/>
          </a:ln>
        </p:spPr>
      </p:sp>
      <p:sp>
        <p:nvSpPr>
          <p:cNvPr id="78" name="Shape 76"/>
          <p:cNvSpPr/>
          <p:nvPr/>
        </p:nvSpPr>
        <p:spPr>
          <a:xfrm>
            <a:off x="3264408" y="3300984"/>
            <a:ext cx="64008" cy="0"/>
          </a:xfrm>
          <a:prstGeom prst="line">
            <a:avLst/>
          </a:prstGeom>
          <a:noFill/>
          <a:ln w="15875">
            <a:solidFill>
              <a:srgbClr val="8C99A8"/>
            </a:solidFill>
            <a:prstDash val="solid"/>
          </a:ln>
        </p:spPr>
      </p:sp>
      <p:sp>
        <p:nvSpPr>
          <p:cNvPr id="79" name="Text 77"/>
          <p:cNvSpPr txBox="1"/>
          <p:nvPr/>
        </p:nvSpPr>
        <p:spPr>
          <a:xfrm>
            <a:off x="3392424" y="2871216"/>
            <a:ext cx="137160" cy="292608"/>
          </a:xfrm>
          <a:prstGeom prst="rect">
            <a:avLst/>
          </a:prstGeom>
          <a:noFill/>
          <a:ln/>
        </p:spPr>
        <p:txBody>
          <a:bodyPr wrap="square" lIns="0" tIns="0" rIns="0" bIns="0" rtlCol="0" anchor="ctr"/>
          <a:lstStyle/>
          <a:p>
            <a:pPr indent="0" marL="0">
              <a:buNone/>
            </a:pPr>
            <a:r>
              <a:rPr lang="en-US" sz="1250" dirty="0">
                <a:solidFill>
                  <a:srgbClr val="FFFFFF"/>
                </a:solidFill>
                <a:latin typeface="Cambria Math" pitchFamily="34" charset="0"/>
                <a:ea typeface="Cambria Math" pitchFamily="34" charset="-122"/>
                <a:cs typeface="Cambria Math" pitchFamily="34" charset="-120"/>
              </a:rPr>
              <a:t>·</a:t>
            </a:r>
            <a:endParaRPr lang="en-US" sz="1250" dirty="0"/>
          </a:p>
        </p:txBody>
      </p:sp>
      <p:sp>
        <p:nvSpPr>
          <p:cNvPr id="80" name="Text 78"/>
          <p:cNvSpPr txBox="1"/>
          <p:nvPr/>
        </p:nvSpPr>
        <p:spPr>
          <a:xfrm>
            <a:off x="3621024" y="2770632"/>
            <a:ext cx="256032"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2</a:t>
            </a:r>
            <a:endParaRPr lang="en-US" sz="1150" dirty="0"/>
          </a:p>
        </p:txBody>
      </p:sp>
      <p:sp>
        <p:nvSpPr>
          <p:cNvPr id="81" name="Text 79"/>
          <p:cNvSpPr txBox="1"/>
          <p:nvPr/>
        </p:nvSpPr>
        <p:spPr>
          <a:xfrm>
            <a:off x="3877056" y="2770632"/>
            <a:ext cx="256032"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1</a:t>
            </a:r>
            <a:endParaRPr lang="en-US" sz="1150" dirty="0"/>
          </a:p>
        </p:txBody>
      </p:sp>
      <p:sp>
        <p:nvSpPr>
          <p:cNvPr id="82" name="Text 80"/>
          <p:cNvSpPr txBox="1"/>
          <p:nvPr/>
        </p:nvSpPr>
        <p:spPr>
          <a:xfrm>
            <a:off x="3621024" y="3017520"/>
            <a:ext cx="256032"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1</a:t>
            </a:r>
            <a:endParaRPr lang="en-US" sz="1150" dirty="0"/>
          </a:p>
        </p:txBody>
      </p:sp>
      <p:sp>
        <p:nvSpPr>
          <p:cNvPr id="83" name="Text 81"/>
          <p:cNvSpPr txBox="1"/>
          <p:nvPr/>
        </p:nvSpPr>
        <p:spPr>
          <a:xfrm>
            <a:off x="3877056" y="3017520"/>
            <a:ext cx="256032"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2</a:t>
            </a:r>
            <a:endParaRPr lang="en-US" sz="1150" dirty="0"/>
          </a:p>
        </p:txBody>
      </p:sp>
      <p:sp>
        <p:nvSpPr>
          <p:cNvPr id="84" name="Shape 82"/>
          <p:cNvSpPr/>
          <p:nvPr/>
        </p:nvSpPr>
        <p:spPr>
          <a:xfrm>
            <a:off x="3557016" y="2734056"/>
            <a:ext cx="0" cy="566928"/>
          </a:xfrm>
          <a:prstGeom prst="line">
            <a:avLst/>
          </a:prstGeom>
          <a:noFill/>
          <a:ln w="15875">
            <a:solidFill>
              <a:srgbClr val="8C99A8"/>
            </a:solidFill>
            <a:prstDash val="solid"/>
          </a:ln>
        </p:spPr>
      </p:sp>
      <p:sp>
        <p:nvSpPr>
          <p:cNvPr id="85" name="Shape 83"/>
          <p:cNvSpPr/>
          <p:nvPr/>
        </p:nvSpPr>
        <p:spPr>
          <a:xfrm>
            <a:off x="3557016" y="2734056"/>
            <a:ext cx="64008" cy="0"/>
          </a:xfrm>
          <a:prstGeom prst="line">
            <a:avLst/>
          </a:prstGeom>
          <a:noFill/>
          <a:ln w="15875">
            <a:solidFill>
              <a:srgbClr val="8C99A8"/>
            </a:solidFill>
            <a:prstDash val="solid"/>
          </a:ln>
        </p:spPr>
      </p:sp>
      <p:sp>
        <p:nvSpPr>
          <p:cNvPr id="86" name="Shape 84"/>
          <p:cNvSpPr/>
          <p:nvPr/>
        </p:nvSpPr>
        <p:spPr>
          <a:xfrm>
            <a:off x="3557016" y="3300984"/>
            <a:ext cx="64008" cy="0"/>
          </a:xfrm>
          <a:prstGeom prst="line">
            <a:avLst/>
          </a:prstGeom>
          <a:noFill/>
          <a:ln w="15875">
            <a:solidFill>
              <a:srgbClr val="8C99A8"/>
            </a:solidFill>
            <a:prstDash val="solid"/>
          </a:ln>
        </p:spPr>
      </p:sp>
      <p:sp>
        <p:nvSpPr>
          <p:cNvPr id="87" name="Shape 85"/>
          <p:cNvSpPr/>
          <p:nvPr/>
        </p:nvSpPr>
        <p:spPr>
          <a:xfrm>
            <a:off x="4197096" y="2734056"/>
            <a:ext cx="0" cy="566928"/>
          </a:xfrm>
          <a:prstGeom prst="line">
            <a:avLst/>
          </a:prstGeom>
          <a:noFill/>
          <a:ln w="15875">
            <a:solidFill>
              <a:srgbClr val="8C99A8"/>
            </a:solidFill>
            <a:prstDash val="solid"/>
          </a:ln>
        </p:spPr>
      </p:sp>
      <p:sp>
        <p:nvSpPr>
          <p:cNvPr id="88" name="Shape 86"/>
          <p:cNvSpPr/>
          <p:nvPr/>
        </p:nvSpPr>
        <p:spPr>
          <a:xfrm>
            <a:off x="4133088" y="2734056"/>
            <a:ext cx="64008" cy="0"/>
          </a:xfrm>
          <a:prstGeom prst="line">
            <a:avLst/>
          </a:prstGeom>
          <a:noFill/>
          <a:ln w="15875">
            <a:solidFill>
              <a:srgbClr val="8C99A8"/>
            </a:solidFill>
            <a:prstDash val="solid"/>
          </a:ln>
        </p:spPr>
      </p:sp>
      <p:sp>
        <p:nvSpPr>
          <p:cNvPr id="89" name="Shape 87"/>
          <p:cNvSpPr/>
          <p:nvPr/>
        </p:nvSpPr>
        <p:spPr>
          <a:xfrm>
            <a:off x="4133088" y="3300984"/>
            <a:ext cx="64008" cy="0"/>
          </a:xfrm>
          <a:prstGeom prst="line">
            <a:avLst/>
          </a:prstGeom>
          <a:noFill/>
          <a:ln w="15875">
            <a:solidFill>
              <a:srgbClr val="8C99A8"/>
            </a:solidFill>
            <a:prstDash val="solid"/>
          </a:ln>
        </p:spPr>
      </p:sp>
      <p:sp>
        <p:nvSpPr>
          <p:cNvPr id="90" name="Text 88"/>
          <p:cNvSpPr txBox="1"/>
          <p:nvPr/>
        </p:nvSpPr>
        <p:spPr>
          <a:xfrm>
            <a:off x="4261104" y="2871216"/>
            <a:ext cx="137160" cy="292608"/>
          </a:xfrm>
          <a:prstGeom prst="rect">
            <a:avLst/>
          </a:prstGeom>
          <a:noFill/>
          <a:ln/>
        </p:spPr>
        <p:txBody>
          <a:bodyPr wrap="square" lIns="0" tIns="0" rIns="0" bIns="0" rtlCol="0" anchor="ctr"/>
          <a:lstStyle/>
          <a:p>
            <a:pPr indent="0" marL="0">
              <a:buNone/>
            </a:pPr>
            <a:r>
              <a:rPr lang="en-US" sz="1250" dirty="0">
                <a:solidFill>
                  <a:srgbClr val="FFFFFF"/>
                </a:solidFill>
                <a:latin typeface="Cambria Math" pitchFamily="34" charset="0"/>
                <a:ea typeface="Cambria Math" pitchFamily="34" charset="-122"/>
                <a:cs typeface="Cambria Math" pitchFamily="34" charset="-120"/>
              </a:rPr>
              <a:t>=</a:t>
            </a:r>
            <a:endParaRPr lang="en-US" sz="1250" dirty="0"/>
          </a:p>
        </p:txBody>
      </p:sp>
      <p:sp>
        <p:nvSpPr>
          <p:cNvPr id="91" name="Text 89"/>
          <p:cNvSpPr txBox="1"/>
          <p:nvPr/>
        </p:nvSpPr>
        <p:spPr>
          <a:xfrm>
            <a:off x="4489704" y="2770632"/>
            <a:ext cx="502920"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0.625</a:t>
            </a:r>
            <a:endParaRPr lang="en-US" sz="1150" dirty="0"/>
          </a:p>
        </p:txBody>
      </p:sp>
      <p:sp>
        <p:nvSpPr>
          <p:cNvPr id="92" name="Text 90"/>
          <p:cNvSpPr txBox="1"/>
          <p:nvPr/>
        </p:nvSpPr>
        <p:spPr>
          <a:xfrm>
            <a:off x="4992624" y="2770632"/>
            <a:ext cx="502920"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0.125</a:t>
            </a:r>
            <a:endParaRPr lang="en-US" sz="1150" dirty="0"/>
          </a:p>
        </p:txBody>
      </p:sp>
      <p:sp>
        <p:nvSpPr>
          <p:cNvPr id="93" name="Text 91"/>
          <p:cNvSpPr txBox="1"/>
          <p:nvPr/>
        </p:nvSpPr>
        <p:spPr>
          <a:xfrm>
            <a:off x="4489704" y="3017520"/>
            <a:ext cx="502920"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0.125</a:t>
            </a:r>
            <a:endParaRPr lang="en-US" sz="1150" dirty="0"/>
          </a:p>
        </p:txBody>
      </p:sp>
      <p:sp>
        <p:nvSpPr>
          <p:cNvPr id="94" name="Text 92"/>
          <p:cNvSpPr txBox="1"/>
          <p:nvPr/>
        </p:nvSpPr>
        <p:spPr>
          <a:xfrm>
            <a:off x="4992624" y="3017520"/>
            <a:ext cx="502920" cy="246888"/>
          </a:xfrm>
          <a:prstGeom prst="rect">
            <a:avLst/>
          </a:prstGeom>
          <a:noFill/>
          <a:ln/>
        </p:spPr>
        <p:txBody>
          <a:bodyPr wrap="square" lIns="0" tIns="0" rIns="0" bIns="0" rtlCol="0" anchor="ctr"/>
          <a:lstStyle/>
          <a:p>
            <a:pPr algn="ctr" indent="0" marL="0">
              <a:buNone/>
            </a:pPr>
            <a:r>
              <a:rPr lang="en-US" sz="1150" dirty="0">
                <a:solidFill>
                  <a:srgbClr val="FFFFFF"/>
                </a:solidFill>
                <a:latin typeface="Cambria Math" pitchFamily="34" charset="0"/>
                <a:ea typeface="Cambria Math" pitchFamily="34" charset="-122"/>
                <a:cs typeface="Cambria Math" pitchFamily="34" charset="-120"/>
              </a:rPr>
              <a:t>0.625</a:t>
            </a:r>
            <a:endParaRPr lang="en-US" sz="1150" dirty="0"/>
          </a:p>
        </p:txBody>
      </p:sp>
      <p:sp>
        <p:nvSpPr>
          <p:cNvPr id="95" name="Shape 93"/>
          <p:cNvSpPr/>
          <p:nvPr/>
        </p:nvSpPr>
        <p:spPr>
          <a:xfrm>
            <a:off x="4425696" y="2734056"/>
            <a:ext cx="0" cy="566928"/>
          </a:xfrm>
          <a:prstGeom prst="line">
            <a:avLst/>
          </a:prstGeom>
          <a:noFill/>
          <a:ln w="15875">
            <a:solidFill>
              <a:srgbClr val="8C99A8"/>
            </a:solidFill>
            <a:prstDash val="solid"/>
          </a:ln>
        </p:spPr>
      </p:sp>
      <p:sp>
        <p:nvSpPr>
          <p:cNvPr id="96" name="Shape 94"/>
          <p:cNvSpPr/>
          <p:nvPr/>
        </p:nvSpPr>
        <p:spPr>
          <a:xfrm>
            <a:off x="4425696" y="2734056"/>
            <a:ext cx="64008" cy="0"/>
          </a:xfrm>
          <a:prstGeom prst="line">
            <a:avLst/>
          </a:prstGeom>
          <a:noFill/>
          <a:ln w="15875">
            <a:solidFill>
              <a:srgbClr val="8C99A8"/>
            </a:solidFill>
            <a:prstDash val="solid"/>
          </a:ln>
        </p:spPr>
      </p:sp>
      <p:sp>
        <p:nvSpPr>
          <p:cNvPr id="97" name="Shape 95"/>
          <p:cNvSpPr/>
          <p:nvPr/>
        </p:nvSpPr>
        <p:spPr>
          <a:xfrm>
            <a:off x="4425696" y="3300984"/>
            <a:ext cx="64008" cy="0"/>
          </a:xfrm>
          <a:prstGeom prst="line">
            <a:avLst/>
          </a:prstGeom>
          <a:noFill/>
          <a:ln w="15875">
            <a:solidFill>
              <a:srgbClr val="8C99A8"/>
            </a:solidFill>
            <a:prstDash val="solid"/>
          </a:ln>
        </p:spPr>
      </p:sp>
      <p:sp>
        <p:nvSpPr>
          <p:cNvPr id="98" name="Shape 96"/>
          <p:cNvSpPr/>
          <p:nvPr/>
        </p:nvSpPr>
        <p:spPr>
          <a:xfrm>
            <a:off x="5559552" y="2734056"/>
            <a:ext cx="0" cy="566928"/>
          </a:xfrm>
          <a:prstGeom prst="line">
            <a:avLst/>
          </a:prstGeom>
          <a:noFill/>
          <a:ln w="15875">
            <a:solidFill>
              <a:srgbClr val="8C99A8"/>
            </a:solidFill>
            <a:prstDash val="solid"/>
          </a:ln>
        </p:spPr>
      </p:sp>
      <p:sp>
        <p:nvSpPr>
          <p:cNvPr id="99" name="Shape 97"/>
          <p:cNvSpPr/>
          <p:nvPr/>
        </p:nvSpPr>
        <p:spPr>
          <a:xfrm>
            <a:off x="5495544" y="2734056"/>
            <a:ext cx="64008" cy="0"/>
          </a:xfrm>
          <a:prstGeom prst="line">
            <a:avLst/>
          </a:prstGeom>
          <a:noFill/>
          <a:ln w="15875">
            <a:solidFill>
              <a:srgbClr val="8C99A8"/>
            </a:solidFill>
            <a:prstDash val="solid"/>
          </a:ln>
        </p:spPr>
      </p:sp>
      <p:sp>
        <p:nvSpPr>
          <p:cNvPr id="100" name="Shape 98"/>
          <p:cNvSpPr/>
          <p:nvPr/>
        </p:nvSpPr>
        <p:spPr>
          <a:xfrm>
            <a:off x="5495544" y="3300984"/>
            <a:ext cx="64008" cy="0"/>
          </a:xfrm>
          <a:prstGeom prst="line">
            <a:avLst/>
          </a:prstGeom>
          <a:noFill/>
          <a:ln w="15875">
            <a:solidFill>
              <a:srgbClr val="8C99A8"/>
            </a:solidFill>
            <a:prstDash val="solid"/>
          </a:ln>
        </p:spPr>
      </p:sp>
      <p:sp>
        <p:nvSpPr>
          <p:cNvPr id="101" name="Text 99"/>
          <p:cNvSpPr txBox="1"/>
          <p:nvPr/>
        </p:nvSpPr>
        <p:spPr>
          <a:xfrm>
            <a:off x="502920" y="3611880"/>
            <a:ext cx="5029200" cy="5943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The estimate moved most of the way towards the GPS reading, and the new ellipse is smaller than both the prediction and the GPS ellipse.</a:t>
            </a:r>
            <a:endParaRPr lang="en-US" sz="1150" dirty="0"/>
          </a:p>
        </p:txBody>
      </p:sp>
      <p:sp>
        <p:nvSpPr>
          <p:cNvPr id="102" name="Shape 100"/>
          <p:cNvSpPr/>
          <p:nvPr/>
        </p:nvSpPr>
        <p:spPr>
          <a:xfrm>
            <a:off x="5806440" y="1097280"/>
            <a:ext cx="2834640" cy="2130552"/>
          </a:xfrm>
          <a:prstGeom prst="rect">
            <a:avLst/>
          </a:prstGeom>
          <a:solidFill>
            <a:srgbClr val="0A1522"/>
          </a:solidFill>
          <a:ln w="9525">
            <a:solidFill>
              <a:srgbClr val="2A3A4E"/>
            </a:solidFill>
            <a:prstDash val="solid"/>
          </a:ln>
        </p:spPr>
      </p:sp>
      <p:sp>
        <p:nvSpPr>
          <p:cNvPr id="103" name="Shape 101"/>
          <p:cNvSpPr/>
          <p:nvPr/>
        </p:nvSpPr>
        <p:spPr>
          <a:xfrm>
            <a:off x="5806440" y="1097280"/>
            <a:ext cx="0" cy="2130552"/>
          </a:xfrm>
          <a:prstGeom prst="line">
            <a:avLst/>
          </a:prstGeom>
          <a:noFill/>
          <a:ln w="6350">
            <a:solidFill>
              <a:srgbClr val="1E2E42"/>
            </a:solidFill>
            <a:prstDash val="solid"/>
          </a:ln>
        </p:spPr>
      </p:sp>
      <p:sp>
        <p:nvSpPr>
          <p:cNvPr id="104" name="Text 102"/>
          <p:cNvSpPr txBox="1"/>
          <p:nvPr/>
        </p:nvSpPr>
        <p:spPr>
          <a:xfrm>
            <a:off x="571500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105" name="Shape 103"/>
          <p:cNvSpPr/>
          <p:nvPr/>
        </p:nvSpPr>
        <p:spPr>
          <a:xfrm>
            <a:off x="6160770" y="1097280"/>
            <a:ext cx="0" cy="2130552"/>
          </a:xfrm>
          <a:prstGeom prst="line">
            <a:avLst/>
          </a:prstGeom>
          <a:noFill/>
          <a:ln w="6350">
            <a:solidFill>
              <a:srgbClr val="1E2E42"/>
            </a:solidFill>
            <a:prstDash val="solid"/>
          </a:ln>
        </p:spPr>
      </p:sp>
      <p:sp>
        <p:nvSpPr>
          <p:cNvPr id="106" name="Text 104"/>
          <p:cNvSpPr txBox="1"/>
          <p:nvPr/>
        </p:nvSpPr>
        <p:spPr>
          <a:xfrm>
            <a:off x="606933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107" name="Shape 105"/>
          <p:cNvSpPr/>
          <p:nvPr/>
        </p:nvSpPr>
        <p:spPr>
          <a:xfrm>
            <a:off x="6515100" y="1097280"/>
            <a:ext cx="0" cy="2130552"/>
          </a:xfrm>
          <a:prstGeom prst="line">
            <a:avLst/>
          </a:prstGeom>
          <a:noFill/>
          <a:ln w="6350">
            <a:solidFill>
              <a:srgbClr val="1E2E42"/>
            </a:solidFill>
            <a:prstDash val="solid"/>
          </a:ln>
        </p:spPr>
      </p:sp>
      <p:sp>
        <p:nvSpPr>
          <p:cNvPr id="108" name="Text 106"/>
          <p:cNvSpPr txBox="1"/>
          <p:nvPr/>
        </p:nvSpPr>
        <p:spPr>
          <a:xfrm>
            <a:off x="642366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109" name="Shape 107"/>
          <p:cNvSpPr/>
          <p:nvPr/>
        </p:nvSpPr>
        <p:spPr>
          <a:xfrm>
            <a:off x="6869430" y="1097280"/>
            <a:ext cx="0" cy="2130552"/>
          </a:xfrm>
          <a:prstGeom prst="line">
            <a:avLst/>
          </a:prstGeom>
          <a:noFill/>
          <a:ln w="6350">
            <a:solidFill>
              <a:srgbClr val="1E2E42"/>
            </a:solidFill>
            <a:prstDash val="solid"/>
          </a:ln>
        </p:spPr>
      </p:sp>
      <p:sp>
        <p:nvSpPr>
          <p:cNvPr id="110" name="Text 108"/>
          <p:cNvSpPr txBox="1"/>
          <p:nvPr/>
        </p:nvSpPr>
        <p:spPr>
          <a:xfrm>
            <a:off x="677799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111" name="Shape 109"/>
          <p:cNvSpPr/>
          <p:nvPr/>
        </p:nvSpPr>
        <p:spPr>
          <a:xfrm>
            <a:off x="7223760" y="1097280"/>
            <a:ext cx="0" cy="2130552"/>
          </a:xfrm>
          <a:prstGeom prst="line">
            <a:avLst/>
          </a:prstGeom>
          <a:noFill/>
          <a:ln w="6350">
            <a:solidFill>
              <a:srgbClr val="1E2E42"/>
            </a:solidFill>
            <a:prstDash val="solid"/>
          </a:ln>
        </p:spPr>
      </p:sp>
      <p:sp>
        <p:nvSpPr>
          <p:cNvPr id="112" name="Text 110"/>
          <p:cNvSpPr txBox="1"/>
          <p:nvPr/>
        </p:nvSpPr>
        <p:spPr>
          <a:xfrm>
            <a:off x="713232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113" name="Shape 111"/>
          <p:cNvSpPr/>
          <p:nvPr/>
        </p:nvSpPr>
        <p:spPr>
          <a:xfrm>
            <a:off x="7578090" y="1097280"/>
            <a:ext cx="0" cy="2130552"/>
          </a:xfrm>
          <a:prstGeom prst="line">
            <a:avLst/>
          </a:prstGeom>
          <a:noFill/>
          <a:ln w="6350">
            <a:solidFill>
              <a:srgbClr val="1E2E42"/>
            </a:solidFill>
            <a:prstDash val="solid"/>
          </a:ln>
        </p:spPr>
      </p:sp>
      <p:sp>
        <p:nvSpPr>
          <p:cNvPr id="114" name="Text 112"/>
          <p:cNvSpPr txBox="1"/>
          <p:nvPr/>
        </p:nvSpPr>
        <p:spPr>
          <a:xfrm>
            <a:off x="748665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5</a:t>
            </a:r>
            <a:endParaRPr lang="en-US" sz="700" dirty="0"/>
          </a:p>
        </p:txBody>
      </p:sp>
      <p:sp>
        <p:nvSpPr>
          <p:cNvPr id="115" name="Shape 113"/>
          <p:cNvSpPr/>
          <p:nvPr/>
        </p:nvSpPr>
        <p:spPr>
          <a:xfrm>
            <a:off x="7932420" y="1097280"/>
            <a:ext cx="0" cy="2130552"/>
          </a:xfrm>
          <a:prstGeom prst="line">
            <a:avLst/>
          </a:prstGeom>
          <a:noFill/>
          <a:ln w="6350">
            <a:solidFill>
              <a:srgbClr val="1E2E42"/>
            </a:solidFill>
            <a:prstDash val="solid"/>
          </a:ln>
        </p:spPr>
      </p:sp>
      <p:sp>
        <p:nvSpPr>
          <p:cNvPr id="116" name="Text 114"/>
          <p:cNvSpPr txBox="1"/>
          <p:nvPr/>
        </p:nvSpPr>
        <p:spPr>
          <a:xfrm>
            <a:off x="784098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6</a:t>
            </a:r>
            <a:endParaRPr lang="en-US" sz="700" dirty="0"/>
          </a:p>
        </p:txBody>
      </p:sp>
      <p:sp>
        <p:nvSpPr>
          <p:cNvPr id="117" name="Shape 115"/>
          <p:cNvSpPr/>
          <p:nvPr/>
        </p:nvSpPr>
        <p:spPr>
          <a:xfrm>
            <a:off x="8286750" y="1097280"/>
            <a:ext cx="0" cy="2130552"/>
          </a:xfrm>
          <a:prstGeom prst="line">
            <a:avLst/>
          </a:prstGeom>
          <a:noFill/>
          <a:ln w="6350">
            <a:solidFill>
              <a:srgbClr val="1E2E42"/>
            </a:solidFill>
            <a:prstDash val="solid"/>
          </a:ln>
        </p:spPr>
      </p:sp>
      <p:sp>
        <p:nvSpPr>
          <p:cNvPr id="118" name="Text 116"/>
          <p:cNvSpPr txBox="1"/>
          <p:nvPr/>
        </p:nvSpPr>
        <p:spPr>
          <a:xfrm>
            <a:off x="819531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7</a:t>
            </a:r>
            <a:endParaRPr lang="en-US" sz="700" dirty="0"/>
          </a:p>
        </p:txBody>
      </p:sp>
      <p:sp>
        <p:nvSpPr>
          <p:cNvPr id="119" name="Shape 117"/>
          <p:cNvSpPr/>
          <p:nvPr/>
        </p:nvSpPr>
        <p:spPr>
          <a:xfrm>
            <a:off x="8641080" y="1097280"/>
            <a:ext cx="0" cy="2130552"/>
          </a:xfrm>
          <a:prstGeom prst="line">
            <a:avLst/>
          </a:prstGeom>
          <a:noFill/>
          <a:ln w="6350">
            <a:solidFill>
              <a:srgbClr val="1E2E42"/>
            </a:solidFill>
            <a:prstDash val="solid"/>
          </a:ln>
        </p:spPr>
      </p:sp>
      <p:sp>
        <p:nvSpPr>
          <p:cNvPr id="120" name="Text 118"/>
          <p:cNvSpPr txBox="1"/>
          <p:nvPr/>
        </p:nvSpPr>
        <p:spPr>
          <a:xfrm>
            <a:off x="854964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8</a:t>
            </a:r>
            <a:endParaRPr lang="en-US" sz="700" dirty="0"/>
          </a:p>
        </p:txBody>
      </p:sp>
      <p:sp>
        <p:nvSpPr>
          <p:cNvPr id="121" name="Shape 119"/>
          <p:cNvSpPr/>
          <p:nvPr/>
        </p:nvSpPr>
        <p:spPr>
          <a:xfrm>
            <a:off x="5806440" y="3227832"/>
            <a:ext cx="2834640" cy="0"/>
          </a:xfrm>
          <a:prstGeom prst="line">
            <a:avLst/>
          </a:prstGeom>
          <a:noFill/>
          <a:ln w="6350">
            <a:solidFill>
              <a:srgbClr val="1E2E42"/>
            </a:solidFill>
            <a:prstDash val="solid"/>
          </a:ln>
        </p:spPr>
      </p:sp>
      <p:sp>
        <p:nvSpPr>
          <p:cNvPr id="122" name="Text 120"/>
          <p:cNvSpPr txBox="1"/>
          <p:nvPr/>
        </p:nvSpPr>
        <p:spPr>
          <a:xfrm>
            <a:off x="5623560" y="3154680"/>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123" name="Shape 121"/>
          <p:cNvSpPr/>
          <p:nvPr/>
        </p:nvSpPr>
        <p:spPr>
          <a:xfrm>
            <a:off x="5806440" y="2872740"/>
            <a:ext cx="2834640" cy="0"/>
          </a:xfrm>
          <a:prstGeom prst="line">
            <a:avLst/>
          </a:prstGeom>
          <a:noFill/>
          <a:ln w="6350">
            <a:solidFill>
              <a:srgbClr val="1E2E42"/>
            </a:solidFill>
            <a:prstDash val="solid"/>
          </a:ln>
        </p:spPr>
      </p:sp>
      <p:sp>
        <p:nvSpPr>
          <p:cNvPr id="124" name="Text 122"/>
          <p:cNvSpPr txBox="1"/>
          <p:nvPr/>
        </p:nvSpPr>
        <p:spPr>
          <a:xfrm>
            <a:off x="5623560" y="279958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125" name="Shape 123"/>
          <p:cNvSpPr/>
          <p:nvPr/>
        </p:nvSpPr>
        <p:spPr>
          <a:xfrm>
            <a:off x="5806440" y="2517648"/>
            <a:ext cx="2834640" cy="0"/>
          </a:xfrm>
          <a:prstGeom prst="line">
            <a:avLst/>
          </a:prstGeom>
          <a:noFill/>
          <a:ln w="6350">
            <a:solidFill>
              <a:srgbClr val="1E2E42"/>
            </a:solidFill>
            <a:prstDash val="solid"/>
          </a:ln>
        </p:spPr>
      </p:sp>
      <p:sp>
        <p:nvSpPr>
          <p:cNvPr id="126" name="Text 124"/>
          <p:cNvSpPr txBox="1"/>
          <p:nvPr/>
        </p:nvSpPr>
        <p:spPr>
          <a:xfrm>
            <a:off x="5623560" y="2444496"/>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127" name="Shape 125"/>
          <p:cNvSpPr/>
          <p:nvPr/>
        </p:nvSpPr>
        <p:spPr>
          <a:xfrm>
            <a:off x="5806440" y="2162556"/>
            <a:ext cx="2834640" cy="0"/>
          </a:xfrm>
          <a:prstGeom prst="line">
            <a:avLst/>
          </a:prstGeom>
          <a:noFill/>
          <a:ln w="6350">
            <a:solidFill>
              <a:srgbClr val="1E2E42"/>
            </a:solidFill>
            <a:prstDash val="solid"/>
          </a:ln>
        </p:spPr>
      </p:sp>
      <p:sp>
        <p:nvSpPr>
          <p:cNvPr id="128" name="Text 126"/>
          <p:cNvSpPr txBox="1"/>
          <p:nvPr/>
        </p:nvSpPr>
        <p:spPr>
          <a:xfrm>
            <a:off x="5623560" y="2089404"/>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129" name="Shape 127"/>
          <p:cNvSpPr/>
          <p:nvPr/>
        </p:nvSpPr>
        <p:spPr>
          <a:xfrm>
            <a:off x="5806440" y="1807464"/>
            <a:ext cx="2834640" cy="0"/>
          </a:xfrm>
          <a:prstGeom prst="line">
            <a:avLst/>
          </a:prstGeom>
          <a:noFill/>
          <a:ln w="6350">
            <a:solidFill>
              <a:srgbClr val="1E2E42"/>
            </a:solidFill>
            <a:prstDash val="solid"/>
          </a:ln>
        </p:spPr>
      </p:sp>
      <p:sp>
        <p:nvSpPr>
          <p:cNvPr id="130" name="Text 128"/>
          <p:cNvSpPr txBox="1"/>
          <p:nvPr/>
        </p:nvSpPr>
        <p:spPr>
          <a:xfrm>
            <a:off x="5623560" y="1734312"/>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131" name="Shape 129"/>
          <p:cNvSpPr/>
          <p:nvPr/>
        </p:nvSpPr>
        <p:spPr>
          <a:xfrm>
            <a:off x="5806440" y="1452372"/>
            <a:ext cx="2834640" cy="0"/>
          </a:xfrm>
          <a:prstGeom prst="line">
            <a:avLst/>
          </a:prstGeom>
          <a:noFill/>
          <a:ln w="6350">
            <a:solidFill>
              <a:srgbClr val="1E2E42"/>
            </a:solidFill>
            <a:prstDash val="solid"/>
          </a:ln>
        </p:spPr>
      </p:sp>
      <p:sp>
        <p:nvSpPr>
          <p:cNvPr id="132" name="Text 130"/>
          <p:cNvSpPr txBox="1"/>
          <p:nvPr/>
        </p:nvSpPr>
        <p:spPr>
          <a:xfrm>
            <a:off x="5623560" y="1379220"/>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5</a:t>
            </a:r>
            <a:endParaRPr lang="en-US" sz="700" dirty="0"/>
          </a:p>
        </p:txBody>
      </p:sp>
      <p:sp>
        <p:nvSpPr>
          <p:cNvPr id="133" name="Shape 131"/>
          <p:cNvSpPr/>
          <p:nvPr/>
        </p:nvSpPr>
        <p:spPr>
          <a:xfrm>
            <a:off x="5806440" y="1097280"/>
            <a:ext cx="2834640" cy="0"/>
          </a:xfrm>
          <a:prstGeom prst="line">
            <a:avLst/>
          </a:prstGeom>
          <a:noFill/>
          <a:ln w="6350">
            <a:solidFill>
              <a:srgbClr val="1E2E42"/>
            </a:solidFill>
            <a:prstDash val="solid"/>
          </a:ln>
        </p:spPr>
      </p:sp>
      <p:sp>
        <p:nvSpPr>
          <p:cNvPr id="134" name="Text 132"/>
          <p:cNvSpPr txBox="1"/>
          <p:nvPr/>
        </p:nvSpPr>
        <p:spPr>
          <a:xfrm>
            <a:off x="5623560" y="102412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6</a:t>
            </a:r>
            <a:endParaRPr lang="en-US" sz="700" dirty="0"/>
          </a:p>
        </p:txBody>
      </p:sp>
      <p:sp>
        <p:nvSpPr>
          <p:cNvPr id="135" name="Shape 133"/>
          <p:cNvSpPr/>
          <p:nvPr/>
        </p:nvSpPr>
        <p:spPr>
          <a:xfrm>
            <a:off x="6869430" y="1629918"/>
            <a:ext cx="1417320" cy="1420368"/>
          </a:xfrm>
          <a:prstGeom prst="ellipse">
            <a:avLst/>
          </a:prstGeom>
          <a:solidFill>
            <a:srgbClr val="16A085">
              <a:alpha val="12000"/>
            </a:srgbClr>
          </a:solidFill>
          <a:ln w="22225">
            <a:solidFill>
              <a:srgbClr val="16A085"/>
            </a:solidFill>
            <a:prstDash val="solid"/>
          </a:ln>
        </p:spPr>
      </p:sp>
      <p:sp>
        <p:nvSpPr>
          <p:cNvPr id="136" name="Shape 134"/>
          <p:cNvSpPr/>
          <p:nvPr/>
        </p:nvSpPr>
        <p:spPr>
          <a:xfrm rot="-2700000">
            <a:off x="5996325" y="1452372"/>
            <a:ext cx="2454870" cy="1420368"/>
          </a:xfrm>
          <a:prstGeom prst="ellipse">
            <a:avLst/>
          </a:prstGeom>
          <a:solidFill>
            <a:srgbClr val="E67E22">
              <a:alpha val="10000"/>
            </a:srgbClr>
          </a:solidFill>
          <a:ln w="22225">
            <a:solidFill>
              <a:srgbClr val="E67E22"/>
            </a:solidFill>
            <a:prstDash val="solid"/>
          </a:ln>
        </p:spPr>
      </p:sp>
      <p:sp>
        <p:nvSpPr>
          <p:cNvPr id="137" name="Shape 135"/>
          <p:cNvSpPr/>
          <p:nvPr/>
        </p:nvSpPr>
        <p:spPr>
          <a:xfrm rot="-2700000">
            <a:off x="6809353" y="1726960"/>
            <a:ext cx="1227435" cy="1004352"/>
          </a:xfrm>
          <a:prstGeom prst="ellipse">
            <a:avLst/>
          </a:prstGeom>
          <a:solidFill>
            <a:srgbClr val="9B59B6">
              <a:alpha val="40000"/>
            </a:srgbClr>
          </a:solidFill>
          <a:ln w="22225">
            <a:solidFill>
              <a:srgbClr val="9B59B6"/>
            </a:solidFill>
            <a:prstDash val="solid"/>
          </a:ln>
        </p:spPr>
      </p:sp>
      <p:sp>
        <p:nvSpPr>
          <p:cNvPr id="138" name="Shape 136"/>
          <p:cNvSpPr/>
          <p:nvPr/>
        </p:nvSpPr>
        <p:spPr>
          <a:xfrm>
            <a:off x="7178040" y="2116836"/>
            <a:ext cx="91440" cy="91440"/>
          </a:xfrm>
          <a:prstGeom prst="ellipse">
            <a:avLst/>
          </a:prstGeom>
          <a:solidFill>
            <a:srgbClr val="E67E22"/>
          </a:solidFill>
          <a:ln w="12700">
            <a:solidFill>
              <a:srgbClr val="E67E22"/>
            </a:solidFill>
            <a:prstDash val="solid"/>
          </a:ln>
        </p:spPr>
      </p:sp>
      <p:sp>
        <p:nvSpPr>
          <p:cNvPr id="139" name="Shape 137"/>
          <p:cNvSpPr/>
          <p:nvPr/>
        </p:nvSpPr>
        <p:spPr>
          <a:xfrm>
            <a:off x="7532370" y="2294382"/>
            <a:ext cx="91440" cy="91440"/>
          </a:xfrm>
          <a:prstGeom prst="ellipse">
            <a:avLst/>
          </a:prstGeom>
          <a:solidFill>
            <a:srgbClr val="16A085"/>
          </a:solidFill>
          <a:ln w="12700">
            <a:solidFill>
              <a:srgbClr val="16A085"/>
            </a:solidFill>
            <a:prstDash val="solid"/>
          </a:ln>
        </p:spPr>
      </p:sp>
      <p:sp>
        <p:nvSpPr>
          <p:cNvPr id="140" name="Shape 138"/>
          <p:cNvSpPr/>
          <p:nvPr/>
        </p:nvSpPr>
        <p:spPr>
          <a:xfrm>
            <a:off x="7377351" y="2183416"/>
            <a:ext cx="91440" cy="91440"/>
          </a:xfrm>
          <a:prstGeom prst="ellipse">
            <a:avLst/>
          </a:prstGeom>
          <a:solidFill>
            <a:srgbClr val="9B59B6"/>
          </a:solidFill>
          <a:ln w="12700">
            <a:solidFill>
              <a:srgbClr val="9B59B6"/>
            </a:solidFill>
            <a:prstDash val="solid"/>
          </a:ln>
        </p:spPr>
      </p:sp>
      <p:sp>
        <p:nvSpPr>
          <p:cNvPr id="141" name="Shape 139"/>
          <p:cNvSpPr/>
          <p:nvPr/>
        </p:nvSpPr>
        <p:spPr>
          <a:xfrm>
            <a:off x="5806440" y="3566160"/>
            <a:ext cx="109728" cy="109728"/>
          </a:xfrm>
          <a:prstGeom prst="ellipse">
            <a:avLst/>
          </a:prstGeom>
          <a:solidFill>
            <a:srgbClr val="E67E22">
              <a:alpha val="60000"/>
            </a:srgbClr>
          </a:solidFill>
          <a:ln w="15875">
            <a:solidFill>
              <a:srgbClr val="E67E22"/>
            </a:solidFill>
            <a:prstDash val="solid"/>
          </a:ln>
        </p:spPr>
      </p:sp>
      <p:sp>
        <p:nvSpPr>
          <p:cNvPr id="142" name="Text 140"/>
          <p:cNvSpPr txBox="1"/>
          <p:nvPr/>
        </p:nvSpPr>
        <p:spPr>
          <a:xfrm>
            <a:off x="5989320" y="3520440"/>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Prediction (x̂⁻, P⁻)</a:t>
            </a:r>
            <a:endParaRPr lang="en-US" sz="1000" dirty="0"/>
          </a:p>
        </p:txBody>
      </p:sp>
      <p:sp>
        <p:nvSpPr>
          <p:cNvPr id="143" name="Shape 141"/>
          <p:cNvSpPr/>
          <p:nvPr/>
        </p:nvSpPr>
        <p:spPr>
          <a:xfrm>
            <a:off x="5806440" y="3785616"/>
            <a:ext cx="109728" cy="109728"/>
          </a:xfrm>
          <a:prstGeom prst="ellipse">
            <a:avLst/>
          </a:prstGeom>
          <a:solidFill>
            <a:srgbClr val="16A085">
              <a:alpha val="60000"/>
            </a:srgbClr>
          </a:solidFill>
          <a:ln w="15875">
            <a:solidFill>
              <a:srgbClr val="16A085"/>
            </a:solidFill>
            <a:prstDash val="solid"/>
          </a:ln>
        </p:spPr>
      </p:sp>
      <p:sp>
        <p:nvSpPr>
          <p:cNvPr id="144" name="Text 142"/>
          <p:cNvSpPr txBox="1"/>
          <p:nvPr/>
        </p:nvSpPr>
        <p:spPr>
          <a:xfrm>
            <a:off x="5989320" y="3739896"/>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GPS (z, R)</a:t>
            </a:r>
            <a:endParaRPr lang="en-US" sz="1000" dirty="0"/>
          </a:p>
        </p:txBody>
      </p:sp>
      <p:sp>
        <p:nvSpPr>
          <p:cNvPr id="145" name="Shape 143"/>
          <p:cNvSpPr/>
          <p:nvPr/>
        </p:nvSpPr>
        <p:spPr>
          <a:xfrm>
            <a:off x="5806440" y="4005072"/>
            <a:ext cx="109728" cy="109728"/>
          </a:xfrm>
          <a:prstGeom prst="ellipse">
            <a:avLst/>
          </a:prstGeom>
          <a:solidFill>
            <a:srgbClr val="9B59B6">
              <a:alpha val="60000"/>
            </a:srgbClr>
          </a:solidFill>
          <a:ln w="15875">
            <a:solidFill>
              <a:srgbClr val="9B59B6"/>
            </a:solidFill>
            <a:prstDash val="solid"/>
          </a:ln>
        </p:spPr>
      </p:sp>
      <p:sp>
        <p:nvSpPr>
          <p:cNvPr id="146" name="Text 144"/>
          <p:cNvSpPr txBox="1"/>
          <p:nvPr/>
        </p:nvSpPr>
        <p:spPr>
          <a:xfrm>
            <a:off x="5989320" y="3959352"/>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Updated estimate (x̂, P)</a:t>
            </a:r>
            <a:endParaRPr lang="en-US" sz="10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What If the Sensor Measures Only x?</a:t>
            </a:r>
            <a:endParaRPr lang="en-US" sz="2400" dirty="0"/>
          </a:p>
        </p:txBody>
      </p:sp>
      <p:sp>
        <p:nvSpPr>
          <p:cNvPr id="3" name="Text 1"/>
          <p:cNvSpPr txBox="1"/>
          <p:nvPr/>
        </p:nvSpPr>
        <p:spPr>
          <a:xfrm>
            <a:off x="502920" y="1051560"/>
            <a:ext cx="5120640" cy="5029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sensor on the wall measures only x: z = 5 m, with R = 0.25 m². Now H = [1, 0], so S is a single number.</a:t>
            </a:r>
            <a:endParaRPr lang="en-US" sz="1200" dirty="0"/>
          </a:p>
        </p:txBody>
      </p:sp>
      <p:sp>
        <p:nvSpPr>
          <p:cNvPr id="4" name="Text 2"/>
          <p:cNvSpPr txBox="1"/>
          <p:nvPr/>
        </p:nvSpPr>
        <p:spPr>
          <a:xfrm>
            <a:off x="502920" y="1682496"/>
            <a:ext cx="3735141"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S = H·P⁻·Hᵀ + R = P₁₁ + R = 2 + 0.25 = 2.25</a:t>
            </a:r>
            <a:endParaRPr lang="en-US" sz="1300" dirty="0"/>
          </a:p>
        </p:txBody>
      </p:sp>
      <p:sp>
        <p:nvSpPr>
          <p:cNvPr id="5" name="Text 3"/>
          <p:cNvSpPr txBox="1"/>
          <p:nvPr/>
        </p:nvSpPr>
        <p:spPr>
          <a:xfrm>
            <a:off x="502920" y="2322576"/>
            <a:ext cx="133868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K = P⁻·Hᵀ / S =</a:t>
            </a:r>
            <a:endParaRPr lang="en-US" sz="1300" dirty="0"/>
          </a:p>
        </p:txBody>
      </p:sp>
      <p:sp>
        <p:nvSpPr>
          <p:cNvPr id="6" name="Text 4"/>
          <p:cNvSpPr txBox="1"/>
          <p:nvPr/>
        </p:nvSpPr>
        <p:spPr>
          <a:xfrm>
            <a:off x="1933042" y="222199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2</a:t>
            </a:r>
            <a:endParaRPr lang="en-US" sz="1200" dirty="0"/>
          </a:p>
        </p:txBody>
      </p:sp>
      <p:sp>
        <p:nvSpPr>
          <p:cNvPr id="7" name="Text 5"/>
          <p:cNvSpPr txBox="1"/>
          <p:nvPr/>
        </p:nvSpPr>
        <p:spPr>
          <a:xfrm>
            <a:off x="1933042" y="246888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1</a:t>
            </a:r>
            <a:endParaRPr lang="en-US" sz="1200" dirty="0"/>
          </a:p>
        </p:txBody>
      </p:sp>
      <p:sp>
        <p:nvSpPr>
          <p:cNvPr id="8" name="Shape 6"/>
          <p:cNvSpPr/>
          <p:nvPr/>
        </p:nvSpPr>
        <p:spPr>
          <a:xfrm>
            <a:off x="1869034" y="2185416"/>
            <a:ext cx="0" cy="566928"/>
          </a:xfrm>
          <a:prstGeom prst="line">
            <a:avLst/>
          </a:prstGeom>
          <a:noFill/>
          <a:ln w="15875">
            <a:solidFill>
              <a:srgbClr val="8C99A8"/>
            </a:solidFill>
            <a:prstDash val="solid"/>
          </a:ln>
        </p:spPr>
      </p:sp>
      <p:sp>
        <p:nvSpPr>
          <p:cNvPr id="9" name="Shape 7"/>
          <p:cNvSpPr/>
          <p:nvPr/>
        </p:nvSpPr>
        <p:spPr>
          <a:xfrm>
            <a:off x="1869034" y="2185416"/>
            <a:ext cx="64008" cy="0"/>
          </a:xfrm>
          <a:prstGeom prst="line">
            <a:avLst/>
          </a:prstGeom>
          <a:noFill/>
          <a:ln w="15875">
            <a:solidFill>
              <a:srgbClr val="8C99A8"/>
            </a:solidFill>
            <a:prstDash val="solid"/>
          </a:ln>
        </p:spPr>
      </p:sp>
      <p:sp>
        <p:nvSpPr>
          <p:cNvPr id="10" name="Shape 8"/>
          <p:cNvSpPr/>
          <p:nvPr/>
        </p:nvSpPr>
        <p:spPr>
          <a:xfrm>
            <a:off x="1869034" y="2752344"/>
            <a:ext cx="64008" cy="0"/>
          </a:xfrm>
          <a:prstGeom prst="line">
            <a:avLst/>
          </a:prstGeom>
          <a:noFill/>
          <a:ln w="15875">
            <a:solidFill>
              <a:srgbClr val="8C99A8"/>
            </a:solidFill>
            <a:prstDash val="solid"/>
          </a:ln>
        </p:spPr>
      </p:sp>
      <p:sp>
        <p:nvSpPr>
          <p:cNvPr id="11" name="Shape 9"/>
          <p:cNvSpPr/>
          <p:nvPr/>
        </p:nvSpPr>
        <p:spPr>
          <a:xfrm>
            <a:off x="2271370" y="2185416"/>
            <a:ext cx="0" cy="566928"/>
          </a:xfrm>
          <a:prstGeom prst="line">
            <a:avLst/>
          </a:prstGeom>
          <a:noFill/>
          <a:ln w="15875">
            <a:solidFill>
              <a:srgbClr val="8C99A8"/>
            </a:solidFill>
            <a:prstDash val="solid"/>
          </a:ln>
        </p:spPr>
      </p:sp>
      <p:sp>
        <p:nvSpPr>
          <p:cNvPr id="12" name="Shape 10"/>
          <p:cNvSpPr/>
          <p:nvPr/>
        </p:nvSpPr>
        <p:spPr>
          <a:xfrm>
            <a:off x="2207362" y="2185416"/>
            <a:ext cx="64008" cy="0"/>
          </a:xfrm>
          <a:prstGeom prst="line">
            <a:avLst/>
          </a:prstGeom>
          <a:noFill/>
          <a:ln w="15875">
            <a:solidFill>
              <a:srgbClr val="8C99A8"/>
            </a:solidFill>
            <a:prstDash val="solid"/>
          </a:ln>
        </p:spPr>
      </p:sp>
      <p:sp>
        <p:nvSpPr>
          <p:cNvPr id="13" name="Shape 11"/>
          <p:cNvSpPr/>
          <p:nvPr/>
        </p:nvSpPr>
        <p:spPr>
          <a:xfrm>
            <a:off x="2207362" y="2752344"/>
            <a:ext cx="64008" cy="0"/>
          </a:xfrm>
          <a:prstGeom prst="line">
            <a:avLst/>
          </a:prstGeom>
          <a:noFill/>
          <a:ln w="15875">
            <a:solidFill>
              <a:srgbClr val="8C99A8"/>
            </a:solidFill>
            <a:prstDash val="solid"/>
          </a:ln>
        </p:spPr>
      </p:sp>
      <p:sp>
        <p:nvSpPr>
          <p:cNvPr id="14" name="Text 12"/>
          <p:cNvSpPr txBox="1"/>
          <p:nvPr/>
        </p:nvSpPr>
        <p:spPr>
          <a:xfrm>
            <a:off x="2335378" y="2322576"/>
            <a:ext cx="739567"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 2.25 =</a:t>
            </a:r>
            <a:endParaRPr lang="en-US" sz="1300" dirty="0"/>
          </a:p>
        </p:txBody>
      </p:sp>
      <p:sp>
        <p:nvSpPr>
          <p:cNvPr id="15" name="Text 13"/>
          <p:cNvSpPr txBox="1"/>
          <p:nvPr/>
        </p:nvSpPr>
        <p:spPr>
          <a:xfrm>
            <a:off x="3166384" y="2221992"/>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0.889</a:t>
            </a:r>
            <a:endParaRPr lang="en-US" sz="1200" dirty="0"/>
          </a:p>
        </p:txBody>
      </p:sp>
      <p:sp>
        <p:nvSpPr>
          <p:cNvPr id="16" name="Text 14"/>
          <p:cNvSpPr txBox="1"/>
          <p:nvPr/>
        </p:nvSpPr>
        <p:spPr>
          <a:xfrm>
            <a:off x="3166384" y="2468880"/>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0.444</a:t>
            </a:r>
            <a:endParaRPr lang="en-US" sz="1200" dirty="0"/>
          </a:p>
        </p:txBody>
      </p:sp>
      <p:sp>
        <p:nvSpPr>
          <p:cNvPr id="17" name="Shape 15"/>
          <p:cNvSpPr/>
          <p:nvPr/>
        </p:nvSpPr>
        <p:spPr>
          <a:xfrm>
            <a:off x="3102376" y="2185416"/>
            <a:ext cx="0" cy="566928"/>
          </a:xfrm>
          <a:prstGeom prst="line">
            <a:avLst/>
          </a:prstGeom>
          <a:noFill/>
          <a:ln w="15875">
            <a:solidFill>
              <a:srgbClr val="8C99A8"/>
            </a:solidFill>
            <a:prstDash val="solid"/>
          </a:ln>
        </p:spPr>
      </p:sp>
      <p:sp>
        <p:nvSpPr>
          <p:cNvPr id="18" name="Shape 16"/>
          <p:cNvSpPr/>
          <p:nvPr/>
        </p:nvSpPr>
        <p:spPr>
          <a:xfrm>
            <a:off x="3102376" y="2185416"/>
            <a:ext cx="64008" cy="0"/>
          </a:xfrm>
          <a:prstGeom prst="line">
            <a:avLst/>
          </a:prstGeom>
          <a:noFill/>
          <a:ln w="15875">
            <a:solidFill>
              <a:srgbClr val="8C99A8"/>
            </a:solidFill>
            <a:prstDash val="solid"/>
          </a:ln>
        </p:spPr>
      </p:sp>
      <p:sp>
        <p:nvSpPr>
          <p:cNvPr id="19" name="Shape 17"/>
          <p:cNvSpPr/>
          <p:nvPr/>
        </p:nvSpPr>
        <p:spPr>
          <a:xfrm>
            <a:off x="3102376" y="2752344"/>
            <a:ext cx="64008" cy="0"/>
          </a:xfrm>
          <a:prstGeom prst="line">
            <a:avLst/>
          </a:prstGeom>
          <a:noFill/>
          <a:ln w="15875">
            <a:solidFill>
              <a:srgbClr val="8C99A8"/>
            </a:solidFill>
            <a:prstDash val="solid"/>
          </a:ln>
        </p:spPr>
      </p:sp>
      <p:sp>
        <p:nvSpPr>
          <p:cNvPr id="20" name="Shape 18"/>
          <p:cNvSpPr/>
          <p:nvPr/>
        </p:nvSpPr>
        <p:spPr>
          <a:xfrm>
            <a:off x="3733312" y="2185416"/>
            <a:ext cx="0" cy="566928"/>
          </a:xfrm>
          <a:prstGeom prst="line">
            <a:avLst/>
          </a:prstGeom>
          <a:noFill/>
          <a:ln w="15875">
            <a:solidFill>
              <a:srgbClr val="8C99A8"/>
            </a:solidFill>
            <a:prstDash val="solid"/>
          </a:ln>
        </p:spPr>
      </p:sp>
      <p:sp>
        <p:nvSpPr>
          <p:cNvPr id="21" name="Shape 19"/>
          <p:cNvSpPr/>
          <p:nvPr/>
        </p:nvSpPr>
        <p:spPr>
          <a:xfrm>
            <a:off x="3669304" y="2185416"/>
            <a:ext cx="64008" cy="0"/>
          </a:xfrm>
          <a:prstGeom prst="line">
            <a:avLst/>
          </a:prstGeom>
          <a:noFill/>
          <a:ln w="15875">
            <a:solidFill>
              <a:srgbClr val="8C99A8"/>
            </a:solidFill>
            <a:prstDash val="solid"/>
          </a:ln>
        </p:spPr>
      </p:sp>
      <p:sp>
        <p:nvSpPr>
          <p:cNvPr id="22" name="Shape 20"/>
          <p:cNvSpPr/>
          <p:nvPr/>
        </p:nvSpPr>
        <p:spPr>
          <a:xfrm>
            <a:off x="3669304" y="2752344"/>
            <a:ext cx="64008" cy="0"/>
          </a:xfrm>
          <a:prstGeom prst="line">
            <a:avLst/>
          </a:prstGeom>
          <a:noFill/>
          <a:ln w="15875">
            <a:solidFill>
              <a:srgbClr val="8C99A8"/>
            </a:solidFill>
            <a:prstDash val="solid"/>
          </a:ln>
        </p:spPr>
      </p:sp>
      <p:sp>
        <p:nvSpPr>
          <p:cNvPr id="23" name="Text 21"/>
          <p:cNvSpPr txBox="1"/>
          <p:nvPr/>
        </p:nvSpPr>
        <p:spPr>
          <a:xfrm>
            <a:off x="502920" y="3099816"/>
            <a:ext cx="397215"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x̂ =</a:t>
            </a:r>
            <a:endParaRPr lang="en-US" sz="1300" dirty="0"/>
          </a:p>
        </p:txBody>
      </p:sp>
      <p:sp>
        <p:nvSpPr>
          <p:cNvPr id="24" name="Text 22"/>
          <p:cNvSpPr txBox="1"/>
          <p:nvPr/>
        </p:nvSpPr>
        <p:spPr>
          <a:xfrm>
            <a:off x="991575" y="2999232"/>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4</a:t>
            </a:r>
            <a:endParaRPr lang="en-US" sz="1200" dirty="0"/>
          </a:p>
        </p:txBody>
      </p:sp>
      <p:sp>
        <p:nvSpPr>
          <p:cNvPr id="25" name="Text 23"/>
          <p:cNvSpPr txBox="1"/>
          <p:nvPr/>
        </p:nvSpPr>
        <p:spPr>
          <a:xfrm>
            <a:off x="991575" y="3246120"/>
            <a:ext cx="2743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a:t>
            </a:r>
            <a:endParaRPr lang="en-US" sz="1200" dirty="0"/>
          </a:p>
        </p:txBody>
      </p:sp>
      <p:sp>
        <p:nvSpPr>
          <p:cNvPr id="26" name="Shape 24"/>
          <p:cNvSpPr/>
          <p:nvPr/>
        </p:nvSpPr>
        <p:spPr>
          <a:xfrm>
            <a:off x="927567" y="2962656"/>
            <a:ext cx="0" cy="566928"/>
          </a:xfrm>
          <a:prstGeom prst="line">
            <a:avLst/>
          </a:prstGeom>
          <a:noFill/>
          <a:ln w="15875">
            <a:solidFill>
              <a:srgbClr val="8C99A8"/>
            </a:solidFill>
            <a:prstDash val="solid"/>
          </a:ln>
        </p:spPr>
      </p:sp>
      <p:sp>
        <p:nvSpPr>
          <p:cNvPr id="27" name="Shape 25"/>
          <p:cNvSpPr/>
          <p:nvPr/>
        </p:nvSpPr>
        <p:spPr>
          <a:xfrm>
            <a:off x="927567" y="2962656"/>
            <a:ext cx="64008" cy="0"/>
          </a:xfrm>
          <a:prstGeom prst="line">
            <a:avLst/>
          </a:prstGeom>
          <a:noFill/>
          <a:ln w="15875">
            <a:solidFill>
              <a:srgbClr val="8C99A8"/>
            </a:solidFill>
            <a:prstDash val="solid"/>
          </a:ln>
        </p:spPr>
      </p:sp>
      <p:sp>
        <p:nvSpPr>
          <p:cNvPr id="28" name="Shape 26"/>
          <p:cNvSpPr/>
          <p:nvPr/>
        </p:nvSpPr>
        <p:spPr>
          <a:xfrm>
            <a:off x="927567" y="3529584"/>
            <a:ext cx="64008" cy="0"/>
          </a:xfrm>
          <a:prstGeom prst="line">
            <a:avLst/>
          </a:prstGeom>
          <a:noFill/>
          <a:ln w="15875">
            <a:solidFill>
              <a:srgbClr val="8C99A8"/>
            </a:solidFill>
            <a:prstDash val="solid"/>
          </a:ln>
        </p:spPr>
      </p:sp>
      <p:sp>
        <p:nvSpPr>
          <p:cNvPr id="29" name="Shape 27"/>
          <p:cNvSpPr/>
          <p:nvPr/>
        </p:nvSpPr>
        <p:spPr>
          <a:xfrm>
            <a:off x="1329903" y="2962656"/>
            <a:ext cx="0" cy="566928"/>
          </a:xfrm>
          <a:prstGeom prst="line">
            <a:avLst/>
          </a:prstGeom>
          <a:noFill/>
          <a:ln w="15875">
            <a:solidFill>
              <a:srgbClr val="8C99A8"/>
            </a:solidFill>
            <a:prstDash val="solid"/>
          </a:ln>
        </p:spPr>
      </p:sp>
      <p:sp>
        <p:nvSpPr>
          <p:cNvPr id="30" name="Shape 28"/>
          <p:cNvSpPr/>
          <p:nvPr/>
        </p:nvSpPr>
        <p:spPr>
          <a:xfrm>
            <a:off x="1265895" y="2962656"/>
            <a:ext cx="64008" cy="0"/>
          </a:xfrm>
          <a:prstGeom prst="line">
            <a:avLst/>
          </a:prstGeom>
          <a:noFill/>
          <a:ln w="15875">
            <a:solidFill>
              <a:srgbClr val="8C99A8"/>
            </a:solidFill>
            <a:prstDash val="solid"/>
          </a:ln>
        </p:spPr>
      </p:sp>
      <p:sp>
        <p:nvSpPr>
          <p:cNvPr id="31" name="Shape 29"/>
          <p:cNvSpPr/>
          <p:nvPr/>
        </p:nvSpPr>
        <p:spPr>
          <a:xfrm>
            <a:off x="1265895" y="3529584"/>
            <a:ext cx="64008" cy="0"/>
          </a:xfrm>
          <a:prstGeom prst="line">
            <a:avLst/>
          </a:prstGeom>
          <a:noFill/>
          <a:ln w="15875">
            <a:solidFill>
              <a:srgbClr val="8C99A8"/>
            </a:solidFill>
            <a:prstDash val="solid"/>
          </a:ln>
        </p:spPr>
      </p:sp>
      <p:sp>
        <p:nvSpPr>
          <p:cNvPr id="32" name="Text 30"/>
          <p:cNvSpPr txBox="1"/>
          <p:nvPr/>
        </p:nvSpPr>
        <p:spPr>
          <a:xfrm>
            <a:off x="1393911" y="3099816"/>
            <a:ext cx="140452"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a:t>
            </a:r>
            <a:endParaRPr lang="en-US" sz="1300" dirty="0"/>
          </a:p>
        </p:txBody>
      </p:sp>
      <p:sp>
        <p:nvSpPr>
          <p:cNvPr id="33" name="Text 31"/>
          <p:cNvSpPr txBox="1"/>
          <p:nvPr/>
        </p:nvSpPr>
        <p:spPr>
          <a:xfrm>
            <a:off x="1625803" y="2999232"/>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0.889</a:t>
            </a:r>
            <a:endParaRPr lang="en-US" sz="1200" dirty="0"/>
          </a:p>
        </p:txBody>
      </p:sp>
      <p:sp>
        <p:nvSpPr>
          <p:cNvPr id="34" name="Text 32"/>
          <p:cNvSpPr txBox="1"/>
          <p:nvPr/>
        </p:nvSpPr>
        <p:spPr>
          <a:xfrm>
            <a:off x="1625803" y="3246120"/>
            <a:ext cx="502920"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0.444</a:t>
            </a:r>
            <a:endParaRPr lang="en-US" sz="1200" dirty="0"/>
          </a:p>
        </p:txBody>
      </p:sp>
      <p:sp>
        <p:nvSpPr>
          <p:cNvPr id="35" name="Shape 33"/>
          <p:cNvSpPr/>
          <p:nvPr/>
        </p:nvSpPr>
        <p:spPr>
          <a:xfrm>
            <a:off x="1561795" y="2962656"/>
            <a:ext cx="0" cy="566928"/>
          </a:xfrm>
          <a:prstGeom prst="line">
            <a:avLst/>
          </a:prstGeom>
          <a:noFill/>
          <a:ln w="15875">
            <a:solidFill>
              <a:srgbClr val="8C99A8"/>
            </a:solidFill>
            <a:prstDash val="solid"/>
          </a:ln>
        </p:spPr>
      </p:sp>
      <p:sp>
        <p:nvSpPr>
          <p:cNvPr id="36" name="Shape 34"/>
          <p:cNvSpPr/>
          <p:nvPr/>
        </p:nvSpPr>
        <p:spPr>
          <a:xfrm>
            <a:off x="1561795" y="2962656"/>
            <a:ext cx="64008" cy="0"/>
          </a:xfrm>
          <a:prstGeom prst="line">
            <a:avLst/>
          </a:prstGeom>
          <a:noFill/>
          <a:ln w="15875">
            <a:solidFill>
              <a:srgbClr val="8C99A8"/>
            </a:solidFill>
            <a:prstDash val="solid"/>
          </a:ln>
        </p:spPr>
      </p:sp>
      <p:sp>
        <p:nvSpPr>
          <p:cNvPr id="37" name="Shape 35"/>
          <p:cNvSpPr/>
          <p:nvPr/>
        </p:nvSpPr>
        <p:spPr>
          <a:xfrm>
            <a:off x="1561795" y="3529584"/>
            <a:ext cx="64008" cy="0"/>
          </a:xfrm>
          <a:prstGeom prst="line">
            <a:avLst/>
          </a:prstGeom>
          <a:noFill/>
          <a:ln w="15875">
            <a:solidFill>
              <a:srgbClr val="8C99A8"/>
            </a:solidFill>
            <a:prstDash val="solid"/>
          </a:ln>
        </p:spPr>
      </p:sp>
      <p:sp>
        <p:nvSpPr>
          <p:cNvPr id="38" name="Shape 36"/>
          <p:cNvSpPr/>
          <p:nvPr/>
        </p:nvSpPr>
        <p:spPr>
          <a:xfrm>
            <a:off x="2192731" y="2962656"/>
            <a:ext cx="0" cy="566928"/>
          </a:xfrm>
          <a:prstGeom prst="line">
            <a:avLst/>
          </a:prstGeom>
          <a:noFill/>
          <a:ln w="15875">
            <a:solidFill>
              <a:srgbClr val="8C99A8"/>
            </a:solidFill>
            <a:prstDash val="solid"/>
          </a:ln>
        </p:spPr>
      </p:sp>
      <p:sp>
        <p:nvSpPr>
          <p:cNvPr id="39" name="Shape 37"/>
          <p:cNvSpPr/>
          <p:nvPr/>
        </p:nvSpPr>
        <p:spPr>
          <a:xfrm>
            <a:off x="2128723" y="2962656"/>
            <a:ext cx="64008" cy="0"/>
          </a:xfrm>
          <a:prstGeom prst="line">
            <a:avLst/>
          </a:prstGeom>
          <a:noFill/>
          <a:ln w="15875">
            <a:solidFill>
              <a:srgbClr val="8C99A8"/>
            </a:solidFill>
            <a:prstDash val="solid"/>
          </a:ln>
        </p:spPr>
      </p:sp>
      <p:sp>
        <p:nvSpPr>
          <p:cNvPr id="40" name="Shape 38"/>
          <p:cNvSpPr/>
          <p:nvPr/>
        </p:nvSpPr>
        <p:spPr>
          <a:xfrm>
            <a:off x="2128723" y="3529584"/>
            <a:ext cx="64008" cy="0"/>
          </a:xfrm>
          <a:prstGeom prst="line">
            <a:avLst/>
          </a:prstGeom>
          <a:noFill/>
          <a:ln w="15875">
            <a:solidFill>
              <a:srgbClr val="8C99A8"/>
            </a:solidFill>
            <a:prstDash val="solid"/>
          </a:ln>
        </p:spPr>
      </p:sp>
      <p:sp>
        <p:nvSpPr>
          <p:cNvPr id="41" name="Text 39"/>
          <p:cNvSpPr txBox="1"/>
          <p:nvPr/>
        </p:nvSpPr>
        <p:spPr>
          <a:xfrm>
            <a:off x="2256739" y="3099816"/>
            <a:ext cx="996330" cy="292608"/>
          </a:xfrm>
          <a:prstGeom prst="rect">
            <a:avLst/>
          </a:prstGeom>
          <a:noFill/>
          <a:ln/>
        </p:spPr>
        <p:txBody>
          <a:bodyPr wrap="square" lIns="0" tIns="0" rIns="0" bIns="0" rtlCol="0" anchor="ctr"/>
          <a:lstStyle/>
          <a:p>
            <a:pPr indent="0" marL="0">
              <a:buNone/>
            </a:pPr>
            <a:r>
              <a:rPr lang="en-US" sz="1300" dirty="0">
                <a:solidFill>
                  <a:srgbClr val="FFFFFF"/>
                </a:solidFill>
                <a:latin typeface="Cambria Math" pitchFamily="34" charset="0"/>
                <a:ea typeface="Cambria Math" pitchFamily="34" charset="-122"/>
                <a:cs typeface="Cambria Math" pitchFamily="34" charset="-120"/>
              </a:rPr>
              <a:t>· (5 − 4) =</a:t>
            </a:r>
            <a:endParaRPr lang="en-US" sz="1300" dirty="0"/>
          </a:p>
        </p:txBody>
      </p:sp>
      <p:sp>
        <p:nvSpPr>
          <p:cNvPr id="42" name="Text 40"/>
          <p:cNvSpPr txBox="1"/>
          <p:nvPr/>
        </p:nvSpPr>
        <p:spPr>
          <a:xfrm>
            <a:off x="3344509" y="2999232"/>
            <a:ext cx="43891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4.89</a:t>
            </a:r>
            <a:endParaRPr lang="en-US" sz="1200" dirty="0"/>
          </a:p>
        </p:txBody>
      </p:sp>
      <p:sp>
        <p:nvSpPr>
          <p:cNvPr id="43" name="Text 41"/>
          <p:cNvSpPr txBox="1"/>
          <p:nvPr/>
        </p:nvSpPr>
        <p:spPr>
          <a:xfrm>
            <a:off x="3344509" y="3246120"/>
            <a:ext cx="438912" cy="246888"/>
          </a:xfrm>
          <a:prstGeom prst="rect">
            <a:avLst/>
          </a:prstGeom>
          <a:noFill/>
          <a:ln/>
        </p:spPr>
        <p:txBody>
          <a:bodyPr wrap="square" lIns="0" tIns="0" rIns="0" bIns="0" rtlCol="0" anchor="ctr"/>
          <a:lstStyle/>
          <a:p>
            <a:pPr algn="ctr" indent="0" marL="0">
              <a:buNone/>
            </a:pPr>
            <a:r>
              <a:rPr lang="en-US" sz="1200" dirty="0">
                <a:solidFill>
                  <a:srgbClr val="FFFFFF"/>
                </a:solidFill>
                <a:latin typeface="Cambria Math" pitchFamily="34" charset="0"/>
                <a:ea typeface="Cambria Math" pitchFamily="34" charset="-122"/>
                <a:cs typeface="Cambria Math" pitchFamily="34" charset="-120"/>
              </a:rPr>
              <a:t>3.44</a:t>
            </a:r>
            <a:endParaRPr lang="en-US" sz="1200" dirty="0"/>
          </a:p>
        </p:txBody>
      </p:sp>
      <p:sp>
        <p:nvSpPr>
          <p:cNvPr id="44" name="Shape 42"/>
          <p:cNvSpPr/>
          <p:nvPr/>
        </p:nvSpPr>
        <p:spPr>
          <a:xfrm>
            <a:off x="3280501" y="2962656"/>
            <a:ext cx="0" cy="566928"/>
          </a:xfrm>
          <a:prstGeom prst="line">
            <a:avLst/>
          </a:prstGeom>
          <a:noFill/>
          <a:ln w="15875">
            <a:solidFill>
              <a:srgbClr val="8C99A8"/>
            </a:solidFill>
            <a:prstDash val="solid"/>
          </a:ln>
        </p:spPr>
      </p:sp>
      <p:sp>
        <p:nvSpPr>
          <p:cNvPr id="45" name="Shape 43"/>
          <p:cNvSpPr/>
          <p:nvPr/>
        </p:nvSpPr>
        <p:spPr>
          <a:xfrm>
            <a:off x="3280501" y="2962656"/>
            <a:ext cx="64008" cy="0"/>
          </a:xfrm>
          <a:prstGeom prst="line">
            <a:avLst/>
          </a:prstGeom>
          <a:noFill/>
          <a:ln w="15875">
            <a:solidFill>
              <a:srgbClr val="8C99A8"/>
            </a:solidFill>
            <a:prstDash val="solid"/>
          </a:ln>
        </p:spPr>
      </p:sp>
      <p:sp>
        <p:nvSpPr>
          <p:cNvPr id="46" name="Shape 44"/>
          <p:cNvSpPr/>
          <p:nvPr/>
        </p:nvSpPr>
        <p:spPr>
          <a:xfrm>
            <a:off x="3280501" y="3529584"/>
            <a:ext cx="64008" cy="0"/>
          </a:xfrm>
          <a:prstGeom prst="line">
            <a:avLst/>
          </a:prstGeom>
          <a:noFill/>
          <a:ln w="15875">
            <a:solidFill>
              <a:srgbClr val="8C99A8"/>
            </a:solidFill>
            <a:prstDash val="solid"/>
          </a:ln>
        </p:spPr>
      </p:sp>
      <p:sp>
        <p:nvSpPr>
          <p:cNvPr id="47" name="Shape 45"/>
          <p:cNvSpPr/>
          <p:nvPr/>
        </p:nvSpPr>
        <p:spPr>
          <a:xfrm>
            <a:off x="3847429" y="2962656"/>
            <a:ext cx="0" cy="566928"/>
          </a:xfrm>
          <a:prstGeom prst="line">
            <a:avLst/>
          </a:prstGeom>
          <a:noFill/>
          <a:ln w="15875">
            <a:solidFill>
              <a:srgbClr val="8C99A8"/>
            </a:solidFill>
            <a:prstDash val="solid"/>
          </a:ln>
        </p:spPr>
      </p:sp>
      <p:sp>
        <p:nvSpPr>
          <p:cNvPr id="48" name="Shape 46"/>
          <p:cNvSpPr/>
          <p:nvPr/>
        </p:nvSpPr>
        <p:spPr>
          <a:xfrm>
            <a:off x="3783421" y="2962656"/>
            <a:ext cx="64008" cy="0"/>
          </a:xfrm>
          <a:prstGeom prst="line">
            <a:avLst/>
          </a:prstGeom>
          <a:noFill/>
          <a:ln w="15875">
            <a:solidFill>
              <a:srgbClr val="8C99A8"/>
            </a:solidFill>
            <a:prstDash val="solid"/>
          </a:ln>
        </p:spPr>
      </p:sp>
      <p:sp>
        <p:nvSpPr>
          <p:cNvPr id="49" name="Shape 47"/>
          <p:cNvSpPr/>
          <p:nvPr/>
        </p:nvSpPr>
        <p:spPr>
          <a:xfrm>
            <a:off x="3783421" y="3529584"/>
            <a:ext cx="64008" cy="0"/>
          </a:xfrm>
          <a:prstGeom prst="line">
            <a:avLst/>
          </a:prstGeom>
          <a:noFill/>
          <a:ln w="15875">
            <a:solidFill>
              <a:srgbClr val="8C99A8"/>
            </a:solidFill>
            <a:prstDash val="solid"/>
          </a:ln>
        </p:spPr>
      </p:sp>
      <p:sp>
        <p:nvSpPr>
          <p:cNvPr id="50" name="Text 48"/>
          <p:cNvSpPr txBox="1"/>
          <p:nvPr/>
        </p:nvSpPr>
        <p:spPr>
          <a:xfrm>
            <a:off x="502920" y="3794760"/>
            <a:ext cx="5120640" cy="731520"/>
          </a:xfrm>
          <a:prstGeom prst="rect">
            <a:avLst/>
          </a:prstGeom>
          <a:noFill/>
          <a:ln/>
        </p:spPr>
        <p:txBody>
          <a:bodyPr wrap="square" lIns="0" tIns="0" rIns="0" bIns="0" rtlCol="0" anchor="t"/>
          <a:lstStyle/>
          <a:p>
            <a:pPr indent="0" marL="0">
              <a:buNone/>
            </a:pPr>
            <a:r>
              <a:rPr lang="en-US" sz="1150" b="1" dirty="0">
                <a:solidFill>
                  <a:srgbClr val="E67E22"/>
                </a:solidFill>
                <a:latin typeface="Calibri" pitchFamily="34" charset="0"/>
                <a:ea typeface="Calibri" pitchFamily="34" charset="-122"/>
                <a:cs typeface="Calibri" pitchFamily="34" charset="-120"/>
              </a:rPr>
              <a:t>y moved by 0.44 m although only x was measured. </a:t>
            </a:r>
            <a:pPr indent="0" marL="0">
              <a:buNone/>
            </a:pPr>
            <a:r>
              <a:rPr lang="en-US" sz="1150" dirty="0">
                <a:solidFill>
                  <a:srgbClr val="C9D1DB"/>
                </a:solidFill>
                <a:latin typeface="Calibri" pitchFamily="34" charset="0"/>
                <a:ea typeface="Calibri" pitchFamily="34" charset="-122"/>
                <a:cs typeface="Calibri" pitchFamily="34" charset="-120"/>
              </a:rPr>
              <a:t>K has a second entry because P⁻₁₂ = 1 ≠ 0: the filter knows the x and y errors move together. With P⁻₁₂ = 0, y would not change.</a:t>
            </a:r>
            <a:endParaRPr lang="en-US" sz="1150" dirty="0"/>
          </a:p>
        </p:txBody>
      </p:sp>
      <p:sp>
        <p:nvSpPr>
          <p:cNvPr id="51" name="Shape 49"/>
          <p:cNvSpPr/>
          <p:nvPr/>
        </p:nvSpPr>
        <p:spPr>
          <a:xfrm>
            <a:off x="5806440" y="1097280"/>
            <a:ext cx="2834640" cy="2130552"/>
          </a:xfrm>
          <a:prstGeom prst="rect">
            <a:avLst/>
          </a:prstGeom>
          <a:solidFill>
            <a:srgbClr val="0A1522"/>
          </a:solidFill>
          <a:ln w="9525">
            <a:solidFill>
              <a:srgbClr val="2A3A4E"/>
            </a:solidFill>
            <a:prstDash val="solid"/>
          </a:ln>
        </p:spPr>
      </p:sp>
      <p:sp>
        <p:nvSpPr>
          <p:cNvPr id="52" name="Shape 50"/>
          <p:cNvSpPr/>
          <p:nvPr/>
        </p:nvSpPr>
        <p:spPr>
          <a:xfrm>
            <a:off x="5806440" y="1097280"/>
            <a:ext cx="0" cy="2130552"/>
          </a:xfrm>
          <a:prstGeom prst="line">
            <a:avLst/>
          </a:prstGeom>
          <a:noFill/>
          <a:ln w="6350">
            <a:solidFill>
              <a:srgbClr val="1E2E42"/>
            </a:solidFill>
            <a:prstDash val="solid"/>
          </a:ln>
        </p:spPr>
      </p:sp>
      <p:sp>
        <p:nvSpPr>
          <p:cNvPr id="53" name="Text 51"/>
          <p:cNvSpPr txBox="1"/>
          <p:nvPr/>
        </p:nvSpPr>
        <p:spPr>
          <a:xfrm>
            <a:off x="571500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54" name="Shape 52"/>
          <p:cNvSpPr/>
          <p:nvPr/>
        </p:nvSpPr>
        <p:spPr>
          <a:xfrm>
            <a:off x="6160770" y="1097280"/>
            <a:ext cx="0" cy="2130552"/>
          </a:xfrm>
          <a:prstGeom prst="line">
            <a:avLst/>
          </a:prstGeom>
          <a:noFill/>
          <a:ln w="6350">
            <a:solidFill>
              <a:srgbClr val="1E2E42"/>
            </a:solidFill>
            <a:prstDash val="solid"/>
          </a:ln>
        </p:spPr>
      </p:sp>
      <p:sp>
        <p:nvSpPr>
          <p:cNvPr id="55" name="Text 53"/>
          <p:cNvSpPr txBox="1"/>
          <p:nvPr/>
        </p:nvSpPr>
        <p:spPr>
          <a:xfrm>
            <a:off x="606933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56" name="Shape 54"/>
          <p:cNvSpPr/>
          <p:nvPr/>
        </p:nvSpPr>
        <p:spPr>
          <a:xfrm>
            <a:off x="6515100" y="1097280"/>
            <a:ext cx="0" cy="2130552"/>
          </a:xfrm>
          <a:prstGeom prst="line">
            <a:avLst/>
          </a:prstGeom>
          <a:noFill/>
          <a:ln w="6350">
            <a:solidFill>
              <a:srgbClr val="1E2E42"/>
            </a:solidFill>
            <a:prstDash val="solid"/>
          </a:ln>
        </p:spPr>
      </p:sp>
      <p:sp>
        <p:nvSpPr>
          <p:cNvPr id="57" name="Text 55"/>
          <p:cNvSpPr txBox="1"/>
          <p:nvPr/>
        </p:nvSpPr>
        <p:spPr>
          <a:xfrm>
            <a:off x="642366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58" name="Shape 56"/>
          <p:cNvSpPr/>
          <p:nvPr/>
        </p:nvSpPr>
        <p:spPr>
          <a:xfrm>
            <a:off x="6869430" y="1097280"/>
            <a:ext cx="0" cy="2130552"/>
          </a:xfrm>
          <a:prstGeom prst="line">
            <a:avLst/>
          </a:prstGeom>
          <a:noFill/>
          <a:ln w="6350">
            <a:solidFill>
              <a:srgbClr val="1E2E42"/>
            </a:solidFill>
            <a:prstDash val="solid"/>
          </a:ln>
        </p:spPr>
      </p:sp>
      <p:sp>
        <p:nvSpPr>
          <p:cNvPr id="59" name="Text 57"/>
          <p:cNvSpPr txBox="1"/>
          <p:nvPr/>
        </p:nvSpPr>
        <p:spPr>
          <a:xfrm>
            <a:off x="677799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60" name="Shape 58"/>
          <p:cNvSpPr/>
          <p:nvPr/>
        </p:nvSpPr>
        <p:spPr>
          <a:xfrm>
            <a:off x="7223760" y="1097280"/>
            <a:ext cx="0" cy="2130552"/>
          </a:xfrm>
          <a:prstGeom prst="line">
            <a:avLst/>
          </a:prstGeom>
          <a:noFill/>
          <a:ln w="6350">
            <a:solidFill>
              <a:srgbClr val="1E2E42"/>
            </a:solidFill>
            <a:prstDash val="solid"/>
          </a:ln>
        </p:spPr>
      </p:sp>
      <p:sp>
        <p:nvSpPr>
          <p:cNvPr id="61" name="Text 59"/>
          <p:cNvSpPr txBox="1"/>
          <p:nvPr/>
        </p:nvSpPr>
        <p:spPr>
          <a:xfrm>
            <a:off x="713232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62" name="Shape 60"/>
          <p:cNvSpPr/>
          <p:nvPr/>
        </p:nvSpPr>
        <p:spPr>
          <a:xfrm>
            <a:off x="7578090" y="1097280"/>
            <a:ext cx="0" cy="2130552"/>
          </a:xfrm>
          <a:prstGeom prst="line">
            <a:avLst/>
          </a:prstGeom>
          <a:noFill/>
          <a:ln w="6350">
            <a:solidFill>
              <a:srgbClr val="1E2E42"/>
            </a:solidFill>
            <a:prstDash val="solid"/>
          </a:ln>
        </p:spPr>
      </p:sp>
      <p:sp>
        <p:nvSpPr>
          <p:cNvPr id="63" name="Text 61"/>
          <p:cNvSpPr txBox="1"/>
          <p:nvPr/>
        </p:nvSpPr>
        <p:spPr>
          <a:xfrm>
            <a:off x="748665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5</a:t>
            </a:r>
            <a:endParaRPr lang="en-US" sz="700" dirty="0"/>
          </a:p>
        </p:txBody>
      </p:sp>
      <p:sp>
        <p:nvSpPr>
          <p:cNvPr id="64" name="Shape 62"/>
          <p:cNvSpPr/>
          <p:nvPr/>
        </p:nvSpPr>
        <p:spPr>
          <a:xfrm>
            <a:off x="7932420" y="1097280"/>
            <a:ext cx="0" cy="2130552"/>
          </a:xfrm>
          <a:prstGeom prst="line">
            <a:avLst/>
          </a:prstGeom>
          <a:noFill/>
          <a:ln w="6350">
            <a:solidFill>
              <a:srgbClr val="1E2E42"/>
            </a:solidFill>
            <a:prstDash val="solid"/>
          </a:ln>
        </p:spPr>
      </p:sp>
      <p:sp>
        <p:nvSpPr>
          <p:cNvPr id="65" name="Text 63"/>
          <p:cNvSpPr txBox="1"/>
          <p:nvPr/>
        </p:nvSpPr>
        <p:spPr>
          <a:xfrm>
            <a:off x="784098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6</a:t>
            </a:r>
            <a:endParaRPr lang="en-US" sz="700" dirty="0"/>
          </a:p>
        </p:txBody>
      </p:sp>
      <p:sp>
        <p:nvSpPr>
          <p:cNvPr id="66" name="Shape 64"/>
          <p:cNvSpPr/>
          <p:nvPr/>
        </p:nvSpPr>
        <p:spPr>
          <a:xfrm>
            <a:off x="8286750" y="1097280"/>
            <a:ext cx="0" cy="2130552"/>
          </a:xfrm>
          <a:prstGeom prst="line">
            <a:avLst/>
          </a:prstGeom>
          <a:noFill/>
          <a:ln w="6350">
            <a:solidFill>
              <a:srgbClr val="1E2E42"/>
            </a:solidFill>
            <a:prstDash val="solid"/>
          </a:ln>
        </p:spPr>
      </p:sp>
      <p:sp>
        <p:nvSpPr>
          <p:cNvPr id="67" name="Text 65"/>
          <p:cNvSpPr txBox="1"/>
          <p:nvPr/>
        </p:nvSpPr>
        <p:spPr>
          <a:xfrm>
            <a:off x="819531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7</a:t>
            </a:r>
            <a:endParaRPr lang="en-US" sz="700" dirty="0"/>
          </a:p>
        </p:txBody>
      </p:sp>
      <p:sp>
        <p:nvSpPr>
          <p:cNvPr id="68" name="Shape 66"/>
          <p:cNvSpPr/>
          <p:nvPr/>
        </p:nvSpPr>
        <p:spPr>
          <a:xfrm>
            <a:off x="8641080" y="1097280"/>
            <a:ext cx="0" cy="2130552"/>
          </a:xfrm>
          <a:prstGeom prst="line">
            <a:avLst/>
          </a:prstGeom>
          <a:noFill/>
          <a:ln w="6350">
            <a:solidFill>
              <a:srgbClr val="1E2E42"/>
            </a:solidFill>
            <a:prstDash val="solid"/>
          </a:ln>
        </p:spPr>
      </p:sp>
      <p:sp>
        <p:nvSpPr>
          <p:cNvPr id="69" name="Text 67"/>
          <p:cNvSpPr txBox="1"/>
          <p:nvPr/>
        </p:nvSpPr>
        <p:spPr>
          <a:xfrm>
            <a:off x="8549640" y="3246120"/>
            <a:ext cx="182880" cy="146304"/>
          </a:xfrm>
          <a:prstGeom prst="rect">
            <a:avLst/>
          </a:prstGeom>
          <a:noFill/>
          <a:ln/>
        </p:spPr>
        <p:txBody>
          <a:bodyPr wrap="square" lIns="0" tIns="0" rIns="0" bIns="0" rtlCol="0" anchor="t"/>
          <a:lstStyle/>
          <a:p>
            <a:pPr algn="ctr" indent="0" marL="0">
              <a:buNone/>
            </a:pPr>
            <a:r>
              <a:rPr lang="en-US" sz="700" dirty="0">
                <a:solidFill>
                  <a:srgbClr val="8C99A8"/>
                </a:solidFill>
                <a:latin typeface="Calibri" pitchFamily="34" charset="0"/>
                <a:ea typeface="Calibri" pitchFamily="34" charset="-122"/>
                <a:cs typeface="Calibri" pitchFamily="34" charset="-120"/>
              </a:rPr>
              <a:t>8</a:t>
            </a:r>
            <a:endParaRPr lang="en-US" sz="700" dirty="0"/>
          </a:p>
        </p:txBody>
      </p:sp>
      <p:sp>
        <p:nvSpPr>
          <p:cNvPr id="70" name="Shape 68"/>
          <p:cNvSpPr/>
          <p:nvPr/>
        </p:nvSpPr>
        <p:spPr>
          <a:xfrm>
            <a:off x="5806440" y="3227832"/>
            <a:ext cx="2834640" cy="0"/>
          </a:xfrm>
          <a:prstGeom prst="line">
            <a:avLst/>
          </a:prstGeom>
          <a:noFill/>
          <a:ln w="6350">
            <a:solidFill>
              <a:srgbClr val="1E2E42"/>
            </a:solidFill>
            <a:prstDash val="solid"/>
          </a:ln>
        </p:spPr>
      </p:sp>
      <p:sp>
        <p:nvSpPr>
          <p:cNvPr id="71" name="Text 69"/>
          <p:cNvSpPr txBox="1"/>
          <p:nvPr/>
        </p:nvSpPr>
        <p:spPr>
          <a:xfrm>
            <a:off x="5623560" y="3154680"/>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0</a:t>
            </a:r>
            <a:endParaRPr lang="en-US" sz="700" dirty="0"/>
          </a:p>
        </p:txBody>
      </p:sp>
      <p:sp>
        <p:nvSpPr>
          <p:cNvPr id="72" name="Shape 70"/>
          <p:cNvSpPr/>
          <p:nvPr/>
        </p:nvSpPr>
        <p:spPr>
          <a:xfrm>
            <a:off x="5806440" y="2872740"/>
            <a:ext cx="2834640" cy="0"/>
          </a:xfrm>
          <a:prstGeom prst="line">
            <a:avLst/>
          </a:prstGeom>
          <a:noFill/>
          <a:ln w="6350">
            <a:solidFill>
              <a:srgbClr val="1E2E42"/>
            </a:solidFill>
            <a:prstDash val="solid"/>
          </a:ln>
        </p:spPr>
      </p:sp>
      <p:sp>
        <p:nvSpPr>
          <p:cNvPr id="73" name="Text 71"/>
          <p:cNvSpPr txBox="1"/>
          <p:nvPr/>
        </p:nvSpPr>
        <p:spPr>
          <a:xfrm>
            <a:off x="5623560" y="279958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1</a:t>
            </a:r>
            <a:endParaRPr lang="en-US" sz="700" dirty="0"/>
          </a:p>
        </p:txBody>
      </p:sp>
      <p:sp>
        <p:nvSpPr>
          <p:cNvPr id="74" name="Shape 72"/>
          <p:cNvSpPr/>
          <p:nvPr/>
        </p:nvSpPr>
        <p:spPr>
          <a:xfrm>
            <a:off x="5806440" y="2517648"/>
            <a:ext cx="2834640" cy="0"/>
          </a:xfrm>
          <a:prstGeom prst="line">
            <a:avLst/>
          </a:prstGeom>
          <a:noFill/>
          <a:ln w="6350">
            <a:solidFill>
              <a:srgbClr val="1E2E42"/>
            </a:solidFill>
            <a:prstDash val="solid"/>
          </a:ln>
        </p:spPr>
      </p:sp>
      <p:sp>
        <p:nvSpPr>
          <p:cNvPr id="75" name="Text 73"/>
          <p:cNvSpPr txBox="1"/>
          <p:nvPr/>
        </p:nvSpPr>
        <p:spPr>
          <a:xfrm>
            <a:off x="5623560" y="2444496"/>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2</a:t>
            </a:r>
            <a:endParaRPr lang="en-US" sz="700" dirty="0"/>
          </a:p>
        </p:txBody>
      </p:sp>
      <p:sp>
        <p:nvSpPr>
          <p:cNvPr id="76" name="Shape 74"/>
          <p:cNvSpPr/>
          <p:nvPr/>
        </p:nvSpPr>
        <p:spPr>
          <a:xfrm>
            <a:off x="5806440" y="2162556"/>
            <a:ext cx="2834640" cy="0"/>
          </a:xfrm>
          <a:prstGeom prst="line">
            <a:avLst/>
          </a:prstGeom>
          <a:noFill/>
          <a:ln w="6350">
            <a:solidFill>
              <a:srgbClr val="1E2E42"/>
            </a:solidFill>
            <a:prstDash val="solid"/>
          </a:ln>
        </p:spPr>
      </p:sp>
      <p:sp>
        <p:nvSpPr>
          <p:cNvPr id="77" name="Text 75"/>
          <p:cNvSpPr txBox="1"/>
          <p:nvPr/>
        </p:nvSpPr>
        <p:spPr>
          <a:xfrm>
            <a:off x="5623560" y="2089404"/>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3</a:t>
            </a:r>
            <a:endParaRPr lang="en-US" sz="700" dirty="0"/>
          </a:p>
        </p:txBody>
      </p:sp>
      <p:sp>
        <p:nvSpPr>
          <p:cNvPr id="78" name="Shape 76"/>
          <p:cNvSpPr/>
          <p:nvPr/>
        </p:nvSpPr>
        <p:spPr>
          <a:xfrm>
            <a:off x="5806440" y="1807464"/>
            <a:ext cx="2834640" cy="0"/>
          </a:xfrm>
          <a:prstGeom prst="line">
            <a:avLst/>
          </a:prstGeom>
          <a:noFill/>
          <a:ln w="6350">
            <a:solidFill>
              <a:srgbClr val="1E2E42"/>
            </a:solidFill>
            <a:prstDash val="solid"/>
          </a:ln>
        </p:spPr>
      </p:sp>
      <p:sp>
        <p:nvSpPr>
          <p:cNvPr id="79" name="Text 77"/>
          <p:cNvSpPr txBox="1"/>
          <p:nvPr/>
        </p:nvSpPr>
        <p:spPr>
          <a:xfrm>
            <a:off x="5623560" y="1734312"/>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4</a:t>
            </a:r>
            <a:endParaRPr lang="en-US" sz="700" dirty="0"/>
          </a:p>
        </p:txBody>
      </p:sp>
      <p:sp>
        <p:nvSpPr>
          <p:cNvPr id="80" name="Shape 78"/>
          <p:cNvSpPr/>
          <p:nvPr/>
        </p:nvSpPr>
        <p:spPr>
          <a:xfrm>
            <a:off x="5806440" y="1452372"/>
            <a:ext cx="2834640" cy="0"/>
          </a:xfrm>
          <a:prstGeom prst="line">
            <a:avLst/>
          </a:prstGeom>
          <a:noFill/>
          <a:ln w="6350">
            <a:solidFill>
              <a:srgbClr val="1E2E42"/>
            </a:solidFill>
            <a:prstDash val="solid"/>
          </a:ln>
        </p:spPr>
      </p:sp>
      <p:sp>
        <p:nvSpPr>
          <p:cNvPr id="81" name="Text 79"/>
          <p:cNvSpPr txBox="1"/>
          <p:nvPr/>
        </p:nvSpPr>
        <p:spPr>
          <a:xfrm>
            <a:off x="5623560" y="1379220"/>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5</a:t>
            </a:r>
            <a:endParaRPr lang="en-US" sz="700" dirty="0"/>
          </a:p>
        </p:txBody>
      </p:sp>
      <p:sp>
        <p:nvSpPr>
          <p:cNvPr id="82" name="Shape 80"/>
          <p:cNvSpPr/>
          <p:nvPr/>
        </p:nvSpPr>
        <p:spPr>
          <a:xfrm>
            <a:off x="5806440" y="1097280"/>
            <a:ext cx="2834640" cy="0"/>
          </a:xfrm>
          <a:prstGeom prst="line">
            <a:avLst/>
          </a:prstGeom>
          <a:noFill/>
          <a:ln w="6350">
            <a:solidFill>
              <a:srgbClr val="1E2E42"/>
            </a:solidFill>
            <a:prstDash val="solid"/>
          </a:ln>
        </p:spPr>
      </p:sp>
      <p:sp>
        <p:nvSpPr>
          <p:cNvPr id="83" name="Text 81"/>
          <p:cNvSpPr txBox="1"/>
          <p:nvPr/>
        </p:nvSpPr>
        <p:spPr>
          <a:xfrm>
            <a:off x="5623560" y="1024128"/>
            <a:ext cx="137160" cy="146304"/>
          </a:xfrm>
          <a:prstGeom prst="rect">
            <a:avLst/>
          </a:prstGeom>
          <a:noFill/>
          <a:ln/>
        </p:spPr>
        <p:txBody>
          <a:bodyPr wrap="square" lIns="0" tIns="0" rIns="0" bIns="0" rtlCol="0" anchor="t"/>
          <a:lstStyle/>
          <a:p>
            <a:pPr algn="r" indent="0" marL="0">
              <a:buNone/>
            </a:pPr>
            <a:r>
              <a:rPr lang="en-US" sz="700" dirty="0">
                <a:solidFill>
                  <a:srgbClr val="8C99A8"/>
                </a:solidFill>
                <a:latin typeface="Calibri" pitchFamily="34" charset="0"/>
                <a:ea typeface="Calibri" pitchFamily="34" charset="-122"/>
                <a:cs typeface="Calibri" pitchFamily="34" charset="-120"/>
              </a:rPr>
              <a:t>6</a:t>
            </a:r>
            <a:endParaRPr lang="en-US" sz="700" dirty="0"/>
          </a:p>
        </p:txBody>
      </p:sp>
      <p:sp>
        <p:nvSpPr>
          <p:cNvPr id="84" name="Shape 82"/>
          <p:cNvSpPr/>
          <p:nvPr/>
        </p:nvSpPr>
        <p:spPr>
          <a:xfrm>
            <a:off x="7223760" y="1097280"/>
            <a:ext cx="708660" cy="2130552"/>
          </a:xfrm>
          <a:prstGeom prst="rect">
            <a:avLst/>
          </a:prstGeom>
          <a:solidFill>
            <a:srgbClr val="16A085">
              <a:alpha val="15000"/>
            </a:srgbClr>
          </a:solidFill>
          <a:ln w="12700">
            <a:solidFill>
              <a:srgbClr val="16A085"/>
            </a:solidFill>
            <a:prstDash val="dash"/>
          </a:ln>
        </p:spPr>
      </p:sp>
      <p:sp>
        <p:nvSpPr>
          <p:cNvPr id="85" name="Shape 83"/>
          <p:cNvSpPr/>
          <p:nvPr/>
        </p:nvSpPr>
        <p:spPr>
          <a:xfrm rot="-2700000">
            <a:off x="5996325" y="1452372"/>
            <a:ext cx="2454870" cy="1420368"/>
          </a:xfrm>
          <a:prstGeom prst="ellipse">
            <a:avLst/>
          </a:prstGeom>
          <a:solidFill>
            <a:srgbClr val="E67E22">
              <a:alpha val="10000"/>
            </a:srgbClr>
          </a:solidFill>
          <a:ln w="22225">
            <a:solidFill>
              <a:srgbClr val="E67E22"/>
            </a:solidFill>
            <a:prstDash val="solid"/>
          </a:ln>
        </p:spPr>
      </p:sp>
      <p:sp>
        <p:nvSpPr>
          <p:cNvPr id="86" name="Shape 84"/>
          <p:cNvSpPr/>
          <p:nvPr/>
        </p:nvSpPr>
        <p:spPr>
          <a:xfrm rot="-5116130">
            <a:off x="6652257" y="1676953"/>
            <a:ext cx="1772926" cy="655568"/>
          </a:xfrm>
          <a:prstGeom prst="ellipse">
            <a:avLst/>
          </a:prstGeom>
          <a:solidFill>
            <a:srgbClr val="9B59B6">
              <a:alpha val="40000"/>
            </a:srgbClr>
          </a:solidFill>
          <a:ln w="22225">
            <a:solidFill>
              <a:srgbClr val="9B59B6"/>
            </a:solidFill>
            <a:prstDash val="solid"/>
          </a:ln>
        </p:spPr>
      </p:sp>
      <p:sp>
        <p:nvSpPr>
          <p:cNvPr id="87" name="Shape 85"/>
          <p:cNvSpPr/>
          <p:nvPr/>
        </p:nvSpPr>
        <p:spPr>
          <a:xfrm>
            <a:off x="7178040" y="2116836"/>
            <a:ext cx="91440" cy="91440"/>
          </a:xfrm>
          <a:prstGeom prst="ellipse">
            <a:avLst/>
          </a:prstGeom>
          <a:solidFill>
            <a:srgbClr val="E67E22"/>
          </a:solidFill>
          <a:ln w="12700">
            <a:solidFill>
              <a:srgbClr val="E67E22"/>
            </a:solidFill>
            <a:prstDash val="solid"/>
          </a:ln>
        </p:spPr>
      </p:sp>
      <p:sp>
        <p:nvSpPr>
          <p:cNvPr id="88" name="Shape 86"/>
          <p:cNvSpPr/>
          <p:nvPr/>
        </p:nvSpPr>
        <p:spPr>
          <a:xfrm>
            <a:off x="7493000" y="1959017"/>
            <a:ext cx="91440" cy="91440"/>
          </a:xfrm>
          <a:prstGeom prst="ellipse">
            <a:avLst/>
          </a:prstGeom>
          <a:solidFill>
            <a:srgbClr val="9B59B6"/>
          </a:solidFill>
          <a:ln w="12700">
            <a:solidFill>
              <a:srgbClr val="9B59B6"/>
            </a:solidFill>
            <a:prstDash val="solid"/>
          </a:ln>
        </p:spPr>
      </p:sp>
      <p:sp>
        <p:nvSpPr>
          <p:cNvPr id="89" name="Shape 87"/>
          <p:cNvSpPr/>
          <p:nvPr/>
        </p:nvSpPr>
        <p:spPr>
          <a:xfrm>
            <a:off x="5806440" y="3566160"/>
            <a:ext cx="109728" cy="109728"/>
          </a:xfrm>
          <a:prstGeom prst="ellipse">
            <a:avLst/>
          </a:prstGeom>
          <a:solidFill>
            <a:srgbClr val="E67E22">
              <a:alpha val="60000"/>
            </a:srgbClr>
          </a:solidFill>
          <a:ln w="15875">
            <a:solidFill>
              <a:srgbClr val="E67E22"/>
            </a:solidFill>
            <a:prstDash val="solid"/>
          </a:ln>
        </p:spPr>
      </p:sp>
      <p:sp>
        <p:nvSpPr>
          <p:cNvPr id="90" name="Text 88"/>
          <p:cNvSpPr txBox="1"/>
          <p:nvPr/>
        </p:nvSpPr>
        <p:spPr>
          <a:xfrm>
            <a:off x="5989320" y="3520440"/>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Prediction</a:t>
            </a:r>
            <a:endParaRPr lang="en-US" sz="1000" dirty="0"/>
          </a:p>
        </p:txBody>
      </p:sp>
      <p:sp>
        <p:nvSpPr>
          <p:cNvPr id="91" name="Shape 89"/>
          <p:cNvSpPr/>
          <p:nvPr/>
        </p:nvSpPr>
        <p:spPr>
          <a:xfrm>
            <a:off x="5806440" y="3785616"/>
            <a:ext cx="109728" cy="109728"/>
          </a:xfrm>
          <a:prstGeom prst="ellipse">
            <a:avLst/>
          </a:prstGeom>
          <a:solidFill>
            <a:srgbClr val="16A085">
              <a:alpha val="60000"/>
            </a:srgbClr>
          </a:solidFill>
          <a:ln w="15875">
            <a:solidFill>
              <a:srgbClr val="16A085"/>
            </a:solidFill>
            <a:prstDash val="solid"/>
          </a:ln>
        </p:spPr>
      </p:sp>
      <p:sp>
        <p:nvSpPr>
          <p:cNvPr id="92" name="Text 90"/>
          <p:cNvSpPr txBox="1"/>
          <p:nvPr/>
        </p:nvSpPr>
        <p:spPr>
          <a:xfrm>
            <a:off x="5989320" y="3739896"/>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Wall sensor: x = 5 ± 1 m (2σ)</a:t>
            </a:r>
            <a:endParaRPr lang="en-US" sz="1000" dirty="0"/>
          </a:p>
        </p:txBody>
      </p:sp>
      <p:sp>
        <p:nvSpPr>
          <p:cNvPr id="93" name="Shape 91"/>
          <p:cNvSpPr/>
          <p:nvPr/>
        </p:nvSpPr>
        <p:spPr>
          <a:xfrm>
            <a:off x="5806440" y="4005072"/>
            <a:ext cx="109728" cy="109728"/>
          </a:xfrm>
          <a:prstGeom prst="ellipse">
            <a:avLst/>
          </a:prstGeom>
          <a:solidFill>
            <a:srgbClr val="9B59B6">
              <a:alpha val="60000"/>
            </a:srgbClr>
          </a:solidFill>
          <a:ln w="15875">
            <a:solidFill>
              <a:srgbClr val="9B59B6"/>
            </a:solidFill>
            <a:prstDash val="solid"/>
          </a:ln>
        </p:spPr>
      </p:sp>
      <p:sp>
        <p:nvSpPr>
          <p:cNvPr id="94" name="Text 92"/>
          <p:cNvSpPr txBox="1"/>
          <p:nvPr/>
        </p:nvSpPr>
        <p:spPr>
          <a:xfrm>
            <a:off x="5989320" y="3959352"/>
            <a:ext cx="2377440" cy="201168"/>
          </a:xfrm>
          <a:prstGeom prst="rect">
            <a:avLst/>
          </a:prstGeom>
          <a:noFill/>
          <a:ln/>
        </p:spPr>
        <p:txBody>
          <a:bodyPr wrap="square" lIns="0" tIns="0" rIns="0" bIns="0" rtlCol="0" anchor="t"/>
          <a:lstStyle/>
          <a:p>
            <a:pPr indent="0" marL="0">
              <a:buNone/>
            </a:pPr>
            <a:r>
              <a:rPr lang="en-US" sz="1000" dirty="0">
                <a:solidFill>
                  <a:srgbClr val="C9D1DB"/>
                </a:solidFill>
                <a:latin typeface="Calibri" pitchFamily="34" charset="0"/>
                <a:ea typeface="Calibri" pitchFamily="34" charset="-122"/>
                <a:cs typeface="Calibri" pitchFamily="34" charset="-120"/>
              </a:rPr>
              <a:t>Updated estimate</a:t>
            </a:r>
            <a:endParaRPr lang="en-US" sz="10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Tuning Q and R: Whom Do You Trust?</a:t>
            </a:r>
            <a:endParaRPr lang="en-US" sz="2400" dirty="0"/>
          </a:p>
        </p:txBody>
      </p:sp>
      <p:sp>
        <p:nvSpPr>
          <p:cNvPr id="3" name="Shape 1"/>
          <p:cNvSpPr/>
          <p:nvPr/>
        </p:nvSpPr>
        <p:spPr>
          <a:xfrm>
            <a:off x="502920" y="1097280"/>
            <a:ext cx="3977640" cy="1188720"/>
          </a:xfrm>
          <a:prstGeom prst="roundRect">
            <a:avLst>
              <a:gd name="adj" fmla="val 6154"/>
            </a:avLst>
          </a:prstGeom>
          <a:solidFill>
            <a:srgbClr val="16263A"/>
          </a:solidFill>
          <a:ln w="12700">
            <a:solidFill>
              <a:srgbClr val="16263A"/>
            </a:solidFill>
            <a:prstDash val="solid"/>
          </a:ln>
        </p:spPr>
      </p:sp>
      <p:sp>
        <p:nvSpPr>
          <p:cNvPr id="4" name="Text 2"/>
          <p:cNvSpPr txBox="1"/>
          <p:nvPr/>
        </p:nvSpPr>
        <p:spPr>
          <a:xfrm>
            <a:off x="685800" y="1207008"/>
            <a:ext cx="3657600" cy="256032"/>
          </a:xfrm>
          <a:prstGeom prst="rect">
            <a:avLst/>
          </a:prstGeom>
          <a:noFill/>
          <a:ln/>
        </p:spPr>
        <p:txBody>
          <a:bodyPr wrap="square" lIns="0" tIns="0" rIns="0" bIns="0" rtlCol="0" anchor="t"/>
          <a:lstStyle/>
          <a:p>
            <a:pPr indent="0" marL="0">
              <a:buNone/>
            </a:pPr>
            <a:r>
              <a:rPr lang="en-US" sz="1300" b="1" dirty="0">
                <a:solidFill>
                  <a:srgbClr val="16A085"/>
                </a:solidFill>
                <a:latin typeface="Calibri" pitchFamily="34" charset="0"/>
                <a:ea typeface="Calibri" pitchFamily="34" charset="-122"/>
                <a:cs typeface="Calibri" pitchFamily="34" charset="-120"/>
              </a:rPr>
              <a:t>Small Q: trust the motion model</a:t>
            </a:r>
            <a:endParaRPr lang="en-US" sz="1300" dirty="0"/>
          </a:p>
        </p:txBody>
      </p:sp>
      <p:sp>
        <p:nvSpPr>
          <p:cNvPr id="5" name="Text 3"/>
          <p:cNvSpPr txBox="1"/>
          <p:nvPr/>
        </p:nvSpPr>
        <p:spPr>
          <a:xfrm>
            <a:off x="685800" y="1508760"/>
            <a:ext cx="3657600" cy="73152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Smooth estimate that ignores noise, but slow to notice when the motion really changes.</a:t>
            </a:r>
            <a:endParaRPr lang="en-US" sz="1150" dirty="0"/>
          </a:p>
        </p:txBody>
      </p:sp>
      <p:sp>
        <p:nvSpPr>
          <p:cNvPr id="6" name="Shape 4"/>
          <p:cNvSpPr/>
          <p:nvPr/>
        </p:nvSpPr>
        <p:spPr>
          <a:xfrm>
            <a:off x="4663440" y="1097280"/>
            <a:ext cx="3977640" cy="1188720"/>
          </a:xfrm>
          <a:prstGeom prst="roundRect">
            <a:avLst>
              <a:gd name="adj" fmla="val 6154"/>
            </a:avLst>
          </a:prstGeom>
          <a:solidFill>
            <a:srgbClr val="16263A"/>
          </a:solidFill>
          <a:ln w="12700">
            <a:solidFill>
              <a:srgbClr val="16263A"/>
            </a:solidFill>
            <a:prstDash val="solid"/>
          </a:ln>
        </p:spPr>
      </p:sp>
      <p:sp>
        <p:nvSpPr>
          <p:cNvPr id="7" name="Text 5"/>
          <p:cNvSpPr txBox="1"/>
          <p:nvPr/>
        </p:nvSpPr>
        <p:spPr>
          <a:xfrm>
            <a:off x="4846320" y="1207008"/>
            <a:ext cx="3657600" cy="256032"/>
          </a:xfrm>
          <a:prstGeom prst="rect">
            <a:avLst/>
          </a:prstGeom>
          <a:noFill/>
          <a:ln/>
        </p:spPr>
        <p:txBody>
          <a:bodyPr wrap="square" lIns="0" tIns="0" rIns="0" bIns="0" rtlCol="0" anchor="t"/>
          <a:lstStyle/>
          <a:p>
            <a:pPr indent="0" marL="0">
              <a:buNone/>
            </a:pPr>
            <a:r>
              <a:rPr lang="en-US" sz="1300" b="1" dirty="0">
                <a:solidFill>
                  <a:srgbClr val="E67E22"/>
                </a:solidFill>
                <a:latin typeface="Calibri" pitchFamily="34" charset="0"/>
                <a:ea typeface="Calibri" pitchFamily="34" charset="-122"/>
                <a:cs typeface="Calibri" pitchFamily="34" charset="-120"/>
              </a:rPr>
              <a:t>Large Q: distrust the model</a:t>
            </a:r>
            <a:endParaRPr lang="en-US" sz="1300" dirty="0"/>
          </a:p>
        </p:txBody>
      </p:sp>
      <p:sp>
        <p:nvSpPr>
          <p:cNvPr id="8" name="Text 6"/>
          <p:cNvSpPr txBox="1"/>
          <p:nvPr/>
        </p:nvSpPr>
        <p:spPr>
          <a:xfrm>
            <a:off x="4846320" y="1508760"/>
            <a:ext cx="3657600" cy="73152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Follows the measurements closely, noise and all.</a:t>
            </a:r>
            <a:endParaRPr lang="en-US" sz="1150" dirty="0"/>
          </a:p>
        </p:txBody>
      </p:sp>
      <p:sp>
        <p:nvSpPr>
          <p:cNvPr id="9" name="Shape 7"/>
          <p:cNvSpPr/>
          <p:nvPr/>
        </p:nvSpPr>
        <p:spPr>
          <a:xfrm>
            <a:off x="502920" y="2423160"/>
            <a:ext cx="3977640" cy="1188720"/>
          </a:xfrm>
          <a:prstGeom prst="roundRect">
            <a:avLst>
              <a:gd name="adj" fmla="val 6154"/>
            </a:avLst>
          </a:prstGeom>
          <a:solidFill>
            <a:srgbClr val="16263A"/>
          </a:solidFill>
          <a:ln w="12700">
            <a:solidFill>
              <a:srgbClr val="16263A"/>
            </a:solidFill>
            <a:prstDash val="solid"/>
          </a:ln>
        </p:spPr>
      </p:sp>
      <p:sp>
        <p:nvSpPr>
          <p:cNvPr id="10" name="Text 8"/>
          <p:cNvSpPr txBox="1"/>
          <p:nvPr/>
        </p:nvSpPr>
        <p:spPr>
          <a:xfrm>
            <a:off x="685800" y="2532888"/>
            <a:ext cx="3657600" cy="256032"/>
          </a:xfrm>
          <a:prstGeom prst="rect">
            <a:avLst/>
          </a:prstGeom>
          <a:noFill/>
          <a:ln/>
        </p:spPr>
        <p:txBody>
          <a:bodyPr wrap="square" lIns="0" tIns="0" rIns="0" bIns="0" rtlCol="0" anchor="t"/>
          <a:lstStyle/>
          <a:p>
            <a:pPr indent="0" marL="0">
              <a:buNone/>
            </a:pPr>
            <a:r>
              <a:rPr lang="en-US" sz="1300" b="1" dirty="0">
                <a:solidFill>
                  <a:srgbClr val="16A085"/>
                </a:solidFill>
                <a:latin typeface="Calibri" pitchFamily="34" charset="0"/>
                <a:ea typeface="Calibri" pitchFamily="34" charset="-122"/>
                <a:cs typeface="Calibri" pitchFamily="34" charset="-120"/>
              </a:rPr>
              <a:t>Small R: trust the sensor</a:t>
            </a:r>
            <a:endParaRPr lang="en-US" sz="1300" dirty="0"/>
          </a:p>
        </p:txBody>
      </p:sp>
      <p:sp>
        <p:nvSpPr>
          <p:cNvPr id="11" name="Text 9"/>
          <p:cNvSpPr txBox="1"/>
          <p:nvPr/>
        </p:nvSpPr>
        <p:spPr>
          <a:xfrm>
            <a:off x="685800" y="2834640"/>
            <a:ext cx="3657600" cy="73152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Each reading pulls the estimate hard (K close to 1).</a:t>
            </a:r>
            <a:endParaRPr lang="en-US" sz="1150" dirty="0"/>
          </a:p>
        </p:txBody>
      </p:sp>
      <p:sp>
        <p:nvSpPr>
          <p:cNvPr id="12" name="Shape 10"/>
          <p:cNvSpPr/>
          <p:nvPr/>
        </p:nvSpPr>
        <p:spPr>
          <a:xfrm>
            <a:off x="4663440" y="2423160"/>
            <a:ext cx="3977640" cy="1188720"/>
          </a:xfrm>
          <a:prstGeom prst="roundRect">
            <a:avLst>
              <a:gd name="adj" fmla="val 6154"/>
            </a:avLst>
          </a:prstGeom>
          <a:solidFill>
            <a:srgbClr val="16263A"/>
          </a:solidFill>
          <a:ln w="12700">
            <a:solidFill>
              <a:srgbClr val="16263A"/>
            </a:solidFill>
            <a:prstDash val="solid"/>
          </a:ln>
        </p:spPr>
      </p:sp>
      <p:sp>
        <p:nvSpPr>
          <p:cNvPr id="13" name="Text 11"/>
          <p:cNvSpPr txBox="1"/>
          <p:nvPr/>
        </p:nvSpPr>
        <p:spPr>
          <a:xfrm>
            <a:off x="4846320" y="2532888"/>
            <a:ext cx="3657600" cy="256032"/>
          </a:xfrm>
          <a:prstGeom prst="rect">
            <a:avLst/>
          </a:prstGeom>
          <a:noFill/>
          <a:ln/>
        </p:spPr>
        <p:txBody>
          <a:bodyPr wrap="square" lIns="0" tIns="0" rIns="0" bIns="0" rtlCol="0" anchor="t"/>
          <a:lstStyle/>
          <a:p>
            <a:pPr indent="0" marL="0">
              <a:buNone/>
            </a:pPr>
            <a:r>
              <a:rPr lang="en-US" sz="1300" b="1" dirty="0">
                <a:solidFill>
                  <a:srgbClr val="E67E22"/>
                </a:solidFill>
                <a:latin typeface="Calibri" pitchFamily="34" charset="0"/>
                <a:ea typeface="Calibri" pitchFamily="34" charset="-122"/>
                <a:cs typeface="Calibri" pitchFamily="34" charset="-120"/>
              </a:rPr>
              <a:t>Large R: distrust the sensor</a:t>
            </a:r>
            <a:endParaRPr lang="en-US" sz="1300" dirty="0"/>
          </a:p>
        </p:txBody>
      </p:sp>
      <p:sp>
        <p:nvSpPr>
          <p:cNvPr id="14" name="Text 12"/>
          <p:cNvSpPr txBox="1"/>
          <p:nvPr/>
        </p:nvSpPr>
        <p:spPr>
          <a:xfrm>
            <a:off x="4846320" y="2834640"/>
            <a:ext cx="3657600" cy="731520"/>
          </a:xfrm>
          <a:prstGeom prst="rect">
            <a:avLst/>
          </a:prstGeom>
          <a:noFill/>
          <a:ln/>
        </p:spPr>
        <p:txBody>
          <a:bodyPr wrap="square" lIns="0" tIns="0" rIns="0" bIns="0" rtlCol="0" anchor="t"/>
          <a:lstStyle/>
          <a:p>
            <a:pPr indent="0" marL="0">
              <a:buNone/>
            </a:pPr>
            <a:r>
              <a:rPr lang="en-US" sz="1150" dirty="0">
                <a:solidFill>
                  <a:srgbClr val="C9D1DB"/>
                </a:solidFill>
                <a:latin typeface="Calibri" pitchFamily="34" charset="0"/>
                <a:ea typeface="Calibri" pitchFamily="34" charset="-122"/>
                <a:cs typeface="Calibri" pitchFamily="34" charset="-120"/>
              </a:rPr>
              <a:t>Readings barely move the estimate (K close to 0).</a:t>
            </a:r>
            <a:endParaRPr lang="en-US" sz="1150" dirty="0"/>
          </a:p>
        </p:txBody>
      </p:sp>
      <p:sp>
        <p:nvSpPr>
          <p:cNvPr id="15" name="Shape 13"/>
          <p:cNvSpPr/>
          <p:nvPr/>
        </p:nvSpPr>
        <p:spPr>
          <a:xfrm>
            <a:off x="502920" y="3749040"/>
            <a:ext cx="8138160" cy="777240"/>
          </a:xfrm>
          <a:prstGeom prst="roundRect">
            <a:avLst>
              <a:gd name="adj" fmla="val 9412"/>
            </a:avLst>
          </a:prstGeom>
          <a:solidFill>
            <a:srgbClr val="16263A"/>
          </a:solidFill>
          <a:ln w="12700">
            <a:solidFill>
              <a:srgbClr val="2A3A4E"/>
            </a:solidFill>
            <a:prstDash val="solid"/>
          </a:ln>
        </p:spPr>
      </p:sp>
      <p:sp>
        <p:nvSpPr>
          <p:cNvPr id="16" name="Text 14"/>
          <p:cNvSpPr txBox="1"/>
          <p:nvPr/>
        </p:nvSpPr>
        <p:spPr>
          <a:xfrm>
            <a:off x="685800" y="3840480"/>
            <a:ext cx="7772400" cy="64008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Lab 3, Activity 1: </a:t>
            </a:r>
            <a:pPr indent="0" marL="0">
              <a:buNone/>
            </a:pPr>
            <a:r>
              <a:rPr lang="en-US" sz="1150" dirty="0">
                <a:solidFill>
                  <a:srgbClr val="C9D1DB"/>
                </a:solidFill>
                <a:latin typeface="Calibri" pitchFamily="34" charset="0"/>
                <a:ea typeface="Calibri" pitchFamily="34" charset="-122"/>
                <a:cs typeface="Calibri" pitchFamily="34" charset="-120"/>
              </a:rPr>
              <a:t>on a steady train a small Q works best. On a train that stops at a station, the same small Q makes the filter overshoot the stop for many steps. There is no single best Q: it depends on how the robot really moves.</a:t>
            </a:r>
            <a:endParaRPr lang="en-US" sz="115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The Uncertainty Sawtooth</a:t>
            </a:r>
            <a:endParaRPr lang="en-US" sz="2400" dirty="0"/>
          </a:p>
        </p:txBody>
      </p:sp>
      <p:pic>
        <p:nvPicPr>
          <p:cNvPr id="3" name="Image 0" descr="C:\Users\xion\AppData\Local\Temp\claude\d--prorfolio-source-portfolio-source\a0e35da0-4b5a-4408-8426-d30cd7a097a8\scratchpad\slides\assets\sawtooth.png">    </p:cNvPr>
          <p:cNvPicPr>
            <a:picLocks noChangeAspect="1"/>
          </p:cNvPicPr>
          <p:nvPr/>
        </p:nvPicPr>
        <p:blipFill>
          <a:blip r:embed="rId1"/>
          <a:stretch>
            <a:fillRect/>
          </a:stretch>
        </p:blipFill>
        <p:spPr>
          <a:xfrm>
            <a:off x="502920" y="1143000"/>
            <a:ext cx="4480560" cy="2519453"/>
          </a:xfrm>
          <a:prstGeom prst="rect">
            <a:avLst/>
          </a:prstGeom>
        </p:spPr>
      </p:pic>
      <p:sp>
        <p:nvSpPr>
          <p:cNvPr id="4" name="Text 1"/>
          <p:cNvSpPr txBox="1"/>
          <p:nvPr/>
        </p:nvSpPr>
        <p:spPr>
          <a:xfrm>
            <a:off x="5257800" y="1097280"/>
            <a:ext cx="3383280" cy="237744"/>
          </a:xfrm>
          <a:prstGeom prst="rect">
            <a:avLst/>
          </a:prstGeom>
          <a:noFill/>
          <a:ln/>
        </p:spPr>
        <p:txBody>
          <a:bodyPr wrap="square" lIns="0" tIns="0" rIns="0" bIns="0" rtlCol="0" anchor="t"/>
          <a:lstStyle/>
          <a:p>
            <a:pPr indent="0" marL="0">
              <a:buNone/>
            </a:pPr>
            <a:r>
              <a:rPr lang="en-US" sz="1250" b="1" dirty="0">
                <a:solidFill>
                  <a:srgbClr val="E67E22"/>
                </a:solidFill>
                <a:latin typeface="Calibri" pitchFamily="34" charset="0"/>
                <a:ea typeface="Calibri" pitchFamily="34" charset="-122"/>
                <a:cs typeface="Calibri" pitchFamily="34" charset="-120"/>
              </a:rPr>
              <a:t>Predict: P climbs</a:t>
            </a:r>
            <a:endParaRPr lang="en-US" sz="1250" dirty="0"/>
          </a:p>
        </p:txBody>
      </p:sp>
      <p:sp>
        <p:nvSpPr>
          <p:cNvPr id="5" name="Text 2"/>
          <p:cNvSpPr txBox="1"/>
          <p:nvPr/>
        </p:nvSpPr>
        <p:spPr>
          <a:xfrm>
            <a:off x="5257800" y="1344168"/>
            <a:ext cx="3383280" cy="54864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Each step adds Q: odometry's error builds up between GPS fixes.</a:t>
            </a:r>
            <a:endParaRPr lang="en-US" sz="1100" dirty="0"/>
          </a:p>
        </p:txBody>
      </p:sp>
      <p:sp>
        <p:nvSpPr>
          <p:cNvPr id="6" name="Text 3"/>
          <p:cNvSpPr txBox="1"/>
          <p:nvPr/>
        </p:nvSpPr>
        <p:spPr>
          <a:xfrm>
            <a:off x="5257800" y="1965960"/>
            <a:ext cx="3383280" cy="237744"/>
          </a:xfrm>
          <a:prstGeom prst="rect">
            <a:avLst/>
          </a:prstGeom>
          <a:noFill/>
          <a:ln/>
        </p:spPr>
        <p:txBody>
          <a:bodyPr wrap="square" lIns="0" tIns="0" rIns="0" bIns="0" rtlCol="0" anchor="t"/>
          <a:lstStyle/>
          <a:p>
            <a:pPr indent="0" marL="0">
              <a:buNone/>
            </a:pPr>
            <a:r>
              <a:rPr lang="en-US" sz="1250" b="1" dirty="0">
                <a:solidFill>
                  <a:srgbClr val="16A085"/>
                </a:solidFill>
                <a:latin typeface="Calibri" pitchFamily="34" charset="0"/>
                <a:ea typeface="Calibri" pitchFamily="34" charset="-122"/>
                <a:cs typeface="Calibri" pitchFamily="34" charset="-120"/>
              </a:rPr>
              <a:t>GPS update: P drops</a:t>
            </a:r>
            <a:endParaRPr lang="en-US" sz="1250" dirty="0"/>
          </a:p>
        </p:txBody>
      </p:sp>
      <p:sp>
        <p:nvSpPr>
          <p:cNvPr id="7" name="Text 4"/>
          <p:cNvSpPr txBox="1"/>
          <p:nvPr/>
        </p:nvSpPr>
        <p:spPr>
          <a:xfrm>
            <a:off x="5257800" y="2212848"/>
            <a:ext cx="3383280" cy="54864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Each GPS fix pulls the uncertainty down at once: the sharp drops.</a:t>
            </a:r>
            <a:endParaRPr lang="en-US" sz="1100" dirty="0"/>
          </a:p>
        </p:txBody>
      </p:sp>
      <p:sp>
        <p:nvSpPr>
          <p:cNvPr id="8" name="Text 5"/>
          <p:cNvSpPr txBox="1"/>
          <p:nvPr/>
        </p:nvSpPr>
        <p:spPr>
          <a:xfrm>
            <a:off x="5257800" y="2834640"/>
            <a:ext cx="3383280" cy="237744"/>
          </a:xfrm>
          <a:prstGeom prst="rect">
            <a:avLst/>
          </a:prstGeom>
          <a:noFill/>
          <a:ln/>
        </p:spPr>
        <p:txBody>
          <a:bodyPr wrap="square" lIns="0" tIns="0" rIns="0" bIns="0" rtlCol="0" anchor="t"/>
          <a:lstStyle/>
          <a:p>
            <a:pPr indent="0" marL="0">
              <a:buNone/>
            </a:pPr>
            <a:r>
              <a:rPr lang="en-US" sz="1250" b="1" dirty="0">
                <a:solidFill>
                  <a:srgbClr val="3498DB"/>
                </a:solidFill>
                <a:latin typeface="Calibri" pitchFamily="34" charset="0"/>
                <a:ea typeface="Calibri" pitchFamily="34" charset="-122"/>
                <a:cs typeface="Calibri" pitchFamily="34" charset="-120"/>
              </a:rPr>
              <a:t>It settles</a:t>
            </a:r>
            <a:endParaRPr lang="en-US" sz="1250" dirty="0"/>
          </a:p>
        </p:txBody>
      </p:sp>
      <p:sp>
        <p:nvSpPr>
          <p:cNvPr id="9" name="Text 6"/>
          <p:cNvSpPr txBox="1"/>
          <p:nvPr/>
        </p:nvSpPr>
        <p:spPr>
          <a:xfrm>
            <a:off x="5257800" y="3081528"/>
            <a:ext cx="3383280" cy="548640"/>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After a few fixes, every tooth has the same peak and low. They depend only on Q, R and the GPS rate.</a:t>
            </a:r>
            <a:endParaRPr lang="en-US" sz="1100" dirty="0"/>
          </a:p>
        </p:txBody>
      </p:sp>
      <p:sp>
        <p:nvSpPr>
          <p:cNvPr id="10" name="Shape 7"/>
          <p:cNvSpPr/>
          <p:nvPr/>
        </p:nvSpPr>
        <p:spPr>
          <a:xfrm>
            <a:off x="5257800" y="3794760"/>
            <a:ext cx="3383280" cy="731520"/>
          </a:xfrm>
          <a:prstGeom prst="roundRect">
            <a:avLst>
              <a:gd name="adj" fmla="val 10000"/>
            </a:avLst>
          </a:prstGeom>
          <a:solidFill>
            <a:srgbClr val="16263A"/>
          </a:solidFill>
          <a:ln w="12700">
            <a:solidFill>
              <a:srgbClr val="2A3A4E"/>
            </a:solidFill>
            <a:prstDash val="solid"/>
          </a:ln>
        </p:spPr>
      </p:sp>
      <p:sp>
        <p:nvSpPr>
          <p:cNvPr id="11" name="Text 8"/>
          <p:cNvSpPr txBox="1"/>
          <p:nvPr/>
        </p:nvSpPr>
        <p:spPr>
          <a:xfrm>
            <a:off x="5394960" y="3886200"/>
            <a:ext cx="3154680" cy="5943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Lab connection: </a:t>
            </a:r>
            <a:pPr indent="0" marL="0">
              <a:buNone/>
            </a:pPr>
            <a:r>
              <a:rPr lang="en-US" sz="1100" dirty="0">
                <a:solidFill>
                  <a:srgbClr val="C9D1DB"/>
                </a:solidFill>
                <a:latin typeface="Calibri" pitchFamily="34" charset="0"/>
                <a:ea typeface="Calibri" pitchFamily="34" charset="-122"/>
                <a:cs typeface="Calibri" pitchFamily="34" charset="-120"/>
              </a:rPr>
              <a:t>you will plot this in Activity 3 and explain its shape.</a:t>
            </a:r>
            <a:endParaRPr lang="en-US" sz="11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From Theory to Your Robot: Lab 3</a:t>
            </a:r>
            <a:endParaRPr lang="en-US" sz="2400" dirty="0"/>
          </a:p>
        </p:txBody>
      </p:sp>
      <p:sp>
        <p:nvSpPr>
          <p:cNvPr id="3" name="Shape 1"/>
          <p:cNvSpPr/>
          <p:nvPr/>
        </p:nvSpPr>
        <p:spPr>
          <a:xfrm>
            <a:off x="502920" y="1097280"/>
            <a:ext cx="2606040" cy="2148840"/>
          </a:xfrm>
          <a:prstGeom prst="roundRect">
            <a:avLst>
              <a:gd name="adj" fmla="val 3404"/>
            </a:avLst>
          </a:prstGeom>
          <a:solidFill>
            <a:srgbClr val="16263A"/>
          </a:solidFill>
          <a:ln w="12700">
            <a:solidFill>
              <a:srgbClr val="16263A"/>
            </a:solidFill>
            <a:prstDash val="solid"/>
          </a:ln>
        </p:spPr>
      </p:sp>
      <p:pic>
        <p:nvPicPr>
          <p:cNvPr id="4" name="Image 0" descr="C:\Users\xion\AppData\Local\Temp\claude\d--prorfolio-source-portfolio-source\a0e35da0-4b5a-4408-8426-d30cd7a097a8\scratchpad\slides\assets\icon-calculator.png">    </p:cNvPr>
          <p:cNvPicPr>
            <a:picLocks noChangeAspect="1"/>
          </p:cNvPicPr>
          <p:nvPr/>
        </p:nvPicPr>
        <p:blipFill>
          <a:blip r:embed="rId1"/>
          <a:stretch>
            <a:fillRect/>
          </a:stretch>
        </p:blipFill>
        <p:spPr>
          <a:xfrm>
            <a:off x="1636776" y="1234440"/>
            <a:ext cx="338328" cy="457200"/>
          </a:xfrm>
          <a:prstGeom prst="rect">
            <a:avLst/>
          </a:prstGeom>
        </p:spPr>
      </p:pic>
      <p:sp>
        <p:nvSpPr>
          <p:cNvPr id="5" name="Text 2"/>
          <p:cNvSpPr txBox="1"/>
          <p:nvPr/>
        </p:nvSpPr>
        <p:spPr>
          <a:xfrm>
            <a:off x="640080" y="1810512"/>
            <a:ext cx="2331720" cy="256032"/>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Activity 1: Pure Math</a:t>
            </a:r>
            <a:endParaRPr lang="en-US" sz="1300" dirty="0"/>
          </a:p>
        </p:txBody>
      </p:sp>
      <p:sp>
        <p:nvSpPr>
          <p:cNvPr id="6" name="Text 3"/>
          <p:cNvSpPr txBox="1"/>
          <p:nvPr/>
        </p:nvSpPr>
        <p:spPr>
          <a:xfrm>
            <a:off x="685800" y="2103120"/>
            <a:ext cx="2240280" cy="1051560"/>
          </a:xfrm>
          <a:prstGeom prst="rect">
            <a:avLst/>
          </a:prstGeom>
          <a:noFill/>
          <a:ln/>
        </p:spPr>
        <p:txBody>
          <a:bodyPr wrap="square" lIns="0" tIns="0" rIns="0" bIns="0" rtlCol="0" anchor="t"/>
          <a:lstStyle/>
          <a:p>
            <a:pPr algn="ctr" indent="0" marL="0">
              <a:buNone/>
            </a:pPr>
            <a:r>
              <a:rPr lang="en-US" sz="1100" dirty="0">
                <a:solidFill>
                  <a:srgbClr val="C9D1DB"/>
                </a:solidFill>
                <a:latin typeface="Calibri" pitchFamily="34" charset="0"/>
                <a:ea typeface="Calibri" pitchFamily="34" charset="-122"/>
                <a:cs typeface="Calibri" pitchFamily="34" charset="-120"/>
              </a:rPr>
              <a:t>1D Kalman filter in NumPy: the predict and update equations, on a train.</a:t>
            </a:r>
            <a:endParaRPr lang="en-US" sz="1100" dirty="0"/>
          </a:p>
        </p:txBody>
      </p:sp>
      <p:sp>
        <p:nvSpPr>
          <p:cNvPr id="7" name="Shape 4"/>
          <p:cNvSpPr/>
          <p:nvPr/>
        </p:nvSpPr>
        <p:spPr>
          <a:xfrm>
            <a:off x="3273552" y="1097280"/>
            <a:ext cx="2606040" cy="2148840"/>
          </a:xfrm>
          <a:prstGeom prst="roundRect">
            <a:avLst>
              <a:gd name="adj" fmla="val 3404"/>
            </a:avLst>
          </a:prstGeom>
          <a:solidFill>
            <a:srgbClr val="16263A"/>
          </a:solidFill>
          <a:ln w="12700">
            <a:solidFill>
              <a:srgbClr val="16263A"/>
            </a:solidFill>
            <a:prstDash val="solid"/>
          </a:ln>
        </p:spPr>
      </p:sp>
      <p:pic>
        <p:nvPicPr>
          <p:cNvPr id="8" name="Image 1" descr="C:\Users\xion\AppData\Local\Temp\claude\d--prorfolio-source-portfolio-source\a0e35da0-4b5a-4408-8426-d30cd7a097a8\scratchpad\slides\assets\icon-robot.png">    </p:cNvPr>
          <p:cNvPicPr>
            <a:picLocks noChangeAspect="1"/>
          </p:cNvPicPr>
          <p:nvPr/>
        </p:nvPicPr>
        <p:blipFill>
          <a:blip r:embed="rId2"/>
          <a:stretch>
            <a:fillRect/>
          </a:stretch>
        </p:blipFill>
        <p:spPr>
          <a:xfrm>
            <a:off x="4293108" y="1234440"/>
            <a:ext cx="566928" cy="457200"/>
          </a:xfrm>
          <a:prstGeom prst="rect">
            <a:avLst/>
          </a:prstGeom>
        </p:spPr>
      </p:pic>
      <p:sp>
        <p:nvSpPr>
          <p:cNvPr id="9" name="Text 5"/>
          <p:cNvSpPr txBox="1"/>
          <p:nvPr/>
        </p:nvSpPr>
        <p:spPr>
          <a:xfrm>
            <a:off x="3410712" y="1810512"/>
            <a:ext cx="2331720" cy="256032"/>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Activity 2: The Robot</a:t>
            </a:r>
            <a:endParaRPr lang="en-US" sz="1300" dirty="0"/>
          </a:p>
        </p:txBody>
      </p:sp>
      <p:sp>
        <p:nvSpPr>
          <p:cNvPr id="10" name="Text 6"/>
          <p:cNvSpPr txBox="1"/>
          <p:nvPr/>
        </p:nvSpPr>
        <p:spPr>
          <a:xfrm>
            <a:off x="3456432" y="2103120"/>
            <a:ext cx="2240280" cy="1051560"/>
          </a:xfrm>
          <a:prstGeom prst="rect">
            <a:avLst/>
          </a:prstGeom>
          <a:noFill/>
          <a:ln/>
        </p:spPr>
        <p:txBody>
          <a:bodyPr wrap="square" lIns="0" tIns="0" rIns="0" bIns="0" rtlCol="0" anchor="t"/>
          <a:lstStyle/>
          <a:p>
            <a:pPr algn="ctr" indent="0" marL="0">
              <a:buNone/>
            </a:pPr>
            <a:r>
              <a:rPr lang="en-US" sz="1100" dirty="0">
                <a:solidFill>
                  <a:srgbClr val="C9D1DB"/>
                </a:solidFill>
                <a:latin typeface="Calibri" pitchFamily="34" charset="0"/>
                <a:ea typeface="Calibri" pitchFamily="34" charset="-122"/>
                <a:cs typeface="Calibri" pitchFamily="34" charset="-120"/>
              </a:rPr>
              <a:t>2D Kalman filter on the R2D2 robot in PyBullet, tracking an L-shaped path.</a:t>
            </a:r>
            <a:endParaRPr lang="en-US" sz="1100" dirty="0"/>
          </a:p>
        </p:txBody>
      </p:sp>
      <p:sp>
        <p:nvSpPr>
          <p:cNvPr id="11" name="Shape 7"/>
          <p:cNvSpPr/>
          <p:nvPr/>
        </p:nvSpPr>
        <p:spPr>
          <a:xfrm>
            <a:off x="6035040" y="1097280"/>
            <a:ext cx="2606040" cy="2148840"/>
          </a:xfrm>
          <a:prstGeom prst="roundRect">
            <a:avLst>
              <a:gd name="adj" fmla="val 3404"/>
            </a:avLst>
          </a:prstGeom>
          <a:solidFill>
            <a:srgbClr val="16263A"/>
          </a:solidFill>
          <a:ln w="12700">
            <a:solidFill>
              <a:srgbClr val="16263A"/>
            </a:solidFill>
            <a:prstDash val="solid"/>
          </a:ln>
        </p:spPr>
      </p:sp>
      <p:pic>
        <p:nvPicPr>
          <p:cNvPr id="12" name="Image 2" descr="C:\Users\xion\AppData\Local\Temp\claude\d--prorfolio-source-portfolio-source\a0e35da0-4b5a-4408-8426-d30cd7a097a8\scratchpad\slides\assets\icon-dish.png">    </p:cNvPr>
          <p:cNvPicPr>
            <a:picLocks noChangeAspect="1"/>
          </p:cNvPicPr>
          <p:nvPr/>
        </p:nvPicPr>
        <p:blipFill>
          <a:blip r:embed="rId3"/>
          <a:stretch>
            <a:fillRect/>
          </a:stretch>
        </p:blipFill>
        <p:spPr>
          <a:xfrm>
            <a:off x="7109460" y="1234440"/>
            <a:ext cx="457200" cy="457200"/>
          </a:xfrm>
          <a:prstGeom prst="rect">
            <a:avLst/>
          </a:prstGeom>
        </p:spPr>
      </p:pic>
      <p:sp>
        <p:nvSpPr>
          <p:cNvPr id="13" name="Text 8"/>
          <p:cNvSpPr txBox="1"/>
          <p:nvPr/>
        </p:nvSpPr>
        <p:spPr>
          <a:xfrm>
            <a:off x="6172200" y="1810512"/>
            <a:ext cx="2331720" cy="256032"/>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Activity 3: Sensor Fusion</a:t>
            </a:r>
            <a:endParaRPr lang="en-US" sz="1300" dirty="0"/>
          </a:p>
        </p:txBody>
      </p:sp>
      <p:sp>
        <p:nvSpPr>
          <p:cNvPr id="14" name="Text 9"/>
          <p:cNvSpPr txBox="1"/>
          <p:nvPr/>
        </p:nvSpPr>
        <p:spPr>
          <a:xfrm>
            <a:off x="6217920" y="2103120"/>
            <a:ext cx="2240280" cy="1051560"/>
          </a:xfrm>
          <a:prstGeom prst="rect">
            <a:avLst/>
          </a:prstGeom>
          <a:noFill/>
          <a:ln/>
        </p:spPr>
        <p:txBody>
          <a:bodyPr wrap="square" lIns="0" tIns="0" rIns="0" bIns="0" rtlCol="0" anchor="t"/>
          <a:lstStyle/>
          <a:p>
            <a:pPr algn="ctr" indent="0" marL="0">
              <a:buNone/>
            </a:pPr>
            <a:r>
              <a:rPr lang="en-US" sz="1100" dirty="0">
                <a:solidFill>
                  <a:srgbClr val="C9D1DB"/>
                </a:solidFill>
                <a:latin typeface="Calibri" pitchFamily="34" charset="0"/>
                <a:ea typeface="Calibri" pitchFamily="34" charset="-122"/>
                <a:cs typeface="Calibri" pitchFamily="34" charset="-120"/>
              </a:rPr>
              <a:t>Compare odometry, GPS, the gated reset and the Kalman filter, and explain the sawtooth.</a:t>
            </a:r>
            <a:endParaRPr lang="en-US" sz="1100" dirty="0"/>
          </a:p>
        </p:txBody>
      </p:sp>
      <p:sp>
        <p:nvSpPr>
          <p:cNvPr id="15" name="Shape 10"/>
          <p:cNvSpPr/>
          <p:nvPr/>
        </p:nvSpPr>
        <p:spPr>
          <a:xfrm>
            <a:off x="502920" y="3474720"/>
            <a:ext cx="8138160" cy="1005840"/>
          </a:xfrm>
          <a:prstGeom prst="roundRect">
            <a:avLst>
              <a:gd name="adj" fmla="val 7273"/>
            </a:avLst>
          </a:prstGeom>
          <a:solidFill>
            <a:srgbClr val="16263A"/>
          </a:solidFill>
          <a:ln w="12700">
            <a:solidFill>
              <a:srgbClr val="2A3A4E"/>
            </a:solidFill>
            <a:prstDash val="solid"/>
          </a:ln>
        </p:spPr>
      </p:sp>
      <p:sp>
        <p:nvSpPr>
          <p:cNvPr id="16" name="Text 11"/>
          <p:cNvSpPr txBox="1"/>
          <p:nvPr/>
        </p:nvSpPr>
        <p:spPr>
          <a:xfrm>
            <a:off x="685800" y="3584448"/>
            <a:ext cx="3657600" cy="201168"/>
          </a:xfrm>
          <a:prstGeom prst="rect">
            <a:avLst/>
          </a:prstGeom>
          <a:noFill/>
          <a:ln/>
        </p:spPr>
        <p:txBody>
          <a:bodyPr wrap="square" lIns="0" tIns="0" rIns="0" bIns="0" rtlCol="0" anchor="t"/>
          <a:lstStyle/>
          <a:p>
            <a:pPr indent="0" marL="0">
              <a:buNone/>
            </a:pPr>
            <a:r>
              <a:rPr lang="en-US" sz="1000" b="1" spc="100" kern="0" dirty="0">
                <a:solidFill>
                  <a:srgbClr val="16A085"/>
                </a:solidFill>
                <a:latin typeface="Calibri" pitchFamily="34" charset="0"/>
                <a:ea typeface="Calibri" pitchFamily="34" charset="-122"/>
                <a:cs typeface="Calibri" pitchFamily="34" charset="-120"/>
              </a:rPr>
              <a:t>PRACTISE BEFORE THE LAB</a:t>
            </a:r>
            <a:endParaRPr lang="en-US" sz="1000" dirty="0"/>
          </a:p>
        </p:txBody>
      </p:sp>
      <p:sp>
        <p:nvSpPr>
          <p:cNvPr id="17" name="Text 12"/>
          <p:cNvSpPr txBox="1"/>
          <p:nvPr/>
        </p:nvSpPr>
        <p:spPr>
          <a:xfrm>
            <a:off x="685800" y="3813048"/>
            <a:ext cx="777240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Interactive module 2, Know Where You Are: </a:t>
            </a:r>
            <a:pPr indent="0" marL="0">
              <a:buNone/>
            </a:pPr>
            <a:r>
              <a:rPr lang="en-US" sz="1150" dirty="0">
                <a:solidFill>
                  <a:srgbClr val="C9D1DB"/>
                </a:solidFill>
                <a:latin typeface="Calibri" pitchFamily="34" charset="0"/>
                <a:ea typeface="Calibri" pitchFamily="34" charset="-122"/>
                <a:cs typeface="Calibri" pitchFamily="34" charset="-120"/>
              </a:rPr>
              <a:t>the same examples as this lecture, with eight challenges and a completion code.</a:t>
            </a:r>
            <a:endParaRPr lang="en-US" sz="1150" dirty="0"/>
          </a:p>
        </p:txBody>
      </p:sp>
      <p:sp>
        <p:nvSpPr>
          <p:cNvPr id="18" name="Text 13">
            <a:hlinkClick r:id="rId4" tooltip=""/>
          </p:cNvPr>
          <p:cNvSpPr txBox="1"/>
          <p:nvPr/>
        </p:nvSpPr>
        <p:spPr>
          <a:xfrm>
            <a:off x="685800" y="4114800"/>
            <a:ext cx="4572000" cy="256032"/>
          </a:xfrm>
          <a:prstGeom prst="rect">
            <a:avLst/>
          </a:prstGeom>
          <a:noFill/>
          <a:ln/>
        </p:spPr>
        <p:txBody>
          <a:bodyPr wrap="square" lIns="0" tIns="0" rIns="0" bIns="0" rtlCol="0" anchor="t"/>
          <a:lstStyle/>
          <a:p>
            <a:pPr indent="0" marL="0">
              <a:buNone/>
            </a:pPr>
            <a:r>
              <a:rPr lang="en-US" sz="1200" u="sng" dirty="0">
                <a:solidFill>
                  <a:srgbClr val="E67E2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akramfatayer.github.io/courses/robotics/learn/2</a:t>
            </a:r>
            <a:endParaRPr lang="en-US" sz="12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title" hasCustomPrompt="1"/>
          </p:nvPr>
        </p:nvSpPr>
        <p:spPr>
          <a:xfrm>
            <a:off x="502920" y="274320"/>
            <a:ext cx="8138160" cy="566928"/>
          </a:xfrm>
          <a:prstGeom prst="rect">
            <a:avLst/>
          </a:prstGeom>
          <a:noFill/>
          <a:ln/>
        </p:spPr>
        <p:txBody>
          <a:bodyPr wrap="square" lIns="0" tIns="0" rIns="0" bIns="0" rtlCol="0" anchor="b"/>
          <a:lstStyle/>
          <a:p>
            <a:pPr algn="l" indent="0" marL="0">
              <a:buNone/>
            </a:pPr>
            <a:r>
              <a:rPr lang="en-US" sz="2400" b="1" dirty="0">
                <a:solidFill>
                  <a:srgbClr val="FFFFFF"/>
                </a:solidFill>
                <a:latin typeface="Arial" pitchFamily="34" charset="0"/>
                <a:ea typeface="Arial" pitchFamily="34" charset="-122"/>
                <a:cs typeface="Arial" pitchFamily="34" charset="-120"/>
              </a:rPr>
              <a:t>Key Takeaways</a:t>
            </a:r>
            <a:endParaRPr lang="en-US" sz="2400" dirty="0"/>
          </a:p>
        </p:txBody>
      </p:sp>
      <p:pic>
        <p:nvPicPr>
          <p:cNvPr id="3" name="Image 0" descr="C:\Users\xion\AppData\Local\Temp\claude\d--prorfolio-source-portfolio-source\a0e35da0-4b5a-4408-8426-d30cd7a097a8\scratchpad\slides\assets\icon-dice.png">    </p:cNvPr>
          <p:cNvPicPr>
            <a:picLocks noChangeAspect="1"/>
          </p:cNvPicPr>
          <p:nvPr/>
        </p:nvPicPr>
        <p:blipFill>
          <a:blip r:embed="rId1"/>
          <a:stretch>
            <a:fillRect/>
          </a:stretch>
        </p:blipFill>
        <p:spPr>
          <a:xfrm>
            <a:off x="548640" y="1115568"/>
            <a:ext cx="329184" cy="274320"/>
          </a:xfrm>
          <a:prstGeom prst="rect">
            <a:avLst/>
          </a:prstGeom>
        </p:spPr>
      </p:pic>
      <p:sp>
        <p:nvSpPr>
          <p:cNvPr id="4" name="Text 1"/>
          <p:cNvSpPr txBox="1"/>
          <p:nvPr/>
        </p:nvSpPr>
        <p:spPr>
          <a:xfrm>
            <a:off x="1051560" y="1097280"/>
            <a:ext cx="7589520"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Uncertainty is inevitable. </a:t>
            </a:r>
            <a:pPr indent="0" marL="0">
              <a:buNone/>
            </a:pPr>
            <a:r>
              <a:rPr lang="en-US" sz="1250" dirty="0">
                <a:solidFill>
                  <a:srgbClr val="C9D1DB"/>
                </a:solidFill>
                <a:latin typeface="Calibri" pitchFamily="34" charset="0"/>
                <a:ea typeface="Calibri" pitchFamily="34" charset="-122"/>
                <a:cs typeface="Calibri" pitchFamily="34" charset="-120"/>
              </a:rPr>
              <a:t>A robot keeps a belief, a mean and a variance, not a single position.</a:t>
            </a:r>
            <a:endParaRPr lang="en-US" sz="1250" dirty="0"/>
          </a:p>
        </p:txBody>
      </p:sp>
      <p:pic>
        <p:nvPicPr>
          <p:cNvPr id="5" name="Image 1" descr="C:\Users\xion\AppData\Local\Temp\claude\d--prorfolio-source-portfolio-source\a0e35da0-4b5a-4408-8426-d30cd7a097a8\scratchpad\slides\assets\icon-warning.png">    </p:cNvPr>
          <p:cNvPicPr>
            <a:picLocks noChangeAspect="1"/>
          </p:cNvPicPr>
          <p:nvPr/>
        </p:nvPicPr>
        <p:blipFill>
          <a:blip r:embed="rId2"/>
          <a:stretch>
            <a:fillRect/>
          </a:stretch>
        </p:blipFill>
        <p:spPr>
          <a:xfrm>
            <a:off x="548640" y="1664208"/>
            <a:ext cx="274320" cy="274320"/>
          </a:xfrm>
          <a:prstGeom prst="rect">
            <a:avLst/>
          </a:prstGeom>
        </p:spPr>
      </p:pic>
      <p:sp>
        <p:nvSpPr>
          <p:cNvPr id="6" name="Text 2"/>
          <p:cNvSpPr txBox="1"/>
          <p:nvPr/>
        </p:nvSpPr>
        <p:spPr>
          <a:xfrm>
            <a:off x="1051560" y="1645920"/>
            <a:ext cx="7589520"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Predict, then update. </a:t>
            </a:r>
            <a:pPr indent="0" marL="0">
              <a:buNone/>
            </a:pPr>
            <a:r>
              <a:rPr lang="en-US" sz="1250" dirty="0">
                <a:solidFill>
                  <a:srgbClr val="C9D1DB"/>
                </a:solidFill>
                <a:latin typeface="Calibri" pitchFamily="34" charset="0"/>
                <a:ea typeface="Calibri" pitchFamily="34" charset="-122"/>
                <a:cs typeface="Calibri" pitchFamily="34" charset="-120"/>
              </a:rPr>
              <a:t>Odometry moves the belief and widens it; GPS corrects it and narrows it.</a:t>
            </a:r>
            <a:endParaRPr lang="en-US" sz="1250" dirty="0"/>
          </a:p>
        </p:txBody>
      </p:sp>
      <p:pic>
        <p:nvPicPr>
          <p:cNvPr id="7" name="Image 2" descr="C:\Users\xion\AppData\Local\Temp\claude\d--prorfolio-source-portfolio-source\a0e35da0-4b5a-4408-8426-d30cd7a097a8\scratchpad\slides\assets\icon-funnel.png">    </p:cNvPr>
          <p:cNvPicPr>
            <a:picLocks noChangeAspect="1"/>
          </p:cNvPicPr>
          <p:nvPr/>
        </p:nvPicPr>
        <p:blipFill>
          <a:blip r:embed="rId3"/>
          <a:stretch>
            <a:fillRect/>
          </a:stretch>
        </p:blipFill>
        <p:spPr>
          <a:xfrm>
            <a:off x="548640" y="2212848"/>
            <a:ext cx="274320" cy="274320"/>
          </a:xfrm>
          <a:prstGeom prst="rect">
            <a:avLst/>
          </a:prstGeom>
        </p:spPr>
      </p:pic>
      <p:sp>
        <p:nvSpPr>
          <p:cNvPr id="8" name="Text 3"/>
          <p:cNvSpPr txBox="1"/>
          <p:nvPr/>
        </p:nvSpPr>
        <p:spPr>
          <a:xfrm>
            <a:off x="1051560" y="2194560"/>
            <a:ext cx="7589520"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Weigh, don't switch. </a:t>
            </a:r>
            <a:pPr indent="0" marL="0">
              <a:buNone/>
            </a:pPr>
            <a:r>
              <a:rPr lang="en-US" sz="1250" dirty="0">
                <a:solidFill>
                  <a:srgbClr val="C9D1DB"/>
                </a:solidFill>
                <a:latin typeface="Calibri" pitchFamily="34" charset="0"/>
                <a:ea typeface="Calibri" pitchFamily="34" charset="-122"/>
                <a:cs typeface="Calibri" pitchFamily="34" charset="-120"/>
              </a:rPr>
              <a:t>The gated reset's all-or-nothing gives 4.05 m; weighting by uncertainty (K) gives 1.35 m.</a:t>
            </a:r>
            <a:endParaRPr lang="en-US" sz="1250" dirty="0"/>
          </a:p>
        </p:txBody>
      </p:sp>
      <p:pic>
        <p:nvPicPr>
          <p:cNvPr id="9" name="Image 3" descr="C:\Users\xion\AppData\Local\Temp\claude\d--prorfolio-source-portfolio-source\a0e35da0-4b5a-4408-8426-d30cd7a097a8\scratchpad\slides\assets\icon-dice.png">    </p:cNvPr>
          <p:cNvPicPr>
            <a:picLocks noChangeAspect="1"/>
          </p:cNvPicPr>
          <p:nvPr/>
        </p:nvPicPr>
        <p:blipFill>
          <a:blip r:embed="rId4"/>
          <a:stretch>
            <a:fillRect/>
          </a:stretch>
        </p:blipFill>
        <p:spPr>
          <a:xfrm>
            <a:off x="548640" y="2761488"/>
            <a:ext cx="329184" cy="274320"/>
          </a:xfrm>
          <a:prstGeom prst="rect">
            <a:avLst/>
          </a:prstGeom>
        </p:spPr>
      </p:pic>
      <p:sp>
        <p:nvSpPr>
          <p:cNvPr id="10" name="Text 4"/>
          <p:cNvSpPr txBox="1"/>
          <p:nvPr/>
        </p:nvSpPr>
        <p:spPr>
          <a:xfrm>
            <a:off x="1051560" y="2743200"/>
            <a:ext cx="7589520" cy="45720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Matrices change nothing but the bookkeeping. </a:t>
            </a:r>
            <a:pPr indent="0" marL="0">
              <a:buNone/>
            </a:pPr>
            <a:r>
              <a:rPr lang="en-US" sz="1250" dirty="0">
                <a:solidFill>
                  <a:srgbClr val="C9D1DB"/>
                </a:solidFill>
                <a:latin typeface="Calibri" pitchFamily="34" charset="0"/>
                <a:ea typeface="Calibri" pitchFamily="34" charset="-122"/>
                <a:cs typeface="Calibri" pitchFamily="34" charset="-120"/>
              </a:rPr>
              <a:t>In 2D, P is a covariance matrix; its off-diagonal lets one measurement improve another axis.</a:t>
            </a:r>
            <a:endParaRPr lang="en-US" sz="1250" dirty="0"/>
          </a:p>
        </p:txBody>
      </p:sp>
      <p:sp>
        <p:nvSpPr>
          <p:cNvPr id="11" name="Shape 5"/>
          <p:cNvSpPr/>
          <p:nvPr/>
        </p:nvSpPr>
        <p:spPr>
          <a:xfrm>
            <a:off x="502920" y="3474720"/>
            <a:ext cx="8138160" cy="1005840"/>
          </a:xfrm>
          <a:prstGeom prst="roundRect">
            <a:avLst>
              <a:gd name="adj" fmla="val 7273"/>
            </a:avLst>
          </a:prstGeom>
          <a:solidFill>
            <a:srgbClr val="16263A"/>
          </a:solidFill>
          <a:ln w="12700">
            <a:solidFill>
              <a:srgbClr val="2A3A4E"/>
            </a:solidFill>
            <a:prstDash val="solid"/>
          </a:ln>
        </p:spPr>
      </p:sp>
      <p:pic>
        <p:nvPicPr>
          <p:cNvPr id="12" name="Image 4" descr="C:\Users\xion\AppData\Local\Temp\claude\d--prorfolio-source-portfolio-source\a0e35da0-4b5a-4408-8426-d30cd7a097a8\scratchpad\slides\assets\icon-next.png">    </p:cNvPr>
          <p:cNvPicPr>
            <a:picLocks noChangeAspect="1"/>
          </p:cNvPicPr>
          <p:nvPr/>
        </p:nvPicPr>
        <p:blipFill>
          <a:blip r:embed="rId5"/>
          <a:stretch>
            <a:fillRect/>
          </a:stretch>
        </p:blipFill>
        <p:spPr>
          <a:xfrm>
            <a:off x="685800" y="3630168"/>
            <a:ext cx="237744" cy="228600"/>
          </a:xfrm>
          <a:prstGeom prst="rect">
            <a:avLst/>
          </a:prstGeom>
        </p:spPr>
      </p:pic>
      <p:sp>
        <p:nvSpPr>
          <p:cNvPr id="13" name="Text 6"/>
          <p:cNvSpPr txBox="1"/>
          <p:nvPr/>
        </p:nvSpPr>
        <p:spPr>
          <a:xfrm>
            <a:off x="1005840" y="3639312"/>
            <a:ext cx="2743200" cy="219456"/>
          </a:xfrm>
          <a:prstGeom prst="rect">
            <a:avLst/>
          </a:prstGeom>
          <a:noFill/>
          <a:ln/>
        </p:spPr>
        <p:txBody>
          <a:bodyPr wrap="square" lIns="0" tIns="0" rIns="0" bIns="0" rtlCol="0" anchor="t"/>
          <a:lstStyle/>
          <a:p>
            <a:pPr indent="0" marL="0">
              <a:buNone/>
            </a:pPr>
            <a:r>
              <a:rPr lang="en-US" sz="1000" b="1" spc="100" kern="0" dirty="0">
                <a:solidFill>
                  <a:srgbClr val="E67E22"/>
                </a:solidFill>
                <a:latin typeface="Calibri" pitchFamily="34" charset="0"/>
                <a:ea typeface="Calibri" pitchFamily="34" charset="-122"/>
                <a:cs typeface="Calibri" pitchFamily="34" charset="-120"/>
              </a:rPr>
              <a:t>NEXT LECTURE</a:t>
            </a:r>
            <a:endParaRPr lang="en-US" sz="1000" dirty="0"/>
          </a:p>
        </p:txBody>
      </p:sp>
      <p:sp>
        <p:nvSpPr>
          <p:cNvPr id="14" name="Text 7"/>
          <p:cNvSpPr txBox="1"/>
          <p:nvPr/>
        </p:nvSpPr>
        <p:spPr>
          <a:xfrm>
            <a:off x="685800" y="3913632"/>
            <a:ext cx="777240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Lecture 3: Motion Models</a:t>
            </a:r>
            <a:endParaRPr lang="en-US" sz="1400" dirty="0"/>
          </a:p>
        </p:txBody>
      </p:sp>
      <p:sp>
        <p:nvSpPr>
          <p:cNvPr id="15" name="Text 8"/>
          <p:cNvSpPr txBox="1"/>
          <p:nvPr/>
        </p:nvSpPr>
        <p:spPr>
          <a:xfrm>
            <a:off x="685800" y="4187952"/>
            <a:ext cx="7772400" cy="237744"/>
          </a:xfrm>
          <a:prstGeom prst="rect">
            <a:avLst/>
          </a:prstGeom>
          <a:noFill/>
          <a:ln/>
        </p:spPr>
        <p:txBody>
          <a:bodyPr wrap="square" lIns="0" tIns="0" rIns="0" bIns="0" rtlCol="0" anchor="t"/>
          <a:lstStyle/>
          <a:p>
            <a:pPr indent="0" marL="0">
              <a:buNone/>
            </a:pPr>
            <a:r>
              <a:rPr lang="en-US" sz="1100" i="1" dirty="0">
                <a:solidFill>
                  <a:srgbClr val="C9D1DB"/>
                </a:solidFill>
                <a:latin typeface="Calibri" pitchFamily="34" charset="0"/>
                <a:ea typeface="Calibri" pitchFamily="34" charset="-122"/>
                <a:cs typeface="Calibri" pitchFamily="34" charset="-120"/>
              </a:rPr>
              <a:t>Real robots turn. What happens when the motion is not a straight line?</a:t>
            </a:r>
            <a:endParaRPr lang="en-US" sz="1100" dirty="0"/>
          </a:p>
        </p:txBody>
      </p:sp>
      <p:sp>
        <p:nvSpPr>
          <p:cNvPr id="25" name="Slide Number Placeholder 0"/>
          <p:cNvSpPr>
            <a:spLocks noGrp="1"/>
          </p:cNvSpPr>
          <p:nvPr>
            <p:ph type="sldNum" sz="quarter" idx="4294967295"/>
          </p:nvPr>
        </p:nvSpPr>
        <p:spPr>
          <a:xfrm>
            <a:off x="8229600" y="4828032"/>
            <a:ext cx="41148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8C99A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914400" y="1325880"/>
            <a:ext cx="731520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Questions </a:t>
            </a:r>
            <a:pPr algn="ctr" indent="0" marL="0">
              <a:buNone/>
            </a:pPr>
            <a:r>
              <a:rPr lang="en-US" sz="3400" b="1" dirty="0">
                <a:solidFill>
                  <a:srgbClr val="E67E22"/>
                </a:solidFill>
                <a:latin typeface="Arial" pitchFamily="34" charset="0"/>
                <a:ea typeface="Arial" pitchFamily="34" charset="-122"/>
                <a:cs typeface="Arial" pitchFamily="34" charset="-120"/>
              </a:rPr>
              <a:t>&amp;</a:t>
            </a:r>
            <a:pPr algn="ctr" indent="0" marL="0">
              <a:buNone/>
            </a:pPr>
            <a:r>
              <a:rPr lang="en-US" sz="3400" b="1" dirty="0">
                <a:solidFill>
                  <a:srgbClr val="FFFFFF"/>
                </a:solidFill>
                <a:latin typeface="Arial" pitchFamily="34" charset="0"/>
                <a:ea typeface="Arial" pitchFamily="34" charset="-122"/>
                <a:cs typeface="Arial" pitchFamily="34" charset="-120"/>
              </a:rPr>
              <a:t> Discussion</a:t>
            </a:r>
            <a:endParaRPr lang="en-US" sz="3400" dirty="0"/>
          </a:p>
        </p:txBody>
      </p:sp>
      <p:sp>
        <p:nvSpPr>
          <p:cNvPr id="3" name="Text 1"/>
          <p:cNvSpPr txBox="1"/>
          <p:nvPr/>
        </p:nvSpPr>
        <p:spPr>
          <a:xfrm>
            <a:off x="914400" y="2103120"/>
            <a:ext cx="7315200" cy="274320"/>
          </a:xfrm>
          <a:prstGeom prst="rect">
            <a:avLst/>
          </a:prstGeom>
          <a:noFill/>
          <a:ln/>
        </p:spPr>
        <p:txBody>
          <a:bodyPr wrap="square" lIns="0" tIns="0" rIns="0" bIns="0" rtlCol="0" anchor="t"/>
          <a:lstStyle/>
          <a:p>
            <a:pPr algn="ctr" indent="0" marL="0">
              <a:buNone/>
            </a:pPr>
            <a:r>
              <a:rPr lang="en-US" sz="1400" b="1" dirty="0">
                <a:solidFill>
                  <a:srgbClr val="16A085"/>
                </a:solidFill>
                <a:latin typeface="Calibri" pitchFamily="34" charset="0"/>
                <a:ea typeface="Calibri" pitchFamily="34" charset="-122"/>
                <a:cs typeface="Calibri" pitchFamily="34" charset="-120"/>
              </a:rPr>
              <a:t>Thank you for your attention.</a:t>
            </a:r>
            <a:endParaRPr lang="en-US" sz="1400" dirty="0"/>
          </a:p>
        </p:txBody>
      </p:sp>
      <p:sp>
        <p:nvSpPr>
          <p:cNvPr id="4" name="Text 2"/>
          <p:cNvSpPr txBox="1"/>
          <p:nvPr/>
        </p:nvSpPr>
        <p:spPr>
          <a:xfrm>
            <a:off x="914400" y="2697480"/>
            <a:ext cx="7315200" cy="292608"/>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Dr. Akram Fatayer</a:t>
            </a:r>
            <a:endParaRPr lang="en-US" sz="1500" dirty="0"/>
          </a:p>
        </p:txBody>
      </p:sp>
      <p:pic>
        <p:nvPicPr>
          <p:cNvPr id="5" name="Image 0" descr="C:\Users\xion\AppData\Local\Temp\claude\d--prorfolio-source-portfolio-source\a0e35da0-4b5a-4408-8426-d30cd7a097a8\scratchpad\slides\assets\icon-email.png">    </p:cNvPr>
          <p:cNvPicPr>
            <a:picLocks noChangeAspect="1"/>
          </p:cNvPicPr>
          <p:nvPr/>
        </p:nvPicPr>
        <p:blipFill>
          <a:blip r:embed="rId1"/>
          <a:stretch>
            <a:fillRect/>
          </a:stretch>
        </p:blipFill>
        <p:spPr>
          <a:xfrm>
            <a:off x="3429000" y="3200400"/>
            <a:ext cx="182880" cy="128016"/>
          </a:xfrm>
          <a:prstGeom prst="rect">
            <a:avLst/>
          </a:prstGeom>
        </p:spPr>
      </p:pic>
      <p:sp>
        <p:nvSpPr>
          <p:cNvPr id="6" name="Text 3"/>
          <p:cNvSpPr txBox="1"/>
          <p:nvPr/>
        </p:nvSpPr>
        <p:spPr>
          <a:xfrm>
            <a:off x="3703320" y="3154680"/>
            <a:ext cx="2377440" cy="219456"/>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a.fatayer@zuj.edu.jo</a:t>
            </a:r>
            <a:endParaRPr lang="en-US" sz="1100" dirty="0"/>
          </a:p>
        </p:txBody>
      </p:sp>
      <p:pic>
        <p:nvPicPr>
          <p:cNvPr id="7" name="Image 1" descr="C:\Users\xion\AppData\Local\Temp\claude\d--prorfolio-source-portfolio-source\a0e35da0-4b5a-4408-8426-d30cd7a097a8\scratchpad\slides\assets\icon-linkedin.png">    </p:cNvPr>
          <p:cNvPicPr>
            <a:picLocks noChangeAspect="1"/>
          </p:cNvPicPr>
          <p:nvPr/>
        </p:nvPicPr>
        <p:blipFill>
          <a:blip r:embed="rId2"/>
          <a:stretch>
            <a:fillRect/>
          </a:stretch>
        </p:blipFill>
        <p:spPr>
          <a:xfrm>
            <a:off x="3429000" y="3520440"/>
            <a:ext cx="182880" cy="128016"/>
          </a:xfrm>
          <a:prstGeom prst="rect">
            <a:avLst/>
          </a:prstGeom>
        </p:spPr>
      </p:pic>
      <p:sp>
        <p:nvSpPr>
          <p:cNvPr id="8" name="Text 4"/>
          <p:cNvSpPr txBox="1"/>
          <p:nvPr/>
        </p:nvSpPr>
        <p:spPr>
          <a:xfrm>
            <a:off x="3703320" y="3474720"/>
            <a:ext cx="2377440" cy="219456"/>
          </a:xfrm>
          <a:prstGeom prst="rect">
            <a:avLst/>
          </a:prstGeom>
          <a:noFill/>
          <a:ln/>
        </p:spPr>
        <p:txBody>
          <a:bodyPr wrap="square" lIns="0" tIns="0" rIns="0" bIns="0" rtlCol="0" anchor="t"/>
          <a:lstStyle/>
          <a:p>
            <a:pPr indent="0" marL="0">
              <a:buNone/>
            </a:pPr>
            <a:r>
              <a:rPr lang="en-US" sz="1100" dirty="0">
                <a:solidFill>
                  <a:srgbClr val="C9D1DB"/>
                </a:solidFill>
                <a:latin typeface="Calibri" pitchFamily="34" charset="0"/>
                <a:ea typeface="Calibri" pitchFamily="34" charset="-122"/>
                <a:cs typeface="Calibri" pitchFamily="34" charset="-120"/>
              </a:rPr>
              <a:t>linkedin.com/in/akram-fatayer/</a:t>
            </a:r>
            <a:endParaRPr lang="en-US" sz="1100" dirty="0"/>
          </a:p>
        </p:txBody>
      </p:sp>
      <p:sp>
        <p:nvSpPr>
          <p:cNvPr id="9" name="Text 5"/>
          <p:cNvSpPr txBox="1"/>
          <p:nvPr/>
        </p:nvSpPr>
        <p:spPr>
          <a:xfrm>
            <a:off x="502920" y="4828032"/>
            <a:ext cx="4572000" cy="201168"/>
          </a:xfrm>
          <a:prstGeom prst="rect">
            <a:avLst/>
          </a:prstGeom>
          <a:noFill/>
          <a:ln/>
        </p:spPr>
        <p:txBody>
          <a:bodyPr wrap="square" lIns="0" tIns="0" rIns="0" bIns="0" rtlCol="0" anchor="t"/>
          <a:lstStyle/>
          <a:p>
            <a:pPr indent="0" marL="0">
              <a:buNone/>
            </a:pPr>
            <a:r>
              <a:rPr lang="en-US" sz="800" dirty="0">
                <a:solidFill>
                  <a:srgbClr val="8C99A8"/>
                </a:solidFill>
                <a:latin typeface="Calibri" pitchFamily="34" charset="0"/>
                <a:ea typeface="Calibri" pitchFamily="34" charset="-122"/>
                <a:cs typeface="Calibri" pitchFamily="34" charset="-120"/>
              </a:rPr>
              <a:t>Introduction to Robotics for AI and Data Science</a:t>
            </a:r>
            <a:endParaRPr lang="en-US" sz="800" dirty="0"/>
          </a:p>
        </p:txBody>
      </p:sp>
      <p:sp>
        <p:nvSpPr>
          <p:cNvPr id="10" name="Text 6"/>
          <p:cNvSpPr txBox="1"/>
          <p:nvPr/>
        </p:nvSpPr>
        <p:spPr>
          <a:xfrm>
            <a:off x="4480560" y="4828032"/>
            <a:ext cx="4160520" cy="201168"/>
          </a:xfrm>
          <a:prstGeom prst="rect">
            <a:avLst/>
          </a:prstGeom>
          <a:noFill/>
          <a:ln/>
        </p:spPr>
        <p:txBody>
          <a:bodyPr wrap="square" lIns="0" tIns="0" rIns="0" bIns="0" rtlCol="0" anchor="t"/>
          <a:lstStyle/>
          <a:p>
            <a:pPr algn="r" indent="0" marL="0">
              <a:buNone/>
            </a:pPr>
            <a:r>
              <a:rPr lang="en-US" sz="800" dirty="0">
                <a:solidFill>
                  <a:srgbClr val="8C99A8"/>
                </a:solidFill>
                <a:latin typeface="Calibri" pitchFamily="34" charset="0"/>
                <a:ea typeface="Calibri" pitchFamily="34" charset="-122"/>
                <a:cs typeface="Calibri" pitchFamily="34" charset="-120"/>
              </a:rPr>
              <a:t>Al-Zaytoonah University of Jordan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Localization and State Estimation — Lecture 2</dc:title>
  <dc:subject>PptxGenJS Presentation</dc:subject>
  <dc:creator>Dr. Akram Fatayer</dc:creator>
  <cp:lastModifiedBy>Dr. Akram Fatayer</cp:lastModifiedBy>
  <cp:revision>1</cp:revision>
  <dcterms:created xsi:type="dcterms:W3CDTF">2026-10-26T20:47:17Z</dcterms:created>
  <dcterms:modified xsi:type="dcterms:W3CDTF">2026-10-26T20:47:17Z</dcterms:modified>
</cp:coreProperties>
</file>